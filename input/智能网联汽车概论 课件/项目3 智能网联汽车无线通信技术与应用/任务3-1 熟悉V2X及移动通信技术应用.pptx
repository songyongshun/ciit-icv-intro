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sldIdLst>
    <p:sldId id="452" r:id="rId2"/>
    <p:sldId id="575" r:id="rId3"/>
    <p:sldId id="630" r:id="rId4"/>
    <p:sldId id="552" r:id="rId5"/>
    <p:sldId id="622" r:id="rId6"/>
    <p:sldId id="623" r:id="rId7"/>
    <p:sldId id="607" r:id="rId8"/>
    <p:sldId id="624" r:id="rId9"/>
    <p:sldId id="631" r:id="rId10"/>
    <p:sldId id="626" r:id="rId11"/>
    <p:sldId id="627" r:id="rId12"/>
    <p:sldId id="628" r:id="rId13"/>
    <p:sldId id="608" r:id="rId14"/>
    <p:sldId id="632" r:id="rId15"/>
    <p:sldId id="633" r:id="rId16"/>
    <p:sldId id="629" r:id="rId17"/>
    <p:sldId id="634" r:id="rId18"/>
    <p:sldId id="635" r:id="rId19"/>
    <p:sldId id="636" r:id="rId20"/>
    <p:sldId id="569" r:id="rId2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79" autoAdjust="0"/>
    <p:restoredTop sz="95300" autoAdjust="0"/>
  </p:normalViewPr>
  <p:slideViewPr>
    <p:cSldViewPr>
      <p:cViewPr>
        <p:scale>
          <a:sx n="70" d="100"/>
          <a:sy n="70" d="100"/>
        </p:scale>
        <p:origin x="-472" y="-232"/>
      </p:cViewPr>
      <p:guideLst>
        <p:guide orient="horz" pos="1400"/>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1257952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2022/3/3</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83518"/>
            <a:ext cx="7884368" cy="369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699541"/>
            <a:ext cx="7295604" cy="3317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627534"/>
            <a:ext cx="6292114" cy="4105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73391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4</a:t>
            </a:fld>
            <a:endParaRPr lang="zh-CN" altLang="en-US" dirty="0"/>
          </a:p>
        </p:txBody>
      </p:sp>
      <p:sp>
        <p:nvSpPr>
          <p:cNvPr id="8"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什么是无线通信？无线通信有哪些类型？</a:t>
            </a:r>
          </a:p>
        </p:txBody>
      </p:sp>
      <p:sp>
        <p:nvSpPr>
          <p:cNvPr id="3" name="矩形 2"/>
          <p:cNvSpPr/>
          <p:nvPr/>
        </p:nvSpPr>
        <p:spPr>
          <a:xfrm>
            <a:off x="971600" y="1131590"/>
            <a:ext cx="3238387"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1.无线通信和无线通信系统</a:t>
            </a:r>
          </a:p>
        </p:txBody>
      </p:sp>
      <p:sp>
        <p:nvSpPr>
          <p:cNvPr id="2" name="矩形 1"/>
          <p:cNvSpPr/>
          <p:nvPr/>
        </p:nvSpPr>
        <p:spPr>
          <a:xfrm>
            <a:off x="971600" y="1635646"/>
            <a:ext cx="3916680" cy="1776640"/>
          </a:xfrm>
          <a:prstGeom prst="rect">
            <a:avLst/>
          </a:prstGeom>
          <a:solidFill>
            <a:schemeClr val="accent1"/>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无线通信就是不用导线、电缆、光纤等有线介质，而是利用电磁波信号在自由空间中传播的特性进行信息交换的一种通信方式。无线通信可以传输数据、图像、音频和视频等</a:t>
            </a:r>
            <a:r>
              <a:rPr sz="1600" dirty="0" smtClean="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itchFamily="34" charset="-122"/>
                <a:ea typeface="微软雅黑" pitchFamily="34" charset="-122"/>
              </a:rPr>
              <a:t>无线通信系统一般由</a:t>
            </a:r>
            <a:r>
              <a:rPr lang="zh-CN" altLang="en-US" sz="1600" dirty="0" smtClean="0">
                <a:solidFill>
                  <a:schemeClr val="bg1"/>
                </a:solidFill>
                <a:latin typeface="微软雅黑" pitchFamily="34" charset="-122"/>
                <a:ea typeface="微软雅黑" pitchFamily="34" charset="-122"/>
              </a:rPr>
              <a:t>发射</a:t>
            </a:r>
            <a:r>
              <a:rPr lang="zh-CN" altLang="en-US" sz="1600" dirty="0">
                <a:solidFill>
                  <a:schemeClr val="bg1"/>
                </a:solidFill>
                <a:latin typeface="微软雅黑" pitchFamily="34" charset="-122"/>
                <a:ea typeface="微软雅黑" pitchFamily="34" charset="-122"/>
              </a:rPr>
              <a:t>设备、传输介质和接收设备组成。</a:t>
            </a:r>
            <a:endParaRPr sz="1600" dirty="0">
              <a:solidFill>
                <a:schemeClr val="bg1"/>
              </a:solidFill>
              <a:latin typeface="微软雅黑" panose="020B0503020204020204" pitchFamily="34" charset="-122"/>
              <a:ea typeface="微软雅黑" panose="020B0503020204020204" pitchFamily="34" charset="-122"/>
            </a:endParaRPr>
          </a:p>
        </p:txBody>
      </p:sp>
      <p:pic>
        <p:nvPicPr>
          <p:cNvPr id="21" name="图片 21" descr="说明: C:\Users\Lenovo\Desktop\智能网联汽车 人民交通\项目6 智能网联汽车无线通信系统应用\任务6-1 图片\图6-1-1 简单的无线通信系统示意图.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157238" y="1635646"/>
            <a:ext cx="2943154" cy="1631950"/>
          </a:xfrm>
          <a:prstGeom prst="rect">
            <a:avLst/>
          </a:prstGeom>
          <a:noFill/>
          <a:ln w="12700" cmpd="sng">
            <a:solidFill>
              <a:schemeClr val="accent1">
                <a:shade val="50000"/>
              </a:schemeClr>
            </a:solidFill>
            <a:prstDash val="solid"/>
          </a:ln>
        </p:spPr>
      </p:pic>
      <p:pic>
        <p:nvPicPr>
          <p:cNvPr id="17" name="图片 17" descr="图3-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968002" y="3507854"/>
            <a:ext cx="7204397" cy="1224136"/>
          </a:xfrm>
          <a:prstGeom prst="rect">
            <a:avLst/>
          </a:prstGeom>
          <a:noFill/>
          <a:ln w="12700" cmpd="sng">
            <a:solidFill>
              <a:schemeClr val="accent1">
                <a:shade val="50000"/>
              </a:schemeClr>
            </a:solidFill>
            <a:prstDash val="solid"/>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5</a:t>
            </a:fld>
            <a:endParaRPr lang="zh-CN" altLang="en-US" dirty="0"/>
          </a:p>
        </p:txBody>
      </p:sp>
      <p:sp>
        <p:nvSpPr>
          <p:cNvPr id="2" name="矩形 1"/>
          <p:cNvSpPr/>
          <p:nvPr/>
        </p:nvSpPr>
        <p:spPr>
          <a:xfrm>
            <a:off x="949896" y="1635646"/>
            <a:ext cx="7222504" cy="1495922"/>
          </a:xfrm>
          <a:prstGeom prst="rect">
            <a:avLst/>
          </a:prstGeom>
          <a:solidFill>
            <a:schemeClr val="accent1"/>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（1）根据传输信号形式分类</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根据传输信号形式的不同，无线通信可以分为模拟无线通信和数字无线通信。</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1）模拟无线通信。</a:t>
            </a:r>
            <a:r>
              <a:rPr sz="1600" dirty="0" smtClean="0">
                <a:solidFill>
                  <a:schemeClr val="bg1"/>
                </a:solidFill>
                <a:latin typeface="微软雅黑" panose="020B0503020204020204" pitchFamily="34" charset="-122"/>
                <a:ea typeface="微软雅黑" panose="020B0503020204020204" pitchFamily="34" charset="-122"/>
              </a:rPr>
              <a:t>模拟无线通信是将采集的</a:t>
            </a:r>
            <a:r>
              <a:rPr lang="zh-CN" altLang="en-US" sz="1600" dirty="0">
                <a:solidFill>
                  <a:schemeClr val="bg1"/>
                </a:solidFill>
                <a:latin typeface="微软雅黑" panose="020B0503020204020204" pitchFamily="34" charset="-122"/>
                <a:ea typeface="微软雅黑" panose="020B0503020204020204" pitchFamily="34" charset="-122"/>
              </a:rPr>
              <a:t>模拟</a:t>
            </a:r>
            <a:r>
              <a:rPr sz="1600" dirty="0" err="1" smtClean="0">
                <a:solidFill>
                  <a:schemeClr val="bg1"/>
                </a:solidFill>
                <a:latin typeface="微软雅黑" panose="020B0503020204020204" pitchFamily="34" charset="-122"/>
                <a:ea typeface="微软雅黑" panose="020B0503020204020204" pitchFamily="34" charset="-122"/>
              </a:rPr>
              <a:t>信号直接进行传输</a:t>
            </a:r>
            <a:r>
              <a:rPr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2）数字无线通信。数字无线通信是将采集的信号转变为数字信号后再进行传输的信号只包括0、1数字。</a:t>
            </a:r>
          </a:p>
        </p:txBody>
      </p:sp>
      <p:sp>
        <p:nvSpPr>
          <p:cNvPr id="4" name="矩形 3"/>
          <p:cNvSpPr/>
          <p:nvPr/>
        </p:nvSpPr>
        <p:spPr>
          <a:xfrm>
            <a:off x="940003" y="3291830"/>
            <a:ext cx="7242290" cy="1215204"/>
          </a:xfrm>
          <a:prstGeom prst="rect">
            <a:avLst/>
          </a:prstGeom>
          <a:solidFill>
            <a:schemeClr val="accent1"/>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（2）根据无线终端状态分类</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根据无线终端状态的不同，无线通信可以分为固定无线通信和移动无线通信。</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1）固定无线通信。固定无线通信是指终端设备是固定的，如固定电话通信。</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2）移动无线通信。移动无线通信是指终端设备是移动的，如移动电话通信。</a:t>
            </a:r>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什么是无线通信？无线通信有哪些类型？</a:t>
            </a:r>
          </a:p>
        </p:txBody>
      </p:sp>
      <p:sp>
        <p:nvSpPr>
          <p:cNvPr id="9" name="矩形 8"/>
          <p:cNvSpPr/>
          <p:nvPr/>
        </p:nvSpPr>
        <p:spPr>
          <a:xfrm>
            <a:off x="971600" y="1131590"/>
            <a:ext cx="2212465"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.无线通信</a:t>
            </a:r>
            <a:r>
              <a:rPr lang="zh-CN" altLang="en-US" sz="2000" b="1" dirty="0" smtClean="0">
                <a:solidFill>
                  <a:schemeClr val="bg1"/>
                </a:solidFill>
                <a:latin typeface="微软雅黑" panose="020B0503020204020204" pitchFamily="34" charset="-122"/>
                <a:ea typeface="微软雅黑" panose="020B0503020204020204" pitchFamily="34" charset="-122"/>
              </a:rPr>
              <a:t>的分类</a:t>
            </a:r>
            <a:endParaRPr sz="2000" b="1"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6</a:t>
            </a:fld>
            <a:endParaRPr lang="zh-CN" altLang="en-US" dirty="0"/>
          </a:p>
        </p:txBody>
      </p:sp>
      <p:sp>
        <p:nvSpPr>
          <p:cNvPr id="2" name="矩形 1"/>
          <p:cNvSpPr/>
          <p:nvPr/>
        </p:nvSpPr>
        <p:spPr>
          <a:xfrm>
            <a:off x="971600" y="1635646"/>
            <a:ext cx="7200800" cy="934487"/>
          </a:xfrm>
          <a:prstGeom prst="rect">
            <a:avLst/>
          </a:prstGeom>
          <a:solidFill>
            <a:schemeClr val="accent1"/>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（3）根据电磁波波长分类</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根据电磁波波长的不同，无线通信可以分为长波无线通信、中波无线通信、短波无线通信、超短波无线通信、微波无线通信等。</a:t>
            </a:r>
          </a:p>
        </p:txBody>
      </p:sp>
      <p:sp>
        <p:nvSpPr>
          <p:cNvPr id="4" name="矩形 3"/>
          <p:cNvSpPr/>
          <p:nvPr/>
        </p:nvSpPr>
        <p:spPr>
          <a:xfrm>
            <a:off x="971600" y="2676768"/>
            <a:ext cx="7200800" cy="934487"/>
          </a:xfrm>
          <a:prstGeom prst="rect">
            <a:avLst/>
          </a:prstGeom>
          <a:solidFill>
            <a:schemeClr val="accent1"/>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（4）根据传输方式分类</a:t>
            </a:r>
          </a:p>
          <a:p>
            <a:pPr fontAlgn="base">
              <a:lnSpc>
                <a:spcPct val="114000"/>
              </a:lnSpc>
            </a:pPr>
            <a:r>
              <a:rPr sz="1600" dirty="0" err="1">
                <a:solidFill>
                  <a:schemeClr val="bg1"/>
                </a:solidFill>
                <a:latin typeface="微软雅黑" panose="020B0503020204020204" pitchFamily="34" charset="-122"/>
                <a:ea typeface="微软雅黑" panose="020B0503020204020204" pitchFamily="34" charset="-122"/>
              </a:rPr>
              <a:t>根据信道路径和传输方式的不同，无线通信可以分为红外通信、可见光通信、微波中继通信和卫星通信等</a:t>
            </a:r>
            <a:r>
              <a:rPr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sp>
        <p:nvSpPr>
          <p:cNvPr id="7" name="Text Box 8"/>
          <p:cNvSpPr>
            <a:spLocks noChangeArrowheads="1"/>
          </p:cNvSpPr>
          <p:nvPr/>
        </p:nvSpPr>
        <p:spPr bwMode="auto">
          <a:xfrm>
            <a:off x="971600" y="411510"/>
            <a:ext cx="757323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什么是无线通信？无线通信有哪些类型？</a:t>
            </a:r>
          </a:p>
        </p:txBody>
      </p:sp>
      <p:sp>
        <p:nvSpPr>
          <p:cNvPr id="9" name="矩形 8"/>
          <p:cNvSpPr/>
          <p:nvPr/>
        </p:nvSpPr>
        <p:spPr>
          <a:xfrm>
            <a:off x="971600" y="1131590"/>
            <a:ext cx="2212465"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.无线通信</a:t>
            </a:r>
            <a:r>
              <a:rPr lang="zh-CN" altLang="en-US" sz="2000" b="1" dirty="0" smtClean="0">
                <a:solidFill>
                  <a:schemeClr val="bg1"/>
                </a:solidFill>
                <a:latin typeface="微软雅黑" panose="020B0503020204020204" pitchFamily="34" charset="-122"/>
                <a:ea typeface="微软雅黑" panose="020B0503020204020204" pitchFamily="34" charset="-122"/>
              </a:rPr>
              <a:t>的分类</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957328" y="3723878"/>
            <a:ext cx="7215071" cy="653769"/>
          </a:xfrm>
          <a:prstGeom prst="rect">
            <a:avLst/>
          </a:prstGeom>
          <a:solidFill>
            <a:schemeClr val="accent1"/>
          </a:solidFill>
        </p:spPr>
        <p:txBody>
          <a:bodyPr wrap="square">
            <a:spAutoFit/>
          </a:bodyPr>
          <a:lstStyle/>
          <a:p>
            <a:pPr fontAlgn="base">
              <a:lnSpc>
                <a:spcPct val="114000"/>
              </a:lnSpc>
            </a:pPr>
            <a:r>
              <a:rPr sz="1600" dirty="0" smtClean="0">
                <a:solidFill>
                  <a:schemeClr val="bg1"/>
                </a:solidFill>
                <a:latin typeface="微软雅黑" panose="020B0503020204020204" pitchFamily="34" charset="-122"/>
                <a:ea typeface="微软雅黑" panose="020B0503020204020204" pitchFamily="34" charset="-122"/>
              </a:rPr>
              <a:t>（</a:t>
            </a:r>
            <a:r>
              <a:rPr sz="1600" dirty="0">
                <a:solidFill>
                  <a:schemeClr val="bg1"/>
                </a:solidFill>
                <a:latin typeface="微软雅黑" panose="020B0503020204020204" pitchFamily="34" charset="-122"/>
                <a:ea typeface="微软雅黑" panose="020B0503020204020204" pitchFamily="34" charset="-122"/>
              </a:rPr>
              <a:t>5）根据通信距离分类</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根据通信距离，无线通信可以分为短距离无线通信和远距离无线通信。</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7</a:t>
            </a:fld>
            <a:endParaRPr lang="zh-CN" altLang="en-US" dirty="0"/>
          </a:p>
        </p:txBody>
      </p:sp>
      <p:sp>
        <p:nvSpPr>
          <p:cNvPr id="8"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什么是智能网联汽车V2X通信技术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V</a:t>
            </a:r>
            <a:r>
              <a:rPr lang="zh-CN" altLang="en-US" sz="3200" b="1" dirty="0" smtClean="0">
                <a:solidFill>
                  <a:schemeClr val="accent1"/>
                </a:solidFill>
                <a:latin typeface="微软雅黑" panose="020B0503020204020204" pitchFamily="34" charset="-122"/>
              </a:rPr>
              <a:t>2X通信技术有哪些应用？</a:t>
            </a:r>
          </a:p>
        </p:txBody>
      </p:sp>
      <p:sp>
        <p:nvSpPr>
          <p:cNvPr id="3" name="矩形 2"/>
          <p:cNvSpPr/>
          <p:nvPr/>
        </p:nvSpPr>
        <p:spPr>
          <a:xfrm>
            <a:off x="971600" y="2156156"/>
            <a:ext cx="941283"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1.V2V</a:t>
            </a:r>
          </a:p>
        </p:txBody>
      </p:sp>
      <p:sp>
        <p:nvSpPr>
          <p:cNvPr id="2" name="矩形 1"/>
          <p:cNvSpPr/>
          <p:nvPr/>
        </p:nvSpPr>
        <p:spPr>
          <a:xfrm>
            <a:off x="953671" y="3435846"/>
            <a:ext cx="4410417" cy="1215204"/>
          </a:xfrm>
          <a:prstGeom prst="rect">
            <a:avLst/>
          </a:prstGeom>
          <a:solidFill>
            <a:schemeClr val="accent1"/>
          </a:solidFill>
        </p:spPr>
        <p:txBody>
          <a:bodyPr wrap="square">
            <a:spAutoFit/>
          </a:bodyPr>
          <a:lstStyle/>
          <a:p>
            <a:pPr fontAlgn="base">
              <a:lnSpc>
                <a:spcPct val="114000"/>
              </a:lnSpc>
            </a:pPr>
            <a:r>
              <a:rPr sz="1600" dirty="0" err="1" smtClean="0">
                <a:solidFill>
                  <a:schemeClr val="bg1"/>
                </a:solidFill>
                <a:latin typeface="微软雅黑" panose="020B0503020204020204" pitchFamily="34" charset="-122"/>
                <a:ea typeface="微软雅黑" panose="020B0503020204020204" pitchFamily="34" charset="-122"/>
              </a:rPr>
              <a:t>当前本车的行驶速度与附近范围内车辆的行驶速度</a:t>
            </a:r>
            <a:r>
              <a:rPr lang="zh-CN" altLang="en-US" sz="1600" dirty="0" smtClean="0">
                <a:solidFill>
                  <a:schemeClr val="bg1"/>
                </a:solidFill>
                <a:latin typeface="微软雅黑" panose="020B0503020204020204" pitchFamily="34" charset="-122"/>
                <a:ea typeface="微软雅黑" panose="020B0503020204020204" pitchFamily="34" charset="-122"/>
              </a:rPr>
              <a:t>、</a:t>
            </a:r>
            <a:r>
              <a:rPr sz="1600" dirty="0" err="1" smtClean="0">
                <a:solidFill>
                  <a:schemeClr val="bg1"/>
                </a:solidFill>
                <a:latin typeface="微软雅黑" panose="020B0503020204020204" pitchFamily="34" charset="-122"/>
                <a:ea typeface="微软雅黑" panose="020B0503020204020204" pitchFamily="34" charset="-122"/>
              </a:rPr>
              <a:t>当前本车的行驶方向与附近范围内车辆的行驶方向</a:t>
            </a:r>
            <a:r>
              <a:rPr lang="zh-CN" altLang="en-US" sz="1600" dirty="0" smtClean="0">
                <a:solidFill>
                  <a:schemeClr val="bg1"/>
                </a:solidFill>
                <a:latin typeface="微软雅黑" panose="020B0503020204020204" pitchFamily="34" charset="-122"/>
                <a:ea typeface="微软雅黑" panose="020B0503020204020204" pitchFamily="34" charset="-122"/>
              </a:rPr>
              <a:t>、</a:t>
            </a:r>
            <a:r>
              <a:rPr sz="1600" dirty="0" err="1" smtClean="0">
                <a:solidFill>
                  <a:schemeClr val="bg1"/>
                </a:solidFill>
                <a:latin typeface="微软雅黑" panose="020B0503020204020204" pitchFamily="34" charset="-122"/>
                <a:ea typeface="微软雅黑" panose="020B0503020204020204" pitchFamily="34" charset="-122"/>
              </a:rPr>
              <a:t>当前本车的紧急状况与附近范围内车辆的行驶状况进行信息内容的交换</a:t>
            </a:r>
            <a:r>
              <a:rPr sz="1600" dirty="0">
                <a:solidFill>
                  <a:schemeClr val="bg1"/>
                </a:solidFill>
                <a:latin typeface="微软雅黑" panose="020B0503020204020204" pitchFamily="34" charset="-122"/>
                <a:ea typeface="微软雅黑" panose="020B0503020204020204" pitchFamily="34" charset="-122"/>
              </a:rPr>
              <a:t>。</a:t>
            </a:r>
          </a:p>
        </p:txBody>
      </p:sp>
      <p:sp>
        <p:nvSpPr>
          <p:cNvPr id="4" name="矩形 3"/>
          <p:cNvSpPr/>
          <p:nvPr/>
        </p:nvSpPr>
        <p:spPr>
          <a:xfrm>
            <a:off x="967162" y="1575192"/>
            <a:ext cx="7205237" cy="584775"/>
          </a:xfrm>
          <a:prstGeom prst="rect">
            <a:avLst/>
          </a:prstGeom>
        </p:spPr>
        <p:txBody>
          <a:bodyPr wrap="square">
            <a:spAutoFit/>
          </a:bodyPr>
          <a:lstStyle/>
          <a:p>
            <a:r>
              <a:rPr lang="en-US" altLang="zh-CN" sz="1600" dirty="0">
                <a:latin typeface="微软雅黑" pitchFamily="34" charset="-122"/>
                <a:ea typeface="微软雅黑" pitchFamily="34" charset="-122"/>
              </a:rPr>
              <a:t>V2X </a:t>
            </a:r>
            <a:r>
              <a:rPr lang="zh-CN" altLang="en-US" sz="1600" dirty="0">
                <a:latin typeface="微软雅黑" pitchFamily="34" charset="-122"/>
                <a:ea typeface="微软雅黑" pitchFamily="34" charset="-122"/>
              </a:rPr>
              <a:t>是智能网联汽车通信技术的核心，即车辆自身（</a:t>
            </a:r>
            <a:r>
              <a:rPr lang="en-US" altLang="zh-CN" sz="1600" dirty="0">
                <a:latin typeface="微软雅黑" pitchFamily="34" charset="-122"/>
                <a:ea typeface="微软雅黑" pitchFamily="34" charset="-122"/>
              </a:rPr>
              <a:t>V</a:t>
            </a:r>
            <a:r>
              <a:rPr lang="zh-CN" altLang="en-US" sz="1600" dirty="0">
                <a:latin typeface="微软雅黑" pitchFamily="34" charset="-122"/>
                <a:ea typeface="微软雅黑" pitchFamily="34" charset="-122"/>
              </a:rPr>
              <a:t>）与外界事物（</a:t>
            </a:r>
            <a:r>
              <a:rPr lang="en-US" altLang="zh-CN" sz="1600" dirty="0">
                <a:latin typeface="微软雅黑" pitchFamily="34" charset="-122"/>
                <a:ea typeface="微软雅黑" pitchFamily="34" charset="-122"/>
              </a:rPr>
              <a:t>X</a:t>
            </a:r>
            <a:r>
              <a:rPr lang="zh-CN" altLang="en-US" sz="1600" dirty="0">
                <a:latin typeface="微软雅黑" pitchFamily="34" charset="-122"/>
                <a:ea typeface="微软雅黑" pitchFamily="34" charset="-122"/>
              </a:rPr>
              <a:t>）进行信息交换。</a:t>
            </a:r>
          </a:p>
        </p:txBody>
      </p:sp>
      <p:sp>
        <p:nvSpPr>
          <p:cNvPr id="5" name="矩形 4"/>
          <p:cNvSpPr/>
          <p:nvPr/>
        </p:nvSpPr>
        <p:spPr>
          <a:xfrm>
            <a:off x="941261" y="2715766"/>
            <a:ext cx="4422827" cy="653769"/>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V2V </a:t>
            </a:r>
            <a:r>
              <a:rPr lang="zh-CN" altLang="en-US" sz="1600" dirty="0">
                <a:solidFill>
                  <a:schemeClr val="bg1"/>
                </a:solidFill>
                <a:latin typeface="微软雅黑" pitchFamily="34" charset="-122"/>
                <a:ea typeface="微软雅黑" pitchFamily="34" charset="-122"/>
              </a:rPr>
              <a:t>是 </a:t>
            </a:r>
            <a:r>
              <a:rPr lang="en-US" altLang="zh-CN" sz="1600" dirty="0" err="1" smtClean="0">
                <a:solidFill>
                  <a:schemeClr val="bg1"/>
                </a:solidFill>
                <a:latin typeface="微软雅黑" pitchFamily="34" charset="-122"/>
                <a:ea typeface="微软雅黑" pitchFamily="34" charset="-122"/>
              </a:rPr>
              <a:t>Vechicle</a:t>
            </a:r>
            <a:r>
              <a:rPr lang="en-US" altLang="zh-CN" sz="1600" dirty="0" smtClean="0">
                <a:solidFill>
                  <a:schemeClr val="bg1"/>
                </a:solidFill>
                <a:latin typeface="微软雅黑" pitchFamily="34" charset="-122"/>
                <a:ea typeface="微软雅黑" pitchFamily="34" charset="-122"/>
              </a:rPr>
              <a:t> to </a:t>
            </a:r>
            <a:r>
              <a:rPr lang="en-US" altLang="zh-CN" sz="1600" dirty="0" err="1" smtClean="0">
                <a:solidFill>
                  <a:schemeClr val="bg1"/>
                </a:solidFill>
                <a:latin typeface="微软雅黑" pitchFamily="34" charset="-122"/>
                <a:ea typeface="微软雅黑" pitchFamily="34" charset="-122"/>
              </a:rPr>
              <a:t>Vechicle</a:t>
            </a:r>
            <a:r>
              <a:rPr lang="en-US" altLang="zh-CN" sz="1600" dirty="0" smtClean="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的英文缩写，即车辆自身（本车）与其他车辆之间的</a:t>
            </a:r>
            <a:r>
              <a:rPr lang="zh-CN" altLang="en-US" sz="1600" dirty="0" smtClean="0">
                <a:solidFill>
                  <a:schemeClr val="bg1"/>
                </a:solidFill>
                <a:latin typeface="微软雅黑" pitchFamily="34" charset="-122"/>
                <a:ea typeface="微软雅黑" pitchFamily="34" charset="-122"/>
              </a:rPr>
              <a:t>信息交换。</a:t>
            </a:r>
            <a:endParaRPr lang="zh-CN" altLang="en-US" sz="1600" dirty="0">
              <a:solidFill>
                <a:schemeClr val="bg1"/>
              </a:solidFill>
              <a:latin typeface="微软雅黑" pitchFamily="34" charset="-122"/>
              <a:ea typeface="微软雅黑" pitchFamily="34" charset="-122"/>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8178" y="2556266"/>
            <a:ext cx="2772255" cy="1444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8</a:t>
            </a:fld>
            <a:endParaRPr lang="zh-CN" altLang="en-US" dirty="0"/>
          </a:p>
        </p:txBody>
      </p:sp>
      <p:sp>
        <p:nvSpPr>
          <p:cNvPr id="2" name="矩形 1"/>
          <p:cNvSpPr/>
          <p:nvPr/>
        </p:nvSpPr>
        <p:spPr>
          <a:xfrm>
            <a:off x="971599" y="1936582"/>
            <a:ext cx="4464497" cy="830997"/>
          </a:xfrm>
          <a:prstGeom prst="rect">
            <a:avLst/>
          </a:prstGeom>
          <a:solidFill>
            <a:schemeClr val="accent1"/>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V2I是Vehicle to </a:t>
            </a:r>
            <a:r>
              <a:rPr sz="1600" dirty="0" err="1">
                <a:solidFill>
                  <a:schemeClr val="bg1"/>
                </a:solidFill>
                <a:latin typeface="微软雅黑" panose="020B0503020204020204" pitchFamily="34" charset="-122"/>
                <a:ea typeface="微软雅黑" panose="020B0503020204020204" pitchFamily="34" charset="-122"/>
              </a:rPr>
              <a:t>Infrastructure的英文缩写，</a:t>
            </a:r>
            <a:r>
              <a:rPr sz="1600" dirty="0" err="1" smtClean="0">
                <a:solidFill>
                  <a:schemeClr val="bg1"/>
                </a:solidFill>
                <a:latin typeface="微软雅黑" panose="020B0503020204020204" pitchFamily="34" charset="-122"/>
                <a:ea typeface="微软雅黑" panose="020B0503020204020204" pitchFamily="34" charset="-122"/>
              </a:rPr>
              <a:t>即车辆自身与基础设施之间的信息交换</a:t>
            </a:r>
            <a:r>
              <a:rPr lang="zh-CN" altLang="en-US"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pic>
        <p:nvPicPr>
          <p:cNvPr id="13" name="图片 13" descr="说明: C:\Users\Lenovo\Desktop\智能网联汽车 人民交通\项目6 智能网联汽车无线通信系统应用\6-1-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652120" y="1887945"/>
            <a:ext cx="2498085" cy="1835933"/>
          </a:xfrm>
          <a:prstGeom prst="rect">
            <a:avLst/>
          </a:prstGeom>
          <a:noFill/>
          <a:ln w="12700" cmpd="sng">
            <a:solidFill>
              <a:schemeClr val="accent1">
                <a:shade val="50000"/>
              </a:schemeClr>
            </a:solidFill>
            <a:prstDash val="solid"/>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什么是智能网联汽车V2X通信技术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V</a:t>
            </a:r>
            <a:r>
              <a:rPr lang="zh-CN" altLang="en-US" sz="3200" b="1" dirty="0" smtClean="0">
                <a:solidFill>
                  <a:schemeClr val="accent1"/>
                </a:solidFill>
                <a:latin typeface="微软雅黑" panose="020B0503020204020204" pitchFamily="34" charset="-122"/>
              </a:rPr>
              <a:t>2X通信技术有哪些应用？</a:t>
            </a:r>
          </a:p>
        </p:txBody>
      </p:sp>
      <p:sp>
        <p:nvSpPr>
          <p:cNvPr id="10" name="矩形 9"/>
          <p:cNvSpPr/>
          <p:nvPr/>
        </p:nvSpPr>
        <p:spPr>
          <a:xfrm>
            <a:off x="971599" y="1487835"/>
            <a:ext cx="845103"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2</a:t>
            </a:r>
            <a:r>
              <a:rPr sz="2000" b="1" dirty="0" smtClean="0">
                <a:solidFill>
                  <a:schemeClr val="bg1"/>
                </a:solidFill>
                <a:latin typeface="微软雅黑" panose="020B0503020204020204" pitchFamily="34" charset="-122"/>
                <a:ea typeface="微软雅黑" panose="020B0503020204020204" pitchFamily="34" charset="-122"/>
              </a:rPr>
              <a:t>.V2</a:t>
            </a:r>
            <a:r>
              <a:rPr lang="en-US" sz="2000" b="1" dirty="0" smtClean="0">
                <a:solidFill>
                  <a:schemeClr val="bg1"/>
                </a:solidFill>
                <a:latin typeface="微软雅黑" panose="020B0503020204020204" pitchFamily="34" charset="-122"/>
                <a:ea typeface="微软雅黑" panose="020B0503020204020204" pitchFamily="34" charset="-122"/>
              </a:rPr>
              <a:t>I</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600" y="2939910"/>
            <a:ext cx="4464496" cy="653769"/>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基础设施主要包括交通信号灯、公交站台、交通指示牌、立交桥、隧道、停车场等。</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9</a:t>
            </a:fld>
            <a:endParaRPr lang="zh-CN" altLang="en-US" dirty="0"/>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什么是智能网联汽车V2X通信技术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V</a:t>
            </a:r>
            <a:r>
              <a:rPr lang="zh-CN" altLang="en-US" sz="3200" b="1" dirty="0" smtClean="0">
                <a:solidFill>
                  <a:schemeClr val="accent1"/>
                </a:solidFill>
                <a:latin typeface="微软雅黑" panose="020B0503020204020204" pitchFamily="34" charset="-122"/>
              </a:rPr>
              <a:t>2X通信技术有哪些应用？</a:t>
            </a:r>
          </a:p>
        </p:txBody>
      </p:sp>
      <p:sp>
        <p:nvSpPr>
          <p:cNvPr id="10" name="矩形 9"/>
          <p:cNvSpPr/>
          <p:nvPr/>
        </p:nvSpPr>
        <p:spPr>
          <a:xfrm>
            <a:off x="971599" y="1487835"/>
            <a:ext cx="926857"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3</a:t>
            </a:r>
            <a:r>
              <a:rPr sz="2000" b="1" dirty="0" smtClean="0">
                <a:solidFill>
                  <a:schemeClr val="bg1"/>
                </a:solidFill>
                <a:latin typeface="微软雅黑" panose="020B0503020204020204" pitchFamily="34" charset="-122"/>
                <a:ea typeface="微软雅黑" panose="020B0503020204020204" pitchFamily="34" charset="-122"/>
              </a:rPr>
              <a:t>.V2</a:t>
            </a:r>
            <a:r>
              <a:rPr lang="en-US" sz="2000" b="1" dirty="0" smtClean="0">
                <a:solidFill>
                  <a:schemeClr val="bg1"/>
                </a:solidFill>
                <a:latin typeface="微软雅黑" panose="020B0503020204020204" pitchFamily="34" charset="-122"/>
                <a:ea typeface="微软雅黑" panose="020B0503020204020204" pitchFamily="34" charset="-122"/>
              </a:rPr>
              <a:t>P</a:t>
            </a:r>
            <a:endParaRPr sz="2000" b="1" dirty="0" smtClean="0">
              <a:solidFill>
                <a:schemeClr val="bg1"/>
              </a:solidFill>
              <a:latin typeface="微软雅黑" panose="020B0503020204020204" pitchFamily="34" charset="-122"/>
              <a:ea typeface="微软雅黑" panose="020B0503020204020204" pitchFamily="34" charset="-122"/>
            </a:endParaRPr>
          </a:p>
        </p:txBody>
      </p:sp>
      <p:pic>
        <p:nvPicPr>
          <p:cNvPr id="8" name="图片 22" descr="https://img.pcauto.com.cn/images/upload/upc/tx/autohm/1807/20/c9/98188532_1532073943287_640x48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724128" y="1995686"/>
            <a:ext cx="2440558" cy="1501409"/>
          </a:xfrm>
          <a:prstGeom prst="rect">
            <a:avLst/>
          </a:prstGeom>
          <a:noFill/>
          <a:ln w="12700" cmpd="sng">
            <a:solidFill>
              <a:schemeClr val="accent1">
                <a:shade val="50000"/>
              </a:schemeClr>
            </a:solidFill>
            <a:prstDash val="solid"/>
          </a:ln>
        </p:spPr>
      </p:pic>
      <p:sp>
        <p:nvSpPr>
          <p:cNvPr id="3" name="矩形 2"/>
          <p:cNvSpPr/>
          <p:nvPr/>
        </p:nvSpPr>
        <p:spPr>
          <a:xfrm>
            <a:off x="936104" y="1995686"/>
            <a:ext cx="4644008" cy="653769"/>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V2P </a:t>
            </a:r>
            <a:r>
              <a:rPr lang="zh-CN" altLang="en-US" sz="1600" dirty="0">
                <a:solidFill>
                  <a:schemeClr val="bg1"/>
                </a:solidFill>
                <a:latin typeface="微软雅黑" pitchFamily="34" charset="-122"/>
                <a:ea typeface="微软雅黑" pitchFamily="34" charset="-122"/>
              </a:rPr>
              <a:t>是 </a:t>
            </a:r>
            <a:r>
              <a:rPr lang="en-US" altLang="zh-CN" sz="1600" dirty="0">
                <a:solidFill>
                  <a:schemeClr val="bg1"/>
                </a:solidFill>
                <a:latin typeface="微软雅黑" pitchFamily="34" charset="-122"/>
                <a:ea typeface="微软雅黑" pitchFamily="34" charset="-122"/>
              </a:rPr>
              <a:t>Vehicle to Pedestrian </a:t>
            </a:r>
            <a:r>
              <a:rPr lang="zh-CN" altLang="en-US" sz="1600" dirty="0">
                <a:solidFill>
                  <a:schemeClr val="bg1"/>
                </a:solidFill>
                <a:latin typeface="微软雅黑" pitchFamily="34" charset="-122"/>
                <a:ea typeface="微软雅黑" pitchFamily="34" charset="-122"/>
              </a:rPr>
              <a:t>的英文缩写，即 车辆自身与外界行人之间的</a:t>
            </a:r>
            <a:r>
              <a:rPr lang="zh-CN" altLang="en-US" sz="1600" dirty="0" smtClean="0">
                <a:solidFill>
                  <a:schemeClr val="bg1"/>
                </a:solidFill>
                <a:latin typeface="微软雅黑" pitchFamily="34" charset="-122"/>
                <a:ea typeface="微软雅黑" pitchFamily="34" charset="-122"/>
              </a:rPr>
              <a:t>信息交换。</a:t>
            </a:r>
            <a:endParaRPr lang="zh-CN" altLang="en-US" sz="1600" dirty="0">
              <a:solidFill>
                <a:schemeClr val="bg1"/>
              </a:solidFill>
              <a:latin typeface="微软雅黑" pitchFamily="34" charset="-122"/>
              <a:ea typeface="微软雅黑" pitchFamily="34" charset="-122"/>
            </a:endParaRPr>
          </a:p>
        </p:txBody>
      </p:sp>
      <p:sp>
        <p:nvSpPr>
          <p:cNvPr id="5" name="矩形 4"/>
          <p:cNvSpPr/>
          <p:nvPr/>
        </p:nvSpPr>
        <p:spPr>
          <a:xfrm>
            <a:off x="936104" y="2859782"/>
            <a:ext cx="4644008" cy="1776640"/>
          </a:xfrm>
          <a:prstGeom prst="rect">
            <a:avLst/>
          </a:prstGeom>
          <a:solidFill>
            <a:schemeClr val="accent1"/>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车辆自身与外界行人之间的信息交换内容</a:t>
            </a:r>
            <a:r>
              <a:rPr lang="zh-CN" altLang="en-US" sz="1600" dirty="0" smtClean="0">
                <a:solidFill>
                  <a:schemeClr val="bg1"/>
                </a:solidFill>
                <a:latin typeface="微软雅黑" pitchFamily="34" charset="-122"/>
                <a:ea typeface="微软雅黑" pitchFamily="34" charset="-122"/>
              </a:rPr>
              <a:t>，主要</a:t>
            </a:r>
            <a:r>
              <a:rPr lang="zh-CN" altLang="en-US" sz="1600" dirty="0">
                <a:solidFill>
                  <a:schemeClr val="bg1"/>
                </a:solidFill>
                <a:latin typeface="微软雅黑" pitchFamily="34" charset="-122"/>
                <a:ea typeface="微软雅黑" pitchFamily="34" charset="-122"/>
              </a:rPr>
              <a:t>包括以下几方面：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①</a:t>
            </a:r>
            <a:r>
              <a:rPr lang="zh-CN" altLang="en-US" sz="1600" dirty="0">
                <a:solidFill>
                  <a:schemeClr val="bg1"/>
                </a:solidFill>
                <a:latin typeface="微软雅黑" pitchFamily="34" charset="-122"/>
                <a:ea typeface="微软雅黑" pitchFamily="34" charset="-122"/>
              </a:rPr>
              <a:t>车辆自身的行驶速度与行人当前位置</a:t>
            </a:r>
            <a:r>
              <a:rPr lang="zh-CN" altLang="en-US" sz="1600" dirty="0" smtClean="0">
                <a:solidFill>
                  <a:schemeClr val="bg1"/>
                </a:solidFill>
                <a:latin typeface="微软雅黑" pitchFamily="34" charset="-122"/>
                <a:ea typeface="微软雅黑" pitchFamily="34" charset="-122"/>
              </a:rPr>
              <a:t>进行信息内容</a:t>
            </a:r>
            <a:r>
              <a:rPr lang="zh-CN" altLang="en-US" sz="1600" dirty="0">
                <a:solidFill>
                  <a:schemeClr val="bg1"/>
                </a:solidFill>
                <a:latin typeface="微软雅黑" pitchFamily="34" charset="-122"/>
                <a:ea typeface="微软雅黑" pitchFamily="34" charset="-122"/>
              </a:rPr>
              <a:t>的交换</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车辆自身的行驶方向与行人当前位置进行 信息内容的</a:t>
            </a:r>
            <a:r>
              <a:rPr lang="zh-CN" altLang="en-US" sz="1600" dirty="0" smtClean="0">
                <a:solidFill>
                  <a:schemeClr val="bg1"/>
                </a:solidFill>
                <a:latin typeface="微软雅黑" pitchFamily="34" charset="-122"/>
                <a:ea typeface="微软雅黑" pitchFamily="34" charset="-122"/>
              </a:rPr>
              <a:t>交换。</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824095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10</a:t>
            </a:fld>
            <a:endParaRPr lang="zh-CN" altLang="en-US" dirty="0"/>
          </a:p>
        </p:txBody>
      </p:sp>
      <p:sp>
        <p:nvSpPr>
          <p:cNvPr id="2" name="矩形 1"/>
          <p:cNvSpPr/>
          <p:nvPr/>
        </p:nvSpPr>
        <p:spPr>
          <a:xfrm>
            <a:off x="971599" y="1923415"/>
            <a:ext cx="7200801" cy="934487"/>
          </a:xfrm>
          <a:prstGeom prst="rect">
            <a:avLst/>
          </a:prstGeom>
          <a:solidFill>
            <a:schemeClr val="accent1"/>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V2R是Vehicle to Road的英文缩写，即车辆自身与道路之间的信息交换。根据道路的特殊性，V2R又可分为两大类型，一类是车辆自身与城市道路之间的信息交换；</a:t>
            </a:r>
            <a:r>
              <a:rPr sz="1600" dirty="0" smtClean="0">
                <a:solidFill>
                  <a:schemeClr val="bg1"/>
                </a:solidFill>
                <a:latin typeface="微软雅黑" panose="020B0503020204020204" pitchFamily="34" charset="-122"/>
                <a:ea typeface="微软雅黑" panose="020B0503020204020204" pitchFamily="34" charset="-122"/>
              </a:rPr>
              <a:t>另一类是车辆自身与高速道路之间的信息交换</a:t>
            </a:r>
            <a:r>
              <a:rPr lang="zh-CN" altLang="en-US"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pic>
        <p:nvPicPr>
          <p:cNvPr id="11" name="图片 11" descr="说明: http://5b0988e595225.cdn.sohucs.com/images/20170731/040ea2bc97a34df8bf28542247ee1773.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292080" y="2989897"/>
            <a:ext cx="2880320" cy="1670085"/>
          </a:xfrm>
          <a:prstGeom prst="rect">
            <a:avLst/>
          </a:prstGeom>
          <a:noFill/>
          <a:ln w="12700" cmpd="sng">
            <a:solidFill>
              <a:schemeClr val="accent1">
                <a:shade val="50000"/>
              </a:schemeClr>
            </a:solidFill>
            <a:prstDash val="solid"/>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什么是智能网联汽车V2X通信技术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V</a:t>
            </a:r>
            <a:r>
              <a:rPr lang="zh-CN" altLang="en-US" sz="3200" b="1" dirty="0" smtClean="0">
                <a:solidFill>
                  <a:schemeClr val="accent1"/>
                </a:solidFill>
                <a:latin typeface="微软雅黑" panose="020B0503020204020204" pitchFamily="34" charset="-122"/>
              </a:rPr>
              <a:t>2X通信技术有哪些应用？</a:t>
            </a:r>
          </a:p>
        </p:txBody>
      </p:sp>
      <p:sp>
        <p:nvSpPr>
          <p:cNvPr id="10" name="矩形 9"/>
          <p:cNvSpPr/>
          <p:nvPr/>
        </p:nvSpPr>
        <p:spPr>
          <a:xfrm>
            <a:off x="971599" y="1487835"/>
            <a:ext cx="938077" cy="400110"/>
          </a:xfrm>
          <a:prstGeom prst="rect">
            <a:avLst/>
          </a:prstGeom>
          <a:solidFill>
            <a:schemeClr val="accent1"/>
          </a:solidFill>
        </p:spPr>
        <p:txBody>
          <a:bodyPr wrap="none">
            <a:spAutoFit/>
          </a:bodyPr>
          <a:lstStyle/>
          <a:p>
            <a:pPr algn="l" fontAlgn="ctr"/>
            <a:r>
              <a:rPr lang="en-US" sz="2000" b="1" dirty="0">
                <a:solidFill>
                  <a:schemeClr val="bg1"/>
                </a:solidFill>
                <a:latin typeface="微软雅黑" panose="020B0503020204020204" pitchFamily="34" charset="-122"/>
                <a:ea typeface="微软雅黑" panose="020B0503020204020204" pitchFamily="34" charset="-122"/>
              </a:rPr>
              <a:t>4</a:t>
            </a:r>
            <a:r>
              <a:rPr sz="2000" b="1" dirty="0" smtClean="0">
                <a:solidFill>
                  <a:schemeClr val="bg1"/>
                </a:solidFill>
                <a:latin typeface="微软雅黑" panose="020B0503020204020204" pitchFamily="34" charset="-122"/>
                <a:ea typeface="微软雅黑" panose="020B0503020204020204" pitchFamily="34" charset="-122"/>
              </a:rPr>
              <a:t>.V2</a:t>
            </a:r>
            <a:r>
              <a:rPr lang="en-US" sz="2000" b="1" dirty="0" smtClean="0">
                <a:solidFill>
                  <a:schemeClr val="bg1"/>
                </a:solidFill>
                <a:latin typeface="微软雅黑" panose="020B0503020204020204" pitchFamily="34" charset="-122"/>
                <a:ea typeface="微软雅黑" panose="020B0503020204020204" pitchFamily="34" charset="-122"/>
              </a:rPr>
              <a:t>R</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599" y="2983084"/>
            <a:ext cx="4176465" cy="1815882"/>
          </a:xfrm>
          <a:prstGeom prst="rect">
            <a:avLst/>
          </a:prstGeom>
          <a:solidFill>
            <a:schemeClr val="accent1"/>
          </a:solidFill>
        </p:spPr>
        <p:txBody>
          <a:bodyPr wrap="square">
            <a:spAutoFit/>
          </a:bodyPr>
          <a:lstStyle/>
          <a:p>
            <a:r>
              <a:rPr lang="zh-CN" altLang="en-US" sz="1600" dirty="0" smtClean="0">
                <a:solidFill>
                  <a:schemeClr val="bg1"/>
                </a:solidFill>
                <a:latin typeface="微软雅黑" pitchFamily="34" charset="-122"/>
                <a:ea typeface="微软雅黑" pitchFamily="34" charset="-122"/>
              </a:rPr>
              <a:t>包括： </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①车辆</a:t>
            </a:r>
            <a:r>
              <a:rPr lang="zh-CN" altLang="en-US" sz="1600" dirty="0">
                <a:solidFill>
                  <a:schemeClr val="bg1"/>
                </a:solidFill>
                <a:latin typeface="微软雅黑" pitchFamily="34" charset="-122"/>
                <a:ea typeface="微软雅黑" pitchFamily="34" charset="-122"/>
              </a:rPr>
              <a:t>自身的行驶路线与道路当前路况进行信息内容的交换</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车辆自身的行驶方向与前方道路发生的事故进行信息内容的交换。 </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车辆行驶的导航信息与前方道路的路标牌进行信息内容的交换。</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11</a:t>
            </a:fld>
            <a:endParaRPr lang="zh-CN" altLang="en-US" dirty="0"/>
          </a:p>
        </p:txBody>
      </p:sp>
      <p:pic>
        <p:nvPicPr>
          <p:cNvPr id="10" name="图片 10" descr="说明: C:\Users\Lenovo\Desktop\智能网联汽车 人民交通\项目6 智能网联汽车无线通信系统应用\6-1-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5436096" y="2673218"/>
            <a:ext cx="2736303" cy="1842748"/>
          </a:xfrm>
          <a:prstGeom prst="rect">
            <a:avLst/>
          </a:prstGeom>
          <a:noFill/>
          <a:ln w="12700" cmpd="sng">
            <a:solidFill>
              <a:schemeClr val="accent1">
                <a:shade val="50000"/>
              </a:schemeClr>
            </a:solidFill>
            <a:prstDash val="solid"/>
          </a:ln>
        </p:spPr>
      </p:pic>
      <p:sp>
        <p:nvSpPr>
          <p:cNvPr id="7"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什么是智能网联汽车V2X通信技术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V</a:t>
            </a:r>
            <a:r>
              <a:rPr lang="zh-CN" altLang="en-US" sz="3200" b="1" dirty="0" smtClean="0">
                <a:solidFill>
                  <a:schemeClr val="accent1"/>
                </a:solidFill>
                <a:latin typeface="微软雅黑" panose="020B0503020204020204" pitchFamily="34" charset="-122"/>
              </a:rPr>
              <a:t>2X通信技术有哪些应用？</a:t>
            </a:r>
          </a:p>
        </p:txBody>
      </p:sp>
      <p:sp>
        <p:nvSpPr>
          <p:cNvPr id="9" name="矩形 8"/>
          <p:cNvSpPr/>
          <p:nvPr/>
        </p:nvSpPr>
        <p:spPr>
          <a:xfrm>
            <a:off x="971599" y="1487835"/>
            <a:ext cx="976549" cy="400110"/>
          </a:xfrm>
          <a:prstGeom prst="rect">
            <a:avLst/>
          </a:prstGeom>
          <a:solidFill>
            <a:schemeClr val="accent1"/>
          </a:solidFill>
        </p:spPr>
        <p:txBody>
          <a:bodyPr wrap="none">
            <a:spAutoFit/>
          </a:bodyPr>
          <a:lstStyle/>
          <a:p>
            <a:pPr algn="l" fontAlgn="ctr"/>
            <a:r>
              <a:rPr lang="en-US" sz="2000" b="1" dirty="0" smtClean="0">
                <a:solidFill>
                  <a:schemeClr val="bg1"/>
                </a:solidFill>
                <a:latin typeface="微软雅黑" panose="020B0503020204020204" pitchFamily="34" charset="-122"/>
                <a:ea typeface="微软雅黑" panose="020B0503020204020204" pitchFamily="34" charset="-122"/>
              </a:rPr>
              <a:t>5</a:t>
            </a:r>
            <a:r>
              <a:rPr sz="2000" b="1" dirty="0" smtClean="0">
                <a:solidFill>
                  <a:schemeClr val="bg1"/>
                </a:solidFill>
                <a:latin typeface="微软雅黑" panose="020B0503020204020204" pitchFamily="34" charset="-122"/>
                <a:ea typeface="微软雅黑" panose="020B0503020204020204" pitchFamily="34" charset="-122"/>
              </a:rPr>
              <a:t>.V2</a:t>
            </a:r>
            <a:r>
              <a:rPr lang="en-US" sz="2000" b="1" dirty="0" smtClean="0">
                <a:solidFill>
                  <a:schemeClr val="bg1"/>
                </a:solidFill>
                <a:latin typeface="微软雅黑" panose="020B0503020204020204" pitchFamily="34" charset="-122"/>
                <a:ea typeface="微软雅黑" panose="020B0503020204020204" pitchFamily="34" charset="-122"/>
              </a:rPr>
              <a:t>N</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71598" y="1946852"/>
            <a:ext cx="7200801" cy="653769"/>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V2N</a:t>
            </a:r>
            <a:r>
              <a:rPr lang="zh-CN" altLang="en-US" sz="1600" dirty="0">
                <a:solidFill>
                  <a:schemeClr val="bg1"/>
                </a:solidFill>
                <a:latin typeface="微软雅黑" pitchFamily="34" charset="-122"/>
                <a:ea typeface="微软雅黑" pitchFamily="34" charset="-122"/>
              </a:rPr>
              <a:t>是 </a:t>
            </a:r>
            <a:r>
              <a:rPr lang="en-US" altLang="zh-CN" sz="1600" dirty="0">
                <a:solidFill>
                  <a:schemeClr val="bg1"/>
                </a:solidFill>
                <a:latin typeface="微软雅黑" pitchFamily="34" charset="-122"/>
                <a:ea typeface="微软雅黑" pitchFamily="34" charset="-122"/>
              </a:rPr>
              <a:t>Vehicle to Network </a:t>
            </a:r>
            <a:r>
              <a:rPr lang="zh-CN" altLang="en-US" sz="1600" dirty="0">
                <a:solidFill>
                  <a:schemeClr val="bg1"/>
                </a:solidFill>
                <a:latin typeface="微软雅黑" pitchFamily="34" charset="-122"/>
                <a:ea typeface="微软雅黑" pitchFamily="34" charset="-122"/>
              </a:rPr>
              <a:t>的英文缩写，即车辆自身或驾驶员与互联网之间的</a:t>
            </a:r>
            <a:r>
              <a:rPr lang="zh-CN" altLang="en-US" sz="1600" dirty="0" smtClean="0">
                <a:solidFill>
                  <a:schemeClr val="bg1"/>
                </a:solidFill>
                <a:latin typeface="微软雅黑" pitchFamily="34" charset="-122"/>
                <a:ea typeface="微软雅黑" pitchFamily="34" charset="-122"/>
              </a:rPr>
              <a:t>信息交换。</a:t>
            </a:r>
            <a:endParaRPr lang="zh-CN" altLang="en-US" sz="1600" dirty="0">
              <a:solidFill>
                <a:schemeClr val="bg1"/>
              </a:solidFill>
              <a:latin typeface="微软雅黑" pitchFamily="34" charset="-122"/>
              <a:ea typeface="微软雅黑" pitchFamily="34" charset="-122"/>
            </a:endParaRPr>
          </a:p>
        </p:txBody>
      </p:sp>
      <p:sp>
        <p:nvSpPr>
          <p:cNvPr id="5" name="矩形 4"/>
          <p:cNvSpPr/>
          <p:nvPr/>
        </p:nvSpPr>
        <p:spPr>
          <a:xfrm>
            <a:off x="971598" y="2615574"/>
            <a:ext cx="4320482" cy="830997"/>
          </a:xfrm>
          <a:prstGeom prst="rect">
            <a:avLst/>
          </a:prstGeom>
          <a:solidFill>
            <a:schemeClr val="accent1"/>
          </a:solidFill>
        </p:spPr>
        <p:txBody>
          <a:bodyPr wrap="square">
            <a:spAutoFit/>
          </a:bodyPr>
          <a:lstStyle/>
          <a:p>
            <a:r>
              <a:rPr lang="zh-CN" altLang="en-US" sz="1600" dirty="0" smtClean="0">
                <a:solidFill>
                  <a:schemeClr val="bg1"/>
                </a:solidFill>
                <a:latin typeface="微软雅黑" pitchFamily="34" charset="-122"/>
                <a:ea typeface="微软雅黑" pitchFamily="34" charset="-122"/>
              </a:rPr>
              <a:t>驾驶员</a:t>
            </a:r>
            <a:r>
              <a:rPr lang="zh-CN" altLang="en-US" sz="1600" dirty="0">
                <a:solidFill>
                  <a:schemeClr val="bg1"/>
                </a:solidFill>
                <a:latin typeface="微软雅黑" pitchFamily="34" charset="-122"/>
                <a:ea typeface="微软雅黑" pitchFamily="34" charset="-122"/>
              </a:rPr>
              <a:t>与互联网之间的信息交换</a:t>
            </a:r>
            <a:r>
              <a:rPr lang="zh-CN" altLang="en-US" sz="1600" dirty="0" smtClean="0">
                <a:solidFill>
                  <a:schemeClr val="bg1"/>
                </a:solidFill>
                <a:latin typeface="微软雅黑" pitchFamily="34" charset="-122"/>
                <a:ea typeface="微软雅黑" pitchFamily="34" charset="-122"/>
              </a:rPr>
              <a:t>，包括：娱乐</a:t>
            </a:r>
            <a:r>
              <a:rPr lang="zh-CN" altLang="en-US" sz="1600" dirty="0">
                <a:solidFill>
                  <a:schemeClr val="bg1"/>
                </a:solidFill>
                <a:latin typeface="微软雅黑" pitchFamily="34" charset="-122"/>
                <a:ea typeface="微软雅黑" pitchFamily="34" charset="-122"/>
              </a:rPr>
              <a:t>应用、新闻资讯、车载通信</a:t>
            </a:r>
            <a:r>
              <a:rPr lang="zh-CN" altLang="en-US" sz="1600" dirty="0" smtClean="0">
                <a:solidFill>
                  <a:schemeClr val="bg1"/>
                </a:solidFill>
                <a:latin typeface="微软雅黑" pitchFamily="34" charset="-122"/>
                <a:ea typeface="微软雅黑" pitchFamily="34" charset="-122"/>
              </a:rPr>
              <a:t>等，还</a:t>
            </a:r>
            <a:r>
              <a:rPr lang="zh-CN" altLang="en-US" sz="1600" dirty="0">
                <a:solidFill>
                  <a:schemeClr val="bg1"/>
                </a:solidFill>
                <a:latin typeface="微软雅黑" pitchFamily="34" charset="-122"/>
                <a:ea typeface="微软雅黑" pitchFamily="34" charset="-122"/>
              </a:rPr>
              <a:t>可以通过应用软件</a:t>
            </a:r>
            <a:r>
              <a:rPr lang="zh-CN" altLang="en-US" sz="1600" dirty="0" smtClean="0">
                <a:solidFill>
                  <a:schemeClr val="bg1"/>
                </a:solidFill>
                <a:latin typeface="微软雅黑" pitchFamily="34" charset="-122"/>
                <a:ea typeface="微软雅黑" pitchFamily="34" charset="-122"/>
              </a:rPr>
              <a:t>及时</a:t>
            </a:r>
            <a:r>
              <a:rPr lang="zh-CN" altLang="en-US" sz="1600" dirty="0">
                <a:solidFill>
                  <a:schemeClr val="bg1"/>
                </a:solidFill>
                <a:latin typeface="微软雅黑" pitchFamily="34" charset="-122"/>
                <a:ea typeface="微软雅黑" pitchFamily="34" charset="-122"/>
              </a:rPr>
              <a:t>从互联网上获取车辆的防盗信息。</a:t>
            </a:r>
          </a:p>
        </p:txBody>
      </p:sp>
      <p:sp>
        <p:nvSpPr>
          <p:cNvPr id="11" name="矩形 10"/>
          <p:cNvSpPr/>
          <p:nvPr/>
        </p:nvSpPr>
        <p:spPr>
          <a:xfrm>
            <a:off x="971598" y="3651870"/>
            <a:ext cx="3888434" cy="1077218"/>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车辆自身与互联网之间的信息交换</a:t>
            </a:r>
            <a:r>
              <a:rPr lang="zh-CN" altLang="en-US" sz="1600" dirty="0" smtClean="0">
                <a:solidFill>
                  <a:schemeClr val="bg1"/>
                </a:solidFill>
                <a:latin typeface="微软雅黑" pitchFamily="34" charset="-122"/>
                <a:ea typeface="微软雅黑" pitchFamily="34" charset="-122"/>
              </a:rPr>
              <a:t>，包括： </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①</a:t>
            </a:r>
            <a:r>
              <a:rPr lang="zh-CN" altLang="en-US" sz="1600" dirty="0">
                <a:solidFill>
                  <a:schemeClr val="bg1"/>
                </a:solidFill>
                <a:latin typeface="微软雅黑" pitchFamily="34" charset="-122"/>
                <a:ea typeface="微软雅黑" pitchFamily="34" charset="-122"/>
              </a:rPr>
              <a:t>车辆自身的行驶信息和传感器</a:t>
            </a:r>
            <a:r>
              <a:rPr lang="zh-CN" altLang="en-US" sz="1600" dirty="0" smtClean="0">
                <a:solidFill>
                  <a:schemeClr val="bg1"/>
                </a:solidFill>
                <a:latin typeface="微软雅黑" pitchFamily="34" charset="-122"/>
                <a:ea typeface="微软雅黑" pitchFamily="34" charset="-122"/>
              </a:rPr>
              <a:t>数据。 </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车辆终端</a:t>
            </a:r>
            <a:r>
              <a:rPr lang="zh-CN" altLang="en-US" sz="1600" dirty="0" smtClean="0">
                <a:solidFill>
                  <a:schemeClr val="bg1"/>
                </a:solidFill>
                <a:latin typeface="微软雅黑" pitchFamily="34" charset="-122"/>
                <a:ea typeface="微软雅黑" pitchFamily="34" charset="-122"/>
              </a:rPr>
              <a:t>系统。 </a:t>
            </a:r>
            <a:endParaRPr lang="en-US" altLang="zh-CN" sz="1600" dirty="0" smtClean="0">
              <a:solidFill>
                <a:schemeClr val="bg1"/>
              </a:solidFill>
              <a:latin typeface="微软雅黑" pitchFamily="34" charset="-122"/>
              <a:ea typeface="微软雅黑" pitchFamily="34" charset="-122"/>
            </a:endParaRPr>
          </a:p>
          <a:p>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车辆自身的故障</a:t>
            </a:r>
            <a:r>
              <a:rPr lang="zh-CN" altLang="en-US" sz="1600" dirty="0" smtClean="0">
                <a:solidFill>
                  <a:schemeClr val="bg1"/>
                </a:solidFill>
                <a:latin typeface="微软雅黑" pitchFamily="34" charset="-122"/>
                <a:ea typeface="微软雅黑" pitchFamily="34" charset="-122"/>
              </a:rPr>
              <a:t>系统。</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12</a:t>
            </a:fld>
            <a:endParaRPr lang="zh-CN" altLang="en-US" dirty="0"/>
          </a:p>
        </p:txBody>
      </p:sp>
      <p:sp>
        <p:nvSpPr>
          <p:cNvPr id="3" name="矩形 2"/>
          <p:cNvSpPr/>
          <p:nvPr/>
        </p:nvSpPr>
        <p:spPr>
          <a:xfrm>
            <a:off x="971600" y="1635646"/>
            <a:ext cx="4272323"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6.智能网联汽车实现V2X功能的条件</a:t>
            </a:r>
          </a:p>
        </p:txBody>
      </p:sp>
      <p:sp>
        <p:nvSpPr>
          <p:cNvPr id="2" name="矩形 1"/>
          <p:cNvSpPr/>
          <p:nvPr/>
        </p:nvSpPr>
        <p:spPr>
          <a:xfrm>
            <a:off x="971599" y="2139702"/>
            <a:ext cx="4968553" cy="2338076"/>
          </a:xfrm>
          <a:prstGeom prst="rect">
            <a:avLst/>
          </a:prstGeom>
          <a:solidFill>
            <a:schemeClr val="accent1"/>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智能网联汽车V2X功能的实现条件是必须首先实现车辆自身的智能化。车辆的智能化主要包括车载传感器的环境感知功能、汽车数据通信处理能力，以及数据分析后的决策功能。只有在实现了车辆智能化的基础上，才能利用网络通信技术实现智能网联汽车的V2X功能</a:t>
            </a:r>
            <a:r>
              <a:rPr sz="1600" dirty="0" smtClean="0">
                <a:solidFill>
                  <a:schemeClr val="bg1"/>
                </a:solidFill>
                <a:latin typeface="微软雅黑" panose="020B0503020204020204" pitchFamily="34" charset="-122"/>
                <a:ea typeface="微软雅黑" panose="020B0503020204020204" pitchFamily="34" charset="-122"/>
              </a:rPr>
              <a:t>。</a:t>
            </a:r>
            <a:endParaRPr lang="en-US" sz="1600" dirty="0" smtClean="0">
              <a:solidFill>
                <a:schemeClr val="bg1"/>
              </a:solidFill>
              <a:latin typeface="微软雅黑" panose="020B0503020204020204" pitchFamily="34" charset="-122"/>
              <a:ea typeface="微软雅黑" panose="020B0503020204020204" pitchFamily="34" charset="-122"/>
            </a:endParaRPr>
          </a:p>
          <a:p>
            <a:pPr fontAlgn="base">
              <a:lnSpc>
                <a:spcPct val="114000"/>
              </a:lnSpc>
            </a:pPr>
            <a:r>
              <a:rPr sz="1600" dirty="0" smtClean="0">
                <a:solidFill>
                  <a:schemeClr val="bg1"/>
                </a:solidFill>
                <a:latin typeface="微软雅黑" panose="020B0503020204020204" pitchFamily="34" charset="-122"/>
                <a:ea typeface="微软雅黑" panose="020B0503020204020204" pitchFamily="34" charset="-122"/>
              </a:rPr>
              <a:t>目前</a:t>
            </a:r>
            <a:r>
              <a:rPr sz="1600" dirty="0">
                <a:solidFill>
                  <a:schemeClr val="bg1"/>
                </a:solidFill>
                <a:latin typeface="微软雅黑" panose="020B0503020204020204" pitchFamily="34" charset="-122"/>
                <a:ea typeface="微软雅黑" panose="020B0503020204020204" pitchFamily="34" charset="-122"/>
              </a:rPr>
              <a:t>，实现智能网联汽车V2X功能的网络通信技术主要有移动网络通信技术和物联网无线通信技术。</a:t>
            </a:r>
          </a:p>
        </p:txBody>
      </p:sp>
      <p:pic>
        <p:nvPicPr>
          <p:cNvPr id="9" name="图片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6156176" y="1842382"/>
            <a:ext cx="1981176" cy="2817600"/>
          </a:xfrm>
          <a:prstGeom prst="rect">
            <a:avLst/>
          </a:prstGeom>
          <a:noFill/>
          <a:ln w="12700" cmpd="sng">
            <a:solidFill>
              <a:schemeClr val="accent1">
                <a:shade val="50000"/>
              </a:schemeClr>
            </a:solidFill>
            <a:prstDash val="solid"/>
          </a:ln>
        </p:spPr>
      </p:pic>
      <p:sp>
        <p:nvSpPr>
          <p:cNvPr id="7"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什么是智能网联汽车V2X通信技术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V</a:t>
            </a:r>
            <a:r>
              <a:rPr lang="zh-CN" altLang="en-US" sz="3200" b="1" dirty="0" smtClean="0">
                <a:solidFill>
                  <a:schemeClr val="accent1"/>
                </a:solidFill>
                <a:latin typeface="微软雅黑" panose="020B0503020204020204" pitchFamily="34" charset="-122"/>
              </a:rPr>
              <a:t>2X通信技术有哪些应用？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13</a:t>
            </a:fld>
            <a:endParaRPr lang="zh-CN" altLang="en-US" dirty="0"/>
          </a:p>
        </p:txBody>
      </p:sp>
      <p:sp>
        <p:nvSpPr>
          <p:cNvPr id="8" name="Text Box 8"/>
          <p:cNvSpPr>
            <a:spLocks noChangeArrowheads="1"/>
          </p:cNvSpPr>
          <p:nvPr/>
        </p:nvSpPr>
        <p:spPr bwMode="auto">
          <a:xfrm>
            <a:off x="971600" y="350636"/>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什么是智能网联汽车移动通信技术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移动通信</a:t>
            </a:r>
            <a:r>
              <a:rPr lang="zh-CN" altLang="en-US" sz="3200" b="1" dirty="0" smtClean="0">
                <a:solidFill>
                  <a:schemeClr val="accent1"/>
                </a:solidFill>
                <a:latin typeface="微软雅黑" panose="020B0503020204020204" pitchFamily="34" charset="-122"/>
              </a:rPr>
              <a:t>技术有哪些应用？</a:t>
            </a:r>
          </a:p>
        </p:txBody>
      </p:sp>
      <p:sp>
        <p:nvSpPr>
          <p:cNvPr id="3" name="矩形 2"/>
          <p:cNvSpPr/>
          <p:nvPr/>
        </p:nvSpPr>
        <p:spPr>
          <a:xfrm>
            <a:off x="971600" y="1491630"/>
            <a:ext cx="2725426"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1.移动通信技术的发展</a:t>
            </a:r>
          </a:p>
        </p:txBody>
      </p:sp>
      <p:sp>
        <p:nvSpPr>
          <p:cNvPr id="2" name="矩形 1"/>
          <p:cNvSpPr/>
          <p:nvPr/>
        </p:nvSpPr>
        <p:spPr>
          <a:xfrm>
            <a:off x="971601" y="2067877"/>
            <a:ext cx="2725426" cy="2618794"/>
          </a:xfrm>
          <a:prstGeom prst="rect">
            <a:avLst/>
          </a:prstGeom>
          <a:solidFill>
            <a:schemeClr val="accent1"/>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移动网络通信技术是一种综合技术的应用，是由有线通信技术和无线通信技术融合而成，具体是指通过移动网络信号系统，作为主体的人或设备可在不受位置约束的条件下，与固定位置或正在发生移动的另一方主体或设备进行通信的方式。</a:t>
            </a:r>
          </a:p>
        </p:txBody>
      </p:sp>
      <p:pic>
        <p:nvPicPr>
          <p:cNvPr id="4" name="图片 8" descr="说明: C:\Users\Lenovo\Desktop\智能网联汽车 人民交通\项目6 智能网联汽车无线通信系统应用\任务6-1 图片\6-1-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851920" y="1851204"/>
            <a:ext cx="4323755" cy="2736769"/>
          </a:xfrm>
          <a:prstGeom prst="rect">
            <a:avLst/>
          </a:prstGeom>
          <a:noFill/>
          <a:ln w="12700" cmpd="sng">
            <a:solidFill>
              <a:schemeClr val="accent1">
                <a:shade val="50000"/>
              </a:schemeClr>
            </a:solidFill>
            <a:prstDash val="solid"/>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14</a:t>
            </a:fld>
            <a:endParaRPr lang="zh-CN" altLang="en-US" dirty="0"/>
          </a:p>
        </p:txBody>
      </p:sp>
      <p:sp>
        <p:nvSpPr>
          <p:cNvPr id="8" name="Text Box 8"/>
          <p:cNvSpPr>
            <a:spLocks noChangeArrowheads="1"/>
          </p:cNvSpPr>
          <p:nvPr/>
        </p:nvSpPr>
        <p:spPr bwMode="auto">
          <a:xfrm>
            <a:off x="971600" y="350636"/>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什么是智能网联汽车移动通信技术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移动通信</a:t>
            </a:r>
            <a:r>
              <a:rPr lang="zh-CN" altLang="en-US" sz="3200" b="1" dirty="0" smtClean="0">
                <a:solidFill>
                  <a:schemeClr val="accent1"/>
                </a:solidFill>
                <a:latin typeface="微软雅黑" panose="020B0503020204020204" pitchFamily="34" charset="-122"/>
              </a:rPr>
              <a:t>技术有哪些应用？</a:t>
            </a:r>
          </a:p>
        </p:txBody>
      </p:sp>
      <p:sp>
        <p:nvSpPr>
          <p:cNvPr id="3" name="矩形 2"/>
          <p:cNvSpPr/>
          <p:nvPr/>
        </p:nvSpPr>
        <p:spPr>
          <a:xfrm>
            <a:off x="971600" y="1491630"/>
            <a:ext cx="2725426"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1.移动通信技术的发展</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972330"/>
            <a:ext cx="6624736" cy="1823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992464" y="3796448"/>
            <a:ext cx="7179935" cy="830997"/>
          </a:xfrm>
          <a:prstGeom prst="rect">
            <a:avLst/>
          </a:prstGeom>
          <a:solidFill>
            <a:schemeClr val="accent1"/>
          </a:solidFill>
        </p:spPr>
        <p:txBody>
          <a:bodyPr wrap="square">
            <a:spAutoFit/>
          </a:bodyPr>
          <a:lstStyle/>
          <a:p>
            <a:r>
              <a:rPr lang="en-US" altLang="zh-CN" sz="1600" dirty="0">
                <a:solidFill>
                  <a:schemeClr val="bg1"/>
                </a:solidFill>
                <a:latin typeface="微软雅黑" pitchFamily="34" charset="-122"/>
                <a:ea typeface="微软雅黑" pitchFamily="34" charset="-122"/>
              </a:rPr>
              <a:t>5G </a:t>
            </a:r>
            <a:r>
              <a:rPr lang="zh-CN" altLang="en-US" sz="1600" dirty="0">
                <a:solidFill>
                  <a:schemeClr val="bg1"/>
                </a:solidFill>
                <a:latin typeface="微软雅黑" pitchFamily="34" charset="-122"/>
                <a:ea typeface="微软雅黑" pitchFamily="34" charset="-122"/>
              </a:rPr>
              <a:t>网络即为第五代移动通信网络，其传输速率可达 </a:t>
            </a:r>
            <a:r>
              <a:rPr lang="en-US" altLang="zh-CN" sz="1600" dirty="0">
                <a:solidFill>
                  <a:schemeClr val="bg1"/>
                </a:solidFill>
                <a:latin typeface="微软雅黑" pitchFamily="34" charset="-122"/>
                <a:ea typeface="微软雅黑" pitchFamily="34" charset="-122"/>
              </a:rPr>
              <a:t>4G </a:t>
            </a:r>
            <a:r>
              <a:rPr lang="zh-CN" altLang="en-US" sz="1600" dirty="0">
                <a:solidFill>
                  <a:schemeClr val="bg1"/>
                </a:solidFill>
                <a:latin typeface="微软雅黑" pitchFamily="34" charset="-122"/>
                <a:ea typeface="微软雅黑" pitchFamily="34" charset="-122"/>
              </a:rPr>
              <a:t>网络的百倍之多。</a:t>
            </a:r>
            <a:r>
              <a:rPr lang="en-US" altLang="zh-CN" sz="1600" dirty="0">
                <a:solidFill>
                  <a:schemeClr val="bg1"/>
                </a:solidFill>
                <a:latin typeface="微软雅黑" pitchFamily="34" charset="-122"/>
                <a:ea typeface="微软雅黑" pitchFamily="34" charset="-122"/>
              </a:rPr>
              <a:t>5G </a:t>
            </a:r>
            <a:r>
              <a:rPr lang="zh-CN" altLang="en-US" sz="1600" dirty="0">
                <a:solidFill>
                  <a:schemeClr val="bg1"/>
                </a:solidFill>
                <a:latin typeface="微软雅黑" pitchFamily="34" charset="-122"/>
                <a:ea typeface="微软雅黑" pitchFamily="34" charset="-122"/>
              </a:rPr>
              <a:t>网络的 出现使得物联网能够获得更加广泛的应用，包括诸如智能网联汽车、机器人、智慧城市</a:t>
            </a:r>
            <a:r>
              <a:rPr lang="zh-CN" altLang="en-US" sz="1600" dirty="0" smtClean="0">
                <a:solidFill>
                  <a:schemeClr val="bg1"/>
                </a:solidFill>
                <a:latin typeface="微软雅黑" pitchFamily="34" charset="-122"/>
                <a:ea typeface="微软雅黑" pitchFamily="34" charset="-122"/>
              </a:rPr>
              <a:t>、智慧</a:t>
            </a:r>
            <a:r>
              <a:rPr lang="zh-CN" altLang="en-US" sz="1600" dirty="0">
                <a:solidFill>
                  <a:schemeClr val="bg1"/>
                </a:solidFill>
                <a:latin typeface="微软雅黑" pitchFamily="34" charset="-122"/>
                <a:ea typeface="微软雅黑" pitchFamily="34" charset="-122"/>
              </a:rPr>
              <a:t>农场等应用。</a:t>
            </a:r>
          </a:p>
        </p:txBody>
      </p:sp>
    </p:spTree>
    <p:extLst>
      <p:ext uri="{BB962C8B-B14F-4D97-AF65-F5344CB8AC3E}">
        <p14:creationId xmlns:p14="http://schemas.microsoft.com/office/powerpoint/2010/main" val="896482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15</a:t>
            </a:fld>
            <a:endParaRPr lang="zh-CN" altLang="en-US" dirty="0"/>
          </a:p>
        </p:txBody>
      </p:sp>
      <p:sp>
        <p:nvSpPr>
          <p:cNvPr id="8" name="Text Box 8"/>
          <p:cNvSpPr>
            <a:spLocks noChangeArrowheads="1"/>
          </p:cNvSpPr>
          <p:nvPr/>
        </p:nvSpPr>
        <p:spPr bwMode="auto">
          <a:xfrm>
            <a:off x="971600" y="350636"/>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什么是智能网联汽车移动通信技术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移动通信</a:t>
            </a:r>
            <a:r>
              <a:rPr lang="zh-CN" altLang="en-US" sz="3200" b="1" dirty="0" smtClean="0">
                <a:solidFill>
                  <a:schemeClr val="accent1"/>
                </a:solidFill>
                <a:latin typeface="微软雅黑" panose="020B0503020204020204" pitchFamily="34" charset="-122"/>
              </a:rPr>
              <a:t>技术有哪些应用？</a:t>
            </a:r>
          </a:p>
        </p:txBody>
      </p:sp>
      <p:sp>
        <p:nvSpPr>
          <p:cNvPr id="3" name="矩形 2"/>
          <p:cNvSpPr/>
          <p:nvPr/>
        </p:nvSpPr>
        <p:spPr>
          <a:xfrm>
            <a:off x="971600" y="1491630"/>
            <a:ext cx="4217821"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a:t>
            </a:r>
            <a:r>
              <a:rPr sz="2000" b="1" dirty="0" smtClean="0">
                <a:solidFill>
                  <a:schemeClr val="bg1"/>
                </a:solidFill>
                <a:latin typeface="微软雅黑" panose="020B0503020204020204" pitchFamily="34" charset="-122"/>
                <a:ea typeface="微软雅黑" panose="020B0503020204020204" pitchFamily="34" charset="-122"/>
              </a:rPr>
              <a:t>移动通信技术的发展</a:t>
            </a:r>
            <a:r>
              <a:rPr lang="en-US" altLang="zh-CN" sz="2000" b="1" dirty="0" smtClean="0">
                <a:solidFill>
                  <a:schemeClr val="bg1"/>
                </a:solidFill>
                <a:latin typeface="微软雅黑" panose="020B0503020204020204" pitchFamily="34" charset="-122"/>
                <a:ea typeface="微软雅黑" panose="020B0503020204020204" pitchFamily="34" charset="-122"/>
              </a:rPr>
              <a:t>-5G</a:t>
            </a:r>
            <a:r>
              <a:rPr lang="zh-CN" altLang="en-US" sz="2000" b="1" dirty="0" smtClean="0">
                <a:solidFill>
                  <a:schemeClr val="bg1"/>
                </a:solidFill>
                <a:latin typeface="微软雅黑" panose="020B0503020204020204" pitchFamily="34" charset="-122"/>
                <a:ea typeface="微软雅黑" panose="020B0503020204020204" pitchFamily="34" charset="-122"/>
              </a:rPr>
              <a:t>网络应用</a:t>
            </a:r>
            <a:endParaRPr sz="2000" b="1" dirty="0" smtClean="0">
              <a:solidFill>
                <a:schemeClr val="bg1"/>
              </a:solidFill>
              <a:latin typeface="微软雅黑" panose="020B0503020204020204" pitchFamily="34" charset="-122"/>
              <a:ea typeface="微软雅黑" panose="020B0503020204020204" pitchFamily="34" charset="-122"/>
            </a:endParaRP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888" y="2067694"/>
            <a:ext cx="4630914" cy="2553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537" y="2088582"/>
            <a:ext cx="2362482" cy="118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110" y="3435845"/>
            <a:ext cx="2456558" cy="1080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2962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16</a:t>
            </a:fld>
            <a:endParaRPr lang="zh-CN" altLang="en-US" dirty="0"/>
          </a:p>
        </p:txBody>
      </p:sp>
      <p:sp>
        <p:nvSpPr>
          <p:cNvPr id="3" name="矩形 2"/>
          <p:cNvSpPr/>
          <p:nvPr/>
        </p:nvSpPr>
        <p:spPr>
          <a:xfrm>
            <a:off x="951995" y="1491630"/>
            <a:ext cx="462658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2.5G网络的关键技术与在V2X中的应用</a:t>
            </a:r>
          </a:p>
        </p:txBody>
      </p:sp>
      <p:sp>
        <p:nvSpPr>
          <p:cNvPr id="2" name="矩形 1"/>
          <p:cNvSpPr/>
          <p:nvPr/>
        </p:nvSpPr>
        <p:spPr>
          <a:xfrm>
            <a:off x="938266" y="1997448"/>
            <a:ext cx="3384376" cy="351763"/>
          </a:xfrm>
          <a:prstGeom prst="rect">
            <a:avLst/>
          </a:prstGeom>
          <a:solidFill>
            <a:schemeClr val="accent1"/>
          </a:solidFill>
        </p:spPr>
        <p:txBody>
          <a:bodyPr wrap="square">
            <a:spAutoFit/>
          </a:bodyPr>
          <a:lstStyle/>
          <a:p>
            <a:pPr fontAlgn="base">
              <a:lnSpc>
                <a:spcPct val="114000"/>
              </a:lnSpc>
            </a:pPr>
            <a:r>
              <a:rPr sz="1600" b="1" dirty="0">
                <a:solidFill>
                  <a:schemeClr val="bg1"/>
                </a:solidFill>
                <a:latin typeface="微软雅黑" panose="020B0503020204020204" pitchFamily="34" charset="-122"/>
                <a:ea typeface="微软雅黑" panose="020B0503020204020204" pitchFamily="34" charset="-122"/>
              </a:rPr>
              <a:t>（1）5G</a:t>
            </a:r>
            <a:r>
              <a:rPr sz="1600" b="1" dirty="0" smtClean="0">
                <a:solidFill>
                  <a:schemeClr val="bg1"/>
                </a:solidFill>
                <a:latin typeface="微软雅黑" panose="020B0503020204020204" pitchFamily="34" charset="-122"/>
                <a:ea typeface="微软雅黑" panose="020B0503020204020204" pitchFamily="34" charset="-122"/>
              </a:rPr>
              <a:t>网络的关键技术</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5" name="图片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572000" y="1995686"/>
            <a:ext cx="3576950" cy="2367915"/>
          </a:xfrm>
          <a:prstGeom prst="rect">
            <a:avLst/>
          </a:prstGeom>
          <a:noFill/>
          <a:ln w="12700" cmpd="sng">
            <a:solidFill>
              <a:schemeClr val="accent1"/>
            </a:solidFill>
            <a:prstDash val="solid"/>
          </a:ln>
        </p:spPr>
      </p:pic>
      <p:sp>
        <p:nvSpPr>
          <p:cNvPr id="7" name="Text Box 8"/>
          <p:cNvSpPr>
            <a:spLocks noChangeArrowheads="1"/>
          </p:cNvSpPr>
          <p:nvPr/>
        </p:nvSpPr>
        <p:spPr bwMode="auto">
          <a:xfrm>
            <a:off x="971600" y="350636"/>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什么是智能网联汽车移动通信技术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移动通信</a:t>
            </a:r>
            <a:r>
              <a:rPr lang="zh-CN" altLang="en-US" sz="3200" b="1" dirty="0" smtClean="0">
                <a:solidFill>
                  <a:schemeClr val="accent1"/>
                </a:solidFill>
                <a:latin typeface="微软雅黑" panose="020B0503020204020204" pitchFamily="34" charset="-122"/>
              </a:rPr>
              <a:t>技术有哪些应用？</a:t>
            </a:r>
          </a:p>
        </p:txBody>
      </p:sp>
      <p:sp>
        <p:nvSpPr>
          <p:cNvPr id="9" name="矩形 8"/>
          <p:cNvSpPr/>
          <p:nvPr/>
        </p:nvSpPr>
        <p:spPr>
          <a:xfrm>
            <a:off x="951995" y="2431682"/>
            <a:ext cx="3384376" cy="1495922"/>
          </a:xfrm>
          <a:prstGeom prst="rect">
            <a:avLst/>
          </a:prstGeom>
          <a:solidFill>
            <a:schemeClr val="accent1"/>
          </a:solidFill>
        </p:spPr>
        <p:txBody>
          <a:bodyPr wrap="square">
            <a:spAutoFit/>
          </a:bodyPr>
          <a:lstStyle/>
          <a:p>
            <a:pPr fontAlgn="base">
              <a:lnSpc>
                <a:spcPct val="114000"/>
              </a:lnSpc>
            </a:pPr>
            <a:r>
              <a:rPr sz="1600" dirty="0" smtClean="0">
                <a:solidFill>
                  <a:schemeClr val="bg1"/>
                </a:solidFill>
                <a:latin typeface="微软雅黑" panose="020B0503020204020204" pitchFamily="34" charset="-122"/>
                <a:ea typeface="微软雅黑" panose="020B0503020204020204" pitchFamily="34" charset="-122"/>
              </a:rPr>
              <a:t>1</a:t>
            </a:r>
            <a:r>
              <a:rPr sz="1600" dirty="0">
                <a:solidFill>
                  <a:schemeClr val="bg1"/>
                </a:solidFill>
                <a:latin typeface="微软雅黑" panose="020B0503020204020204" pitchFamily="34" charset="-122"/>
                <a:ea typeface="微软雅黑" panose="020B0503020204020204" pitchFamily="34" charset="-122"/>
              </a:rPr>
              <a:t>）设备到设备的通信</a:t>
            </a:r>
            <a:r>
              <a:rPr sz="1600" dirty="0" smtClean="0">
                <a:solidFill>
                  <a:schemeClr val="bg1"/>
                </a:solidFill>
                <a:latin typeface="微软雅黑" panose="020B0503020204020204" pitchFamily="34" charset="-122"/>
                <a:ea typeface="微软雅黑" panose="020B0503020204020204" pitchFamily="34" charset="-122"/>
              </a:rPr>
              <a:t>：</a:t>
            </a:r>
            <a:endParaRPr lang="en-US" sz="1600" dirty="0" smtClean="0">
              <a:solidFill>
                <a:schemeClr val="bg1"/>
              </a:solidFill>
              <a:latin typeface="微软雅黑" panose="020B0503020204020204" pitchFamily="34" charset="-122"/>
              <a:ea typeface="微软雅黑" panose="020B0503020204020204" pitchFamily="34" charset="-122"/>
            </a:endParaRPr>
          </a:p>
          <a:p>
            <a:pPr fontAlgn="base">
              <a:lnSpc>
                <a:spcPct val="114000"/>
              </a:lnSpc>
            </a:pPr>
            <a:r>
              <a:rPr sz="1600" dirty="0" smtClean="0">
                <a:solidFill>
                  <a:schemeClr val="bg1"/>
                </a:solidFill>
                <a:latin typeface="微软雅黑" panose="020B0503020204020204" pitchFamily="34" charset="-122"/>
                <a:ea typeface="微软雅黑" panose="020B0503020204020204" pitchFamily="34" charset="-122"/>
              </a:rPr>
              <a:t>D2D</a:t>
            </a:r>
            <a:r>
              <a:rPr sz="1600" dirty="0">
                <a:solidFill>
                  <a:schemeClr val="bg1"/>
                </a:solidFill>
                <a:latin typeface="微软雅黑" panose="020B0503020204020204" pitchFamily="34" charset="-122"/>
                <a:ea typeface="微软雅黑" panose="020B0503020204020204" pitchFamily="34" charset="-122"/>
              </a:rPr>
              <a:t>是Device to Device的英文缩写，即设备到设备的通信。D2D通信是指在一定距离范围内，</a:t>
            </a:r>
            <a:r>
              <a:rPr sz="1600" dirty="0" smtClean="0">
                <a:solidFill>
                  <a:schemeClr val="bg1"/>
                </a:solidFill>
                <a:latin typeface="微软雅黑" panose="020B0503020204020204" pitchFamily="34" charset="-122"/>
                <a:ea typeface="微软雅黑" panose="020B0503020204020204" pitchFamily="34" charset="-122"/>
              </a:rPr>
              <a:t>设备之间的直接通信</a:t>
            </a:r>
            <a:r>
              <a:rPr lang="zh-CN" altLang="en-US"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17</a:t>
            </a:fld>
            <a:endParaRPr lang="zh-CN" altLang="en-US" dirty="0"/>
          </a:p>
        </p:txBody>
      </p:sp>
      <p:sp>
        <p:nvSpPr>
          <p:cNvPr id="3" name="矩形 2"/>
          <p:cNvSpPr/>
          <p:nvPr/>
        </p:nvSpPr>
        <p:spPr>
          <a:xfrm>
            <a:off x="951995" y="1491630"/>
            <a:ext cx="462658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2.5G网络的关键技术与在V2X中的应用</a:t>
            </a:r>
          </a:p>
        </p:txBody>
      </p:sp>
      <p:sp>
        <p:nvSpPr>
          <p:cNvPr id="7" name="Text Box 8"/>
          <p:cNvSpPr>
            <a:spLocks noChangeArrowheads="1"/>
          </p:cNvSpPr>
          <p:nvPr/>
        </p:nvSpPr>
        <p:spPr bwMode="auto">
          <a:xfrm>
            <a:off x="971600" y="350636"/>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什么是智能网联汽车移动通信技术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移动通信</a:t>
            </a:r>
            <a:r>
              <a:rPr lang="zh-CN" altLang="en-US" sz="3200" b="1" dirty="0" smtClean="0">
                <a:solidFill>
                  <a:schemeClr val="accent1"/>
                </a:solidFill>
                <a:latin typeface="微软雅黑" panose="020B0503020204020204" pitchFamily="34" charset="-122"/>
              </a:rPr>
              <a:t>技术有哪些应用？</a:t>
            </a:r>
          </a:p>
        </p:txBody>
      </p:sp>
      <p:sp>
        <p:nvSpPr>
          <p:cNvPr id="8" name="矩形 7"/>
          <p:cNvSpPr/>
          <p:nvPr/>
        </p:nvSpPr>
        <p:spPr>
          <a:xfrm>
            <a:off x="938266" y="1997448"/>
            <a:ext cx="3384376" cy="351763"/>
          </a:xfrm>
          <a:prstGeom prst="rect">
            <a:avLst/>
          </a:prstGeom>
          <a:solidFill>
            <a:schemeClr val="accent1"/>
          </a:solidFill>
        </p:spPr>
        <p:txBody>
          <a:bodyPr wrap="square">
            <a:spAutoFit/>
          </a:bodyPr>
          <a:lstStyle/>
          <a:p>
            <a:pPr fontAlgn="base">
              <a:lnSpc>
                <a:spcPct val="114000"/>
              </a:lnSpc>
            </a:pPr>
            <a:r>
              <a:rPr sz="1600" b="1" dirty="0">
                <a:solidFill>
                  <a:schemeClr val="bg1"/>
                </a:solidFill>
                <a:latin typeface="微软雅黑" panose="020B0503020204020204" pitchFamily="34" charset="-122"/>
                <a:ea typeface="微软雅黑" panose="020B0503020204020204" pitchFamily="34" charset="-122"/>
              </a:rPr>
              <a:t>（1）5G</a:t>
            </a:r>
            <a:r>
              <a:rPr sz="1600" b="1" dirty="0" smtClean="0">
                <a:solidFill>
                  <a:schemeClr val="bg1"/>
                </a:solidFill>
                <a:latin typeface="微软雅黑" panose="020B0503020204020204" pitchFamily="34" charset="-122"/>
                <a:ea typeface="微软雅黑" panose="020B0503020204020204" pitchFamily="34" charset="-122"/>
              </a:rPr>
              <a:t>网络的关键技术</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938266" y="2427734"/>
            <a:ext cx="7165817" cy="2316788"/>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）大规模输入输出技术。</a:t>
            </a:r>
            <a:r>
              <a:rPr lang="en-US" altLang="zh-CN" sz="1600" dirty="0">
                <a:solidFill>
                  <a:schemeClr val="bg1"/>
                </a:solidFill>
                <a:latin typeface="微软雅黑" pitchFamily="34" charset="-122"/>
                <a:ea typeface="微软雅黑" pitchFamily="34" charset="-122"/>
              </a:rPr>
              <a:t>5G </a:t>
            </a:r>
            <a:r>
              <a:rPr lang="zh-CN" altLang="en-US" sz="1600" dirty="0">
                <a:solidFill>
                  <a:schemeClr val="bg1"/>
                </a:solidFill>
                <a:latin typeface="微软雅黑" pitchFamily="34" charset="-122"/>
                <a:ea typeface="微软雅黑" pitchFamily="34" charset="-122"/>
              </a:rPr>
              <a:t>网络环境下的大规模输入输出技术是指通过大规模天线 阵列进行信号的发送和接收。 </a:t>
            </a:r>
            <a:endParaRPr lang="en-US" altLang="zh-CN" sz="1600" dirty="0" smtClean="0">
              <a:solidFill>
                <a:schemeClr val="bg1"/>
              </a:solidFill>
              <a:latin typeface="微软雅黑" pitchFamily="34" charset="-122"/>
              <a:ea typeface="微软雅黑" pitchFamily="34" charset="-122"/>
            </a:endParaRPr>
          </a:p>
          <a:p>
            <a:pPr>
              <a:lnSpc>
                <a:spcPct val="114000"/>
              </a:lnSpc>
            </a:pPr>
            <a:r>
              <a:rPr lang="en-US" altLang="zh-CN" sz="1600" dirty="0" smtClean="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）高频段传输。由于 </a:t>
            </a:r>
            <a:r>
              <a:rPr lang="en-US" altLang="zh-CN" sz="1600" dirty="0">
                <a:solidFill>
                  <a:schemeClr val="bg1"/>
                </a:solidFill>
                <a:latin typeface="微软雅黑" pitchFamily="34" charset="-122"/>
                <a:ea typeface="微软雅黑" pitchFamily="34" charset="-122"/>
              </a:rPr>
              <a:t>2G</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3G</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4G </a:t>
            </a:r>
            <a:r>
              <a:rPr lang="zh-CN" altLang="en-US" sz="1600" dirty="0">
                <a:solidFill>
                  <a:schemeClr val="bg1"/>
                </a:solidFill>
                <a:latin typeface="微软雅黑" pitchFamily="34" charset="-122"/>
                <a:ea typeface="微软雅黑" pitchFamily="34" charset="-122"/>
              </a:rPr>
              <a:t>网络通信频率都在 </a:t>
            </a:r>
            <a:r>
              <a:rPr lang="en-US" altLang="zh-CN" sz="1600" dirty="0">
                <a:solidFill>
                  <a:schemeClr val="bg1"/>
                </a:solidFill>
                <a:latin typeface="微软雅黑" pitchFamily="34" charset="-122"/>
                <a:ea typeface="微软雅黑" pitchFamily="34" charset="-122"/>
              </a:rPr>
              <a:t>3GHz </a:t>
            </a:r>
            <a:r>
              <a:rPr lang="zh-CN" altLang="en-US" sz="1600" dirty="0">
                <a:solidFill>
                  <a:schemeClr val="bg1"/>
                </a:solidFill>
                <a:latin typeface="微软雅黑" pitchFamily="34" charset="-122"/>
                <a:ea typeface="微软雅黑" pitchFamily="34" charset="-122"/>
              </a:rPr>
              <a:t>以下，导致低频率的可 用频段极为有限。所以 </a:t>
            </a:r>
            <a:r>
              <a:rPr lang="en-US" altLang="zh-CN" sz="1600" dirty="0">
                <a:solidFill>
                  <a:schemeClr val="bg1"/>
                </a:solidFill>
                <a:latin typeface="微软雅黑" pitchFamily="34" charset="-122"/>
                <a:ea typeface="微软雅黑" pitchFamily="34" charset="-122"/>
              </a:rPr>
              <a:t>5G </a:t>
            </a:r>
            <a:r>
              <a:rPr lang="zh-CN" altLang="en-US" sz="1600" dirty="0">
                <a:solidFill>
                  <a:schemeClr val="bg1"/>
                </a:solidFill>
                <a:latin typeface="微软雅黑" pitchFamily="34" charset="-122"/>
                <a:ea typeface="微软雅黑" pitchFamily="34" charset="-122"/>
              </a:rPr>
              <a:t>网络的建设分为两大频谱，分别是低频段和高频段。低频段是 指在 </a:t>
            </a:r>
            <a:r>
              <a:rPr lang="en-US" altLang="zh-CN" sz="1600" dirty="0">
                <a:solidFill>
                  <a:schemeClr val="bg1"/>
                </a:solidFill>
                <a:latin typeface="微软雅黑" pitchFamily="34" charset="-122"/>
                <a:ea typeface="微软雅黑" pitchFamily="34" charset="-122"/>
              </a:rPr>
              <a:t>3GHz </a:t>
            </a:r>
            <a:r>
              <a:rPr lang="zh-CN" altLang="en-US" sz="1600" dirty="0">
                <a:solidFill>
                  <a:schemeClr val="bg1"/>
                </a:solidFill>
                <a:latin typeface="微软雅黑" pitchFamily="34" charset="-122"/>
                <a:ea typeface="微软雅黑" pitchFamily="34" charset="-122"/>
              </a:rPr>
              <a:t>以上且小于 </a:t>
            </a:r>
            <a:r>
              <a:rPr lang="en-US" altLang="zh-CN" sz="1600" dirty="0">
                <a:solidFill>
                  <a:schemeClr val="bg1"/>
                </a:solidFill>
                <a:latin typeface="微软雅黑" pitchFamily="34" charset="-122"/>
                <a:ea typeface="微软雅黑" pitchFamily="34" charset="-122"/>
              </a:rPr>
              <a:t>6GHz </a:t>
            </a:r>
            <a:r>
              <a:rPr lang="zh-CN" altLang="en-US" sz="1600" dirty="0">
                <a:solidFill>
                  <a:schemeClr val="bg1"/>
                </a:solidFill>
                <a:latin typeface="微软雅黑" pitchFamily="34" charset="-122"/>
                <a:ea typeface="微软雅黑" pitchFamily="34" charset="-122"/>
              </a:rPr>
              <a:t>的频段，而高频段是指大于 </a:t>
            </a:r>
            <a:r>
              <a:rPr lang="en-US" altLang="zh-CN" sz="1600" dirty="0">
                <a:solidFill>
                  <a:schemeClr val="bg1"/>
                </a:solidFill>
                <a:latin typeface="微软雅黑" pitchFamily="34" charset="-122"/>
                <a:ea typeface="微软雅黑" pitchFamily="34" charset="-122"/>
              </a:rPr>
              <a:t>30GHz </a:t>
            </a:r>
            <a:r>
              <a:rPr lang="zh-CN" altLang="en-US" sz="1600" dirty="0">
                <a:solidFill>
                  <a:schemeClr val="bg1"/>
                </a:solidFill>
                <a:latin typeface="微软雅黑" pitchFamily="34" charset="-122"/>
                <a:ea typeface="微软雅黑" pitchFamily="34" charset="-122"/>
              </a:rPr>
              <a:t>频段的毫米波移动通信 技术。 </a:t>
            </a:r>
            <a:endParaRPr lang="en-US" altLang="zh-CN" sz="1600" dirty="0" smtClean="0">
              <a:solidFill>
                <a:schemeClr val="bg1"/>
              </a:solidFill>
              <a:latin typeface="微软雅黑" pitchFamily="34" charset="-122"/>
              <a:ea typeface="微软雅黑" pitchFamily="34" charset="-122"/>
            </a:endParaRPr>
          </a:p>
          <a:p>
            <a:pPr>
              <a:lnSpc>
                <a:spcPct val="114000"/>
              </a:lnSpc>
            </a:pPr>
            <a:r>
              <a:rPr lang="en-US" altLang="zh-CN" sz="1600" dirty="0" smtClean="0">
                <a:solidFill>
                  <a:schemeClr val="bg1"/>
                </a:solidFill>
                <a:latin typeface="微软雅黑" pitchFamily="34" charset="-122"/>
                <a:ea typeface="微软雅黑" pitchFamily="34" charset="-122"/>
              </a:rPr>
              <a:t>4</a:t>
            </a:r>
            <a:r>
              <a:rPr lang="zh-CN" altLang="en-US" sz="1600" dirty="0">
                <a:solidFill>
                  <a:schemeClr val="bg1"/>
                </a:solidFill>
                <a:latin typeface="微软雅黑" pitchFamily="34" charset="-122"/>
                <a:ea typeface="微软雅黑" pitchFamily="34" charset="-122"/>
              </a:rPr>
              <a:t>）高密集组网。由于高频段导致网络覆盖面积减少，所以为了增加网络的覆盖范围， 需要采用高密集度的组网建设方式。</a:t>
            </a:r>
          </a:p>
        </p:txBody>
      </p:sp>
    </p:spTree>
    <p:extLst>
      <p:ext uri="{BB962C8B-B14F-4D97-AF65-F5344CB8AC3E}">
        <p14:creationId xmlns:p14="http://schemas.microsoft.com/office/powerpoint/2010/main" val="32520487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18</a:t>
            </a:fld>
            <a:endParaRPr lang="zh-CN" altLang="en-US" dirty="0"/>
          </a:p>
        </p:txBody>
      </p:sp>
      <p:sp>
        <p:nvSpPr>
          <p:cNvPr id="3" name="矩形 2"/>
          <p:cNvSpPr/>
          <p:nvPr/>
        </p:nvSpPr>
        <p:spPr>
          <a:xfrm>
            <a:off x="951995" y="1491630"/>
            <a:ext cx="462658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2.5G网络的关键技术与在V2X中的应用</a:t>
            </a:r>
          </a:p>
        </p:txBody>
      </p:sp>
      <p:sp>
        <p:nvSpPr>
          <p:cNvPr id="7" name="Text Box 8"/>
          <p:cNvSpPr>
            <a:spLocks noChangeArrowheads="1"/>
          </p:cNvSpPr>
          <p:nvPr/>
        </p:nvSpPr>
        <p:spPr bwMode="auto">
          <a:xfrm>
            <a:off x="971600" y="350636"/>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什么是智能网联汽车移动通信技术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移动通信</a:t>
            </a:r>
            <a:r>
              <a:rPr lang="zh-CN" altLang="en-US" sz="3200" b="1" dirty="0" smtClean="0">
                <a:solidFill>
                  <a:schemeClr val="accent1"/>
                </a:solidFill>
                <a:latin typeface="微软雅黑" panose="020B0503020204020204" pitchFamily="34" charset="-122"/>
              </a:rPr>
              <a:t>技术有哪些应用？</a:t>
            </a:r>
          </a:p>
        </p:txBody>
      </p:sp>
      <p:sp>
        <p:nvSpPr>
          <p:cNvPr id="8" name="矩形 7"/>
          <p:cNvSpPr/>
          <p:nvPr/>
        </p:nvSpPr>
        <p:spPr>
          <a:xfrm>
            <a:off x="938266" y="1997448"/>
            <a:ext cx="3384376" cy="373051"/>
          </a:xfrm>
          <a:prstGeom prst="rect">
            <a:avLst/>
          </a:prstGeom>
          <a:solidFill>
            <a:schemeClr val="accent1"/>
          </a:solidFill>
        </p:spPr>
        <p:txBody>
          <a:bodyPr wrap="square">
            <a:spAutoFit/>
          </a:bodyPr>
          <a:lstStyle/>
          <a:p>
            <a:pPr fontAlgn="base">
              <a:lnSpc>
                <a:spcPct val="114000"/>
              </a:lnSpc>
            </a:pPr>
            <a:r>
              <a:rPr sz="1600" b="1" dirty="0" smtClean="0">
                <a:solidFill>
                  <a:schemeClr val="bg1"/>
                </a:solidFill>
                <a:latin typeface="微软雅黑" panose="020B0503020204020204" pitchFamily="34" charset="-122"/>
                <a:ea typeface="微软雅黑" panose="020B0503020204020204" pitchFamily="34" charset="-122"/>
              </a:rPr>
              <a:t>（</a:t>
            </a:r>
            <a:r>
              <a:rPr lang="en-US" sz="1600" b="1" dirty="0" smtClean="0">
                <a:solidFill>
                  <a:schemeClr val="bg1"/>
                </a:solidFill>
                <a:latin typeface="微软雅黑" panose="020B0503020204020204" pitchFamily="34" charset="-122"/>
                <a:ea typeface="微软雅黑" panose="020B0503020204020204" pitchFamily="34" charset="-122"/>
              </a:rPr>
              <a:t>2</a:t>
            </a:r>
            <a:r>
              <a:rPr sz="1600" b="1" dirty="0" smtClean="0">
                <a:solidFill>
                  <a:schemeClr val="bg1"/>
                </a:solidFill>
                <a:latin typeface="微软雅黑" panose="020B0503020204020204" pitchFamily="34" charset="-122"/>
                <a:ea typeface="微软雅黑" panose="020B0503020204020204" pitchFamily="34" charset="-122"/>
              </a:rPr>
              <a:t>）5G网络</a:t>
            </a:r>
            <a:r>
              <a:rPr lang="zh-CN" altLang="en-US" sz="1600" b="1" dirty="0" smtClean="0">
                <a:solidFill>
                  <a:schemeClr val="bg1"/>
                </a:solidFill>
                <a:latin typeface="微软雅黑" panose="020B0503020204020204" pitchFamily="34" charset="-122"/>
                <a:ea typeface="微软雅黑" panose="020B0503020204020204" pitchFamily="34" charset="-122"/>
              </a:rPr>
              <a:t>在</a:t>
            </a:r>
            <a:r>
              <a:rPr lang="en-US" altLang="zh-CN" sz="1600" b="1" dirty="0" smtClean="0">
                <a:solidFill>
                  <a:schemeClr val="bg1"/>
                </a:solidFill>
                <a:latin typeface="微软雅黑" panose="020B0503020204020204" pitchFamily="34" charset="-122"/>
                <a:ea typeface="微软雅黑" panose="020B0503020204020204" pitchFamily="34" charset="-122"/>
              </a:rPr>
              <a:t>V2X</a:t>
            </a:r>
            <a:r>
              <a:rPr lang="zh-CN" altLang="en-US" sz="1600" b="1" dirty="0" smtClean="0">
                <a:solidFill>
                  <a:schemeClr val="bg1"/>
                </a:solidFill>
                <a:latin typeface="微软雅黑" panose="020B0503020204020204" pitchFamily="34" charset="-122"/>
                <a:ea typeface="微软雅黑" panose="020B0503020204020204" pitchFamily="34" charset="-122"/>
              </a:rPr>
              <a:t>中的应用</a:t>
            </a:r>
            <a:endParaRPr sz="16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938266" y="2427734"/>
            <a:ext cx="7229607" cy="1215204"/>
          </a:xfrm>
          <a:prstGeom prst="rect">
            <a:avLst/>
          </a:prstGeom>
          <a:solidFill>
            <a:schemeClr val="accent1"/>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5G </a:t>
            </a:r>
            <a:r>
              <a:rPr lang="zh-CN" altLang="en-US" sz="1600" dirty="0">
                <a:solidFill>
                  <a:schemeClr val="bg1"/>
                </a:solidFill>
                <a:latin typeface="微软雅黑" pitchFamily="34" charset="-122"/>
                <a:ea typeface="微软雅黑" pitchFamily="34" charset="-122"/>
              </a:rPr>
              <a:t>支持大数据传输带宽，支持本地点对点通信，提高了信息传输的可靠性、极低延 迟和容错性，这为智能网联汽车的生态系统带来一系列优势。利用增加的数据传输能力</a:t>
            </a:r>
            <a:r>
              <a:rPr lang="zh-CN" altLang="en-US" sz="1600" dirty="0" smtClean="0">
                <a:solidFill>
                  <a:schemeClr val="bg1"/>
                </a:solidFill>
                <a:latin typeface="微软雅黑" pitchFamily="34" charset="-122"/>
                <a:ea typeface="微软雅黑" pitchFamily="34" charset="-122"/>
              </a:rPr>
              <a:t>，可以</a:t>
            </a:r>
            <a:r>
              <a:rPr lang="zh-CN" altLang="en-US" sz="1600" dirty="0">
                <a:solidFill>
                  <a:schemeClr val="bg1"/>
                </a:solidFill>
                <a:latin typeface="微软雅黑" pitchFamily="34" charset="-122"/>
                <a:ea typeface="微软雅黑" pitchFamily="34" charset="-122"/>
              </a:rPr>
              <a:t>提高车辆运输的安全性，这包括在智能网联汽车之间共享传感器数据，使用宽带</a:t>
            </a:r>
            <a:r>
              <a:rPr lang="zh-CN" altLang="en-US" sz="1600" dirty="0" smtClean="0">
                <a:solidFill>
                  <a:schemeClr val="bg1"/>
                </a:solidFill>
                <a:latin typeface="微软雅黑" pitchFamily="34" charset="-122"/>
                <a:ea typeface="微软雅黑" pitchFamily="34" charset="-122"/>
              </a:rPr>
              <a:t>支持改善</a:t>
            </a:r>
            <a:r>
              <a:rPr lang="zh-CN" altLang="en-US" sz="1600" dirty="0">
                <a:solidFill>
                  <a:schemeClr val="bg1"/>
                </a:solidFill>
                <a:latin typeface="微软雅黑" pitchFamily="34" charset="-122"/>
                <a:ea typeface="微软雅黑" pitchFamily="34" charset="-122"/>
              </a:rPr>
              <a:t>定位，以及为自动驾驶共享高精三维地图</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9" name="矩形 8"/>
          <p:cNvSpPr/>
          <p:nvPr/>
        </p:nvSpPr>
        <p:spPr>
          <a:xfrm>
            <a:off x="938266" y="3723878"/>
            <a:ext cx="7229607" cy="934487"/>
          </a:xfrm>
          <a:prstGeom prst="rect">
            <a:avLst/>
          </a:prstGeom>
          <a:solidFill>
            <a:schemeClr val="accent1"/>
          </a:solidFill>
        </p:spPr>
        <p:txBody>
          <a:bodyPr wrap="square">
            <a:spAutoFit/>
          </a:bodyPr>
          <a:lstStyle/>
          <a:p>
            <a:pPr>
              <a:lnSpc>
                <a:spcPct val="114000"/>
              </a:lnSpc>
            </a:pPr>
            <a:r>
              <a:rPr lang="en-US" altLang="zh-CN" sz="1600" dirty="0" smtClean="0">
                <a:solidFill>
                  <a:schemeClr val="bg1"/>
                </a:solidFill>
                <a:latin typeface="微软雅黑" pitchFamily="34" charset="-122"/>
                <a:ea typeface="微软雅黑" pitchFamily="34" charset="-122"/>
              </a:rPr>
              <a:t>D2D </a:t>
            </a:r>
            <a:r>
              <a:rPr lang="zh-CN" altLang="en-US" sz="1600" dirty="0">
                <a:solidFill>
                  <a:schemeClr val="bg1"/>
                </a:solidFill>
                <a:latin typeface="微软雅黑" pitchFamily="34" charset="-122"/>
                <a:ea typeface="微软雅黑" pitchFamily="34" charset="-122"/>
              </a:rPr>
              <a:t>技术的 </a:t>
            </a:r>
            <a:r>
              <a:rPr lang="en-US" altLang="zh-CN" sz="1600" dirty="0">
                <a:solidFill>
                  <a:schemeClr val="bg1"/>
                </a:solidFill>
                <a:latin typeface="微软雅黑" pitchFamily="34" charset="-122"/>
                <a:ea typeface="微软雅黑" pitchFamily="34" charset="-122"/>
              </a:rPr>
              <a:t>5G </a:t>
            </a:r>
            <a:r>
              <a:rPr lang="zh-CN" altLang="en-US" sz="1600" dirty="0">
                <a:solidFill>
                  <a:schemeClr val="bg1"/>
                </a:solidFill>
                <a:latin typeface="微软雅黑" pitchFamily="34" charset="-122"/>
                <a:ea typeface="微软雅黑" pitchFamily="34" charset="-122"/>
              </a:rPr>
              <a:t>网络将实现车辆与车辆、车辆与道路、车辆与行人、车辆与</a:t>
            </a:r>
            <a:r>
              <a:rPr lang="zh-CN" altLang="en-US" sz="1600" dirty="0" smtClean="0">
                <a:solidFill>
                  <a:schemeClr val="bg1"/>
                </a:solidFill>
                <a:latin typeface="微软雅黑" pitchFamily="34" charset="-122"/>
                <a:ea typeface="微软雅黑" pitchFamily="34" charset="-122"/>
              </a:rPr>
              <a:t>公共设施之间</a:t>
            </a:r>
            <a:r>
              <a:rPr lang="zh-CN" altLang="en-US" sz="1600" dirty="0">
                <a:solidFill>
                  <a:schemeClr val="bg1"/>
                </a:solidFill>
                <a:latin typeface="微软雅黑" pitchFamily="34" charset="-122"/>
                <a:ea typeface="微软雅黑" pitchFamily="34" charset="-122"/>
              </a:rPr>
              <a:t>的多通道通信。</a:t>
            </a:r>
            <a:r>
              <a:rPr lang="en-US" altLang="zh-CN" sz="1600" dirty="0">
                <a:solidFill>
                  <a:schemeClr val="bg1"/>
                </a:solidFill>
                <a:latin typeface="微软雅黑" pitchFamily="34" charset="-122"/>
                <a:ea typeface="微软雅黑" pitchFamily="34" charset="-122"/>
              </a:rPr>
              <a:t>5G </a:t>
            </a:r>
            <a:r>
              <a:rPr lang="zh-CN" altLang="en-US" sz="1600" dirty="0">
                <a:solidFill>
                  <a:schemeClr val="bg1"/>
                </a:solidFill>
                <a:latin typeface="微软雅黑" pitchFamily="34" charset="-122"/>
                <a:ea typeface="微软雅黑" pitchFamily="34" charset="-122"/>
              </a:rPr>
              <a:t>通信技术在智能网联汽车上的应用将解决目前网络资源有限的</a:t>
            </a:r>
            <a:r>
              <a:rPr lang="zh-CN" altLang="en-US" sz="1600" dirty="0" smtClean="0">
                <a:solidFill>
                  <a:schemeClr val="bg1"/>
                </a:solidFill>
                <a:latin typeface="微软雅黑" pitchFamily="34" charset="-122"/>
                <a:ea typeface="微软雅黑" pitchFamily="34" charset="-122"/>
              </a:rPr>
              <a:t>问题。</a:t>
            </a:r>
            <a:endParaRPr lang="zh-CN" altLang="en-US" sz="16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369547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19</a:t>
            </a:fld>
            <a:endParaRPr lang="zh-CN" altLang="en-US" dirty="0"/>
          </a:p>
        </p:txBody>
      </p:sp>
      <p:sp>
        <p:nvSpPr>
          <p:cNvPr id="3" name="矩形 2"/>
          <p:cNvSpPr/>
          <p:nvPr/>
        </p:nvSpPr>
        <p:spPr>
          <a:xfrm>
            <a:off x="951995" y="1491630"/>
            <a:ext cx="4626588"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2.5G网络的关键技术与在V2X中的应用</a:t>
            </a:r>
          </a:p>
        </p:txBody>
      </p:sp>
      <p:sp>
        <p:nvSpPr>
          <p:cNvPr id="7" name="Text Box 8"/>
          <p:cNvSpPr>
            <a:spLocks noChangeArrowheads="1"/>
          </p:cNvSpPr>
          <p:nvPr/>
        </p:nvSpPr>
        <p:spPr bwMode="auto">
          <a:xfrm>
            <a:off x="971600" y="350636"/>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什么是智能网联汽车移动通信技术</a:t>
            </a:r>
            <a:r>
              <a:rPr lang="zh-CN" altLang="en-US" sz="3200" b="1" dirty="0" smtClean="0">
                <a:solidFill>
                  <a:schemeClr val="accent1"/>
                </a:solidFill>
                <a:latin typeface="微软雅黑" panose="020B0503020204020204" pitchFamily="34" charset="-122"/>
              </a:rPr>
              <a:t>？</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移动通信</a:t>
            </a:r>
            <a:r>
              <a:rPr lang="zh-CN" altLang="en-US" sz="3200" b="1" dirty="0" smtClean="0">
                <a:solidFill>
                  <a:schemeClr val="accent1"/>
                </a:solidFill>
                <a:latin typeface="微软雅黑" panose="020B0503020204020204" pitchFamily="34" charset="-122"/>
              </a:rPr>
              <a:t>技术有哪些应用？</a:t>
            </a:r>
          </a:p>
        </p:txBody>
      </p:sp>
      <p:sp>
        <p:nvSpPr>
          <p:cNvPr id="8" name="矩形 7"/>
          <p:cNvSpPr/>
          <p:nvPr/>
        </p:nvSpPr>
        <p:spPr>
          <a:xfrm>
            <a:off x="938266" y="1997448"/>
            <a:ext cx="3384376" cy="373051"/>
          </a:xfrm>
          <a:prstGeom prst="rect">
            <a:avLst/>
          </a:prstGeom>
          <a:solidFill>
            <a:schemeClr val="accent1"/>
          </a:solidFill>
        </p:spPr>
        <p:txBody>
          <a:bodyPr wrap="square">
            <a:spAutoFit/>
          </a:bodyPr>
          <a:lstStyle/>
          <a:p>
            <a:pPr fontAlgn="base">
              <a:lnSpc>
                <a:spcPct val="114000"/>
              </a:lnSpc>
            </a:pPr>
            <a:r>
              <a:rPr sz="1600" b="1" dirty="0" smtClean="0">
                <a:solidFill>
                  <a:schemeClr val="bg1"/>
                </a:solidFill>
                <a:latin typeface="微软雅黑" panose="020B0503020204020204" pitchFamily="34" charset="-122"/>
                <a:ea typeface="微软雅黑" panose="020B0503020204020204" pitchFamily="34" charset="-122"/>
              </a:rPr>
              <a:t>（</a:t>
            </a:r>
            <a:r>
              <a:rPr lang="en-US" sz="1600" b="1" dirty="0" smtClean="0">
                <a:solidFill>
                  <a:schemeClr val="bg1"/>
                </a:solidFill>
                <a:latin typeface="微软雅黑" panose="020B0503020204020204" pitchFamily="34" charset="-122"/>
                <a:ea typeface="微软雅黑" panose="020B0503020204020204" pitchFamily="34" charset="-122"/>
              </a:rPr>
              <a:t>2</a:t>
            </a:r>
            <a:r>
              <a:rPr sz="1600" b="1" dirty="0" smtClean="0">
                <a:solidFill>
                  <a:schemeClr val="bg1"/>
                </a:solidFill>
                <a:latin typeface="微软雅黑" panose="020B0503020204020204" pitchFamily="34" charset="-122"/>
                <a:ea typeface="微软雅黑" panose="020B0503020204020204" pitchFamily="34" charset="-122"/>
              </a:rPr>
              <a:t>）5G网络</a:t>
            </a:r>
            <a:r>
              <a:rPr lang="zh-CN" altLang="en-US" sz="1600" b="1" dirty="0" smtClean="0">
                <a:solidFill>
                  <a:schemeClr val="bg1"/>
                </a:solidFill>
                <a:latin typeface="微软雅黑" panose="020B0503020204020204" pitchFamily="34" charset="-122"/>
                <a:ea typeface="微软雅黑" panose="020B0503020204020204" pitchFamily="34" charset="-122"/>
              </a:rPr>
              <a:t>在</a:t>
            </a:r>
            <a:r>
              <a:rPr lang="en-US" altLang="zh-CN" sz="1600" b="1" dirty="0" smtClean="0">
                <a:solidFill>
                  <a:schemeClr val="bg1"/>
                </a:solidFill>
                <a:latin typeface="微软雅黑" panose="020B0503020204020204" pitchFamily="34" charset="-122"/>
                <a:ea typeface="微软雅黑" panose="020B0503020204020204" pitchFamily="34" charset="-122"/>
              </a:rPr>
              <a:t>V2X</a:t>
            </a:r>
            <a:r>
              <a:rPr lang="zh-CN" altLang="en-US" sz="1600" b="1" dirty="0" smtClean="0">
                <a:solidFill>
                  <a:schemeClr val="bg1"/>
                </a:solidFill>
                <a:latin typeface="微软雅黑" panose="020B0503020204020204" pitchFamily="34" charset="-122"/>
                <a:ea typeface="微软雅黑" panose="020B0503020204020204" pitchFamily="34" charset="-122"/>
              </a:rPr>
              <a:t>中的应用</a:t>
            </a:r>
            <a:endParaRPr sz="1600" b="1" dirty="0">
              <a:solidFill>
                <a:schemeClr val="bg1"/>
              </a:solidFill>
              <a:latin typeface="微软雅黑" panose="020B0503020204020204" pitchFamily="34" charset="-122"/>
              <a:ea typeface="微软雅黑" panose="020B0503020204020204" pitchFamily="34" charset="-122"/>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997448"/>
            <a:ext cx="3605733" cy="2756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971600" y="2571750"/>
            <a:ext cx="3351042" cy="1815882"/>
          </a:xfrm>
          <a:prstGeom prst="rect">
            <a:avLst/>
          </a:prstGeom>
          <a:solidFill>
            <a:schemeClr val="accent1"/>
          </a:solidFill>
        </p:spPr>
        <p:txBody>
          <a:bodyPr wrap="square">
            <a:spAutoFit/>
          </a:bodyPr>
          <a:lstStyle/>
          <a:p>
            <a:r>
              <a:rPr lang="zh-CN" altLang="en-US" sz="1600" dirty="0">
                <a:solidFill>
                  <a:schemeClr val="bg1"/>
                </a:solidFill>
                <a:latin typeface="微软雅黑" pitchFamily="34" charset="-122"/>
                <a:ea typeface="微软雅黑" pitchFamily="34" charset="-122"/>
              </a:rPr>
              <a:t>智能网联汽车技术真正的难点是安全问题，</a:t>
            </a:r>
            <a:r>
              <a:rPr lang="en-US" altLang="zh-CN" sz="1600" dirty="0">
                <a:solidFill>
                  <a:schemeClr val="bg1"/>
                </a:solidFill>
                <a:latin typeface="微软雅黑" pitchFamily="34" charset="-122"/>
                <a:ea typeface="微软雅黑" pitchFamily="34" charset="-122"/>
              </a:rPr>
              <a:t>5G </a:t>
            </a:r>
            <a:r>
              <a:rPr lang="zh-CN" altLang="en-US" sz="1600" dirty="0">
                <a:solidFill>
                  <a:schemeClr val="bg1"/>
                </a:solidFill>
                <a:latin typeface="微软雅黑" pitchFamily="34" charset="-122"/>
                <a:ea typeface="微软雅黑" pitchFamily="34" charset="-122"/>
              </a:rPr>
              <a:t>技术应用的真正目的其实就是解决车 辆安全驾驶问题，以最大限度地减少或减免交通事故的发生，保护车辆数据安全，收集数 据，集成数据，实现最大化的安全策略。</a:t>
            </a:r>
          </a:p>
        </p:txBody>
      </p:sp>
    </p:spTree>
    <p:extLst>
      <p:ext uri="{BB962C8B-B14F-4D97-AF65-F5344CB8AC3E}">
        <p14:creationId xmlns:p14="http://schemas.microsoft.com/office/powerpoint/2010/main" val="16760100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698475"/>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20</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1189</Words>
  <Application>Microsoft Office PowerPoint</Application>
  <PresentationFormat>全屏显示(16:9)</PresentationFormat>
  <Paragraphs>133</Paragraphs>
  <Slides>20</Slides>
  <Notes>19</Notes>
  <HiddenSlides>0</HiddenSlides>
  <MMClips>0</MMClips>
  <ScaleCrop>false</ScaleCrop>
  <HeadingPairs>
    <vt:vector size="4" baseType="variant">
      <vt:variant>
        <vt:lpstr>主题</vt:lpstr>
      </vt:variant>
      <vt:variant>
        <vt:i4>1</vt:i4>
      </vt:variant>
      <vt:variant>
        <vt:lpstr>幻灯片标题</vt:lpstr>
      </vt:variant>
      <vt:variant>
        <vt:i4>20</vt:i4>
      </vt:variant>
    </vt:vector>
  </HeadingPairs>
  <TitlesOfParts>
    <vt:vector size="21"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1572</cp:revision>
  <dcterms:created xsi:type="dcterms:W3CDTF">2017-08-03T05:04:00Z</dcterms:created>
  <dcterms:modified xsi:type="dcterms:W3CDTF">2022-03-03T03:47:10Z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8E4C9AADA725407FBE44C9347C02DF2D</vt:lpwstr>
  </property>
</Properties>
</file>