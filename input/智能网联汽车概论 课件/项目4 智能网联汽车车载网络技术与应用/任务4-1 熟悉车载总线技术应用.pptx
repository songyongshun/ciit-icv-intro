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1"/>
  </p:notesMasterIdLst>
  <p:sldIdLst>
    <p:sldId id="452" r:id="rId2"/>
    <p:sldId id="575" r:id="rId3"/>
    <p:sldId id="641" r:id="rId4"/>
    <p:sldId id="552" r:id="rId5"/>
    <p:sldId id="642" r:id="rId6"/>
    <p:sldId id="622" r:id="rId7"/>
    <p:sldId id="623" r:id="rId8"/>
    <p:sldId id="644" r:id="rId9"/>
    <p:sldId id="645" r:id="rId10"/>
    <p:sldId id="643" r:id="rId11"/>
    <p:sldId id="607" r:id="rId12"/>
    <p:sldId id="624" r:id="rId13"/>
    <p:sldId id="646" r:id="rId14"/>
    <p:sldId id="647" r:id="rId15"/>
    <p:sldId id="648" r:id="rId16"/>
    <p:sldId id="625" r:id="rId17"/>
    <p:sldId id="626" r:id="rId18"/>
    <p:sldId id="649" r:id="rId19"/>
    <p:sldId id="650" r:id="rId20"/>
    <p:sldId id="651" r:id="rId21"/>
    <p:sldId id="627" r:id="rId22"/>
    <p:sldId id="652" r:id="rId23"/>
    <p:sldId id="653" r:id="rId24"/>
    <p:sldId id="654" r:id="rId25"/>
    <p:sldId id="629" r:id="rId26"/>
    <p:sldId id="655" r:id="rId27"/>
    <p:sldId id="633" r:id="rId28"/>
    <p:sldId id="656" r:id="rId29"/>
    <p:sldId id="657" r:id="rId30"/>
    <p:sldId id="658" r:id="rId31"/>
    <p:sldId id="634" r:id="rId32"/>
    <p:sldId id="635" r:id="rId33"/>
    <p:sldId id="636" r:id="rId34"/>
    <p:sldId id="637" r:id="rId35"/>
    <p:sldId id="638" r:id="rId36"/>
    <p:sldId id="639" r:id="rId37"/>
    <p:sldId id="659" r:id="rId38"/>
    <p:sldId id="640" r:id="rId39"/>
    <p:sldId id="569" r:id="rId40"/>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A735"/>
    <a:srgbClr val="E20000"/>
    <a:srgbClr val="0A8029"/>
    <a:srgbClr val="6BA42C"/>
    <a:srgbClr val="080B86"/>
    <a:srgbClr val="2A6430"/>
    <a:srgbClr val="F2DCDB"/>
    <a:srgbClr val="EECECD"/>
    <a:srgbClr val="FAC090"/>
    <a:srgbClr val="88B0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62" autoAdjust="0"/>
    <p:restoredTop sz="91794" autoAdjust="0"/>
  </p:normalViewPr>
  <p:slideViewPr>
    <p:cSldViewPr>
      <p:cViewPr>
        <p:scale>
          <a:sx n="70" d="100"/>
          <a:sy n="70" d="100"/>
        </p:scale>
        <p:origin x="-612" y="-184"/>
      </p:cViewPr>
      <p:guideLst>
        <p:guide orient="horz" pos="1400"/>
        <p:guide pos="285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DBC56A5-6504-4F84-B307-892CFB3AFEA7}" type="datetimeFigureOut">
              <a:rPr lang="zh-CN" altLang="en-US" smtClean="0"/>
              <a:t>2022/3/4</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8B046C-3A01-41E6-A822-7FA0A1965D87}" type="slidenum">
              <a:rPr lang="zh-CN" altLang="en-US" smtClean="0"/>
              <a:t>‹#›</a:t>
            </a:fld>
            <a:endParaRPr lang="zh-CN" altLang="en-US"/>
          </a:p>
        </p:txBody>
      </p:sp>
    </p:spTree>
    <p:extLst>
      <p:ext uri="{BB962C8B-B14F-4D97-AF65-F5344CB8AC3E}">
        <p14:creationId xmlns:p14="http://schemas.microsoft.com/office/powerpoint/2010/main" val="3817562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zh-CN" dirty="0" smtClean="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zh-CN" dirty="0" smtClean="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zh-CN" altLang="zh-CN" dirty="0" smtClean="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34</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35</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36</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37</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zh-CN" dirty="0">
              <a:effectLst/>
            </a:endParaRPr>
          </a:p>
        </p:txBody>
      </p:sp>
      <p:sp>
        <p:nvSpPr>
          <p:cNvPr id="4" name="灯片编号占位符 3"/>
          <p:cNvSpPr>
            <a:spLocks noGrp="1"/>
          </p:cNvSpPr>
          <p:nvPr>
            <p:ph type="sldNum" sz="quarter" idx="10"/>
          </p:nvPr>
        </p:nvSpPr>
        <p:spPr/>
        <p:txBody>
          <a:bodyPr/>
          <a:lstStyle/>
          <a:p>
            <a:fld id="{358B046C-3A01-41E6-A822-7FA0A1965D87}" type="slidenum">
              <a:rPr lang="zh-CN" altLang="en-US" smtClean="0"/>
              <a:t>38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0"/>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A16A2C8B-5710-4407-A094-7D0381341E3B}" type="datetime1">
              <a:rPr lang="zh-CN" altLang="en-US" smtClean="0"/>
              <a:t>2022/3/4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7" name="Picture 2" descr="body"/>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87624" y="466367"/>
            <a:ext cx="6176442" cy="43008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755576" y="1063229"/>
            <a:ext cx="8229600" cy="3394472"/>
          </a:xfrm>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BFE8FFB4-D8F7-48E0-9754-FAF3066818AC}" type="datetime1">
              <a:rPr lang="zh-CN" altLang="en-US" smtClean="0"/>
              <a:t>2022/3/4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3D4017A1-F837-41FD-8512-7BBDAF0EED8B}" type="datetime1">
              <a:rPr lang="zh-CN" altLang="en-US" smtClean="0"/>
              <a:t>2022/3/4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900114"/>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78E7C002-758E-4D25-975A-AB620C087E93}" type="datetime1">
              <a:rPr lang="zh-CN" altLang="en-US" smtClean="0"/>
              <a:t>2022/3/4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2F3E8EA-488D-4BB4-AB2B-C90BF1352AF7}" type="datetime1">
              <a:rPr lang="zh-CN" altLang="en-US" smtClean="0"/>
              <a:t>2022/3/4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6E3622F2-C2FC-4FED-ABEC-518BAC9A44A6}" type="datetime1">
              <a:rPr lang="zh-CN" altLang="en-US" smtClean="0"/>
              <a:t>2022/3/4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6DA4C27-18E3-4311-8A9B-EEA28C49A864}" type="datetime1">
              <a:rPr lang="zh-CN" altLang="en-US" smtClean="0"/>
              <a:t>2022/3/4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3"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38DB677-D259-4E34-9A89-F6EEDF9008C9}" type="datetime1">
              <a:rPr lang="zh-CN" altLang="en-US" smtClean="0"/>
              <a:t>2022/3/4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90DAD84B-109E-4527-94FF-867BDC11262B}" type="datetime1">
              <a:rPr lang="zh-CN" altLang="en-US" smtClean="0"/>
              <a:t>2022/3/4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EF1F9AA-5F1F-420B-9A0D-3439B6781FDC}" type="datetime1">
              <a:rPr lang="zh-CN" altLang="en-US" smtClean="0"/>
              <a:t>2022/3/4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2"/>
            <a:ext cx="2057400" cy="329088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54782"/>
            <a:ext cx="6019800" cy="329088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AD0B00F-AA85-4C40-AA06-D9A56162892B}" type="datetime1">
              <a:rPr lang="zh-CN" altLang="en-US" smtClean="0"/>
              <a:t>2022/3/4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标题幻灯片">
    <p:spTree>
      <p:nvGrpSpPr>
        <p:cNvPr id="1" name=""/>
        <p:cNvGrpSpPr/>
        <p:nvPr/>
      </p:nvGrpSpPr>
      <p:grpSpPr>
        <a:xfrm>
          <a:off x="0" y="0"/>
          <a:ext cx="0" cy="0"/>
          <a:chOff x="0" y="0"/>
          <a:chExt cx="0" cy="0"/>
        </a:xfrm>
      </p:grpSpPr>
      <p:sp>
        <p:nvSpPr>
          <p:cNvPr id="3" name="Rectangle 3"/>
          <p:cNvSpPr>
            <a:spLocks noChangeArrowheads="1"/>
          </p:cNvSpPr>
          <p:nvPr userDrawn="1"/>
        </p:nvSpPr>
        <p:spPr bwMode="auto">
          <a:xfrm>
            <a:off x="5298304" y="915566"/>
            <a:ext cx="3670323" cy="342900"/>
          </a:xfrm>
          <a:prstGeom prst="rect">
            <a:avLst/>
          </a:prstGeom>
          <a:solidFill>
            <a:schemeClr val="bg1"/>
          </a:solidFill>
          <a:ln w="9525">
            <a:solidFill>
              <a:schemeClr val="bg1"/>
            </a:solidFill>
            <a:miter lim="800000"/>
          </a:ln>
        </p:spPr>
        <p:txBody>
          <a:bodyPr anchor="ctr"/>
          <a:lstStyle>
            <a:lvl1pPr eaLnBrk="0" hangingPunct="0">
              <a:defRPr sz="4400">
                <a:solidFill>
                  <a:schemeClr val="tx1"/>
                </a:solidFill>
                <a:latin typeface="Arial" panose="020B0604020202020204" pitchFamily="34" charset="0"/>
                <a:ea typeface="宋体" panose="02010600030101010101" pitchFamily="2" charset="-122"/>
              </a:defRPr>
            </a:lvl1pPr>
            <a:lvl2pPr marL="742950" indent="-285750" eaLnBrk="0" hangingPunct="0">
              <a:defRPr sz="4400">
                <a:solidFill>
                  <a:schemeClr val="tx1"/>
                </a:solidFill>
                <a:latin typeface="Arial" panose="020B0604020202020204" pitchFamily="34" charset="0"/>
                <a:ea typeface="宋体" panose="02010600030101010101" pitchFamily="2" charset="-122"/>
              </a:defRPr>
            </a:lvl2pPr>
            <a:lvl3pPr marL="1143000" indent="-228600" eaLnBrk="0" hangingPunct="0">
              <a:defRPr sz="4400">
                <a:solidFill>
                  <a:schemeClr val="tx1"/>
                </a:solidFill>
                <a:latin typeface="Arial" panose="020B0604020202020204" pitchFamily="34" charset="0"/>
                <a:ea typeface="宋体" panose="02010600030101010101" pitchFamily="2" charset="-122"/>
              </a:defRPr>
            </a:lvl3pPr>
            <a:lvl4pPr marL="1600200" indent="-228600" eaLnBrk="0" hangingPunct="0">
              <a:defRPr sz="4400">
                <a:solidFill>
                  <a:schemeClr val="tx1"/>
                </a:solidFill>
                <a:latin typeface="Arial" panose="020B0604020202020204" pitchFamily="34" charset="0"/>
                <a:ea typeface="宋体" panose="02010600030101010101" pitchFamily="2" charset="-122"/>
              </a:defRPr>
            </a:lvl4pPr>
            <a:lvl5pPr marL="2057400" indent="-228600" eaLnBrk="0" hangingPunct="0">
              <a:defRPr sz="4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 name="Rectangle 3"/>
          <p:cNvSpPr>
            <a:spLocks noChangeArrowheads="1"/>
          </p:cNvSpPr>
          <p:nvPr userDrawn="1"/>
        </p:nvSpPr>
        <p:spPr bwMode="auto">
          <a:xfrm>
            <a:off x="467544" y="3075806"/>
            <a:ext cx="4070521" cy="1800200"/>
          </a:xfrm>
          <a:prstGeom prst="rect">
            <a:avLst/>
          </a:prstGeom>
          <a:solidFill>
            <a:schemeClr val="bg1"/>
          </a:solidFill>
          <a:ln w="9525">
            <a:solidFill>
              <a:schemeClr val="bg1"/>
            </a:solidFill>
            <a:miter lim="800000"/>
          </a:ln>
        </p:spPr>
        <p:txBody>
          <a:bodyPr anchor="ctr"/>
          <a:lstStyle>
            <a:lvl1pPr eaLnBrk="0" hangingPunct="0">
              <a:defRPr sz="4400">
                <a:solidFill>
                  <a:schemeClr val="tx1"/>
                </a:solidFill>
                <a:latin typeface="Arial" panose="020B0604020202020204" pitchFamily="34" charset="0"/>
                <a:ea typeface="宋体" panose="02010600030101010101" pitchFamily="2" charset="-122"/>
              </a:defRPr>
            </a:lvl1pPr>
            <a:lvl2pPr marL="742950" indent="-285750" eaLnBrk="0" hangingPunct="0">
              <a:defRPr sz="4400">
                <a:solidFill>
                  <a:schemeClr val="tx1"/>
                </a:solidFill>
                <a:latin typeface="Arial" panose="020B0604020202020204" pitchFamily="34" charset="0"/>
                <a:ea typeface="宋体" panose="02010600030101010101" pitchFamily="2" charset="-122"/>
              </a:defRPr>
            </a:lvl2pPr>
            <a:lvl3pPr marL="1143000" indent="-228600" eaLnBrk="0" hangingPunct="0">
              <a:defRPr sz="4400">
                <a:solidFill>
                  <a:schemeClr val="tx1"/>
                </a:solidFill>
                <a:latin typeface="Arial" panose="020B0604020202020204" pitchFamily="34" charset="0"/>
                <a:ea typeface="宋体" panose="02010600030101010101" pitchFamily="2" charset="-122"/>
              </a:defRPr>
            </a:lvl3pPr>
            <a:lvl4pPr marL="1600200" indent="-228600" eaLnBrk="0" hangingPunct="0">
              <a:defRPr sz="4400">
                <a:solidFill>
                  <a:schemeClr val="tx1"/>
                </a:solidFill>
                <a:latin typeface="Arial" panose="020B0604020202020204" pitchFamily="34" charset="0"/>
                <a:ea typeface="宋体" panose="02010600030101010101" pitchFamily="2" charset="-122"/>
              </a:defRPr>
            </a:lvl4pPr>
            <a:lvl5pPr marL="2057400" indent="-228600" eaLnBrk="0" hangingPunct="0">
              <a:defRPr sz="4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44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F7EA93C-689E-4CAB-A3E9-95BA7A7E3BFC}" type="datetime1">
              <a:rPr lang="zh-CN" altLang="en-US" smtClean="0"/>
              <a:t>2022/3/4</a:t>
            </a:fld>
            <a:endParaRPr lang="zh-CN" altLang="en-US"/>
          </a:p>
        </p:txBody>
      </p:sp>
      <p:sp>
        <p:nvSpPr>
          <p:cNvPr id="5" name="页脚占位符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429006"/>
            <a:ext cx="8362950" cy="427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915566"/>
            <a:ext cx="7524328" cy="2008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6225" y="339502"/>
            <a:ext cx="5707830" cy="4444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3528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4</a:t>
            </a:fld>
            <a:endParaRPr lang="zh-CN" altLang="en-US" dirty="0"/>
          </a:p>
        </p:txBody>
      </p:sp>
      <p:sp>
        <p:nvSpPr>
          <p:cNvPr id="8" name="Text Box 8"/>
          <p:cNvSpPr>
            <a:spLocks noChangeArrowheads="1"/>
          </p:cNvSpPr>
          <p:nvPr/>
        </p:nvSpPr>
        <p:spPr bwMode="auto">
          <a:xfrm>
            <a:off x="988208"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什么是车载总线系统？车载总线系统有</a:t>
            </a:r>
            <a:endParaRPr lang="en-US" altLang="zh-CN" sz="32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哪些类型？</a:t>
            </a:r>
          </a:p>
        </p:txBody>
      </p:sp>
      <p:sp>
        <p:nvSpPr>
          <p:cNvPr id="3" name="矩形 2"/>
          <p:cNvSpPr/>
          <p:nvPr/>
        </p:nvSpPr>
        <p:spPr>
          <a:xfrm>
            <a:off x="988208" y="1487835"/>
            <a:ext cx="2468946"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1.汽车总线系统概述</a:t>
            </a:r>
          </a:p>
        </p:txBody>
      </p:sp>
      <p:sp>
        <p:nvSpPr>
          <p:cNvPr id="2" name="矩形 1"/>
          <p:cNvSpPr/>
          <p:nvPr/>
        </p:nvSpPr>
        <p:spPr>
          <a:xfrm>
            <a:off x="979574" y="1995686"/>
            <a:ext cx="7192826" cy="934487"/>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利用计算机网络技术，将车载控制单元通过车载网络连接</a:t>
            </a:r>
            <a:r>
              <a:rPr lang="zh-CN" altLang="en-US" sz="1600" dirty="0" smtClean="0">
                <a:solidFill>
                  <a:schemeClr val="bg1"/>
                </a:solidFill>
                <a:latin typeface="微软雅黑" pitchFamily="34" charset="-122"/>
                <a:ea typeface="微软雅黑" pitchFamily="34" charset="-122"/>
              </a:rPr>
              <a:t>起来</a:t>
            </a:r>
            <a:r>
              <a:rPr lang="zh-CN" altLang="en-US" sz="1600" dirty="0">
                <a:solidFill>
                  <a:schemeClr val="bg1"/>
                </a:solidFill>
                <a:latin typeface="微软雅黑" pitchFamily="34" charset="-122"/>
                <a:ea typeface="微软雅黑" pitchFamily="34" charset="-122"/>
              </a:rPr>
              <a:t>，实现数据信息的高效传输。车载网络形式多种多样，目前应用最为广泛的是控制器</a:t>
            </a:r>
            <a:r>
              <a:rPr lang="zh-CN" altLang="en-US" sz="1600" dirty="0" smtClean="0">
                <a:solidFill>
                  <a:schemeClr val="bg1"/>
                </a:solidFill>
                <a:latin typeface="微软雅黑" pitchFamily="34" charset="-122"/>
                <a:ea typeface="微软雅黑" pitchFamily="34" charset="-122"/>
              </a:rPr>
              <a:t>局域网络</a:t>
            </a:r>
            <a:r>
              <a:rPr lang="zh-CN" altLang="en-US" sz="1600" dirty="0">
                <a:solidFill>
                  <a:schemeClr val="bg1"/>
                </a:solidFill>
                <a:latin typeface="微软雅黑" pitchFamily="34" charset="-122"/>
                <a:ea typeface="微软雅黑" pitchFamily="34" charset="-122"/>
              </a:rPr>
              <a:t>（</a:t>
            </a:r>
            <a:r>
              <a:rPr lang="en-US" altLang="zh-CN" sz="1600" dirty="0" smtClean="0">
                <a:solidFill>
                  <a:schemeClr val="bg1"/>
                </a:solidFill>
                <a:latin typeface="微软雅黑" pitchFamily="34" charset="-122"/>
                <a:ea typeface="微软雅黑" pitchFamily="34" charset="-122"/>
              </a:rPr>
              <a:t>Controller Area Network</a:t>
            </a:r>
            <a:r>
              <a:rPr lang="zh-CN" altLang="en-US" sz="1600" dirty="0">
                <a:solidFill>
                  <a:schemeClr val="bg1"/>
                </a:solidFill>
                <a:latin typeface="微软雅黑" pitchFamily="34" charset="-122"/>
                <a:ea typeface="微软雅黑" pitchFamily="34" charset="-122"/>
              </a:rPr>
              <a:t>），即所谓</a:t>
            </a:r>
            <a:r>
              <a:rPr lang="zh-CN" altLang="en-US" sz="1600" dirty="0" smtClean="0">
                <a:solidFill>
                  <a:schemeClr val="bg1"/>
                </a:solidFill>
                <a:latin typeface="微软雅黑" pitchFamily="34" charset="-122"/>
                <a:ea typeface="微软雅黑" pitchFamily="34" charset="-122"/>
              </a:rPr>
              <a:t>的 </a:t>
            </a:r>
            <a:r>
              <a:rPr lang="en-US" altLang="zh-CN" sz="1600" dirty="0" smtClean="0">
                <a:solidFill>
                  <a:schemeClr val="bg1"/>
                </a:solidFill>
                <a:latin typeface="微软雅黑" pitchFamily="34" charset="-122"/>
                <a:ea typeface="微软雅黑" pitchFamily="34" charset="-122"/>
              </a:rPr>
              <a:t>CAN </a:t>
            </a:r>
            <a:r>
              <a:rPr lang="zh-CN" altLang="en-US" sz="1600" dirty="0">
                <a:solidFill>
                  <a:schemeClr val="bg1"/>
                </a:solidFill>
                <a:latin typeface="微软雅黑" pitchFamily="34" charset="-122"/>
                <a:ea typeface="微软雅黑" pitchFamily="34" charset="-122"/>
              </a:rPr>
              <a:t>总线（</a:t>
            </a:r>
            <a:r>
              <a:rPr lang="en-US" altLang="zh-CN" sz="1600" dirty="0">
                <a:solidFill>
                  <a:schemeClr val="bg1"/>
                </a:solidFill>
                <a:latin typeface="微软雅黑" pitchFamily="34" charset="-122"/>
                <a:ea typeface="微软雅黑" pitchFamily="34" charset="-122"/>
              </a:rPr>
              <a:t>BUS</a:t>
            </a:r>
            <a:r>
              <a:rPr lang="zh-CN" altLang="en-US" sz="1600" dirty="0">
                <a:solidFill>
                  <a:schemeClr val="bg1"/>
                </a:solidFill>
                <a:latin typeface="微软雅黑" pitchFamily="34" charset="-122"/>
                <a:ea typeface="微软雅黑" pitchFamily="34" charset="-122"/>
              </a:rPr>
              <a:t>）系统。</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1444" y="3003798"/>
            <a:ext cx="5704060" cy="1705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988208" y="3007000"/>
            <a:ext cx="1481870" cy="1815882"/>
          </a:xfrm>
          <a:prstGeom prst="rect">
            <a:avLst/>
          </a:prstGeom>
          <a:solidFill>
            <a:srgbClr val="0070C0"/>
          </a:solidFill>
        </p:spPr>
        <p:txBody>
          <a:bodyPr wrap="square">
            <a:spAutoFit/>
          </a:bodyPr>
          <a:lstStyle/>
          <a:p>
            <a:r>
              <a:rPr lang="en-US" altLang="zh-CN" sz="1600" dirty="0">
                <a:solidFill>
                  <a:schemeClr val="bg1"/>
                </a:solidFill>
                <a:latin typeface="微软雅黑" pitchFamily="34" charset="-122"/>
                <a:ea typeface="微软雅黑" pitchFamily="34" charset="-122"/>
              </a:rPr>
              <a:t>CAN </a:t>
            </a:r>
            <a:r>
              <a:rPr lang="zh-CN" altLang="en-US" sz="1600" dirty="0" smtClean="0">
                <a:solidFill>
                  <a:schemeClr val="bg1"/>
                </a:solidFill>
                <a:latin typeface="微软雅黑" pitchFamily="34" charset="-122"/>
                <a:ea typeface="微软雅黑" pitchFamily="34" charset="-122"/>
              </a:rPr>
              <a:t>总线所有信息</a:t>
            </a:r>
            <a:r>
              <a:rPr lang="zh-CN" altLang="en-US" sz="1600" dirty="0">
                <a:solidFill>
                  <a:schemeClr val="bg1"/>
                </a:solidFill>
                <a:latin typeface="微软雅黑" pitchFamily="34" charset="-122"/>
                <a:ea typeface="微软雅黑" pitchFamily="34" charset="-122"/>
              </a:rPr>
              <a:t>都通过两根数据线进行传递</a:t>
            </a:r>
            <a:r>
              <a:rPr lang="zh-CN" altLang="en-US" sz="1600" dirty="0" smtClean="0">
                <a:solidFill>
                  <a:schemeClr val="bg1"/>
                </a:solidFill>
                <a:latin typeface="微软雅黑" pitchFamily="34" charset="-122"/>
                <a:ea typeface="微软雅黑" pitchFamily="34" charset="-122"/>
              </a:rPr>
              <a:t>。相同</a:t>
            </a:r>
            <a:r>
              <a:rPr lang="zh-CN" altLang="en-US" sz="1600" dirty="0">
                <a:solidFill>
                  <a:schemeClr val="bg1"/>
                </a:solidFill>
                <a:latin typeface="微软雅黑" pitchFamily="34" charset="-122"/>
                <a:ea typeface="微软雅黑" pitchFamily="34" charset="-122"/>
              </a:rPr>
              <a:t>的数据只须在数据系统中传递一次</a:t>
            </a:r>
            <a:r>
              <a:rPr lang="zh-CN" altLang="en-US" sz="1600" dirty="0" smtClean="0">
                <a:solidFill>
                  <a:schemeClr val="bg1"/>
                </a:solidFill>
                <a:latin typeface="微软雅黑" pitchFamily="34" charset="-122"/>
                <a:ea typeface="微软雅黑" pitchFamily="34" charset="-122"/>
              </a:rPr>
              <a:t>。</a:t>
            </a:r>
            <a:endParaRPr lang="zh-CN" altLang="en-US" sz="1600" dirty="0">
              <a:solidFill>
                <a:schemeClr val="bg1"/>
              </a:solidFill>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5</a:t>
            </a:fld>
            <a:endParaRPr lang="zh-CN" altLang="en-US" dirty="0"/>
          </a:p>
        </p:txBody>
      </p:sp>
      <p:sp>
        <p:nvSpPr>
          <p:cNvPr id="8" name="Text Box 8"/>
          <p:cNvSpPr>
            <a:spLocks noChangeArrowheads="1"/>
          </p:cNvSpPr>
          <p:nvPr/>
        </p:nvSpPr>
        <p:spPr bwMode="auto">
          <a:xfrm>
            <a:off x="988208"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什么是车载总线系统？车载总线系统有</a:t>
            </a:r>
            <a:endParaRPr lang="en-US" altLang="zh-CN" sz="32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哪些类型？</a:t>
            </a:r>
          </a:p>
        </p:txBody>
      </p:sp>
      <p:sp>
        <p:nvSpPr>
          <p:cNvPr id="3" name="矩形 2"/>
          <p:cNvSpPr/>
          <p:nvPr/>
        </p:nvSpPr>
        <p:spPr>
          <a:xfrm>
            <a:off x="988208" y="1487835"/>
            <a:ext cx="3094117"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1.汽车总线系统概述</a:t>
            </a:r>
            <a:r>
              <a:rPr lang="en-US" altLang="zh-CN" sz="2000" b="1" dirty="0" smtClean="0">
                <a:solidFill>
                  <a:schemeClr val="bg1"/>
                </a:solidFill>
                <a:latin typeface="微软雅黑" panose="020B0503020204020204" pitchFamily="34" charset="-122"/>
                <a:ea typeface="微软雅黑" panose="020B0503020204020204" pitchFamily="34" charset="-122"/>
              </a:rPr>
              <a:t>-</a:t>
            </a:r>
            <a:r>
              <a:rPr lang="zh-CN" altLang="en-US" sz="2000" b="1" dirty="0" smtClean="0">
                <a:solidFill>
                  <a:schemeClr val="bg1"/>
                </a:solidFill>
                <a:latin typeface="微软雅黑" panose="020B0503020204020204" pitchFamily="34" charset="-122"/>
                <a:ea typeface="微软雅黑" panose="020B0503020204020204" pitchFamily="34" charset="-122"/>
              </a:rPr>
              <a:t>优点</a:t>
            </a:r>
            <a:endParaRPr sz="2000" b="1" dirty="0" smtClean="0">
              <a:solidFill>
                <a:schemeClr val="bg1"/>
              </a:solidFill>
              <a:latin typeface="微软雅黑" panose="020B0503020204020204" pitchFamily="34" charset="-122"/>
              <a:ea typeface="微软雅黑" panose="020B0503020204020204" pitchFamily="34" charset="-122"/>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9069" y="1683780"/>
            <a:ext cx="2929309" cy="1665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899592" y="1995686"/>
            <a:ext cx="4440604" cy="1215204"/>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1</a:t>
            </a:r>
            <a:r>
              <a:rPr lang="zh-CN" altLang="en-US" sz="1600" dirty="0">
                <a:solidFill>
                  <a:schemeClr val="bg1"/>
                </a:solidFill>
                <a:latin typeface="微软雅黑" pitchFamily="34" charset="-122"/>
                <a:ea typeface="微软雅黑" pitchFamily="34" charset="-122"/>
              </a:rPr>
              <a:t>）数据传输速度</a:t>
            </a:r>
            <a:r>
              <a:rPr lang="zh-CN" altLang="en-US" sz="1600" dirty="0" smtClean="0">
                <a:solidFill>
                  <a:schemeClr val="bg1"/>
                </a:solidFill>
                <a:latin typeface="微软雅黑" pitchFamily="34" charset="-122"/>
                <a:ea typeface="微软雅黑" pitchFamily="34" charset="-122"/>
              </a:rPr>
              <a:t>快：数据</a:t>
            </a:r>
            <a:r>
              <a:rPr lang="zh-CN" altLang="en-US" sz="1600" dirty="0">
                <a:solidFill>
                  <a:schemeClr val="bg1"/>
                </a:solidFill>
                <a:latin typeface="微软雅黑" pitchFamily="34" charset="-122"/>
                <a:ea typeface="微软雅黑" pitchFamily="34" charset="-122"/>
              </a:rPr>
              <a:t>传输能以较快的速度进行，最快速度</a:t>
            </a:r>
            <a:r>
              <a:rPr lang="zh-CN" altLang="en-US" sz="1600" dirty="0" smtClean="0">
                <a:solidFill>
                  <a:schemeClr val="bg1"/>
                </a:solidFill>
                <a:latin typeface="微软雅黑" pitchFamily="34" charset="-122"/>
                <a:ea typeface="微软雅黑" pitchFamily="34" charset="-122"/>
              </a:rPr>
              <a:t>达到 </a:t>
            </a:r>
            <a:r>
              <a:rPr lang="en-US" altLang="zh-CN" sz="1600" dirty="0" smtClean="0">
                <a:solidFill>
                  <a:schemeClr val="bg1"/>
                </a:solidFill>
                <a:latin typeface="微软雅黑" pitchFamily="34" charset="-122"/>
                <a:ea typeface="微软雅黑" pitchFamily="34" charset="-122"/>
              </a:rPr>
              <a:t>1Mbit/s</a:t>
            </a:r>
            <a:r>
              <a:rPr lang="zh-CN" altLang="en-US" sz="1600" dirty="0" smtClean="0">
                <a:solidFill>
                  <a:schemeClr val="bg1"/>
                </a:solidFill>
                <a:latin typeface="微软雅黑" pitchFamily="34" charset="-122"/>
                <a:ea typeface="微软雅黑" pitchFamily="34" charset="-122"/>
              </a:rPr>
              <a:t>。</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2</a:t>
            </a:r>
            <a:r>
              <a:rPr lang="zh-CN" altLang="en-US" sz="1600" dirty="0">
                <a:solidFill>
                  <a:schemeClr val="bg1"/>
                </a:solidFill>
                <a:latin typeface="微软雅黑" pitchFamily="34" charset="-122"/>
                <a:ea typeface="微软雅黑" pitchFamily="34" charset="-122"/>
              </a:rPr>
              <a:t>）系统可靠性</a:t>
            </a:r>
            <a:r>
              <a:rPr lang="zh-CN" altLang="en-US" sz="1600" dirty="0" smtClean="0">
                <a:solidFill>
                  <a:schemeClr val="bg1"/>
                </a:solidFill>
                <a:latin typeface="微软雅黑" pitchFamily="34" charset="-122"/>
                <a:ea typeface="微软雅黑" pitchFamily="34" charset="-122"/>
              </a:rPr>
              <a:t>高：系统</a:t>
            </a:r>
            <a:r>
              <a:rPr lang="zh-CN" altLang="en-US" sz="1600" dirty="0">
                <a:solidFill>
                  <a:schemeClr val="bg1"/>
                </a:solidFill>
                <a:latin typeface="微软雅黑" pitchFamily="34" charset="-122"/>
                <a:ea typeface="微软雅黑" pitchFamily="34" charset="-122"/>
              </a:rPr>
              <a:t>能准确识别数据传输</a:t>
            </a:r>
            <a:r>
              <a:rPr lang="zh-CN" altLang="en-US" sz="1600" dirty="0" smtClean="0">
                <a:solidFill>
                  <a:schemeClr val="bg1"/>
                </a:solidFill>
                <a:latin typeface="微软雅黑" pitchFamily="34" charset="-122"/>
                <a:ea typeface="微软雅黑" pitchFamily="34" charset="-122"/>
              </a:rPr>
              <a:t>故障；</a:t>
            </a:r>
            <a:r>
              <a:rPr lang="zh-CN" altLang="en-US" sz="1600" dirty="0">
                <a:solidFill>
                  <a:schemeClr val="bg1"/>
                </a:solidFill>
                <a:latin typeface="微软雅黑" pitchFamily="34" charset="-122"/>
                <a:ea typeface="微软雅黑" pitchFamily="34" charset="-122"/>
              </a:rPr>
              <a:t>具有较强的</a:t>
            </a:r>
            <a:r>
              <a:rPr lang="zh-CN" altLang="en-US" sz="1600" dirty="0" smtClean="0">
                <a:solidFill>
                  <a:schemeClr val="bg1"/>
                </a:solidFill>
                <a:latin typeface="微软雅黑" pitchFamily="34" charset="-122"/>
                <a:ea typeface="微软雅黑" pitchFamily="34" charset="-122"/>
              </a:rPr>
              <a:t>抗干扰和</a:t>
            </a:r>
            <a:r>
              <a:rPr lang="zh-CN" altLang="en-US" sz="1600" dirty="0">
                <a:solidFill>
                  <a:schemeClr val="bg1"/>
                </a:solidFill>
                <a:latin typeface="微软雅黑" pitchFamily="34" charset="-122"/>
                <a:ea typeface="微软雅黑" pitchFamily="34" charset="-122"/>
              </a:rPr>
              <a:t>应急</a:t>
            </a:r>
            <a:r>
              <a:rPr lang="zh-CN" altLang="en-US" sz="1600" dirty="0" smtClean="0">
                <a:solidFill>
                  <a:schemeClr val="bg1"/>
                </a:solidFill>
                <a:latin typeface="微软雅黑" pitchFamily="34" charset="-122"/>
                <a:ea typeface="微软雅黑" pitchFamily="34" charset="-122"/>
              </a:rPr>
              <a:t>运行能力。</a:t>
            </a:r>
            <a:endParaRPr lang="zh-CN" altLang="en-US" sz="1600" dirty="0">
              <a:solidFill>
                <a:schemeClr val="bg1"/>
              </a:solidFill>
              <a:latin typeface="微软雅黑" pitchFamily="34" charset="-122"/>
              <a:ea typeface="微软雅黑" pitchFamily="34" charset="-122"/>
            </a:endParaRPr>
          </a:p>
        </p:txBody>
      </p:sp>
      <p:sp>
        <p:nvSpPr>
          <p:cNvPr id="10" name="矩形 9"/>
          <p:cNvSpPr/>
          <p:nvPr/>
        </p:nvSpPr>
        <p:spPr>
          <a:xfrm>
            <a:off x="899592" y="3354946"/>
            <a:ext cx="7272808" cy="1215204"/>
          </a:xfrm>
          <a:prstGeom prst="rect">
            <a:avLst/>
          </a:prstGeom>
          <a:solidFill>
            <a:srgbClr val="0070C0"/>
          </a:solidFill>
        </p:spPr>
        <p:txBody>
          <a:bodyPr wrap="square">
            <a:spAutoFit/>
          </a:bodyPr>
          <a:lstStyle/>
          <a:p>
            <a:pPr>
              <a:lnSpc>
                <a:spcPct val="114000"/>
              </a:lnSpc>
            </a:pPr>
            <a:r>
              <a:rPr lang="zh-CN" altLang="en-US" sz="1600" dirty="0" smtClean="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3</a:t>
            </a:r>
            <a:r>
              <a:rPr lang="zh-CN" altLang="en-US" sz="1600" dirty="0">
                <a:solidFill>
                  <a:schemeClr val="bg1"/>
                </a:solidFill>
                <a:latin typeface="微软雅黑" pitchFamily="34" charset="-122"/>
                <a:ea typeface="微软雅黑" pitchFamily="34" charset="-122"/>
              </a:rPr>
              <a:t>）减少线束，</a:t>
            </a:r>
            <a:r>
              <a:rPr lang="zh-CN" altLang="en-US" sz="1600" dirty="0" smtClean="0">
                <a:solidFill>
                  <a:schemeClr val="bg1"/>
                </a:solidFill>
                <a:latin typeface="微软雅黑" pitchFamily="34" charset="-122"/>
                <a:ea typeface="微软雅黑" pitchFamily="34" charset="-122"/>
              </a:rPr>
              <a:t>降低成本：通过</a:t>
            </a:r>
            <a:r>
              <a:rPr lang="zh-CN" altLang="en-US" sz="1600" dirty="0">
                <a:solidFill>
                  <a:schemeClr val="bg1"/>
                </a:solidFill>
                <a:latin typeface="微软雅黑" pitchFamily="34" charset="-122"/>
                <a:ea typeface="微软雅黑" pitchFamily="34" charset="-122"/>
              </a:rPr>
              <a:t>减少车身线束降低</a:t>
            </a:r>
            <a:r>
              <a:rPr lang="zh-CN" altLang="en-US" sz="1600" dirty="0" smtClean="0">
                <a:solidFill>
                  <a:schemeClr val="bg1"/>
                </a:solidFill>
                <a:latin typeface="微软雅黑" pitchFamily="34" charset="-122"/>
                <a:ea typeface="微软雅黑" pitchFamily="34" charset="-122"/>
              </a:rPr>
              <a:t>了成本。 </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4</a:t>
            </a:r>
            <a:r>
              <a:rPr lang="zh-CN" altLang="en-US" sz="1600" dirty="0">
                <a:solidFill>
                  <a:schemeClr val="bg1"/>
                </a:solidFill>
                <a:latin typeface="微软雅黑" pitchFamily="34" charset="-122"/>
                <a:ea typeface="微软雅黑" pitchFamily="34" charset="-122"/>
              </a:rPr>
              <a:t>）系统配置更加灵活</a:t>
            </a:r>
            <a:r>
              <a:rPr lang="zh-CN" altLang="en-US" sz="1600" dirty="0" smtClean="0">
                <a:solidFill>
                  <a:schemeClr val="bg1"/>
                </a:solidFill>
                <a:latin typeface="微软雅黑" pitchFamily="34" charset="-122"/>
                <a:ea typeface="微软雅黑" pitchFamily="34" charset="-122"/>
              </a:rPr>
              <a:t>便利：便于系统</a:t>
            </a:r>
            <a:r>
              <a:rPr lang="zh-CN" altLang="en-US" sz="1600" dirty="0">
                <a:solidFill>
                  <a:schemeClr val="bg1"/>
                </a:solidFill>
                <a:latin typeface="微软雅黑" pitchFamily="34" charset="-122"/>
                <a:ea typeface="微软雅黑" pitchFamily="34" charset="-122"/>
              </a:rPr>
              <a:t>进行功能增减或配置更改</a:t>
            </a:r>
            <a:r>
              <a:rPr lang="zh-CN" altLang="en-US" sz="1600" dirty="0" smtClean="0">
                <a:solidFill>
                  <a:schemeClr val="bg1"/>
                </a:solidFill>
                <a:latin typeface="微软雅黑" pitchFamily="34" charset="-122"/>
                <a:ea typeface="微软雅黑" pitchFamily="34" charset="-122"/>
              </a:rPr>
              <a:t>时。 </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5</a:t>
            </a:r>
            <a:r>
              <a:rPr lang="zh-CN" altLang="en-US" sz="1600" dirty="0">
                <a:solidFill>
                  <a:schemeClr val="bg1"/>
                </a:solidFill>
                <a:latin typeface="微软雅黑" pitchFamily="34" charset="-122"/>
                <a:ea typeface="微软雅黑" pitchFamily="34" charset="-122"/>
              </a:rPr>
              <a:t>）高效率</a:t>
            </a:r>
            <a:r>
              <a:rPr lang="zh-CN" altLang="en-US" sz="1600" dirty="0" smtClean="0">
                <a:solidFill>
                  <a:schemeClr val="bg1"/>
                </a:solidFill>
                <a:latin typeface="微软雅黑" pitchFamily="34" charset="-122"/>
                <a:ea typeface="微软雅黑" pitchFamily="34" charset="-122"/>
              </a:rPr>
              <a:t>诊断：通过</a:t>
            </a:r>
            <a:r>
              <a:rPr lang="zh-CN" altLang="en-US" sz="1600" dirty="0">
                <a:solidFill>
                  <a:schemeClr val="bg1"/>
                </a:solidFill>
                <a:latin typeface="微软雅黑" pitchFamily="34" charset="-122"/>
                <a:ea typeface="微软雅黑" pitchFamily="34" charset="-122"/>
              </a:rPr>
              <a:t>网络实现对网络中各系统的高效诊断，大大减少了诊断扫描所需的诊断线束。</a:t>
            </a:r>
          </a:p>
        </p:txBody>
      </p:sp>
    </p:spTree>
    <p:extLst>
      <p:ext uri="{BB962C8B-B14F-4D97-AF65-F5344CB8AC3E}">
        <p14:creationId xmlns:p14="http://schemas.microsoft.com/office/powerpoint/2010/main" val="25093498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6</a:t>
            </a:fld>
            <a:endParaRPr lang="zh-CN" altLang="en-US" dirty="0"/>
          </a:p>
        </p:txBody>
      </p:sp>
      <p:sp>
        <p:nvSpPr>
          <p:cNvPr id="3" name="矩形 2"/>
          <p:cNvSpPr/>
          <p:nvPr/>
        </p:nvSpPr>
        <p:spPr>
          <a:xfrm>
            <a:off x="988208" y="1601472"/>
            <a:ext cx="2725426"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2.汽车总线的标准分类</a:t>
            </a:r>
          </a:p>
        </p:txBody>
      </p:sp>
      <p:pic>
        <p:nvPicPr>
          <p:cNvPr id="59" name="图片 5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2840270" y="2067694"/>
            <a:ext cx="5391282" cy="2454806"/>
          </a:xfrm>
          <a:prstGeom prst="rect">
            <a:avLst/>
          </a:prstGeom>
          <a:noFill/>
          <a:ln>
            <a:noFill/>
          </a:ln>
        </p:spPr>
      </p:pic>
      <p:sp>
        <p:nvSpPr>
          <p:cNvPr id="7" name="Text Box 8"/>
          <p:cNvSpPr>
            <a:spLocks noChangeArrowheads="1"/>
          </p:cNvSpPr>
          <p:nvPr/>
        </p:nvSpPr>
        <p:spPr bwMode="auto">
          <a:xfrm>
            <a:off x="988208"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什么是车载总线系统？车载总线系统有</a:t>
            </a:r>
            <a:endParaRPr lang="en-US" altLang="zh-CN" sz="32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哪些类型？</a:t>
            </a:r>
          </a:p>
        </p:txBody>
      </p:sp>
      <p:sp>
        <p:nvSpPr>
          <p:cNvPr id="2" name="矩形 1"/>
          <p:cNvSpPr/>
          <p:nvPr/>
        </p:nvSpPr>
        <p:spPr>
          <a:xfrm>
            <a:off x="959384" y="2140601"/>
            <a:ext cx="1880886" cy="2338076"/>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美国汽车工程师协会（</a:t>
            </a:r>
            <a:r>
              <a:rPr lang="en-US" altLang="zh-CN" sz="1600" dirty="0">
                <a:solidFill>
                  <a:schemeClr val="bg1"/>
                </a:solidFill>
                <a:latin typeface="微软雅黑" pitchFamily="34" charset="-122"/>
                <a:ea typeface="微软雅黑" pitchFamily="34" charset="-122"/>
              </a:rPr>
              <a:t>SAE</a:t>
            </a:r>
            <a:r>
              <a:rPr lang="zh-CN" altLang="en-US" sz="1600" dirty="0">
                <a:solidFill>
                  <a:schemeClr val="bg1"/>
                </a:solidFill>
                <a:latin typeface="微软雅黑" pitchFamily="34" charset="-122"/>
                <a:ea typeface="微软雅黑" pitchFamily="34" charset="-122"/>
              </a:rPr>
              <a:t>）的汽车网络委员会按照系统 的复杂程度、传输速率、应用场景等，将汽车数据传输网络划分为 </a:t>
            </a:r>
            <a:r>
              <a:rPr lang="en-US" altLang="zh-CN" sz="1600" dirty="0">
                <a:solidFill>
                  <a:schemeClr val="bg1"/>
                </a:solidFill>
                <a:latin typeface="微软雅黑" pitchFamily="34" charset="-122"/>
                <a:ea typeface="微软雅黑" pitchFamily="34" charset="-122"/>
              </a:rPr>
              <a:t>A</a:t>
            </a: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B</a:t>
            </a: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C</a:t>
            </a: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D </a:t>
            </a:r>
            <a:r>
              <a:rPr lang="zh-CN" altLang="en-US" sz="1600" dirty="0">
                <a:solidFill>
                  <a:schemeClr val="bg1"/>
                </a:solidFill>
                <a:latin typeface="微软雅黑" pitchFamily="34" charset="-122"/>
                <a:ea typeface="微软雅黑" pitchFamily="34" charset="-122"/>
              </a:rPr>
              <a:t>四大</a:t>
            </a:r>
            <a:r>
              <a:rPr lang="zh-CN" altLang="en-US" sz="1600" dirty="0" smtClean="0">
                <a:solidFill>
                  <a:schemeClr val="bg1"/>
                </a:solidFill>
                <a:latin typeface="微软雅黑" pitchFamily="34" charset="-122"/>
                <a:ea typeface="微软雅黑" pitchFamily="34" charset="-122"/>
              </a:rPr>
              <a:t>类。</a:t>
            </a:r>
            <a:endParaRPr lang="zh-CN" altLang="en-US" sz="1600" dirty="0">
              <a:solidFill>
                <a:schemeClr val="bg1"/>
              </a:solidFill>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7</a:t>
            </a:fld>
            <a:endParaRPr lang="zh-CN" altLang="en-US" dirty="0"/>
          </a:p>
        </p:txBody>
      </p:sp>
      <p:sp>
        <p:nvSpPr>
          <p:cNvPr id="3" name="矩形 2"/>
          <p:cNvSpPr/>
          <p:nvPr/>
        </p:nvSpPr>
        <p:spPr>
          <a:xfrm>
            <a:off x="966865" y="1487835"/>
            <a:ext cx="2725426"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3.汽车总线的基本概念</a:t>
            </a:r>
          </a:p>
        </p:txBody>
      </p:sp>
      <p:sp>
        <p:nvSpPr>
          <p:cNvPr id="9" name="Text Box 8"/>
          <p:cNvSpPr>
            <a:spLocks noChangeArrowheads="1"/>
          </p:cNvSpPr>
          <p:nvPr/>
        </p:nvSpPr>
        <p:spPr bwMode="auto">
          <a:xfrm>
            <a:off x="988208"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什么是车载总线系统？车载总线系统有</a:t>
            </a:r>
            <a:endParaRPr lang="en-US" altLang="zh-CN" sz="32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哪些类型？</a:t>
            </a:r>
          </a:p>
        </p:txBody>
      </p:sp>
      <p:sp>
        <p:nvSpPr>
          <p:cNvPr id="2" name="矩形 1"/>
          <p:cNvSpPr/>
          <p:nvPr/>
        </p:nvSpPr>
        <p:spPr>
          <a:xfrm>
            <a:off x="978436" y="1971586"/>
            <a:ext cx="7193963" cy="934487"/>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1</a:t>
            </a:r>
            <a:r>
              <a:rPr lang="zh-CN" altLang="en-US" sz="1600" dirty="0">
                <a:solidFill>
                  <a:schemeClr val="bg1"/>
                </a:solidFill>
                <a:latin typeface="微软雅黑" pitchFamily="34" charset="-122"/>
                <a:ea typeface="微软雅黑" pitchFamily="34" charset="-122"/>
              </a:rPr>
              <a:t>）</a:t>
            </a:r>
            <a:r>
              <a:rPr lang="zh-CN" altLang="en-US" sz="1600" dirty="0" smtClean="0">
                <a:solidFill>
                  <a:schemeClr val="bg1"/>
                </a:solidFill>
                <a:latin typeface="微软雅黑" pitchFamily="34" charset="-122"/>
                <a:ea typeface="微软雅黑" pitchFamily="34" charset="-122"/>
              </a:rPr>
              <a:t>网络协议：网络</a:t>
            </a:r>
            <a:r>
              <a:rPr lang="zh-CN" altLang="en-US" sz="1600" dirty="0">
                <a:solidFill>
                  <a:schemeClr val="bg1"/>
                </a:solidFill>
                <a:latin typeface="微软雅黑" pitchFamily="34" charset="-122"/>
                <a:ea typeface="微软雅黑" pitchFamily="34" charset="-122"/>
              </a:rPr>
              <a:t>由使用的电子语言进行通信和识别。控制单元必须“使用和解读”相同的电子</a:t>
            </a:r>
            <a:r>
              <a:rPr lang="zh-CN" altLang="en-US" sz="1600" dirty="0" smtClean="0">
                <a:solidFill>
                  <a:schemeClr val="bg1"/>
                </a:solidFill>
                <a:latin typeface="微软雅黑" pitchFamily="34" charset="-122"/>
                <a:ea typeface="微软雅黑" pitchFamily="34" charset="-122"/>
              </a:rPr>
              <a:t>语言</a:t>
            </a:r>
            <a:r>
              <a:rPr lang="zh-CN" altLang="en-US" sz="1600" dirty="0">
                <a:solidFill>
                  <a:schemeClr val="bg1"/>
                </a:solidFill>
                <a:latin typeface="微软雅黑" pitchFamily="34" charset="-122"/>
                <a:ea typeface="微软雅黑" pitchFamily="34" charset="-122"/>
              </a:rPr>
              <a:t>，这种电子语言称为协议。网络协议</a:t>
            </a:r>
            <a:r>
              <a:rPr lang="zh-CN" altLang="en-US" sz="1600" dirty="0" smtClean="0">
                <a:solidFill>
                  <a:schemeClr val="bg1"/>
                </a:solidFill>
                <a:latin typeface="微软雅黑" pitchFamily="34" charset="-122"/>
                <a:ea typeface="微软雅黑" pitchFamily="34" charset="-122"/>
              </a:rPr>
              <a:t>包括 </a:t>
            </a:r>
            <a:r>
              <a:rPr lang="en-US" altLang="zh-CN" sz="1600" dirty="0" smtClean="0">
                <a:solidFill>
                  <a:schemeClr val="bg1"/>
                </a:solidFill>
                <a:latin typeface="微软雅黑" pitchFamily="34" charset="-122"/>
                <a:ea typeface="微软雅黑" pitchFamily="34" charset="-122"/>
              </a:rPr>
              <a:t>J1850 </a:t>
            </a:r>
            <a:r>
              <a:rPr lang="zh-CN" altLang="en-US" sz="1600" dirty="0">
                <a:solidFill>
                  <a:schemeClr val="bg1"/>
                </a:solidFill>
                <a:latin typeface="微软雅黑" pitchFamily="34" charset="-122"/>
                <a:ea typeface="微软雅黑" pitchFamily="34" charset="-122"/>
              </a:rPr>
              <a:t>标准企业</a:t>
            </a:r>
            <a:r>
              <a:rPr lang="zh-CN" altLang="en-US" sz="1600" dirty="0" smtClean="0">
                <a:solidFill>
                  <a:schemeClr val="bg1"/>
                </a:solidFill>
                <a:latin typeface="微软雅黑" pitchFamily="34" charset="-122"/>
                <a:ea typeface="微软雅黑" pitchFamily="34" charset="-122"/>
              </a:rPr>
              <a:t>协议和 </a:t>
            </a:r>
            <a:r>
              <a:rPr lang="en-US" altLang="zh-CN" sz="1600" dirty="0" smtClean="0">
                <a:solidFill>
                  <a:schemeClr val="bg1"/>
                </a:solidFill>
                <a:latin typeface="微软雅黑" pitchFamily="34" charset="-122"/>
                <a:ea typeface="微软雅黑" pitchFamily="34" charset="-122"/>
              </a:rPr>
              <a:t>JJ1939 </a:t>
            </a:r>
            <a:r>
              <a:rPr lang="zh-CN" altLang="en-US" sz="1600" dirty="0">
                <a:solidFill>
                  <a:schemeClr val="bg1"/>
                </a:solidFill>
                <a:latin typeface="微软雅黑" pitchFamily="34" charset="-122"/>
                <a:ea typeface="微软雅黑" pitchFamily="34" charset="-122"/>
              </a:rPr>
              <a:t>协议</a:t>
            </a:r>
            <a:r>
              <a:rPr lang="zh-CN" altLang="en-US" sz="1600" dirty="0" smtClean="0">
                <a:solidFill>
                  <a:schemeClr val="bg1"/>
                </a:solidFill>
                <a:latin typeface="微软雅黑" pitchFamily="34" charset="-122"/>
                <a:ea typeface="微软雅黑" pitchFamily="34" charset="-122"/>
              </a:rPr>
              <a:t>。</a:t>
            </a:r>
            <a:endParaRPr lang="zh-CN" altLang="en-US" sz="1600" dirty="0">
              <a:solidFill>
                <a:schemeClr val="bg1"/>
              </a:solidFill>
              <a:latin typeface="微软雅黑" pitchFamily="34" charset="-122"/>
              <a:ea typeface="微软雅黑" pitchFamily="34" charset="-122"/>
            </a:endParaRPr>
          </a:p>
        </p:txBody>
      </p:sp>
      <p:sp>
        <p:nvSpPr>
          <p:cNvPr id="4" name="矩形 3"/>
          <p:cNvSpPr/>
          <p:nvPr/>
        </p:nvSpPr>
        <p:spPr>
          <a:xfrm>
            <a:off x="965127" y="3075806"/>
            <a:ext cx="7207272" cy="1215204"/>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2</a:t>
            </a:r>
            <a:r>
              <a:rPr lang="zh-CN" altLang="en-US" sz="1600" dirty="0">
                <a:solidFill>
                  <a:schemeClr val="bg1"/>
                </a:solidFill>
                <a:latin typeface="微软雅黑" pitchFamily="34" charset="-122"/>
                <a:ea typeface="微软雅黑" pitchFamily="34" charset="-122"/>
              </a:rPr>
              <a:t>）主总线和子</a:t>
            </a:r>
            <a:r>
              <a:rPr lang="zh-CN" altLang="en-US" sz="1600" dirty="0" smtClean="0">
                <a:solidFill>
                  <a:schemeClr val="bg1"/>
                </a:solidFill>
                <a:latin typeface="微软雅黑" pitchFamily="34" charset="-122"/>
                <a:ea typeface="微软雅黑" pitchFamily="34" charset="-122"/>
              </a:rPr>
              <a:t>总线：在</a:t>
            </a:r>
            <a:r>
              <a:rPr lang="zh-CN" altLang="en-US" sz="1600" dirty="0">
                <a:solidFill>
                  <a:schemeClr val="bg1"/>
                </a:solidFill>
                <a:latin typeface="微软雅黑" pitchFamily="34" charset="-122"/>
                <a:ea typeface="微软雅黑" pitchFamily="34" charset="-122"/>
              </a:rPr>
              <a:t>宝马 </a:t>
            </a:r>
            <a:r>
              <a:rPr lang="en-US" altLang="zh-CN" sz="1600" dirty="0">
                <a:solidFill>
                  <a:schemeClr val="bg1"/>
                </a:solidFill>
                <a:latin typeface="微软雅黑" pitchFamily="34" charset="-122"/>
                <a:ea typeface="微软雅黑" pitchFamily="34" charset="-122"/>
              </a:rPr>
              <a:t>X5 E70 </a:t>
            </a:r>
            <a:r>
              <a:rPr lang="zh-CN" altLang="en-US" sz="1600" dirty="0">
                <a:solidFill>
                  <a:schemeClr val="bg1"/>
                </a:solidFill>
                <a:latin typeface="微软雅黑" pitchFamily="34" charset="-122"/>
                <a:ea typeface="微软雅黑" pitchFamily="34" charset="-122"/>
              </a:rPr>
              <a:t>车型中，有 </a:t>
            </a:r>
            <a:r>
              <a:rPr lang="en-US" altLang="zh-CN" sz="1600" dirty="0">
                <a:solidFill>
                  <a:schemeClr val="bg1"/>
                </a:solidFill>
                <a:latin typeface="微软雅黑" pitchFamily="34" charset="-122"/>
                <a:ea typeface="微软雅黑" pitchFamily="34" charset="-122"/>
              </a:rPr>
              <a:t>CAN </a:t>
            </a:r>
            <a:r>
              <a:rPr lang="zh-CN" altLang="en-US" sz="1600" dirty="0">
                <a:solidFill>
                  <a:schemeClr val="bg1"/>
                </a:solidFill>
                <a:latin typeface="微软雅黑" pitchFamily="34" charset="-122"/>
                <a:ea typeface="微软雅黑" pitchFamily="34" charset="-122"/>
              </a:rPr>
              <a:t>总线、</a:t>
            </a:r>
            <a:r>
              <a:rPr lang="en-US" altLang="zh-CN" sz="1600" dirty="0">
                <a:solidFill>
                  <a:schemeClr val="bg1"/>
                </a:solidFill>
                <a:latin typeface="微软雅黑" pitchFamily="34" charset="-122"/>
                <a:ea typeface="微软雅黑" pitchFamily="34" charset="-122"/>
              </a:rPr>
              <a:t>MOST </a:t>
            </a:r>
            <a:r>
              <a:rPr lang="zh-CN" altLang="en-US" sz="1600" dirty="0">
                <a:solidFill>
                  <a:schemeClr val="bg1"/>
                </a:solidFill>
                <a:latin typeface="微软雅黑" pitchFamily="34" charset="-122"/>
                <a:ea typeface="微软雅黑" pitchFamily="34" charset="-122"/>
              </a:rPr>
              <a:t>总线以及 </a:t>
            </a:r>
            <a:r>
              <a:rPr lang="en-US" altLang="zh-CN" sz="1600" dirty="0" err="1">
                <a:solidFill>
                  <a:schemeClr val="bg1"/>
                </a:solidFill>
                <a:latin typeface="微软雅黑" pitchFamily="34" charset="-122"/>
                <a:ea typeface="微软雅黑" pitchFamily="34" charset="-122"/>
              </a:rPr>
              <a:t>FlexRay</a:t>
            </a:r>
            <a:r>
              <a:rPr lang="en-US" altLang="zh-CN" sz="1600" dirty="0">
                <a:solidFill>
                  <a:schemeClr val="bg1"/>
                </a:solidFill>
                <a:latin typeface="微软雅黑" pitchFamily="34" charset="-122"/>
                <a:ea typeface="微软雅黑" pitchFamily="34" charset="-122"/>
              </a:rPr>
              <a:t> </a:t>
            </a:r>
            <a:r>
              <a:rPr lang="zh-CN" altLang="en-US" sz="1600" dirty="0">
                <a:solidFill>
                  <a:schemeClr val="bg1"/>
                </a:solidFill>
                <a:latin typeface="微软雅黑" pitchFamily="34" charset="-122"/>
                <a:ea typeface="微软雅黑" pitchFamily="34" charset="-122"/>
              </a:rPr>
              <a:t>总线， 这些总线又可称为主总线。主总线的特点是可以跨系统交换数据。 除了主总线，还有 </a:t>
            </a:r>
            <a:r>
              <a:rPr lang="en-US" altLang="zh-CN" sz="1600" dirty="0">
                <a:solidFill>
                  <a:schemeClr val="bg1"/>
                </a:solidFill>
                <a:latin typeface="微软雅黑" pitchFamily="34" charset="-122"/>
                <a:ea typeface="微软雅黑" pitchFamily="34" charset="-122"/>
              </a:rPr>
              <a:t>LIN</a:t>
            </a: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K</a:t>
            </a: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BSD </a:t>
            </a:r>
            <a:r>
              <a:rPr lang="zh-CN" altLang="en-US" sz="1600" dirty="0">
                <a:solidFill>
                  <a:schemeClr val="bg1"/>
                </a:solidFill>
                <a:latin typeface="微软雅黑" pitchFamily="34" charset="-122"/>
                <a:ea typeface="微软雅黑" pitchFamily="34" charset="-122"/>
              </a:rPr>
              <a:t>等总线，这些总线是子总线。子总线只能在系统内 交换数据，处于从属地位。</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8</a:t>
            </a:fld>
            <a:endParaRPr lang="zh-CN" altLang="en-US" dirty="0"/>
          </a:p>
        </p:txBody>
      </p:sp>
      <p:pic>
        <p:nvPicPr>
          <p:cNvPr id="7" name="图片 5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611560" y="0"/>
            <a:ext cx="7920880" cy="4803998"/>
          </a:xfrm>
          <a:prstGeom prst="rect">
            <a:avLst/>
          </a:prstGeom>
          <a:noFill/>
          <a:ln w="12700" cmpd="sng">
            <a:solidFill>
              <a:schemeClr val="accent1">
                <a:shade val="50000"/>
              </a:schemeClr>
            </a:solidFill>
            <a:prstDash val="solid"/>
          </a:ln>
        </p:spPr>
      </p:pic>
    </p:spTree>
    <p:extLst>
      <p:ext uri="{BB962C8B-B14F-4D97-AF65-F5344CB8AC3E}">
        <p14:creationId xmlns:p14="http://schemas.microsoft.com/office/powerpoint/2010/main" val="16140506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9</a:t>
            </a:fld>
            <a:endParaRPr lang="zh-CN" altLang="en-US" dirty="0"/>
          </a:p>
        </p:txBody>
      </p:sp>
      <p:sp>
        <p:nvSpPr>
          <p:cNvPr id="3" name="矩形 2"/>
          <p:cNvSpPr/>
          <p:nvPr/>
        </p:nvSpPr>
        <p:spPr>
          <a:xfrm>
            <a:off x="966865" y="1487835"/>
            <a:ext cx="2725426"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3.汽车总线的基本概念</a:t>
            </a:r>
          </a:p>
        </p:txBody>
      </p:sp>
      <p:sp>
        <p:nvSpPr>
          <p:cNvPr id="9" name="Text Box 8"/>
          <p:cNvSpPr>
            <a:spLocks noChangeArrowheads="1"/>
          </p:cNvSpPr>
          <p:nvPr/>
        </p:nvSpPr>
        <p:spPr bwMode="auto">
          <a:xfrm>
            <a:off x="988208"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什么是车载总线系统？车载总线系统有</a:t>
            </a:r>
            <a:endParaRPr lang="en-US" altLang="zh-CN" sz="32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哪些类型？</a:t>
            </a:r>
          </a:p>
        </p:txBody>
      </p:sp>
      <p:sp>
        <p:nvSpPr>
          <p:cNvPr id="2" name="矩形 1"/>
          <p:cNvSpPr/>
          <p:nvPr/>
        </p:nvSpPr>
        <p:spPr>
          <a:xfrm>
            <a:off x="963507" y="1995686"/>
            <a:ext cx="3248453" cy="2618794"/>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3</a:t>
            </a:r>
            <a:r>
              <a:rPr lang="zh-CN" altLang="en-US" sz="1600" dirty="0">
                <a:solidFill>
                  <a:schemeClr val="bg1"/>
                </a:solidFill>
                <a:latin typeface="微软雅黑" pitchFamily="34" charset="-122"/>
                <a:ea typeface="微软雅黑" pitchFamily="34" charset="-122"/>
              </a:rPr>
              <a:t>）网关与</a:t>
            </a:r>
            <a:r>
              <a:rPr lang="zh-CN" altLang="en-US" sz="1600" dirty="0" smtClean="0">
                <a:solidFill>
                  <a:schemeClr val="bg1"/>
                </a:solidFill>
                <a:latin typeface="微软雅黑" pitchFamily="34" charset="-122"/>
                <a:ea typeface="微软雅黑" pitchFamily="34" charset="-122"/>
              </a:rPr>
              <a:t>节点：采用</a:t>
            </a:r>
            <a:r>
              <a:rPr lang="zh-CN" altLang="en-US" sz="1600" dirty="0">
                <a:solidFill>
                  <a:schemeClr val="bg1"/>
                </a:solidFill>
                <a:latin typeface="微软雅黑" pitchFamily="34" charset="-122"/>
                <a:ea typeface="微软雅黑" pitchFamily="34" charset="-122"/>
              </a:rPr>
              <a:t>多种类型的总线将控制单元（模块）连接成网络，由于不同类型</a:t>
            </a:r>
            <a:r>
              <a:rPr lang="zh-CN" altLang="en-US" sz="1600" dirty="0" smtClean="0">
                <a:solidFill>
                  <a:schemeClr val="bg1"/>
                </a:solidFill>
                <a:latin typeface="微软雅黑" pitchFamily="34" charset="-122"/>
                <a:ea typeface="微软雅黑" pitchFamily="34" charset="-122"/>
              </a:rPr>
              <a:t>总线的</a:t>
            </a:r>
            <a:r>
              <a:rPr lang="zh-CN" altLang="en-US" sz="1600" dirty="0">
                <a:solidFill>
                  <a:schemeClr val="bg1"/>
                </a:solidFill>
                <a:latin typeface="微软雅黑" pitchFamily="34" charset="-122"/>
                <a:ea typeface="微软雅黑" pitchFamily="34" charset="-122"/>
              </a:rPr>
              <a:t>传输速率和识别代号不同，因此某一信号要从一个总线进入到另一个总线区域，必须</a:t>
            </a:r>
            <a:r>
              <a:rPr lang="zh-CN" altLang="en-US" sz="1600" dirty="0" smtClean="0">
                <a:solidFill>
                  <a:schemeClr val="bg1"/>
                </a:solidFill>
                <a:latin typeface="微软雅黑" pitchFamily="34" charset="-122"/>
                <a:ea typeface="微软雅黑" pitchFamily="34" charset="-122"/>
              </a:rPr>
              <a:t>把此</a:t>
            </a:r>
            <a:r>
              <a:rPr lang="zh-CN" altLang="en-US" sz="1600" dirty="0">
                <a:solidFill>
                  <a:schemeClr val="bg1"/>
                </a:solidFill>
                <a:latin typeface="微软雅黑" pitchFamily="34" charset="-122"/>
                <a:ea typeface="微软雅黑" pitchFamily="34" charset="-122"/>
              </a:rPr>
              <a:t>信号的速率和识别代号进行改变，以便让另一个系统接受，这个任务由网关（</a:t>
            </a:r>
            <a:r>
              <a:rPr lang="en-US" altLang="zh-CN" sz="1600" dirty="0">
                <a:solidFill>
                  <a:schemeClr val="bg1"/>
                </a:solidFill>
                <a:latin typeface="微软雅黑" pitchFamily="34" charset="-122"/>
                <a:ea typeface="微软雅黑" pitchFamily="34" charset="-122"/>
              </a:rPr>
              <a:t>Gateway</a:t>
            </a:r>
            <a:r>
              <a:rPr lang="zh-CN" altLang="en-US" sz="1600" dirty="0" smtClean="0">
                <a:solidFill>
                  <a:schemeClr val="bg1"/>
                </a:solidFill>
                <a:latin typeface="微软雅黑" pitchFamily="34" charset="-122"/>
                <a:ea typeface="微软雅黑" pitchFamily="34" charset="-122"/>
              </a:rPr>
              <a:t>）来</a:t>
            </a:r>
            <a:r>
              <a:rPr lang="zh-CN" altLang="en-US" sz="1600" dirty="0">
                <a:solidFill>
                  <a:schemeClr val="bg1"/>
                </a:solidFill>
                <a:latin typeface="微软雅黑" pitchFamily="34" charset="-122"/>
                <a:ea typeface="微软雅黑" pitchFamily="34" charset="-122"/>
              </a:rPr>
              <a:t>完成。</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3968" y="1797495"/>
            <a:ext cx="3892872" cy="15460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矩形 3"/>
          <p:cNvSpPr/>
          <p:nvPr/>
        </p:nvSpPr>
        <p:spPr>
          <a:xfrm>
            <a:off x="4311969" y="3521862"/>
            <a:ext cx="3836869" cy="1193917"/>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节点是指有独立地址和具有传送或接收数据功能的网络连接（</a:t>
            </a:r>
            <a:r>
              <a:rPr lang="en-US" altLang="zh-CN" sz="1600" dirty="0">
                <a:solidFill>
                  <a:schemeClr val="bg1"/>
                </a:solidFill>
                <a:latin typeface="微软雅黑" pitchFamily="34" charset="-122"/>
                <a:ea typeface="微软雅黑" pitchFamily="34" charset="-122"/>
              </a:rPr>
              <a:t>Node</a:t>
            </a:r>
            <a:r>
              <a:rPr lang="zh-CN" altLang="en-US" sz="1600" dirty="0">
                <a:solidFill>
                  <a:schemeClr val="bg1"/>
                </a:solidFill>
                <a:latin typeface="微软雅黑" pitchFamily="34" charset="-122"/>
                <a:ea typeface="微软雅黑" pitchFamily="34" charset="-122"/>
              </a:rPr>
              <a:t>）。网关本身 也是一个节点，它是多个网络之间的数据接口，起到“翻译”的桥梁作用。</a:t>
            </a:r>
          </a:p>
        </p:txBody>
      </p:sp>
    </p:spTree>
    <p:extLst>
      <p:ext uri="{BB962C8B-B14F-4D97-AF65-F5344CB8AC3E}">
        <p14:creationId xmlns:p14="http://schemas.microsoft.com/office/powerpoint/2010/main" val="25279155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10</a:t>
            </a:fld>
            <a:endParaRPr lang="zh-CN" altLang="en-US" dirty="0"/>
          </a:p>
        </p:txBody>
      </p:sp>
      <p:sp>
        <p:nvSpPr>
          <p:cNvPr id="3" name="矩形 2"/>
          <p:cNvSpPr/>
          <p:nvPr/>
        </p:nvSpPr>
        <p:spPr>
          <a:xfrm>
            <a:off x="966865" y="1487835"/>
            <a:ext cx="2725426" cy="400110"/>
          </a:xfrm>
          <a:prstGeom prst="rect">
            <a:avLst/>
          </a:prstGeom>
          <a:solidFill>
            <a:schemeClr val="accent1"/>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3.汽车总线的基本概念</a:t>
            </a:r>
          </a:p>
        </p:txBody>
      </p:sp>
      <p:sp>
        <p:nvSpPr>
          <p:cNvPr id="9" name="Text Box 8"/>
          <p:cNvSpPr>
            <a:spLocks noChangeArrowheads="1"/>
          </p:cNvSpPr>
          <p:nvPr/>
        </p:nvSpPr>
        <p:spPr bwMode="auto">
          <a:xfrm>
            <a:off x="988208"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什么是车载总线系统？车载总线系统有</a:t>
            </a:r>
            <a:endParaRPr lang="en-US" altLang="zh-CN" sz="3200" b="1" dirty="0" smtClean="0">
              <a:solidFill>
                <a:schemeClr val="accent1"/>
              </a:solidFill>
              <a:latin typeface="微软雅黑" panose="020B0503020204020204" pitchFamily="34" charset="-122"/>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哪些类型？</a:t>
            </a:r>
          </a:p>
        </p:txBody>
      </p:sp>
      <p:sp>
        <p:nvSpPr>
          <p:cNvPr id="2" name="矩形 1"/>
          <p:cNvSpPr/>
          <p:nvPr/>
        </p:nvSpPr>
        <p:spPr>
          <a:xfrm>
            <a:off x="3779912" y="1523437"/>
            <a:ext cx="2148345" cy="369332"/>
          </a:xfrm>
          <a:prstGeom prst="rect">
            <a:avLst/>
          </a:prstGeom>
          <a:solidFill>
            <a:srgbClr val="0070C0"/>
          </a:solidFill>
        </p:spPr>
        <p:txBody>
          <a:bodyPr wrap="none">
            <a:spAutoFit/>
          </a:bodyPr>
          <a:lstStyle/>
          <a:p>
            <a:r>
              <a:rPr lang="zh-CN" altLang="en-US" dirty="0">
                <a:solidFill>
                  <a:schemeClr val="bg1"/>
                </a:solidFill>
                <a:latin typeface="微软雅黑" pitchFamily="34" charset="-122"/>
                <a:ea typeface="微软雅黑" pitchFamily="34" charset="-122"/>
              </a:rPr>
              <a:t>（</a:t>
            </a:r>
            <a:r>
              <a:rPr lang="en-US" altLang="zh-CN" dirty="0">
                <a:solidFill>
                  <a:schemeClr val="bg1"/>
                </a:solidFill>
                <a:latin typeface="微软雅黑" pitchFamily="34" charset="-122"/>
                <a:ea typeface="微软雅黑" pitchFamily="34" charset="-122"/>
              </a:rPr>
              <a:t>4</a:t>
            </a:r>
            <a:r>
              <a:rPr lang="zh-CN" altLang="en-US" dirty="0">
                <a:solidFill>
                  <a:schemeClr val="bg1"/>
                </a:solidFill>
                <a:latin typeface="微软雅黑" pitchFamily="34" charset="-122"/>
                <a:ea typeface="微软雅黑" pitchFamily="34" charset="-122"/>
              </a:rPr>
              <a:t>）网络拓扑结构</a:t>
            </a:r>
          </a:p>
        </p:txBody>
      </p:sp>
      <p:sp>
        <p:nvSpPr>
          <p:cNvPr id="4" name="矩形 3"/>
          <p:cNvSpPr/>
          <p:nvPr/>
        </p:nvSpPr>
        <p:spPr>
          <a:xfrm>
            <a:off x="965367" y="1995686"/>
            <a:ext cx="4962890" cy="1215204"/>
          </a:xfrm>
          <a:prstGeom prst="rect">
            <a:avLst/>
          </a:prstGeom>
          <a:solidFill>
            <a:srgbClr val="0070C0"/>
          </a:solidFill>
        </p:spPr>
        <p:txBody>
          <a:bodyPr wrap="square">
            <a:spAutoFit/>
          </a:bodyPr>
          <a:lstStyle/>
          <a:p>
            <a:pPr>
              <a:lnSpc>
                <a:spcPct val="114000"/>
              </a:lnSpc>
            </a:pPr>
            <a:r>
              <a:rPr lang="zh-CN" altLang="en-US" sz="1600" dirty="0" smtClean="0">
                <a:solidFill>
                  <a:schemeClr val="bg1"/>
                </a:solidFill>
                <a:latin typeface="微软雅黑" pitchFamily="34" charset="-122"/>
                <a:ea typeface="微软雅黑" pitchFamily="34" charset="-122"/>
              </a:rPr>
              <a:t>网络拓扑</a:t>
            </a:r>
            <a:r>
              <a:rPr lang="zh-CN" altLang="en-US" sz="1600" dirty="0">
                <a:solidFill>
                  <a:schemeClr val="bg1"/>
                </a:solidFill>
                <a:latin typeface="微软雅黑" pitchFamily="34" charset="-122"/>
                <a:ea typeface="微软雅黑" pitchFamily="34" charset="-122"/>
              </a:rPr>
              <a:t>（</a:t>
            </a:r>
            <a:r>
              <a:rPr lang="en-US" altLang="zh-CN" sz="1600" dirty="0" smtClean="0">
                <a:solidFill>
                  <a:schemeClr val="bg1"/>
                </a:solidFill>
                <a:latin typeface="微软雅黑" pitchFamily="34" charset="-122"/>
                <a:ea typeface="微软雅黑" pitchFamily="34" charset="-122"/>
              </a:rPr>
              <a:t>Network Topology</a:t>
            </a:r>
            <a:r>
              <a:rPr lang="zh-CN" altLang="en-US" sz="1600" dirty="0">
                <a:solidFill>
                  <a:schemeClr val="bg1"/>
                </a:solidFill>
                <a:latin typeface="微软雅黑" pitchFamily="34" charset="-122"/>
                <a:ea typeface="微软雅黑" pitchFamily="34" charset="-122"/>
              </a:rPr>
              <a:t>）结构是指用传输介质互连各种设备的物理布局，指构成</a:t>
            </a:r>
            <a:r>
              <a:rPr lang="zh-CN" altLang="en-US" sz="1600" dirty="0" smtClean="0">
                <a:solidFill>
                  <a:schemeClr val="bg1"/>
                </a:solidFill>
                <a:latin typeface="微软雅黑" pitchFamily="34" charset="-122"/>
                <a:ea typeface="微软雅黑" pitchFamily="34" charset="-122"/>
              </a:rPr>
              <a:t>网络</a:t>
            </a:r>
            <a:r>
              <a:rPr lang="zh-CN" altLang="en-US" sz="1600" dirty="0">
                <a:solidFill>
                  <a:schemeClr val="bg1"/>
                </a:solidFill>
                <a:latin typeface="微软雅黑" pitchFamily="34" charset="-122"/>
                <a:ea typeface="微软雅黑" pitchFamily="34" charset="-122"/>
              </a:rPr>
              <a:t>成员间特定的物理</a:t>
            </a:r>
            <a:r>
              <a:rPr lang="zh-CN" altLang="en-US" sz="1600" dirty="0" smtClean="0">
                <a:solidFill>
                  <a:schemeClr val="bg1"/>
                </a:solidFill>
                <a:latin typeface="微软雅黑" pitchFamily="34" charset="-122"/>
                <a:ea typeface="微软雅黑" pitchFamily="34" charset="-122"/>
              </a:rPr>
              <a:t>的或者</a:t>
            </a:r>
            <a:r>
              <a:rPr lang="zh-CN" altLang="en-US" sz="1600" dirty="0">
                <a:solidFill>
                  <a:schemeClr val="bg1"/>
                </a:solidFill>
                <a:latin typeface="微软雅黑" pitchFamily="34" charset="-122"/>
                <a:ea typeface="微软雅黑" pitchFamily="34" charset="-122"/>
              </a:rPr>
              <a:t>逻辑</a:t>
            </a:r>
            <a:r>
              <a:rPr lang="zh-CN" altLang="en-US" sz="1600" dirty="0" smtClean="0">
                <a:solidFill>
                  <a:schemeClr val="bg1"/>
                </a:solidFill>
                <a:latin typeface="微软雅黑" pitchFamily="34" charset="-122"/>
                <a:ea typeface="微软雅黑" pitchFamily="34" charset="-122"/>
              </a:rPr>
              <a:t>的排列</a:t>
            </a:r>
            <a:r>
              <a:rPr lang="zh-CN" altLang="en-US" sz="1600" dirty="0">
                <a:solidFill>
                  <a:schemeClr val="bg1"/>
                </a:solidFill>
                <a:latin typeface="微软雅黑" pitchFamily="34" charset="-122"/>
                <a:ea typeface="微软雅黑" pitchFamily="34" charset="-122"/>
              </a:rPr>
              <a:t>方式</a:t>
            </a:r>
            <a:r>
              <a:rPr lang="zh-CN" altLang="en-US" sz="1600" dirty="0" smtClean="0">
                <a:solidFill>
                  <a:schemeClr val="bg1"/>
                </a:solidFill>
                <a:latin typeface="微软雅黑" pitchFamily="34" charset="-122"/>
                <a:ea typeface="微软雅黑" pitchFamily="34" charset="-122"/>
              </a:rPr>
              <a:t>。</a:t>
            </a:r>
            <a:r>
              <a:rPr lang="zh-CN" altLang="en-US" sz="1600" dirty="0">
                <a:solidFill>
                  <a:schemeClr val="bg1"/>
                </a:solidFill>
                <a:latin typeface="微软雅黑" pitchFamily="34" charset="-122"/>
                <a:ea typeface="微软雅黑" pitchFamily="34" charset="-122"/>
              </a:rPr>
              <a:t>网络拓扑结构有总线型结构、环型结构、星型结构、混合拓扑结构。 </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800" y="3304107"/>
            <a:ext cx="3015379" cy="135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8208" y="3303705"/>
            <a:ext cx="1567568" cy="14495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2160" y="1995686"/>
            <a:ext cx="2175853" cy="275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87676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11</a:t>
            </a:fld>
            <a:endParaRPr lang="zh-CN" altLang="en-US" dirty="0"/>
          </a:p>
        </p:txBody>
      </p:sp>
      <p:sp>
        <p:nvSpPr>
          <p:cNvPr id="8" name="Text Box 8"/>
          <p:cNvSpPr>
            <a:spLocks noChangeArrowheads="1"/>
          </p:cNvSpPr>
          <p:nvPr/>
        </p:nvSpPr>
        <p:spPr bwMode="auto">
          <a:xfrm>
            <a:off x="962727" y="352282"/>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什么是CAN总线网络？CAN总线网络在汽车上有哪些应用？</a:t>
            </a:r>
          </a:p>
        </p:txBody>
      </p:sp>
      <p:sp>
        <p:nvSpPr>
          <p:cNvPr id="3" name="矩形 2"/>
          <p:cNvSpPr/>
          <p:nvPr/>
        </p:nvSpPr>
        <p:spPr>
          <a:xfrm>
            <a:off x="964347" y="2211710"/>
            <a:ext cx="2282997"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1.CAN总线的分类</a:t>
            </a:r>
          </a:p>
        </p:txBody>
      </p:sp>
      <p:sp>
        <p:nvSpPr>
          <p:cNvPr id="2" name="矩形 1"/>
          <p:cNvSpPr/>
          <p:nvPr/>
        </p:nvSpPr>
        <p:spPr>
          <a:xfrm>
            <a:off x="962727" y="2715766"/>
            <a:ext cx="2529153" cy="2057358"/>
          </a:xfrm>
          <a:prstGeom prst="rect">
            <a:avLst/>
          </a:prstGeom>
          <a:solidFill>
            <a:srgbClr val="0070C0"/>
          </a:solidFill>
        </p:spPr>
        <p:txBody>
          <a:bodyPr wrap="square">
            <a:spAutoFit/>
          </a:bodyPr>
          <a:lstStyle/>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在车辆中广泛使用两种CAN总线，即低速CAN和高速CAN。这两种CAN总线通信协议不同，传输速率不同。在实际应用中，如果测量其波形，</a:t>
            </a:r>
            <a:r>
              <a:rPr sz="1600" dirty="0" smtClean="0">
                <a:solidFill>
                  <a:schemeClr val="bg1"/>
                </a:solidFill>
                <a:latin typeface="微软雅黑" panose="020B0503020204020204" pitchFamily="34" charset="-122"/>
                <a:ea typeface="微软雅黑" panose="020B0503020204020204" pitchFamily="34" charset="-122"/>
              </a:rPr>
              <a:t>会发现波形也不相同。</a:t>
            </a:r>
            <a:endParaRPr sz="1600" dirty="0">
              <a:solidFill>
                <a:schemeClr val="bg1"/>
              </a:solidFill>
              <a:latin typeface="微软雅黑" panose="020B0503020204020204" pitchFamily="34" charset="-122"/>
              <a:ea typeface="微软雅黑" panose="020B0503020204020204" pitchFamily="34" charset="-122"/>
            </a:endParaRPr>
          </a:p>
        </p:txBody>
      </p:sp>
      <p:pic>
        <p:nvPicPr>
          <p:cNvPr id="52" name="图片 5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3557197" y="3075806"/>
            <a:ext cx="2163927" cy="1697318"/>
          </a:xfrm>
          <a:prstGeom prst="rect">
            <a:avLst/>
          </a:prstGeom>
          <a:noFill/>
          <a:ln>
            <a:noFill/>
          </a:ln>
        </p:spPr>
      </p:pic>
      <p:pic>
        <p:nvPicPr>
          <p:cNvPr id="51" name="图片 5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5796136" y="3075806"/>
            <a:ext cx="2515779" cy="1697318"/>
          </a:xfrm>
          <a:prstGeom prst="rect">
            <a:avLst/>
          </a:prstGeom>
          <a:noFill/>
          <a:ln>
            <a:noFill/>
          </a:ln>
        </p:spPr>
      </p:pic>
      <p:sp>
        <p:nvSpPr>
          <p:cNvPr id="4" name="矩形 3"/>
          <p:cNvSpPr/>
          <p:nvPr/>
        </p:nvSpPr>
        <p:spPr>
          <a:xfrm>
            <a:off x="982092" y="1504342"/>
            <a:ext cx="7190307" cy="653769"/>
          </a:xfrm>
          <a:prstGeom prst="rect">
            <a:avLst/>
          </a:prstGeom>
          <a:solidFill>
            <a:srgbClr val="0070C0"/>
          </a:solidFill>
        </p:spPr>
        <p:txBody>
          <a:bodyPr wrap="square">
            <a:spAutoFit/>
          </a:bodyPr>
          <a:lstStyle/>
          <a:p>
            <a:pPr>
              <a:lnSpc>
                <a:spcPct val="114000"/>
              </a:lnSpc>
            </a:pPr>
            <a:r>
              <a:rPr lang="en-US" altLang="zh-CN" sz="1600" dirty="0">
                <a:solidFill>
                  <a:schemeClr val="bg1"/>
                </a:solidFill>
                <a:latin typeface="微软雅黑" pitchFamily="34" charset="-122"/>
                <a:ea typeface="微软雅黑" pitchFamily="34" charset="-122"/>
              </a:rPr>
              <a:t>CAN </a:t>
            </a:r>
            <a:r>
              <a:rPr lang="zh-CN" altLang="en-US" sz="1600" dirty="0">
                <a:solidFill>
                  <a:schemeClr val="bg1"/>
                </a:solidFill>
                <a:latin typeface="微软雅黑" pitchFamily="34" charset="-122"/>
                <a:ea typeface="微软雅黑" pitchFamily="34" charset="-122"/>
              </a:rPr>
              <a:t>总线是由以研发和生产汽车电子产品著称的德国博世公司开发的，并最终成为 国际标准，是国际上应用最广泛的总线技术之一。</a:t>
            </a:r>
          </a:p>
        </p:txBody>
      </p:sp>
      <p:sp>
        <p:nvSpPr>
          <p:cNvPr id="5" name="矩形 4"/>
          <p:cNvSpPr/>
          <p:nvPr/>
        </p:nvSpPr>
        <p:spPr>
          <a:xfrm>
            <a:off x="4086546" y="2546489"/>
            <a:ext cx="2967479" cy="338554"/>
          </a:xfrm>
          <a:prstGeom prst="rect">
            <a:avLst/>
          </a:prstGeom>
        </p:spPr>
        <p:txBody>
          <a:bodyPr wrap="none">
            <a:spAutoFit/>
          </a:bodyPr>
          <a:lstStyle/>
          <a:p>
            <a:r>
              <a:rPr lang="zh-CN" altLang="en-US" sz="1600" dirty="0">
                <a:latin typeface="微软雅黑" pitchFamily="34" charset="-122"/>
                <a:ea typeface="微软雅黑" pitchFamily="34" charset="-122"/>
              </a:rPr>
              <a:t>低速 </a:t>
            </a:r>
            <a:r>
              <a:rPr lang="en-US" altLang="zh-CN" sz="1600" dirty="0">
                <a:latin typeface="微软雅黑" pitchFamily="34" charset="-122"/>
                <a:ea typeface="微软雅黑" pitchFamily="34" charset="-122"/>
              </a:rPr>
              <a:t>CAN </a:t>
            </a:r>
            <a:r>
              <a:rPr lang="zh-CN" altLang="en-US" sz="1600" dirty="0">
                <a:latin typeface="微软雅黑" pitchFamily="34" charset="-122"/>
                <a:ea typeface="微软雅黑" pitchFamily="34" charset="-122"/>
              </a:rPr>
              <a:t>和高速 </a:t>
            </a:r>
            <a:r>
              <a:rPr lang="en-US" altLang="zh-CN" sz="1600" dirty="0">
                <a:latin typeface="微软雅黑" pitchFamily="34" charset="-122"/>
                <a:ea typeface="微软雅黑" pitchFamily="34" charset="-122"/>
              </a:rPr>
              <a:t>CAN </a:t>
            </a:r>
            <a:r>
              <a:rPr lang="zh-CN" altLang="en-US" sz="1600" dirty="0">
                <a:latin typeface="微软雅黑" pitchFamily="34" charset="-122"/>
                <a:ea typeface="微软雅黑" pitchFamily="34" charset="-122"/>
              </a:rPr>
              <a:t>的波形</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12</a:t>
            </a:fld>
            <a:endParaRPr lang="zh-CN" altLang="en-US" dirty="0"/>
          </a:p>
        </p:txBody>
      </p:sp>
      <p:sp>
        <p:nvSpPr>
          <p:cNvPr id="3" name="矩形 2"/>
          <p:cNvSpPr/>
          <p:nvPr/>
        </p:nvSpPr>
        <p:spPr>
          <a:xfrm>
            <a:off x="962727" y="1567530"/>
            <a:ext cx="2795958"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2.CAN总线的结构组成</a:t>
            </a:r>
          </a:p>
        </p:txBody>
      </p:sp>
      <p:sp>
        <p:nvSpPr>
          <p:cNvPr id="2" name="矩形 1"/>
          <p:cNvSpPr/>
          <p:nvPr/>
        </p:nvSpPr>
        <p:spPr>
          <a:xfrm>
            <a:off x="962728" y="2067694"/>
            <a:ext cx="2795958" cy="1495922"/>
          </a:xfrm>
          <a:prstGeom prst="rect">
            <a:avLst/>
          </a:prstGeom>
          <a:solidFill>
            <a:srgbClr val="0070C0"/>
          </a:solidFill>
        </p:spPr>
        <p:txBody>
          <a:bodyPr wrap="square">
            <a:spAutoFit/>
          </a:bodyPr>
          <a:lstStyle/>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CAN总线系统主要由控制器、收发器、终端电阻和传输线等组成。除数据传输线外，其它元件都置于控制单元内部。</a:t>
            </a:r>
          </a:p>
        </p:txBody>
      </p:sp>
      <p:pic>
        <p:nvPicPr>
          <p:cNvPr id="50" name="图片 50" descr="说明: C:\Users\Administrator\Desktop\图修改\汽车电气设备与维修\9-1-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3851920" y="2067694"/>
            <a:ext cx="4320480" cy="2664296"/>
          </a:xfrm>
          <a:prstGeom prst="rect">
            <a:avLst/>
          </a:prstGeom>
          <a:noFill/>
          <a:ln w="12700" cmpd="sng">
            <a:solidFill>
              <a:schemeClr val="accent1">
                <a:shade val="50000"/>
              </a:schemeClr>
            </a:solidFill>
            <a:prstDash val="solid"/>
          </a:ln>
        </p:spPr>
      </p:pic>
      <p:sp>
        <p:nvSpPr>
          <p:cNvPr id="7" name="Text Box 8"/>
          <p:cNvSpPr>
            <a:spLocks noChangeArrowheads="1"/>
          </p:cNvSpPr>
          <p:nvPr/>
        </p:nvSpPr>
        <p:spPr bwMode="auto">
          <a:xfrm>
            <a:off x="962727" y="352282"/>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什么是CAN总线网络？CAN总线网络在汽车上有哪些应用？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13</a:t>
            </a:fld>
            <a:endParaRPr lang="zh-CN" altLang="en-US" dirty="0"/>
          </a:p>
        </p:txBody>
      </p:sp>
      <p:sp>
        <p:nvSpPr>
          <p:cNvPr id="3" name="矩形 2"/>
          <p:cNvSpPr/>
          <p:nvPr/>
        </p:nvSpPr>
        <p:spPr>
          <a:xfrm>
            <a:off x="962727" y="1567530"/>
            <a:ext cx="2795958"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2.CAN总线的结构组成</a:t>
            </a:r>
          </a:p>
        </p:txBody>
      </p:sp>
      <p:sp>
        <p:nvSpPr>
          <p:cNvPr id="7" name="Text Box 8"/>
          <p:cNvSpPr>
            <a:spLocks noChangeArrowheads="1"/>
          </p:cNvSpPr>
          <p:nvPr/>
        </p:nvSpPr>
        <p:spPr bwMode="auto">
          <a:xfrm>
            <a:off x="962727" y="352282"/>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什么是CAN总线网络？CAN总线网络在汽车上有哪些应用？</a:t>
            </a:r>
          </a:p>
        </p:txBody>
      </p:sp>
      <p:sp>
        <p:nvSpPr>
          <p:cNvPr id="4" name="矩形 3"/>
          <p:cNvSpPr/>
          <p:nvPr/>
        </p:nvSpPr>
        <p:spPr>
          <a:xfrm>
            <a:off x="962726" y="2067694"/>
            <a:ext cx="7209673" cy="1215204"/>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1</a:t>
            </a:r>
            <a:r>
              <a:rPr lang="zh-CN" altLang="en-US" sz="1600" dirty="0">
                <a:solidFill>
                  <a:schemeClr val="bg1"/>
                </a:solidFill>
                <a:latin typeface="微软雅黑" pitchFamily="34" charset="-122"/>
                <a:ea typeface="微软雅黑" pitchFamily="34" charset="-122"/>
              </a:rPr>
              <a:t>）传输线及信号传输</a:t>
            </a:r>
            <a:r>
              <a:rPr lang="zh-CN" altLang="en-US" sz="1600" dirty="0" smtClean="0">
                <a:solidFill>
                  <a:schemeClr val="bg1"/>
                </a:solidFill>
                <a:latin typeface="微软雅黑" pitchFamily="34" charset="-122"/>
                <a:ea typeface="微软雅黑" pitchFamily="34" charset="-122"/>
              </a:rPr>
              <a:t>方式：传输线</a:t>
            </a:r>
            <a:r>
              <a:rPr lang="zh-CN" altLang="en-US" sz="1600" dirty="0">
                <a:solidFill>
                  <a:schemeClr val="bg1"/>
                </a:solidFill>
                <a:latin typeface="微软雅黑" pitchFamily="34" charset="-122"/>
                <a:ea typeface="微软雅黑" pitchFamily="34" charset="-122"/>
              </a:rPr>
              <a:t>又称为通信传输介质或媒体，常用通信传输介质有电话线、同轴电缆、双绞线</a:t>
            </a:r>
            <a:r>
              <a:rPr lang="zh-CN" altLang="en-US" sz="1600" dirty="0" smtClean="0">
                <a:solidFill>
                  <a:schemeClr val="bg1"/>
                </a:solidFill>
                <a:latin typeface="微软雅黑" pitchFamily="34" charset="-122"/>
                <a:ea typeface="微软雅黑" pitchFamily="34" charset="-122"/>
              </a:rPr>
              <a:t>、光导纤维</a:t>
            </a:r>
            <a:r>
              <a:rPr lang="zh-CN" altLang="en-US" sz="1600" dirty="0">
                <a:solidFill>
                  <a:schemeClr val="bg1"/>
                </a:solidFill>
                <a:latin typeface="微软雅黑" pitchFamily="34" charset="-122"/>
                <a:ea typeface="微软雅黑" pitchFamily="34" charset="-122"/>
              </a:rPr>
              <a:t>电缆、无线与卫星通信信道等。</a:t>
            </a:r>
            <a:r>
              <a:rPr lang="en-US" altLang="zh-CN" sz="1600" dirty="0">
                <a:solidFill>
                  <a:schemeClr val="bg1"/>
                </a:solidFill>
                <a:latin typeface="微软雅黑" pitchFamily="34" charset="-122"/>
                <a:ea typeface="微软雅黑" pitchFamily="34" charset="-122"/>
              </a:rPr>
              <a:t>CAN </a:t>
            </a:r>
            <a:r>
              <a:rPr lang="zh-CN" altLang="en-US" sz="1600" dirty="0">
                <a:solidFill>
                  <a:schemeClr val="bg1"/>
                </a:solidFill>
                <a:latin typeface="微软雅黑" pitchFamily="34" charset="-122"/>
                <a:ea typeface="微软雅黑" pitchFamily="34" charset="-122"/>
              </a:rPr>
              <a:t>总线数据没有指定接收器，数据通过数据 传输线同时发送给各控制单元，各控制单元接收后进行对数据的分析、判断和计算。</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3365200"/>
            <a:ext cx="2571061" cy="135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6056" y="3344979"/>
            <a:ext cx="2016224" cy="1395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864554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14</a:t>
            </a:fld>
            <a:endParaRPr lang="zh-CN" altLang="en-US" dirty="0"/>
          </a:p>
        </p:txBody>
      </p:sp>
      <p:sp>
        <p:nvSpPr>
          <p:cNvPr id="3" name="矩形 2"/>
          <p:cNvSpPr/>
          <p:nvPr/>
        </p:nvSpPr>
        <p:spPr>
          <a:xfrm>
            <a:off x="962727" y="1567530"/>
            <a:ext cx="2795958"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2.CAN总线的结构组成</a:t>
            </a:r>
          </a:p>
        </p:txBody>
      </p:sp>
      <p:sp>
        <p:nvSpPr>
          <p:cNvPr id="7" name="Text Box 8"/>
          <p:cNvSpPr>
            <a:spLocks noChangeArrowheads="1"/>
          </p:cNvSpPr>
          <p:nvPr/>
        </p:nvSpPr>
        <p:spPr bwMode="auto">
          <a:xfrm>
            <a:off x="962727" y="352282"/>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什么是CAN总线网络？CAN总线网络在汽车上有哪些应用？</a:t>
            </a:r>
          </a:p>
        </p:txBody>
      </p:sp>
      <p:sp>
        <p:nvSpPr>
          <p:cNvPr id="2" name="矩形 1"/>
          <p:cNvSpPr/>
          <p:nvPr/>
        </p:nvSpPr>
        <p:spPr>
          <a:xfrm>
            <a:off x="962727" y="2139702"/>
            <a:ext cx="2961201" cy="2338076"/>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2</a:t>
            </a:r>
            <a:r>
              <a:rPr lang="zh-CN" altLang="en-US" sz="1600" dirty="0">
                <a:solidFill>
                  <a:schemeClr val="bg1"/>
                </a:solidFill>
                <a:latin typeface="微软雅黑" pitchFamily="34" charset="-122"/>
                <a:ea typeface="微软雅黑" pitchFamily="34" charset="-122"/>
              </a:rPr>
              <a:t>）终端</a:t>
            </a:r>
            <a:r>
              <a:rPr lang="zh-CN" altLang="en-US" sz="1600" dirty="0" smtClean="0">
                <a:solidFill>
                  <a:schemeClr val="bg1"/>
                </a:solidFill>
                <a:latin typeface="微软雅黑" pitchFamily="34" charset="-122"/>
                <a:ea typeface="微软雅黑" pitchFamily="34" charset="-122"/>
              </a:rPr>
              <a:t>电阻：</a:t>
            </a:r>
            <a:r>
              <a:rPr lang="en-US" altLang="zh-CN" sz="1600" dirty="0" smtClean="0">
                <a:solidFill>
                  <a:schemeClr val="bg1"/>
                </a:solidFill>
                <a:latin typeface="微软雅黑" pitchFamily="34" charset="-122"/>
                <a:ea typeface="微软雅黑" pitchFamily="34" charset="-122"/>
              </a:rPr>
              <a:t>CAN </a:t>
            </a:r>
            <a:r>
              <a:rPr lang="zh-CN" altLang="en-US" sz="1600" dirty="0">
                <a:solidFill>
                  <a:schemeClr val="bg1"/>
                </a:solidFill>
                <a:latin typeface="微软雅黑" pitchFamily="34" charset="-122"/>
                <a:ea typeface="微软雅黑" pitchFamily="34" charset="-122"/>
              </a:rPr>
              <a:t>总线都采用总</a:t>
            </a:r>
            <a:r>
              <a:rPr lang="zh-CN" altLang="en-US" sz="1600" dirty="0" smtClean="0">
                <a:solidFill>
                  <a:schemeClr val="bg1"/>
                </a:solidFill>
                <a:latin typeface="微软雅黑" pitchFamily="34" charset="-122"/>
                <a:ea typeface="微软雅黑" pitchFamily="34" charset="-122"/>
              </a:rPr>
              <a:t>线型拓扑结构</a:t>
            </a:r>
            <a:r>
              <a:rPr lang="zh-CN" altLang="en-US" sz="1600" dirty="0">
                <a:solidFill>
                  <a:schemeClr val="bg1"/>
                </a:solidFill>
                <a:latin typeface="微软雅黑" pitchFamily="34" charset="-122"/>
                <a:ea typeface="微软雅黑" pitchFamily="34" charset="-122"/>
              </a:rPr>
              <a:t>，属于多主控网络。不同之处在于，</a:t>
            </a:r>
            <a:r>
              <a:rPr lang="zh-CN" altLang="en-US" sz="1600" dirty="0" smtClean="0">
                <a:solidFill>
                  <a:schemeClr val="bg1"/>
                </a:solidFill>
                <a:latin typeface="微软雅黑" pitchFamily="34" charset="-122"/>
                <a:ea typeface="微软雅黑" pitchFamily="34" charset="-122"/>
              </a:rPr>
              <a:t>高速 </a:t>
            </a:r>
            <a:r>
              <a:rPr lang="en-US" altLang="zh-CN" sz="1600" dirty="0">
                <a:solidFill>
                  <a:schemeClr val="bg1"/>
                </a:solidFill>
                <a:latin typeface="微软雅黑" pitchFamily="34" charset="-122"/>
                <a:ea typeface="微软雅黑" pitchFamily="34" charset="-122"/>
              </a:rPr>
              <a:t>CAN </a:t>
            </a:r>
            <a:r>
              <a:rPr lang="zh-CN" altLang="en-US" sz="1600" dirty="0">
                <a:solidFill>
                  <a:schemeClr val="bg1"/>
                </a:solidFill>
                <a:latin typeface="微软雅黑" pitchFamily="34" charset="-122"/>
                <a:ea typeface="微软雅黑" pitchFamily="34" charset="-122"/>
              </a:rPr>
              <a:t>在终端处有终端电阻。终端电阻的作用是避免高速信号在终端处产生回波反射造成对信号的叠加，从而使信号产生失真形成干扰。</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9952" y="1767585"/>
            <a:ext cx="4032448" cy="2892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436944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15</a:t>
            </a:fld>
            <a:endParaRPr lang="zh-CN" altLang="en-US" dirty="0"/>
          </a:p>
        </p:txBody>
      </p:sp>
      <p:sp>
        <p:nvSpPr>
          <p:cNvPr id="3" name="矩形 2"/>
          <p:cNvSpPr/>
          <p:nvPr/>
        </p:nvSpPr>
        <p:spPr>
          <a:xfrm>
            <a:off x="962727" y="1567530"/>
            <a:ext cx="2795958"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2.CAN总线的结构组成</a:t>
            </a:r>
          </a:p>
        </p:txBody>
      </p:sp>
      <p:sp>
        <p:nvSpPr>
          <p:cNvPr id="7" name="Text Box 8"/>
          <p:cNvSpPr>
            <a:spLocks noChangeArrowheads="1"/>
          </p:cNvSpPr>
          <p:nvPr/>
        </p:nvSpPr>
        <p:spPr bwMode="auto">
          <a:xfrm>
            <a:off x="962727" y="352282"/>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什么是CAN总线网络？CAN总线网络在汽车上有哪些应用？</a:t>
            </a:r>
          </a:p>
        </p:txBody>
      </p:sp>
      <p:sp>
        <p:nvSpPr>
          <p:cNvPr id="4" name="矩形 3"/>
          <p:cNvSpPr/>
          <p:nvPr/>
        </p:nvSpPr>
        <p:spPr>
          <a:xfrm>
            <a:off x="962726" y="2067694"/>
            <a:ext cx="7209673" cy="1495922"/>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3</a:t>
            </a:r>
            <a:r>
              <a:rPr lang="zh-CN" altLang="en-US" sz="1600" dirty="0">
                <a:solidFill>
                  <a:schemeClr val="bg1"/>
                </a:solidFill>
                <a:latin typeface="微软雅黑" pitchFamily="34" charset="-122"/>
                <a:ea typeface="微软雅黑" pitchFamily="34" charset="-122"/>
              </a:rPr>
              <a:t>）控制器和</a:t>
            </a:r>
            <a:r>
              <a:rPr lang="zh-CN" altLang="en-US" sz="1600" dirty="0" smtClean="0">
                <a:solidFill>
                  <a:schemeClr val="bg1"/>
                </a:solidFill>
                <a:latin typeface="微软雅黑" pitchFamily="34" charset="-122"/>
                <a:ea typeface="微软雅黑" pitchFamily="34" charset="-122"/>
              </a:rPr>
              <a:t>收发器</a:t>
            </a:r>
            <a:r>
              <a:rPr lang="en-US" altLang="zh-CN" sz="1600" dirty="0" smtClean="0">
                <a:solidFill>
                  <a:schemeClr val="bg1"/>
                </a:solidFill>
                <a:latin typeface="微软雅黑" pitchFamily="34" charset="-122"/>
                <a:ea typeface="微软雅黑" pitchFamily="34" charset="-122"/>
              </a:rPr>
              <a:t>CAN</a:t>
            </a:r>
            <a:r>
              <a:rPr lang="zh-CN" altLang="en-US" sz="1600" dirty="0" smtClean="0">
                <a:solidFill>
                  <a:schemeClr val="bg1"/>
                </a:solidFill>
                <a:latin typeface="微软雅黑" pitchFamily="34" charset="-122"/>
                <a:ea typeface="微软雅黑" pitchFamily="34" charset="-122"/>
              </a:rPr>
              <a:t>：</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控制器</a:t>
            </a:r>
            <a:r>
              <a:rPr lang="zh-CN" altLang="en-US" sz="1600" dirty="0">
                <a:solidFill>
                  <a:schemeClr val="bg1"/>
                </a:solidFill>
                <a:latin typeface="微软雅黑" pitchFamily="34" charset="-122"/>
                <a:ea typeface="微软雅黑" pitchFamily="34" charset="-122"/>
              </a:rPr>
              <a:t>（也称</a:t>
            </a:r>
            <a:r>
              <a:rPr lang="zh-CN" altLang="en-US" sz="1600" dirty="0" smtClean="0">
                <a:solidFill>
                  <a:schemeClr val="bg1"/>
                </a:solidFill>
                <a:latin typeface="微软雅黑" pitchFamily="34" charset="-122"/>
                <a:ea typeface="微软雅黑" pitchFamily="34" charset="-122"/>
              </a:rPr>
              <a:t>驱动器）</a:t>
            </a:r>
            <a:r>
              <a:rPr lang="zh-CN" altLang="en-US" sz="1600" dirty="0">
                <a:solidFill>
                  <a:schemeClr val="bg1"/>
                </a:solidFill>
                <a:latin typeface="微软雅黑" pitchFamily="34" charset="-122"/>
                <a:ea typeface="微软雅黑" pitchFamily="34" charset="-122"/>
              </a:rPr>
              <a:t>的作用是接收控制单元中微处理器发出的数据</a:t>
            </a:r>
            <a:r>
              <a:rPr lang="zh-CN" altLang="en-US" sz="1600" dirty="0" smtClean="0">
                <a:solidFill>
                  <a:schemeClr val="bg1"/>
                </a:solidFill>
                <a:latin typeface="微软雅黑" pitchFamily="34" charset="-122"/>
                <a:ea typeface="微软雅黑" pitchFamily="34" charset="-122"/>
              </a:rPr>
              <a:t>、处理</a:t>
            </a:r>
            <a:r>
              <a:rPr lang="zh-CN" altLang="en-US" sz="1600" dirty="0">
                <a:solidFill>
                  <a:schemeClr val="bg1"/>
                </a:solidFill>
                <a:latin typeface="微软雅黑" pitchFamily="34" charset="-122"/>
                <a:ea typeface="微软雅黑" pitchFamily="34" charset="-122"/>
              </a:rPr>
              <a:t>数据并传给 </a:t>
            </a:r>
            <a:r>
              <a:rPr lang="en-US" altLang="zh-CN" sz="1600" dirty="0">
                <a:solidFill>
                  <a:schemeClr val="bg1"/>
                </a:solidFill>
                <a:latin typeface="微软雅黑" pitchFamily="34" charset="-122"/>
                <a:ea typeface="微软雅黑" pitchFamily="34" charset="-122"/>
              </a:rPr>
              <a:t>CAN </a:t>
            </a:r>
            <a:r>
              <a:rPr lang="zh-CN" altLang="en-US" sz="1600" dirty="0" smtClean="0">
                <a:solidFill>
                  <a:schemeClr val="bg1"/>
                </a:solidFill>
                <a:latin typeface="微软雅黑" pitchFamily="34" charset="-122"/>
                <a:ea typeface="微软雅黑" pitchFamily="34" charset="-122"/>
              </a:rPr>
              <a:t>收发器。</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收发器</a:t>
            </a:r>
            <a:r>
              <a:rPr lang="zh-CN" altLang="en-US" sz="1600" dirty="0">
                <a:solidFill>
                  <a:schemeClr val="bg1"/>
                </a:solidFill>
                <a:latin typeface="微软雅黑" pitchFamily="34" charset="-122"/>
                <a:ea typeface="微软雅黑" pitchFamily="34" charset="-122"/>
              </a:rPr>
              <a:t>由一个发射器和一个接收器组合而成，其作用是将从控制器接收的数据转换成 能够通过 </a:t>
            </a:r>
            <a:r>
              <a:rPr lang="en-US" altLang="zh-CN" sz="1600" dirty="0">
                <a:solidFill>
                  <a:schemeClr val="bg1"/>
                </a:solidFill>
                <a:latin typeface="微软雅黑" pitchFamily="34" charset="-122"/>
                <a:ea typeface="微软雅黑" pitchFamily="34" charset="-122"/>
              </a:rPr>
              <a:t>CAN </a:t>
            </a:r>
            <a:r>
              <a:rPr lang="zh-CN" altLang="en-US" sz="1600" dirty="0">
                <a:solidFill>
                  <a:schemeClr val="bg1"/>
                </a:solidFill>
                <a:latin typeface="微软雅黑" pitchFamily="34" charset="-122"/>
                <a:ea typeface="微软雅黑" pitchFamily="34" charset="-122"/>
              </a:rPr>
              <a:t>总线传递的电信号，并能双向传递。</a:t>
            </a:r>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7744" y="3633864"/>
            <a:ext cx="4440932" cy="1089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545112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16</a:t>
            </a:fld>
            <a:endParaRPr lang="zh-CN" altLang="en-US" dirty="0"/>
          </a:p>
        </p:txBody>
      </p:sp>
      <p:sp>
        <p:nvSpPr>
          <p:cNvPr id="3" name="矩形 2"/>
          <p:cNvSpPr/>
          <p:nvPr/>
        </p:nvSpPr>
        <p:spPr>
          <a:xfrm>
            <a:off x="962727" y="1566266"/>
            <a:ext cx="3565400"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3.CAN总线的信息传输与交换</a:t>
            </a:r>
          </a:p>
        </p:txBody>
      </p:sp>
      <p:sp>
        <p:nvSpPr>
          <p:cNvPr id="2" name="矩形 1"/>
          <p:cNvSpPr/>
          <p:nvPr/>
        </p:nvSpPr>
        <p:spPr>
          <a:xfrm>
            <a:off x="969443" y="2067694"/>
            <a:ext cx="2738461" cy="2677656"/>
          </a:xfrm>
          <a:prstGeom prst="rect">
            <a:avLst/>
          </a:prstGeom>
          <a:solidFill>
            <a:srgbClr val="0070C0"/>
          </a:solidFill>
        </p:spPr>
        <p:txBody>
          <a:bodyPr wrap="square">
            <a:spAutoFit/>
          </a:bodyPr>
          <a:lstStyle/>
          <a:p>
            <a:pPr fontAlgn="base">
              <a:lnSpc>
                <a:spcPct val="150000"/>
              </a:lnSpc>
            </a:pPr>
            <a:r>
              <a:rPr sz="1600" dirty="0">
                <a:solidFill>
                  <a:schemeClr val="bg1"/>
                </a:solidFill>
                <a:latin typeface="微软雅黑" panose="020B0503020204020204" pitchFamily="34" charset="-122"/>
                <a:ea typeface="微软雅黑" panose="020B0503020204020204" pitchFamily="34" charset="-122"/>
              </a:rPr>
              <a:t>各个控制单元之间进行传输与交换的数据称为信息。信息传输与交换是按照顺序来连续完成的，每个控制单元都能发送和接收数据，但只是有选择性地读取需要的数据信息。</a:t>
            </a:r>
          </a:p>
        </p:txBody>
      </p:sp>
      <p:pic>
        <p:nvPicPr>
          <p:cNvPr id="46" name="图片 46" descr="说明: C:\Users\Administrator\Desktop\图修改\汽车电气设备与维修\9-1-7.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3851920" y="2067694"/>
            <a:ext cx="4308212" cy="2664296"/>
          </a:xfrm>
          <a:prstGeom prst="rect">
            <a:avLst/>
          </a:prstGeom>
          <a:noFill/>
          <a:ln w="12700" cmpd="sng">
            <a:solidFill>
              <a:schemeClr val="accent1">
                <a:shade val="50000"/>
              </a:schemeClr>
            </a:solidFill>
            <a:prstDash val="solid"/>
          </a:ln>
        </p:spPr>
      </p:pic>
      <p:sp>
        <p:nvSpPr>
          <p:cNvPr id="7" name="Text Box 8"/>
          <p:cNvSpPr>
            <a:spLocks noChangeArrowheads="1"/>
          </p:cNvSpPr>
          <p:nvPr/>
        </p:nvSpPr>
        <p:spPr bwMode="auto">
          <a:xfrm>
            <a:off x="962727" y="352282"/>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什么是CAN总线网络？CAN总线网络在汽车上有哪些应用？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62727" y="1491630"/>
            <a:ext cx="3609273" cy="400110"/>
          </a:xfrm>
          <a:prstGeom prst="rect">
            <a:avLst/>
          </a:prstGeom>
          <a:solidFill>
            <a:srgbClr val="0070C0"/>
          </a:solidFill>
        </p:spPr>
        <p:txBody>
          <a:bodyPr wrap="squar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4.CAN总线在汽车中的应用</a:t>
            </a:r>
          </a:p>
        </p:txBody>
      </p:sp>
      <p:sp>
        <p:nvSpPr>
          <p:cNvPr id="5" name="Text Box 8"/>
          <p:cNvSpPr>
            <a:spLocks noChangeArrowheads="1"/>
          </p:cNvSpPr>
          <p:nvPr/>
        </p:nvSpPr>
        <p:spPr bwMode="auto">
          <a:xfrm>
            <a:off x="962727" y="352282"/>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什么是CAN总线网络？CAN总线网络在汽车上有哪些应用？</a:t>
            </a:r>
          </a:p>
        </p:txBody>
      </p:sp>
      <p:sp>
        <p:nvSpPr>
          <p:cNvPr id="2" name="矩形 1"/>
          <p:cNvSpPr/>
          <p:nvPr/>
        </p:nvSpPr>
        <p:spPr>
          <a:xfrm>
            <a:off x="962726" y="1995686"/>
            <a:ext cx="7209673" cy="2634183"/>
          </a:xfrm>
          <a:prstGeom prst="rect">
            <a:avLst/>
          </a:prstGeom>
          <a:solidFill>
            <a:srgbClr val="0070C0"/>
          </a:solidFill>
        </p:spPr>
        <p:txBody>
          <a:bodyPr wrap="square">
            <a:spAutoFit/>
          </a:bodyPr>
          <a:lstStyle/>
          <a:p>
            <a:pPr>
              <a:lnSpc>
                <a:spcPct val="150000"/>
              </a:lnSpc>
            </a:pPr>
            <a:r>
              <a:rPr lang="zh-CN" altLang="en-US" sz="1600" b="1" dirty="0">
                <a:solidFill>
                  <a:schemeClr val="bg1"/>
                </a:solidFill>
                <a:latin typeface="微软雅黑" pitchFamily="34" charset="-122"/>
                <a:ea typeface="微软雅黑" pitchFamily="34" charset="-122"/>
              </a:rPr>
              <a:t>（</a:t>
            </a:r>
            <a:r>
              <a:rPr lang="en-US" altLang="zh-CN" sz="1600" b="1" dirty="0">
                <a:solidFill>
                  <a:schemeClr val="bg1"/>
                </a:solidFill>
                <a:latin typeface="微软雅黑" pitchFamily="34" charset="-122"/>
                <a:ea typeface="微软雅黑" pitchFamily="34" charset="-122"/>
              </a:rPr>
              <a:t>1</a:t>
            </a:r>
            <a:r>
              <a:rPr lang="zh-CN" altLang="en-US" sz="1600" b="1" dirty="0">
                <a:solidFill>
                  <a:schemeClr val="bg1"/>
                </a:solidFill>
                <a:latin typeface="微软雅黑" pitchFamily="34" charset="-122"/>
                <a:ea typeface="微软雅黑" pitchFamily="34" charset="-122"/>
              </a:rPr>
              <a:t>）</a:t>
            </a:r>
            <a:r>
              <a:rPr lang="en-US" altLang="zh-CN" sz="1600" b="1" dirty="0">
                <a:solidFill>
                  <a:schemeClr val="bg1"/>
                </a:solidFill>
                <a:latin typeface="微软雅黑" pitchFamily="34" charset="-122"/>
                <a:ea typeface="微软雅黑" pitchFamily="34" charset="-122"/>
              </a:rPr>
              <a:t>CAN </a:t>
            </a:r>
            <a:r>
              <a:rPr lang="zh-CN" altLang="en-US" sz="1600" b="1" dirty="0">
                <a:solidFill>
                  <a:schemeClr val="bg1"/>
                </a:solidFill>
                <a:latin typeface="微软雅黑" pitchFamily="34" charset="-122"/>
                <a:ea typeface="微软雅黑" pitchFamily="34" charset="-122"/>
              </a:rPr>
              <a:t>总线在传统汽车中的应用</a:t>
            </a:r>
            <a:r>
              <a:rPr lang="zh-CN" altLang="en-US" sz="1600" b="1" dirty="0" smtClean="0">
                <a:solidFill>
                  <a:schemeClr val="bg1"/>
                </a:solidFill>
                <a:latin typeface="微软雅黑" pitchFamily="34" charset="-122"/>
                <a:ea typeface="微软雅黑" pitchFamily="34" charset="-122"/>
              </a:rPr>
              <a:t>情况</a:t>
            </a:r>
            <a:endParaRPr lang="en-US" altLang="zh-CN" sz="1600" b="1" dirty="0" smtClean="0">
              <a:solidFill>
                <a:schemeClr val="bg1"/>
              </a:solidFill>
              <a:latin typeface="微软雅黑" pitchFamily="34" charset="-122"/>
              <a:ea typeface="微软雅黑" pitchFamily="34" charset="-122"/>
            </a:endParaRPr>
          </a:p>
          <a:p>
            <a:pPr>
              <a:lnSpc>
                <a:spcPct val="150000"/>
              </a:lnSpc>
            </a:pPr>
            <a:r>
              <a:rPr lang="en-US" altLang="zh-CN" sz="1600" dirty="0" smtClean="0">
                <a:solidFill>
                  <a:schemeClr val="bg1"/>
                </a:solidFill>
                <a:latin typeface="微软雅黑" pitchFamily="34" charset="-122"/>
                <a:ea typeface="微软雅黑" pitchFamily="34" charset="-122"/>
              </a:rPr>
              <a:t>CAN </a:t>
            </a:r>
            <a:r>
              <a:rPr lang="zh-CN" altLang="en-US" sz="1600" dirty="0">
                <a:solidFill>
                  <a:schemeClr val="bg1"/>
                </a:solidFill>
                <a:latin typeface="微软雅黑" pitchFamily="34" charset="-122"/>
                <a:ea typeface="微软雅黑" pitchFamily="34" charset="-122"/>
              </a:rPr>
              <a:t>总线虽然有标准的应用协议，但 </a:t>
            </a:r>
            <a:r>
              <a:rPr lang="en-US" altLang="zh-CN" sz="1600" dirty="0">
                <a:solidFill>
                  <a:schemeClr val="bg1"/>
                </a:solidFill>
                <a:latin typeface="微软雅黑" pitchFamily="34" charset="-122"/>
                <a:ea typeface="微软雅黑" pitchFamily="34" charset="-122"/>
              </a:rPr>
              <a:t>CAN </a:t>
            </a:r>
            <a:r>
              <a:rPr lang="zh-CN" altLang="en-US" sz="1600" dirty="0">
                <a:solidFill>
                  <a:schemeClr val="bg1"/>
                </a:solidFill>
                <a:latin typeface="微软雅黑" pitchFamily="34" charset="-122"/>
                <a:ea typeface="微软雅黑" pitchFamily="34" charset="-122"/>
              </a:rPr>
              <a:t>协议对物理层中的驱动器、收发器、连接 器、电缆等的形态没有统一规定。这样一来，不同厂家采用的 </a:t>
            </a:r>
            <a:r>
              <a:rPr lang="en-US" altLang="zh-CN" sz="1600" dirty="0">
                <a:solidFill>
                  <a:schemeClr val="bg1"/>
                </a:solidFill>
                <a:latin typeface="微软雅黑" pitchFamily="34" charset="-122"/>
                <a:ea typeface="微软雅黑" pitchFamily="34" charset="-122"/>
              </a:rPr>
              <a:t>CAN </a:t>
            </a:r>
            <a:r>
              <a:rPr lang="zh-CN" altLang="en-US" sz="1600" dirty="0">
                <a:solidFill>
                  <a:schemeClr val="bg1"/>
                </a:solidFill>
                <a:latin typeface="微软雅黑" pitchFamily="34" charset="-122"/>
                <a:ea typeface="微软雅黑" pitchFamily="34" charset="-122"/>
              </a:rPr>
              <a:t>总线的速率、波形形态、 拓扑结构也就各不相同，每个厂家对 </a:t>
            </a:r>
            <a:r>
              <a:rPr lang="en-US" altLang="zh-CN" sz="1600" dirty="0">
                <a:solidFill>
                  <a:schemeClr val="bg1"/>
                </a:solidFill>
                <a:latin typeface="微软雅黑" pitchFamily="34" charset="-122"/>
                <a:ea typeface="微软雅黑" pitchFamily="34" charset="-122"/>
              </a:rPr>
              <a:t>CAN </a:t>
            </a:r>
            <a:r>
              <a:rPr lang="zh-CN" altLang="en-US" sz="1600" dirty="0">
                <a:solidFill>
                  <a:schemeClr val="bg1"/>
                </a:solidFill>
                <a:latin typeface="微软雅黑" pitchFamily="34" charset="-122"/>
                <a:ea typeface="微软雅黑" pitchFamily="34" charset="-122"/>
              </a:rPr>
              <a:t>总线的称谓也不尽相同。因此，一般在分析</a:t>
            </a:r>
            <a:r>
              <a:rPr lang="zh-CN" altLang="en-US" sz="1600" dirty="0" smtClean="0">
                <a:solidFill>
                  <a:schemeClr val="bg1"/>
                </a:solidFill>
                <a:latin typeface="微软雅黑" pitchFamily="34" charset="-122"/>
                <a:ea typeface="微软雅黑" pitchFamily="34" charset="-122"/>
              </a:rPr>
              <a:t>不同</a:t>
            </a:r>
            <a:r>
              <a:rPr lang="zh-CN" altLang="en-US" sz="1600" dirty="0">
                <a:solidFill>
                  <a:schemeClr val="bg1"/>
                </a:solidFill>
                <a:latin typeface="微软雅黑" pitchFamily="34" charset="-122"/>
                <a:ea typeface="微软雅黑" pitchFamily="34" charset="-122"/>
              </a:rPr>
              <a:t>车型 </a:t>
            </a:r>
            <a:r>
              <a:rPr lang="en-US" altLang="zh-CN" sz="1600" dirty="0">
                <a:solidFill>
                  <a:schemeClr val="bg1"/>
                </a:solidFill>
                <a:latin typeface="微软雅黑" pitchFamily="34" charset="-122"/>
                <a:ea typeface="微软雅黑" pitchFamily="34" charset="-122"/>
              </a:rPr>
              <a:t>CAN </a:t>
            </a:r>
            <a:r>
              <a:rPr lang="zh-CN" altLang="en-US" sz="1600" dirty="0">
                <a:solidFill>
                  <a:schemeClr val="bg1"/>
                </a:solidFill>
                <a:latin typeface="微软雅黑" pitchFamily="34" charset="-122"/>
                <a:ea typeface="微软雅黑" pitchFamily="34" charset="-122"/>
              </a:rPr>
              <a:t>总线时，应始终抓住 </a:t>
            </a:r>
            <a:r>
              <a:rPr lang="en-US" altLang="zh-CN" sz="1600" dirty="0">
                <a:solidFill>
                  <a:schemeClr val="bg1"/>
                </a:solidFill>
                <a:latin typeface="微软雅黑" pitchFamily="34" charset="-122"/>
                <a:ea typeface="微软雅黑" pitchFamily="34" charset="-122"/>
              </a:rPr>
              <a:t>CAN </a:t>
            </a:r>
            <a:r>
              <a:rPr lang="zh-CN" altLang="en-US" sz="1600" dirty="0">
                <a:solidFill>
                  <a:schemeClr val="bg1"/>
                </a:solidFill>
                <a:latin typeface="微软雅黑" pitchFamily="34" charset="-122"/>
                <a:ea typeface="微软雅黑" pitchFamily="34" charset="-122"/>
              </a:rPr>
              <a:t>分两大类，即低速和高速 </a:t>
            </a:r>
            <a:r>
              <a:rPr lang="en-US" altLang="zh-CN" sz="1600" dirty="0">
                <a:solidFill>
                  <a:schemeClr val="bg1"/>
                </a:solidFill>
                <a:latin typeface="微软雅黑" pitchFamily="34" charset="-122"/>
                <a:ea typeface="微软雅黑" pitchFamily="34" charset="-122"/>
              </a:rPr>
              <a:t>CAN</a:t>
            </a:r>
            <a:r>
              <a:rPr lang="zh-CN" altLang="en-US" sz="1600" dirty="0">
                <a:solidFill>
                  <a:schemeClr val="bg1"/>
                </a:solidFill>
                <a:latin typeface="微软雅黑" pitchFamily="34" charset="-122"/>
                <a:ea typeface="微软雅黑" pitchFamily="34" charset="-122"/>
              </a:rPr>
              <a:t>。通过测量波形或</a:t>
            </a:r>
            <a:r>
              <a:rPr lang="zh-CN" altLang="en-US" sz="1600" dirty="0" smtClean="0">
                <a:solidFill>
                  <a:schemeClr val="bg1"/>
                </a:solidFill>
                <a:latin typeface="微软雅黑" pitchFamily="34" charset="-122"/>
                <a:ea typeface="微软雅黑" pitchFamily="34" charset="-122"/>
              </a:rPr>
              <a:t>总线</a:t>
            </a:r>
            <a:r>
              <a:rPr lang="zh-CN" altLang="en-US" sz="1600" dirty="0">
                <a:solidFill>
                  <a:schemeClr val="bg1"/>
                </a:solidFill>
                <a:latin typeface="微软雅黑" pitchFamily="34" charset="-122"/>
                <a:ea typeface="微软雅黑" pitchFamily="34" charset="-122"/>
              </a:rPr>
              <a:t>电压即可区分是高速 </a:t>
            </a:r>
            <a:r>
              <a:rPr lang="en-US" altLang="zh-CN" sz="1600" dirty="0">
                <a:solidFill>
                  <a:schemeClr val="bg1"/>
                </a:solidFill>
                <a:latin typeface="微软雅黑" pitchFamily="34" charset="-122"/>
                <a:ea typeface="微软雅黑" pitchFamily="34" charset="-122"/>
              </a:rPr>
              <a:t>CAN </a:t>
            </a:r>
            <a:r>
              <a:rPr lang="zh-CN" altLang="en-US" sz="1600" dirty="0">
                <a:solidFill>
                  <a:schemeClr val="bg1"/>
                </a:solidFill>
                <a:latin typeface="微软雅黑" pitchFamily="34" charset="-122"/>
                <a:ea typeface="微软雅黑" pitchFamily="34" charset="-122"/>
              </a:rPr>
              <a:t>还是低速 </a:t>
            </a:r>
            <a:r>
              <a:rPr lang="en-US" altLang="zh-CN" sz="1600" dirty="0">
                <a:solidFill>
                  <a:schemeClr val="bg1"/>
                </a:solidFill>
                <a:latin typeface="微软雅黑" pitchFamily="34" charset="-122"/>
                <a:ea typeface="微软雅黑" pitchFamily="34" charset="-122"/>
              </a:rPr>
              <a:t>CAN</a:t>
            </a:r>
            <a:r>
              <a:rPr lang="zh-CN" altLang="en-US" sz="1600" dirty="0" smtClean="0">
                <a:solidFill>
                  <a:schemeClr val="bg1"/>
                </a:solidFill>
                <a:latin typeface="微软雅黑" pitchFamily="34" charset="-122"/>
                <a:ea typeface="微软雅黑" pitchFamily="34" charset="-122"/>
              </a:rPr>
              <a:t>。</a:t>
            </a:r>
            <a:endParaRPr lang="zh-CN" altLang="en-US" sz="1600" dirty="0">
              <a:solidFill>
                <a:schemeClr val="bg1"/>
              </a:solidFill>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图片 4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971600" y="411510"/>
            <a:ext cx="7200800" cy="4320480"/>
          </a:xfrm>
          <a:prstGeom prst="rect">
            <a:avLst/>
          </a:prstGeom>
          <a:noFill/>
          <a:ln w="12700" cmpd="sng">
            <a:solidFill>
              <a:schemeClr val="accent1">
                <a:shade val="50000"/>
              </a:schemeClr>
            </a:solidFill>
            <a:prstDash val="solid"/>
          </a:ln>
        </p:spPr>
      </p:pic>
    </p:spTree>
    <p:extLst>
      <p:ext uri="{BB962C8B-B14F-4D97-AF65-F5344CB8AC3E}">
        <p14:creationId xmlns:p14="http://schemas.microsoft.com/office/powerpoint/2010/main" val="18905461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411510"/>
            <a:ext cx="7128792" cy="42758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96853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62727" y="1491630"/>
            <a:ext cx="3609273" cy="400110"/>
          </a:xfrm>
          <a:prstGeom prst="rect">
            <a:avLst/>
          </a:prstGeom>
          <a:solidFill>
            <a:srgbClr val="0070C0"/>
          </a:solidFill>
        </p:spPr>
        <p:txBody>
          <a:bodyPr wrap="squar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4.CAN总线在汽车中的应用</a:t>
            </a:r>
          </a:p>
        </p:txBody>
      </p:sp>
      <p:sp>
        <p:nvSpPr>
          <p:cNvPr id="5" name="Text Box 8"/>
          <p:cNvSpPr>
            <a:spLocks noChangeArrowheads="1"/>
          </p:cNvSpPr>
          <p:nvPr/>
        </p:nvSpPr>
        <p:spPr bwMode="auto">
          <a:xfrm>
            <a:off x="962727" y="352282"/>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什么是CAN总线网络？CAN总线网络在汽车上有哪些应用？</a:t>
            </a:r>
          </a:p>
        </p:txBody>
      </p:sp>
      <p:sp>
        <p:nvSpPr>
          <p:cNvPr id="2" name="矩形 1"/>
          <p:cNvSpPr/>
          <p:nvPr/>
        </p:nvSpPr>
        <p:spPr>
          <a:xfrm>
            <a:off x="962726" y="1995686"/>
            <a:ext cx="7209673" cy="2677656"/>
          </a:xfrm>
          <a:prstGeom prst="rect">
            <a:avLst/>
          </a:prstGeom>
          <a:solidFill>
            <a:srgbClr val="0070C0"/>
          </a:solidFill>
        </p:spPr>
        <p:txBody>
          <a:bodyPr wrap="square">
            <a:spAutoFit/>
          </a:bodyPr>
          <a:lstStyle/>
          <a:p>
            <a:pPr>
              <a:lnSpc>
                <a:spcPct val="150000"/>
              </a:lnSpc>
            </a:pPr>
            <a:r>
              <a:rPr lang="zh-CN" altLang="en-US" sz="1600" b="1" dirty="0" smtClean="0">
                <a:solidFill>
                  <a:schemeClr val="bg1"/>
                </a:solidFill>
                <a:latin typeface="微软雅黑" pitchFamily="34" charset="-122"/>
                <a:ea typeface="微软雅黑" pitchFamily="34" charset="-122"/>
              </a:rPr>
              <a:t>（</a:t>
            </a:r>
            <a:r>
              <a:rPr lang="en-US" altLang="zh-CN" sz="1600" b="1" dirty="0" smtClean="0">
                <a:solidFill>
                  <a:schemeClr val="bg1"/>
                </a:solidFill>
                <a:latin typeface="微软雅黑" pitchFamily="34" charset="-122"/>
                <a:ea typeface="微软雅黑" pitchFamily="34" charset="-122"/>
              </a:rPr>
              <a:t>2</a:t>
            </a:r>
            <a:r>
              <a:rPr lang="zh-CN" altLang="en-US" sz="1600" b="1" dirty="0" smtClean="0">
                <a:solidFill>
                  <a:schemeClr val="bg1"/>
                </a:solidFill>
                <a:latin typeface="微软雅黑" pitchFamily="34" charset="-122"/>
                <a:ea typeface="微软雅黑" pitchFamily="34" charset="-122"/>
              </a:rPr>
              <a:t>）</a:t>
            </a:r>
            <a:r>
              <a:rPr lang="en-US" altLang="zh-CN" sz="1600" b="1" dirty="0">
                <a:solidFill>
                  <a:schemeClr val="bg1"/>
                </a:solidFill>
                <a:latin typeface="微软雅黑" pitchFamily="34" charset="-122"/>
                <a:ea typeface="微软雅黑" pitchFamily="34" charset="-122"/>
              </a:rPr>
              <a:t>CAN </a:t>
            </a:r>
            <a:r>
              <a:rPr lang="zh-CN" altLang="en-US" sz="1600" b="1" dirty="0">
                <a:solidFill>
                  <a:schemeClr val="bg1"/>
                </a:solidFill>
                <a:latin typeface="微软雅黑" pitchFamily="34" charset="-122"/>
                <a:ea typeface="微软雅黑" pitchFamily="34" charset="-122"/>
              </a:rPr>
              <a:t>总线</a:t>
            </a:r>
            <a:r>
              <a:rPr lang="zh-CN" altLang="en-US" sz="1600" b="1" dirty="0" smtClean="0">
                <a:solidFill>
                  <a:schemeClr val="bg1"/>
                </a:solidFill>
                <a:latin typeface="微软雅黑" pitchFamily="34" charset="-122"/>
                <a:ea typeface="微软雅黑" pitchFamily="34" charset="-122"/>
              </a:rPr>
              <a:t>在智能网联汽车</a:t>
            </a:r>
            <a:r>
              <a:rPr lang="zh-CN" altLang="en-US" sz="1600" b="1" dirty="0">
                <a:solidFill>
                  <a:schemeClr val="bg1"/>
                </a:solidFill>
                <a:latin typeface="微软雅黑" pitchFamily="34" charset="-122"/>
                <a:ea typeface="微软雅黑" pitchFamily="34" charset="-122"/>
              </a:rPr>
              <a:t>中的</a:t>
            </a:r>
            <a:r>
              <a:rPr lang="zh-CN" altLang="en-US" sz="1600" b="1" dirty="0" smtClean="0">
                <a:solidFill>
                  <a:schemeClr val="bg1"/>
                </a:solidFill>
                <a:latin typeface="微软雅黑" pitchFamily="34" charset="-122"/>
                <a:ea typeface="微软雅黑" pitchFamily="34" charset="-122"/>
              </a:rPr>
              <a:t>应用</a:t>
            </a:r>
            <a:endParaRPr lang="en-US" altLang="zh-CN" sz="1600" b="1" dirty="0" smtClean="0">
              <a:solidFill>
                <a:schemeClr val="bg1"/>
              </a:solidFill>
              <a:latin typeface="微软雅黑" pitchFamily="34" charset="-122"/>
              <a:ea typeface="微软雅黑" pitchFamily="34" charset="-122"/>
            </a:endParaRPr>
          </a:p>
          <a:p>
            <a:pPr>
              <a:lnSpc>
                <a:spcPct val="150000"/>
              </a:lnSpc>
            </a:pPr>
            <a:r>
              <a:rPr lang="zh-CN" altLang="en-US" sz="1600" dirty="0">
                <a:solidFill>
                  <a:schemeClr val="bg1"/>
                </a:solidFill>
                <a:latin typeface="微软雅黑" pitchFamily="34" charset="-122"/>
                <a:ea typeface="微软雅黑" pitchFamily="34" charset="-122"/>
              </a:rPr>
              <a:t>在 </a:t>
            </a:r>
            <a:r>
              <a:rPr lang="en-US" altLang="zh-CN" sz="1600" dirty="0">
                <a:solidFill>
                  <a:schemeClr val="bg1"/>
                </a:solidFill>
                <a:latin typeface="微软雅黑" pitchFamily="34" charset="-122"/>
                <a:ea typeface="微软雅黑" pitchFamily="34" charset="-122"/>
              </a:rPr>
              <a:t>L0 </a:t>
            </a:r>
            <a:r>
              <a:rPr lang="zh-CN" altLang="en-US" sz="1600" dirty="0">
                <a:solidFill>
                  <a:schemeClr val="bg1"/>
                </a:solidFill>
                <a:latin typeface="微软雅黑" pitchFamily="34" charset="-122"/>
                <a:ea typeface="微软雅黑" pitchFamily="34" charset="-122"/>
              </a:rPr>
              <a:t>到 </a:t>
            </a:r>
            <a:r>
              <a:rPr lang="en-US" altLang="zh-CN" sz="1600" dirty="0">
                <a:solidFill>
                  <a:schemeClr val="bg1"/>
                </a:solidFill>
                <a:latin typeface="微软雅黑" pitchFamily="34" charset="-122"/>
                <a:ea typeface="微软雅黑" pitchFamily="34" charset="-122"/>
              </a:rPr>
              <a:t>L3 </a:t>
            </a:r>
            <a:r>
              <a:rPr lang="zh-CN" altLang="en-US" sz="1600" dirty="0">
                <a:solidFill>
                  <a:schemeClr val="bg1"/>
                </a:solidFill>
                <a:latin typeface="微软雅黑" pitchFamily="34" charset="-122"/>
                <a:ea typeface="微软雅黑" pitchFamily="34" charset="-122"/>
              </a:rPr>
              <a:t>级别汽车的高级驾驶辅助系统中，</a:t>
            </a:r>
            <a:r>
              <a:rPr lang="en-US" altLang="zh-CN" sz="1600" dirty="0">
                <a:solidFill>
                  <a:schemeClr val="bg1"/>
                </a:solidFill>
                <a:latin typeface="微软雅黑" pitchFamily="34" charset="-122"/>
                <a:ea typeface="微软雅黑" pitchFamily="34" charset="-122"/>
              </a:rPr>
              <a:t>CAN </a:t>
            </a:r>
            <a:r>
              <a:rPr lang="zh-CN" altLang="en-US" sz="1600" dirty="0">
                <a:solidFill>
                  <a:schemeClr val="bg1"/>
                </a:solidFill>
                <a:latin typeface="微软雅黑" pitchFamily="34" charset="-122"/>
                <a:ea typeface="微软雅黑" pitchFamily="34" charset="-122"/>
              </a:rPr>
              <a:t>总线是车联网的重要组成部分。在汽车智能网联时代，随着汽车传感器和处理器的大量增加，</a:t>
            </a:r>
            <a:r>
              <a:rPr lang="zh-CN" altLang="en-US" sz="1600" dirty="0" smtClean="0">
                <a:solidFill>
                  <a:schemeClr val="bg1"/>
                </a:solidFill>
                <a:latin typeface="微软雅黑" pitchFamily="34" charset="-122"/>
                <a:ea typeface="微软雅黑" pitchFamily="34" charset="-122"/>
              </a:rPr>
              <a:t>导致</a:t>
            </a:r>
            <a:r>
              <a:rPr lang="zh-CN" altLang="en-US" sz="1600" dirty="0">
                <a:solidFill>
                  <a:schemeClr val="bg1"/>
                </a:solidFill>
                <a:latin typeface="微软雅黑" pitchFamily="34" charset="-122"/>
                <a:ea typeface="微软雅黑" pitchFamily="34" charset="-122"/>
              </a:rPr>
              <a:t>通信带宽需求显著增加。在引入了信息娱乐系统和基于视频的先进驾驶辅助系统（</a:t>
            </a:r>
            <a:r>
              <a:rPr lang="en-US" altLang="zh-CN" sz="1600" dirty="0">
                <a:solidFill>
                  <a:schemeClr val="bg1"/>
                </a:solidFill>
                <a:latin typeface="微软雅黑" pitchFamily="34" charset="-122"/>
                <a:ea typeface="微软雅黑" pitchFamily="34" charset="-122"/>
              </a:rPr>
              <a:t>ADAS</a:t>
            </a:r>
            <a:r>
              <a:rPr lang="zh-CN" altLang="en-US" sz="1600" dirty="0">
                <a:solidFill>
                  <a:schemeClr val="bg1"/>
                </a:solidFill>
                <a:latin typeface="微软雅黑" pitchFamily="34" charset="-122"/>
                <a:ea typeface="微软雅黑" pitchFamily="34" charset="-122"/>
              </a:rPr>
              <a:t>） 时，这些应用的数据需要的带宽明显高于传统电控系统。当前的 </a:t>
            </a:r>
            <a:r>
              <a:rPr lang="en-US" altLang="zh-CN" sz="1600" dirty="0" smtClean="0">
                <a:solidFill>
                  <a:schemeClr val="bg1"/>
                </a:solidFill>
                <a:latin typeface="微软雅黑" pitchFamily="34" charset="-122"/>
                <a:ea typeface="微软雅黑" pitchFamily="34" charset="-122"/>
              </a:rPr>
              <a:t>CAN</a:t>
            </a:r>
            <a:r>
              <a:rPr lang="zh-CN" altLang="en-US" sz="1600" dirty="0" smtClean="0">
                <a:solidFill>
                  <a:schemeClr val="bg1"/>
                </a:solidFill>
                <a:latin typeface="微软雅黑" pitchFamily="34" charset="-122"/>
                <a:ea typeface="微软雅黑" pitchFamily="34" charset="-122"/>
              </a:rPr>
              <a:t>总线</a:t>
            </a:r>
            <a:r>
              <a:rPr lang="zh-CN" altLang="en-US" sz="1600" dirty="0">
                <a:solidFill>
                  <a:schemeClr val="bg1"/>
                </a:solidFill>
                <a:latin typeface="微软雅黑" pitchFamily="34" charset="-122"/>
                <a:ea typeface="微软雅黑" pitchFamily="34" charset="-122"/>
              </a:rPr>
              <a:t>技术已难以</a:t>
            </a:r>
            <a:r>
              <a:rPr lang="zh-CN" altLang="en-US" sz="1600" dirty="0" smtClean="0">
                <a:solidFill>
                  <a:schemeClr val="bg1"/>
                </a:solidFill>
                <a:latin typeface="微软雅黑" pitchFamily="34" charset="-122"/>
                <a:ea typeface="微软雅黑" pitchFamily="34" charset="-122"/>
              </a:rPr>
              <a:t>满足</a:t>
            </a:r>
            <a:r>
              <a:rPr lang="zh-CN" altLang="en-US" sz="1600" dirty="0">
                <a:solidFill>
                  <a:schemeClr val="bg1"/>
                </a:solidFill>
                <a:latin typeface="微软雅黑" pitchFamily="34" charset="-122"/>
                <a:ea typeface="微软雅黑" pitchFamily="34" charset="-122"/>
              </a:rPr>
              <a:t>需要，急需下一代的车辆网络技术和系统结构。基于 </a:t>
            </a:r>
            <a:r>
              <a:rPr lang="en-US" altLang="zh-CN" sz="1600" dirty="0">
                <a:solidFill>
                  <a:schemeClr val="bg1"/>
                </a:solidFill>
                <a:latin typeface="微软雅黑" pitchFamily="34" charset="-122"/>
                <a:ea typeface="微软雅黑" pitchFamily="34" charset="-122"/>
              </a:rPr>
              <a:t>CAN </a:t>
            </a:r>
            <a:r>
              <a:rPr lang="zh-CN" altLang="en-US" sz="1600" dirty="0">
                <a:solidFill>
                  <a:schemeClr val="bg1"/>
                </a:solidFill>
                <a:latin typeface="微软雅黑" pitchFamily="34" charset="-122"/>
                <a:ea typeface="微软雅黑" pitchFamily="34" charset="-122"/>
              </a:rPr>
              <a:t>总线数据通信的汽车数据安全保障也是一个</a:t>
            </a:r>
            <a:r>
              <a:rPr lang="zh-CN" altLang="en-US" sz="1600" dirty="0" smtClean="0">
                <a:solidFill>
                  <a:schemeClr val="bg1"/>
                </a:solidFill>
                <a:latin typeface="微软雅黑" pitchFamily="34" charset="-122"/>
                <a:ea typeface="微软雅黑" pitchFamily="34" charset="-122"/>
              </a:rPr>
              <a:t>亟待</a:t>
            </a:r>
            <a:r>
              <a:rPr lang="zh-CN" altLang="en-US" sz="1600" dirty="0">
                <a:solidFill>
                  <a:schemeClr val="bg1"/>
                </a:solidFill>
                <a:latin typeface="微软雅黑" pitchFamily="34" charset="-122"/>
                <a:ea typeface="微软雅黑" pitchFamily="34" charset="-122"/>
              </a:rPr>
              <a:t>解决的问题。</a:t>
            </a:r>
            <a:endParaRPr lang="en-US" altLang="zh-CN" sz="1600" b="1" dirty="0" smtClean="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9910636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21</a:t>
            </a:fld>
            <a:endParaRPr lang="zh-CN" altLang="en-US" dirty="0"/>
          </a:p>
        </p:txBody>
      </p:sp>
      <p:sp>
        <p:nvSpPr>
          <p:cNvPr id="8"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什么是LIN、MOST、Flex Ray总线网络？这些网络分别在汽车上有哪些应用？</a:t>
            </a:r>
          </a:p>
        </p:txBody>
      </p:sp>
      <p:sp>
        <p:nvSpPr>
          <p:cNvPr id="3" name="矩形 2"/>
          <p:cNvSpPr/>
          <p:nvPr/>
        </p:nvSpPr>
        <p:spPr>
          <a:xfrm>
            <a:off x="971600" y="1779662"/>
            <a:ext cx="2658100"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1.LIN总线网络及应用</a:t>
            </a:r>
          </a:p>
        </p:txBody>
      </p:sp>
      <p:sp>
        <p:nvSpPr>
          <p:cNvPr id="4" name="矩形 3"/>
          <p:cNvSpPr/>
          <p:nvPr/>
        </p:nvSpPr>
        <p:spPr>
          <a:xfrm>
            <a:off x="957510" y="2283718"/>
            <a:ext cx="2894410" cy="2338076"/>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1</a:t>
            </a: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LIN </a:t>
            </a:r>
            <a:r>
              <a:rPr lang="zh-CN" altLang="en-US" sz="1600" dirty="0">
                <a:solidFill>
                  <a:schemeClr val="bg1"/>
                </a:solidFill>
                <a:latin typeface="微软雅黑" pitchFamily="34" charset="-122"/>
                <a:ea typeface="微软雅黑" pitchFamily="34" charset="-122"/>
              </a:rPr>
              <a:t>总线网络</a:t>
            </a:r>
            <a:r>
              <a:rPr lang="zh-CN" altLang="en-US" sz="1600" dirty="0" smtClean="0">
                <a:solidFill>
                  <a:schemeClr val="bg1"/>
                </a:solidFill>
                <a:latin typeface="微软雅黑" pitchFamily="34" charset="-122"/>
                <a:ea typeface="微软雅黑" pitchFamily="34" charset="-122"/>
              </a:rPr>
              <a:t>概述： </a:t>
            </a:r>
            <a:r>
              <a:rPr lang="en-US" altLang="zh-CN" sz="1600" dirty="0">
                <a:solidFill>
                  <a:schemeClr val="bg1"/>
                </a:solidFill>
                <a:latin typeface="微软雅黑" pitchFamily="34" charset="-122"/>
                <a:ea typeface="微软雅黑" pitchFamily="34" charset="-122"/>
              </a:rPr>
              <a:t>LIN </a:t>
            </a:r>
            <a:r>
              <a:rPr lang="zh-CN" altLang="en-US" sz="1600" dirty="0" smtClean="0">
                <a:solidFill>
                  <a:schemeClr val="bg1"/>
                </a:solidFill>
                <a:latin typeface="微软雅黑" pitchFamily="34" charset="-122"/>
                <a:ea typeface="微软雅黑" pitchFamily="34" charset="-122"/>
              </a:rPr>
              <a:t>，</a:t>
            </a:r>
            <a:r>
              <a:rPr lang="en-US" altLang="zh-CN" sz="1600" dirty="0" smtClean="0">
                <a:solidFill>
                  <a:schemeClr val="bg1"/>
                </a:solidFill>
                <a:latin typeface="微软雅黑" pitchFamily="34" charset="-122"/>
                <a:ea typeface="微软雅黑" pitchFamily="34" charset="-122"/>
              </a:rPr>
              <a:t>Local Interconnect Network </a:t>
            </a:r>
            <a:r>
              <a:rPr lang="zh-CN" altLang="en-US" sz="1600" dirty="0">
                <a:solidFill>
                  <a:schemeClr val="bg1"/>
                </a:solidFill>
                <a:latin typeface="微软雅黑" pitchFamily="34" charset="-122"/>
                <a:ea typeface="微软雅黑" pitchFamily="34" charset="-122"/>
              </a:rPr>
              <a:t>，</a:t>
            </a:r>
            <a:r>
              <a:rPr lang="zh-CN" altLang="en-US" sz="1600" dirty="0" smtClean="0">
                <a:solidFill>
                  <a:schemeClr val="bg1"/>
                </a:solidFill>
                <a:latin typeface="微软雅黑" pitchFamily="34" charset="-122"/>
                <a:ea typeface="微软雅黑" pitchFamily="34" charset="-122"/>
              </a:rPr>
              <a:t>即</a:t>
            </a:r>
            <a:r>
              <a:rPr lang="zh-CN" altLang="en-US" sz="1600" dirty="0">
                <a:solidFill>
                  <a:schemeClr val="bg1"/>
                </a:solidFill>
                <a:latin typeface="微软雅黑" pitchFamily="34" charset="-122"/>
                <a:ea typeface="微软雅黑" pitchFamily="34" charset="-122"/>
              </a:rPr>
              <a:t>局部互联网络。</a:t>
            </a:r>
            <a:r>
              <a:rPr lang="en-US" altLang="zh-CN" sz="1600" dirty="0">
                <a:solidFill>
                  <a:schemeClr val="bg1"/>
                </a:solidFill>
                <a:latin typeface="微软雅黑" pitchFamily="34" charset="-122"/>
                <a:ea typeface="微软雅黑" pitchFamily="34" charset="-122"/>
              </a:rPr>
              <a:t>LIN </a:t>
            </a:r>
            <a:r>
              <a:rPr lang="zh-CN" altLang="en-US" sz="1600" dirty="0">
                <a:solidFill>
                  <a:schemeClr val="bg1"/>
                </a:solidFill>
                <a:latin typeface="微软雅黑" pitchFamily="34" charset="-122"/>
                <a:ea typeface="微软雅黑" pitchFamily="34" charset="-122"/>
              </a:rPr>
              <a:t>作为一种低成本、 高效率的串行通信网络，已经普遍应用于现在的汽车上，它可以为现有的汽车网络（</a:t>
            </a:r>
            <a:r>
              <a:rPr lang="en-US" altLang="zh-CN" sz="1600" dirty="0" smtClean="0">
                <a:solidFill>
                  <a:schemeClr val="bg1"/>
                </a:solidFill>
                <a:latin typeface="微软雅黑" pitchFamily="34" charset="-122"/>
                <a:ea typeface="微软雅黑" pitchFamily="34" charset="-122"/>
              </a:rPr>
              <a:t>CAN </a:t>
            </a:r>
            <a:r>
              <a:rPr lang="zh-CN" altLang="en-US" sz="1600" dirty="0" smtClean="0">
                <a:solidFill>
                  <a:schemeClr val="bg1"/>
                </a:solidFill>
                <a:latin typeface="微软雅黑" pitchFamily="34" charset="-122"/>
                <a:ea typeface="微软雅黑" pitchFamily="34" charset="-122"/>
              </a:rPr>
              <a:t>总线</a:t>
            </a:r>
            <a:r>
              <a:rPr lang="zh-CN" altLang="en-US" sz="1600" dirty="0">
                <a:solidFill>
                  <a:schemeClr val="bg1"/>
                </a:solidFill>
                <a:latin typeface="微软雅黑" pitchFamily="34" charset="-122"/>
                <a:ea typeface="微软雅黑" pitchFamily="34" charset="-122"/>
              </a:rPr>
              <a:t>）提供辅助功能。</a:t>
            </a:r>
          </a:p>
        </p:txBody>
      </p:sp>
      <p:pic>
        <p:nvPicPr>
          <p:cNvPr id="717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82258" y="2283718"/>
            <a:ext cx="4290142" cy="23380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22</a:t>
            </a:fld>
            <a:endParaRPr lang="zh-CN" altLang="en-US" dirty="0"/>
          </a:p>
        </p:txBody>
      </p:sp>
      <p:sp>
        <p:nvSpPr>
          <p:cNvPr id="8"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什么是LIN、MOST、Flex Ray总线网络？这些网络分别在汽车上有哪些应用？</a:t>
            </a:r>
          </a:p>
        </p:txBody>
      </p:sp>
      <p:sp>
        <p:nvSpPr>
          <p:cNvPr id="3" name="矩形 2"/>
          <p:cNvSpPr/>
          <p:nvPr/>
        </p:nvSpPr>
        <p:spPr>
          <a:xfrm>
            <a:off x="971600" y="1779662"/>
            <a:ext cx="2658100"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1.LIN总线网络及应用</a:t>
            </a:r>
          </a:p>
        </p:txBody>
      </p:sp>
      <p:pic>
        <p:nvPicPr>
          <p:cNvPr id="41" name="图片 41" descr="微信图片_2021020720365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3779912" y="2211710"/>
            <a:ext cx="4464050" cy="2520280"/>
          </a:xfrm>
          <a:prstGeom prst="rect">
            <a:avLst/>
          </a:prstGeom>
          <a:noFill/>
          <a:ln w="12700" cmpd="sng">
            <a:solidFill>
              <a:schemeClr val="accent1">
                <a:shade val="50000"/>
              </a:schemeClr>
            </a:solidFill>
            <a:prstDash val="solid"/>
          </a:ln>
        </p:spPr>
      </p:pic>
      <p:sp>
        <p:nvSpPr>
          <p:cNvPr id="4" name="矩形 3"/>
          <p:cNvSpPr/>
          <p:nvPr/>
        </p:nvSpPr>
        <p:spPr>
          <a:xfrm>
            <a:off x="3851920" y="1779662"/>
            <a:ext cx="2956259" cy="338554"/>
          </a:xfrm>
          <a:prstGeom prst="rect">
            <a:avLst/>
          </a:prstGeom>
          <a:solidFill>
            <a:srgbClr val="0070C0"/>
          </a:solidFill>
        </p:spPr>
        <p:txBody>
          <a:bodyPr wrap="none">
            <a:spAutoFit/>
          </a:bodyPr>
          <a:lstStyle/>
          <a:p>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2</a:t>
            </a: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LIN </a:t>
            </a:r>
            <a:r>
              <a:rPr lang="zh-CN" altLang="en-US" sz="1600" dirty="0">
                <a:solidFill>
                  <a:schemeClr val="bg1"/>
                </a:solidFill>
                <a:latin typeface="微软雅黑" pitchFamily="34" charset="-122"/>
                <a:ea typeface="微软雅黑" pitchFamily="34" charset="-122"/>
              </a:rPr>
              <a:t>总线系统结构及特性</a:t>
            </a:r>
          </a:p>
        </p:txBody>
      </p:sp>
      <p:sp>
        <p:nvSpPr>
          <p:cNvPr id="5" name="矩形 4"/>
          <p:cNvSpPr/>
          <p:nvPr/>
        </p:nvSpPr>
        <p:spPr>
          <a:xfrm>
            <a:off x="899592" y="2355726"/>
            <a:ext cx="2730108" cy="1526187"/>
          </a:xfrm>
          <a:prstGeom prst="rect">
            <a:avLst/>
          </a:prstGeom>
          <a:solidFill>
            <a:srgbClr val="0070C0"/>
          </a:solidFill>
        </p:spPr>
        <p:txBody>
          <a:bodyPr wrap="square">
            <a:spAutoFit/>
          </a:bodyPr>
          <a:lstStyle/>
          <a:p>
            <a:pPr>
              <a:lnSpc>
                <a:spcPct val="150000"/>
              </a:lnSpc>
            </a:pPr>
            <a:r>
              <a:rPr lang="en-US" altLang="zh-CN" sz="1600" dirty="0">
                <a:solidFill>
                  <a:schemeClr val="bg1"/>
                </a:solidFill>
                <a:latin typeface="微软雅黑" pitchFamily="34" charset="-122"/>
                <a:ea typeface="微软雅黑" pitchFamily="34" charset="-122"/>
              </a:rPr>
              <a:t>1</a:t>
            </a: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LIN </a:t>
            </a:r>
            <a:r>
              <a:rPr lang="zh-CN" altLang="en-US" sz="1600" dirty="0">
                <a:solidFill>
                  <a:schemeClr val="bg1"/>
                </a:solidFill>
                <a:latin typeface="微软雅黑" pitchFamily="34" charset="-122"/>
                <a:ea typeface="微软雅黑" pitchFamily="34" charset="-122"/>
              </a:rPr>
              <a:t>总线的结构组成。</a:t>
            </a:r>
            <a:r>
              <a:rPr lang="en-US" altLang="zh-CN" sz="1600" dirty="0">
                <a:solidFill>
                  <a:schemeClr val="bg1"/>
                </a:solidFill>
                <a:latin typeface="微软雅黑" pitchFamily="34" charset="-122"/>
                <a:ea typeface="微软雅黑" pitchFamily="34" charset="-122"/>
              </a:rPr>
              <a:t>LIN </a:t>
            </a:r>
            <a:r>
              <a:rPr lang="zh-CN" altLang="en-US" sz="1600" dirty="0">
                <a:solidFill>
                  <a:schemeClr val="bg1"/>
                </a:solidFill>
                <a:latin typeface="微软雅黑" pitchFamily="34" charset="-122"/>
                <a:ea typeface="微软雅黑" pitchFamily="34" charset="-122"/>
              </a:rPr>
              <a:t>总线系统主要由 </a:t>
            </a:r>
            <a:r>
              <a:rPr lang="en-US" altLang="zh-CN" sz="1600" dirty="0">
                <a:solidFill>
                  <a:schemeClr val="bg1"/>
                </a:solidFill>
                <a:latin typeface="微软雅黑" pitchFamily="34" charset="-122"/>
                <a:ea typeface="微软雅黑" pitchFamily="34" charset="-122"/>
              </a:rPr>
              <a:t>LIN </a:t>
            </a:r>
            <a:r>
              <a:rPr lang="zh-CN" altLang="en-US" sz="1600" dirty="0">
                <a:solidFill>
                  <a:schemeClr val="bg1"/>
                </a:solidFill>
                <a:latin typeface="微软雅黑" pitchFamily="34" charset="-122"/>
                <a:ea typeface="微软雅黑" pitchFamily="34" charset="-122"/>
              </a:rPr>
              <a:t>主控制单元、</a:t>
            </a:r>
            <a:r>
              <a:rPr lang="en-US" altLang="zh-CN" sz="1600" dirty="0">
                <a:solidFill>
                  <a:schemeClr val="bg1"/>
                </a:solidFill>
                <a:latin typeface="微软雅黑" pitchFamily="34" charset="-122"/>
                <a:ea typeface="微软雅黑" pitchFamily="34" charset="-122"/>
              </a:rPr>
              <a:t>LIN </a:t>
            </a:r>
            <a:r>
              <a:rPr lang="zh-CN" altLang="en-US" sz="1600" dirty="0">
                <a:solidFill>
                  <a:schemeClr val="bg1"/>
                </a:solidFill>
                <a:latin typeface="微软雅黑" pitchFamily="34" charset="-122"/>
                <a:ea typeface="微软雅黑" pitchFamily="34" charset="-122"/>
              </a:rPr>
              <a:t>从属控制单元 以及数据传输线组成。</a:t>
            </a:r>
          </a:p>
        </p:txBody>
      </p:sp>
    </p:spTree>
    <p:extLst>
      <p:ext uri="{BB962C8B-B14F-4D97-AF65-F5344CB8AC3E}">
        <p14:creationId xmlns:p14="http://schemas.microsoft.com/office/powerpoint/2010/main" val="33160352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23</a:t>
            </a:fld>
            <a:endParaRPr lang="zh-CN" altLang="en-US" dirty="0"/>
          </a:p>
        </p:txBody>
      </p:sp>
      <p:sp>
        <p:nvSpPr>
          <p:cNvPr id="8"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什么是LIN、MOST、Flex Ray总线网络？这些网络分别在汽车上有哪些应用？</a:t>
            </a:r>
          </a:p>
        </p:txBody>
      </p:sp>
      <p:sp>
        <p:nvSpPr>
          <p:cNvPr id="3" name="矩形 2"/>
          <p:cNvSpPr/>
          <p:nvPr/>
        </p:nvSpPr>
        <p:spPr>
          <a:xfrm>
            <a:off x="971600" y="1779662"/>
            <a:ext cx="2658100"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1.LIN总线网络及应用</a:t>
            </a:r>
          </a:p>
        </p:txBody>
      </p:sp>
      <p:sp>
        <p:nvSpPr>
          <p:cNvPr id="4" name="矩形 3"/>
          <p:cNvSpPr/>
          <p:nvPr/>
        </p:nvSpPr>
        <p:spPr>
          <a:xfrm>
            <a:off x="3851920" y="1779662"/>
            <a:ext cx="2956259" cy="338554"/>
          </a:xfrm>
          <a:prstGeom prst="rect">
            <a:avLst/>
          </a:prstGeom>
          <a:solidFill>
            <a:srgbClr val="0070C0"/>
          </a:solidFill>
        </p:spPr>
        <p:txBody>
          <a:bodyPr wrap="none">
            <a:spAutoFit/>
          </a:bodyPr>
          <a:lstStyle/>
          <a:p>
            <a:r>
              <a:rPr lang="zh-CN" altLang="en-US" sz="1600" b="1" dirty="0">
                <a:solidFill>
                  <a:schemeClr val="bg1"/>
                </a:solidFill>
                <a:latin typeface="微软雅黑" pitchFamily="34" charset="-122"/>
                <a:ea typeface="微软雅黑" pitchFamily="34" charset="-122"/>
              </a:rPr>
              <a:t>（</a:t>
            </a:r>
            <a:r>
              <a:rPr lang="en-US" altLang="zh-CN" sz="1600" b="1" dirty="0">
                <a:solidFill>
                  <a:schemeClr val="bg1"/>
                </a:solidFill>
                <a:latin typeface="微软雅黑" pitchFamily="34" charset="-122"/>
                <a:ea typeface="微软雅黑" pitchFamily="34" charset="-122"/>
              </a:rPr>
              <a:t>2</a:t>
            </a:r>
            <a:r>
              <a:rPr lang="zh-CN" altLang="en-US" sz="1600" b="1" dirty="0">
                <a:solidFill>
                  <a:schemeClr val="bg1"/>
                </a:solidFill>
                <a:latin typeface="微软雅黑" pitchFamily="34" charset="-122"/>
                <a:ea typeface="微软雅黑" pitchFamily="34" charset="-122"/>
              </a:rPr>
              <a:t>）</a:t>
            </a:r>
            <a:r>
              <a:rPr lang="en-US" altLang="zh-CN" sz="1600" b="1" dirty="0">
                <a:solidFill>
                  <a:schemeClr val="bg1"/>
                </a:solidFill>
                <a:latin typeface="微软雅黑" pitchFamily="34" charset="-122"/>
                <a:ea typeface="微软雅黑" pitchFamily="34" charset="-122"/>
              </a:rPr>
              <a:t>LIN </a:t>
            </a:r>
            <a:r>
              <a:rPr lang="zh-CN" altLang="en-US" sz="1600" b="1" dirty="0">
                <a:solidFill>
                  <a:schemeClr val="bg1"/>
                </a:solidFill>
                <a:latin typeface="微软雅黑" pitchFamily="34" charset="-122"/>
                <a:ea typeface="微软雅黑" pitchFamily="34" charset="-122"/>
              </a:rPr>
              <a:t>总线系统结构及特性</a:t>
            </a:r>
          </a:p>
        </p:txBody>
      </p:sp>
      <p:sp>
        <p:nvSpPr>
          <p:cNvPr id="2" name="矩形 1"/>
          <p:cNvSpPr/>
          <p:nvPr/>
        </p:nvSpPr>
        <p:spPr>
          <a:xfrm>
            <a:off x="971600" y="2283718"/>
            <a:ext cx="2658100" cy="2554545"/>
          </a:xfrm>
          <a:prstGeom prst="rect">
            <a:avLst/>
          </a:prstGeom>
          <a:solidFill>
            <a:srgbClr val="0070C0"/>
          </a:solidFill>
        </p:spPr>
        <p:txBody>
          <a:bodyPr wrap="square">
            <a:spAutoFit/>
          </a:bodyPr>
          <a:lstStyle/>
          <a:p>
            <a:r>
              <a:rPr lang="en-US" altLang="zh-CN" sz="1600" dirty="0">
                <a:solidFill>
                  <a:schemeClr val="bg1"/>
                </a:solidFill>
                <a:latin typeface="微软雅黑" pitchFamily="34" charset="-122"/>
                <a:ea typeface="微软雅黑" pitchFamily="34" charset="-122"/>
              </a:rPr>
              <a:t>2</a:t>
            </a: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LIN </a:t>
            </a:r>
            <a:r>
              <a:rPr lang="zh-CN" altLang="en-US" sz="1600" dirty="0">
                <a:solidFill>
                  <a:schemeClr val="bg1"/>
                </a:solidFill>
                <a:latin typeface="微软雅黑" pitchFamily="34" charset="-122"/>
                <a:ea typeface="微软雅黑" pitchFamily="34" charset="-122"/>
              </a:rPr>
              <a:t>总线的节点结构。</a:t>
            </a:r>
            <a:r>
              <a:rPr lang="en-US" altLang="zh-CN" sz="1600" dirty="0">
                <a:solidFill>
                  <a:schemeClr val="bg1"/>
                </a:solidFill>
                <a:latin typeface="微软雅黑" pitchFamily="34" charset="-122"/>
                <a:ea typeface="微软雅黑" pitchFamily="34" charset="-122"/>
              </a:rPr>
              <a:t>LIN </a:t>
            </a:r>
            <a:r>
              <a:rPr lang="zh-CN" altLang="en-US" sz="1600" dirty="0">
                <a:solidFill>
                  <a:schemeClr val="bg1"/>
                </a:solidFill>
                <a:latin typeface="微软雅黑" pitchFamily="34" charset="-122"/>
                <a:ea typeface="微软雅黑" pitchFamily="34" charset="-122"/>
              </a:rPr>
              <a:t>总线属于“单主多从”结构，即一组网络中，只有</a:t>
            </a:r>
            <a:r>
              <a:rPr lang="zh-CN" altLang="en-US" sz="1600" dirty="0" smtClean="0">
                <a:solidFill>
                  <a:schemeClr val="bg1"/>
                </a:solidFill>
                <a:latin typeface="微软雅黑" pitchFamily="34" charset="-122"/>
                <a:ea typeface="微软雅黑" pitchFamily="34" charset="-122"/>
              </a:rPr>
              <a:t>一个</a:t>
            </a:r>
            <a:r>
              <a:rPr lang="zh-CN" altLang="en-US" sz="1600" dirty="0">
                <a:solidFill>
                  <a:schemeClr val="bg1"/>
                </a:solidFill>
                <a:latin typeface="微软雅黑" pitchFamily="34" charset="-122"/>
                <a:ea typeface="微软雅黑" pitchFamily="34" charset="-122"/>
              </a:rPr>
              <a:t>主节点，从节点可以有多个（或单个）。这些节点均通过单线传输线路连接在 </a:t>
            </a:r>
            <a:r>
              <a:rPr lang="en-US" altLang="zh-CN" sz="1600" dirty="0">
                <a:solidFill>
                  <a:schemeClr val="bg1"/>
                </a:solidFill>
                <a:latin typeface="微软雅黑" pitchFamily="34" charset="-122"/>
                <a:ea typeface="微软雅黑" pitchFamily="34" charset="-122"/>
              </a:rPr>
              <a:t>LIN </a:t>
            </a:r>
            <a:r>
              <a:rPr lang="zh-CN" altLang="en-US" sz="1600" dirty="0">
                <a:solidFill>
                  <a:schemeClr val="bg1"/>
                </a:solidFill>
                <a:latin typeface="微软雅黑" pitchFamily="34" charset="-122"/>
                <a:ea typeface="微软雅黑" pitchFamily="34" charset="-122"/>
              </a:rPr>
              <a:t>总线</a:t>
            </a:r>
            <a:r>
              <a:rPr lang="zh-CN" altLang="en-US" sz="1600" dirty="0" smtClean="0">
                <a:solidFill>
                  <a:schemeClr val="bg1"/>
                </a:solidFill>
                <a:latin typeface="微软雅黑" pitchFamily="34" charset="-122"/>
                <a:ea typeface="微软雅黑" pitchFamily="34" charset="-122"/>
              </a:rPr>
              <a:t>上。</a:t>
            </a:r>
            <a:r>
              <a:rPr lang="zh-CN" altLang="en-US" sz="1600" dirty="0">
                <a:solidFill>
                  <a:schemeClr val="bg1"/>
                </a:solidFill>
                <a:latin typeface="微软雅黑" pitchFamily="34" charset="-122"/>
                <a:ea typeface="微软雅黑" pitchFamily="34" charset="-122"/>
              </a:rPr>
              <a:t>主节点与从节点的结构，两者的</a:t>
            </a:r>
            <a:r>
              <a:rPr lang="zh-CN" altLang="en-US" sz="1600" dirty="0" smtClean="0">
                <a:solidFill>
                  <a:schemeClr val="bg1"/>
                </a:solidFill>
                <a:latin typeface="微软雅黑" pitchFamily="34" charset="-122"/>
                <a:ea typeface="微软雅黑" pitchFamily="34" charset="-122"/>
              </a:rPr>
              <a:t>结构</a:t>
            </a:r>
            <a:r>
              <a:rPr lang="zh-CN" altLang="en-US" sz="1600" dirty="0">
                <a:solidFill>
                  <a:schemeClr val="bg1"/>
                </a:solidFill>
                <a:latin typeface="微软雅黑" pitchFamily="34" charset="-122"/>
                <a:ea typeface="微软雅黑" pitchFamily="34" charset="-122"/>
              </a:rPr>
              <a:t>类似，区别在于从节点没有主节点的功能。</a:t>
            </a: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6282" y="2283717"/>
            <a:ext cx="4326118" cy="2554545"/>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52198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24</a:t>
            </a:fld>
            <a:endParaRPr lang="zh-CN" altLang="en-US" dirty="0"/>
          </a:p>
        </p:txBody>
      </p:sp>
      <p:sp>
        <p:nvSpPr>
          <p:cNvPr id="8"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什么是LIN、MOST、Flex Ray总线网络？这些网络分别在汽车上有哪些应用？</a:t>
            </a:r>
          </a:p>
        </p:txBody>
      </p:sp>
      <p:sp>
        <p:nvSpPr>
          <p:cNvPr id="3" name="矩形 2"/>
          <p:cNvSpPr/>
          <p:nvPr/>
        </p:nvSpPr>
        <p:spPr>
          <a:xfrm>
            <a:off x="971600" y="1779662"/>
            <a:ext cx="2658100"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1.LIN总线网络及应用</a:t>
            </a:r>
          </a:p>
        </p:txBody>
      </p:sp>
      <p:sp>
        <p:nvSpPr>
          <p:cNvPr id="4" name="矩形 3"/>
          <p:cNvSpPr/>
          <p:nvPr/>
        </p:nvSpPr>
        <p:spPr>
          <a:xfrm>
            <a:off x="3851920" y="1779662"/>
            <a:ext cx="2956259" cy="338554"/>
          </a:xfrm>
          <a:prstGeom prst="rect">
            <a:avLst/>
          </a:prstGeom>
          <a:solidFill>
            <a:srgbClr val="0070C0"/>
          </a:solidFill>
        </p:spPr>
        <p:txBody>
          <a:bodyPr wrap="none">
            <a:spAutoFit/>
          </a:bodyPr>
          <a:lstStyle/>
          <a:p>
            <a:r>
              <a:rPr lang="zh-CN" altLang="en-US" sz="1600" b="1" dirty="0">
                <a:solidFill>
                  <a:schemeClr val="bg1"/>
                </a:solidFill>
                <a:latin typeface="微软雅黑" pitchFamily="34" charset="-122"/>
                <a:ea typeface="微软雅黑" pitchFamily="34" charset="-122"/>
              </a:rPr>
              <a:t>（</a:t>
            </a:r>
            <a:r>
              <a:rPr lang="en-US" altLang="zh-CN" sz="1600" b="1" dirty="0">
                <a:solidFill>
                  <a:schemeClr val="bg1"/>
                </a:solidFill>
                <a:latin typeface="微软雅黑" pitchFamily="34" charset="-122"/>
                <a:ea typeface="微软雅黑" pitchFamily="34" charset="-122"/>
              </a:rPr>
              <a:t>2</a:t>
            </a:r>
            <a:r>
              <a:rPr lang="zh-CN" altLang="en-US" sz="1600" b="1" dirty="0">
                <a:solidFill>
                  <a:schemeClr val="bg1"/>
                </a:solidFill>
                <a:latin typeface="微软雅黑" pitchFamily="34" charset="-122"/>
                <a:ea typeface="微软雅黑" pitchFamily="34" charset="-122"/>
              </a:rPr>
              <a:t>）</a:t>
            </a:r>
            <a:r>
              <a:rPr lang="en-US" altLang="zh-CN" sz="1600" b="1" dirty="0">
                <a:solidFill>
                  <a:schemeClr val="bg1"/>
                </a:solidFill>
                <a:latin typeface="微软雅黑" pitchFamily="34" charset="-122"/>
                <a:ea typeface="微软雅黑" pitchFamily="34" charset="-122"/>
              </a:rPr>
              <a:t>LIN </a:t>
            </a:r>
            <a:r>
              <a:rPr lang="zh-CN" altLang="en-US" sz="1600" b="1" dirty="0">
                <a:solidFill>
                  <a:schemeClr val="bg1"/>
                </a:solidFill>
                <a:latin typeface="微软雅黑" pitchFamily="34" charset="-122"/>
                <a:ea typeface="微软雅黑" pitchFamily="34" charset="-122"/>
              </a:rPr>
              <a:t>总线系统结构及特性</a:t>
            </a:r>
          </a:p>
        </p:txBody>
      </p:sp>
      <p:sp>
        <p:nvSpPr>
          <p:cNvPr id="5" name="矩形 4"/>
          <p:cNvSpPr/>
          <p:nvPr/>
        </p:nvSpPr>
        <p:spPr>
          <a:xfrm>
            <a:off x="971600" y="2283718"/>
            <a:ext cx="7200800" cy="653769"/>
          </a:xfrm>
          <a:prstGeom prst="rect">
            <a:avLst/>
          </a:prstGeom>
          <a:solidFill>
            <a:srgbClr val="0070C0"/>
          </a:solidFill>
        </p:spPr>
        <p:txBody>
          <a:bodyPr wrap="square">
            <a:spAutoFit/>
          </a:bodyPr>
          <a:lstStyle/>
          <a:p>
            <a:pPr>
              <a:lnSpc>
                <a:spcPct val="114000"/>
              </a:lnSpc>
            </a:pPr>
            <a:r>
              <a:rPr lang="en-US" altLang="zh-CN" sz="1600" dirty="0">
                <a:solidFill>
                  <a:schemeClr val="bg1"/>
                </a:solidFill>
                <a:latin typeface="微软雅黑" pitchFamily="34" charset="-122"/>
                <a:ea typeface="微软雅黑" pitchFamily="34" charset="-122"/>
              </a:rPr>
              <a:t>3</a:t>
            </a:r>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LIN </a:t>
            </a:r>
            <a:r>
              <a:rPr lang="zh-CN" altLang="en-US" sz="1600" dirty="0">
                <a:solidFill>
                  <a:schemeClr val="bg1"/>
                </a:solidFill>
                <a:latin typeface="微软雅黑" pitchFamily="34" charset="-122"/>
                <a:ea typeface="微软雅黑" pitchFamily="34" charset="-122"/>
              </a:rPr>
              <a:t>总线特性。</a:t>
            </a:r>
            <a:r>
              <a:rPr lang="en-US" altLang="zh-CN" sz="1600" dirty="0">
                <a:solidFill>
                  <a:schemeClr val="bg1"/>
                </a:solidFill>
                <a:latin typeface="微软雅黑" pitchFamily="34" charset="-122"/>
                <a:ea typeface="微软雅黑" pitchFamily="34" charset="-122"/>
              </a:rPr>
              <a:t>LIN </a:t>
            </a:r>
            <a:r>
              <a:rPr lang="zh-CN" altLang="en-US" sz="1600" dirty="0">
                <a:solidFill>
                  <a:schemeClr val="bg1"/>
                </a:solidFill>
                <a:latin typeface="微软雅黑" pitchFamily="34" charset="-122"/>
                <a:ea typeface="微软雅黑" pitchFamily="34" charset="-122"/>
              </a:rPr>
              <a:t>网络的特点与 </a:t>
            </a:r>
            <a:r>
              <a:rPr lang="en-US" altLang="zh-CN" sz="1600" dirty="0">
                <a:solidFill>
                  <a:schemeClr val="bg1"/>
                </a:solidFill>
                <a:latin typeface="微软雅黑" pitchFamily="34" charset="-122"/>
                <a:ea typeface="微软雅黑" pitchFamily="34" charset="-122"/>
              </a:rPr>
              <a:t>CAN </a:t>
            </a:r>
            <a:r>
              <a:rPr lang="zh-CN" altLang="en-US" sz="1600" dirty="0">
                <a:solidFill>
                  <a:schemeClr val="bg1"/>
                </a:solidFill>
                <a:latin typeface="微软雅黑" pitchFamily="34" charset="-122"/>
                <a:ea typeface="微软雅黑" pitchFamily="34" charset="-122"/>
              </a:rPr>
              <a:t>网络有较大的区别，例如，主从结构、</a:t>
            </a:r>
            <a:r>
              <a:rPr lang="zh-CN" altLang="en-US" sz="1600" dirty="0" smtClean="0">
                <a:solidFill>
                  <a:schemeClr val="bg1"/>
                </a:solidFill>
                <a:latin typeface="微软雅黑" pitchFamily="34" charset="-122"/>
                <a:ea typeface="微软雅黑" pitchFamily="34" charset="-122"/>
              </a:rPr>
              <a:t>单线</a:t>
            </a:r>
            <a:r>
              <a:rPr lang="zh-CN" altLang="en-US" sz="1600" dirty="0">
                <a:solidFill>
                  <a:schemeClr val="bg1"/>
                </a:solidFill>
                <a:latin typeface="微软雅黑" pitchFamily="34" charset="-122"/>
                <a:ea typeface="微软雅黑" pitchFamily="34" charset="-122"/>
              </a:rPr>
              <a:t>传输、偏压驱动、低速通信和低容错</a:t>
            </a:r>
            <a:r>
              <a:rPr lang="zh-CN" altLang="en-US" sz="1600" dirty="0" smtClean="0">
                <a:solidFill>
                  <a:schemeClr val="bg1"/>
                </a:solidFill>
                <a:latin typeface="微软雅黑" pitchFamily="34" charset="-122"/>
                <a:ea typeface="微软雅黑" pitchFamily="34" charset="-122"/>
              </a:rPr>
              <a:t>特性。</a:t>
            </a:r>
            <a:endParaRPr lang="zh-CN" altLang="en-US" sz="1600" dirty="0">
              <a:solidFill>
                <a:schemeClr val="bg1"/>
              </a:solidFill>
              <a:latin typeface="微软雅黑" pitchFamily="34" charset="-122"/>
              <a:ea typeface="微软雅黑" pitchFamily="34" charset="-122"/>
            </a:endParaRP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3045365"/>
            <a:ext cx="3096344" cy="1700261"/>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1887" y="3147814"/>
            <a:ext cx="3960440" cy="1440160"/>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859791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25</a:t>
            </a:fld>
            <a:endParaRPr lang="zh-CN" altLang="en-US" dirty="0"/>
          </a:p>
        </p:txBody>
      </p:sp>
      <p:sp>
        <p:nvSpPr>
          <p:cNvPr id="3" name="矩形 2"/>
          <p:cNvSpPr/>
          <p:nvPr/>
        </p:nvSpPr>
        <p:spPr>
          <a:xfrm>
            <a:off x="979575" y="1593601"/>
            <a:ext cx="3866764"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（3）LIN总线系统网络信号传输</a:t>
            </a:r>
          </a:p>
        </p:txBody>
      </p:sp>
      <p:pic>
        <p:nvPicPr>
          <p:cNvPr id="33" name="图片 3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4427984" y="2055158"/>
            <a:ext cx="1835150" cy="1206500"/>
          </a:xfrm>
          <a:prstGeom prst="rect">
            <a:avLst/>
          </a:prstGeom>
          <a:noFill/>
          <a:ln w="12700" cmpd="sng">
            <a:solidFill>
              <a:schemeClr val="accent1">
                <a:shade val="50000"/>
              </a:schemeClr>
            </a:solidFill>
            <a:prstDash val="solid"/>
          </a:ln>
        </p:spPr>
      </p:pic>
      <p:pic>
        <p:nvPicPr>
          <p:cNvPr id="32" name="图片 3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6372200" y="2043275"/>
            <a:ext cx="1898650" cy="1257300"/>
          </a:xfrm>
          <a:prstGeom prst="rect">
            <a:avLst/>
          </a:prstGeom>
          <a:noFill/>
          <a:ln w="12700" cmpd="sng">
            <a:solidFill>
              <a:schemeClr val="accent1">
                <a:shade val="50000"/>
              </a:schemeClr>
            </a:solidFill>
            <a:prstDash val="solid"/>
          </a:ln>
        </p:spPr>
      </p:pic>
      <p:pic>
        <p:nvPicPr>
          <p:cNvPr id="31" name="图片 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a:xfrm>
            <a:off x="6130900" y="3383083"/>
            <a:ext cx="2139950" cy="1435100"/>
          </a:xfrm>
          <a:prstGeom prst="rect">
            <a:avLst/>
          </a:prstGeom>
          <a:noFill/>
          <a:ln w="12700" cmpd="sng">
            <a:solidFill>
              <a:schemeClr val="accent1">
                <a:shade val="50000"/>
              </a:schemeClr>
            </a:solidFill>
            <a:prstDash val="solid"/>
          </a:ln>
        </p:spPr>
      </p:pic>
      <p:sp>
        <p:nvSpPr>
          <p:cNvPr id="9"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什么是LIN、MOST、Flex Ray总线网络？这些网络分别在汽车上有哪些应用？</a:t>
            </a:r>
          </a:p>
        </p:txBody>
      </p:sp>
      <p:sp>
        <p:nvSpPr>
          <p:cNvPr id="4" name="矩形 3"/>
          <p:cNvSpPr/>
          <p:nvPr/>
        </p:nvSpPr>
        <p:spPr>
          <a:xfrm>
            <a:off x="971601" y="2043275"/>
            <a:ext cx="3384375" cy="1215204"/>
          </a:xfrm>
          <a:prstGeom prst="rect">
            <a:avLst/>
          </a:prstGeom>
          <a:solidFill>
            <a:srgbClr val="0070C0"/>
          </a:solidFill>
        </p:spPr>
        <p:txBody>
          <a:bodyPr wrap="square">
            <a:spAutoFit/>
          </a:bodyPr>
          <a:lstStyle/>
          <a:p>
            <a:pPr>
              <a:lnSpc>
                <a:spcPct val="114000"/>
              </a:lnSpc>
            </a:pPr>
            <a:r>
              <a:rPr lang="en-US" altLang="zh-CN" sz="1600" dirty="0">
                <a:solidFill>
                  <a:schemeClr val="bg1"/>
                </a:solidFill>
                <a:latin typeface="微软雅黑" pitchFamily="34" charset="-122"/>
                <a:ea typeface="微软雅黑" pitchFamily="34" charset="-122"/>
              </a:rPr>
              <a:t>LIN </a:t>
            </a:r>
            <a:r>
              <a:rPr lang="zh-CN" altLang="en-US" sz="1600" dirty="0">
                <a:solidFill>
                  <a:schemeClr val="bg1"/>
                </a:solidFill>
                <a:latin typeface="微软雅黑" pitchFamily="34" charset="-122"/>
                <a:ea typeface="微软雅黑" pitchFamily="34" charset="-122"/>
              </a:rPr>
              <a:t>总线的信息传输</a:t>
            </a:r>
            <a:r>
              <a:rPr lang="zh-CN" altLang="en-US" sz="1600" dirty="0" smtClean="0">
                <a:solidFill>
                  <a:schemeClr val="bg1"/>
                </a:solidFill>
                <a:latin typeface="微软雅黑" pitchFamily="34" charset="-122"/>
                <a:ea typeface="微软雅黑" pitchFamily="34" charset="-122"/>
              </a:rPr>
              <a:t>模式有三</a:t>
            </a:r>
            <a:r>
              <a:rPr lang="zh-CN" altLang="en-US" sz="1600" dirty="0">
                <a:solidFill>
                  <a:schemeClr val="bg1"/>
                </a:solidFill>
                <a:latin typeface="微软雅黑" pitchFamily="34" charset="-122"/>
                <a:ea typeface="微软雅黑" pitchFamily="34" charset="-122"/>
              </a:rPr>
              <a:t>种： </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方式</a:t>
            </a:r>
            <a:r>
              <a:rPr lang="zh-CN" altLang="en-US" sz="1600" dirty="0">
                <a:solidFill>
                  <a:schemeClr val="bg1"/>
                </a:solidFill>
                <a:latin typeface="微软雅黑" pitchFamily="34" charset="-122"/>
                <a:ea typeface="微软雅黑" pitchFamily="34" charset="-122"/>
              </a:rPr>
              <a:t>一：主节点请求从节点</a:t>
            </a:r>
            <a:r>
              <a:rPr lang="zh-CN" altLang="en-US" sz="1600" dirty="0" smtClean="0">
                <a:solidFill>
                  <a:schemeClr val="bg1"/>
                </a:solidFill>
                <a:latin typeface="微软雅黑" pitchFamily="34" charset="-122"/>
                <a:ea typeface="微软雅黑" pitchFamily="34" charset="-122"/>
              </a:rPr>
              <a:t>数据。 </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方式</a:t>
            </a:r>
            <a:r>
              <a:rPr lang="zh-CN" altLang="en-US" sz="1600" dirty="0">
                <a:solidFill>
                  <a:schemeClr val="bg1"/>
                </a:solidFill>
                <a:latin typeface="微软雅黑" pitchFamily="34" charset="-122"/>
                <a:ea typeface="微软雅黑" pitchFamily="34" charset="-122"/>
              </a:rPr>
              <a:t>二：主节点向从节点发送</a:t>
            </a:r>
            <a:r>
              <a:rPr lang="zh-CN" altLang="en-US" sz="1600" dirty="0" smtClean="0">
                <a:solidFill>
                  <a:schemeClr val="bg1"/>
                </a:solidFill>
                <a:latin typeface="微软雅黑" pitchFamily="34" charset="-122"/>
                <a:ea typeface="微软雅黑" pitchFamily="34" charset="-122"/>
              </a:rPr>
              <a:t>数据。 </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方式</a:t>
            </a:r>
            <a:r>
              <a:rPr lang="zh-CN" altLang="en-US" sz="1600" dirty="0">
                <a:solidFill>
                  <a:schemeClr val="bg1"/>
                </a:solidFill>
                <a:latin typeface="微软雅黑" pitchFamily="34" charset="-122"/>
                <a:ea typeface="微软雅黑" pitchFamily="34" charset="-122"/>
              </a:rPr>
              <a:t>三：从节点之间发送</a:t>
            </a:r>
            <a:r>
              <a:rPr lang="zh-CN" altLang="en-US" sz="1600" dirty="0" smtClean="0">
                <a:solidFill>
                  <a:schemeClr val="bg1"/>
                </a:solidFill>
                <a:latin typeface="微软雅黑" pitchFamily="34" charset="-122"/>
                <a:ea typeface="微软雅黑" pitchFamily="34" charset="-122"/>
              </a:rPr>
              <a:t>数据。 </a:t>
            </a:r>
            <a:endParaRPr lang="en-US" altLang="zh-CN" sz="1600" dirty="0" smtClean="0">
              <a:solidFill>
                <a:schemeClr val="bg1"/>
              </a:solidFill>
              <a:latin typeface="微软雅黑" pitchFamily="34" charset="-122"/>
              <a:ea typeface="微软雅黑" pitchFamily="34" charset="-122"/>
            </a:endParaRPr>
          </a:p>
        </p:txBody>
      </p:sp>
      <p:sp>
        <p:nvSpPr>
          <p:cNvPr id="11" name="矩形 10"/>
          <p:cNvSpPr/>
          <p:nvPr/>
        </p:nvSpPr>
        <p:spPr>
          <a:xfrm>
            <a:off x="971599" y="3331898"/>
            <a:ext cx="5040561" cy="653769"/>
          </a:xfrm>
          <a:prstGeom prst="rect">
            <a:avLst/>
          </a:prstGeom>
          <a:solidFill>
            <a:srgbClr val="0070C0"/>
          </a:solidFill>
        </p:spPr>
        <p:txBody>
          <a:bodyPr wrap="square">
            <a:spAutoFit/>
          </a:bodyPr>
          <a:lstStyle/>
          <a:p>
            <a:pPr>
              <a:lnSpc>
                <a:spcPct val="114000"/>
              </a:lnSpc>
            </a:pPr>
            <a:r>
              <a:rPr lang="zh-CN" altLang="en-US" sz="1600" dirty="0" smtClean="0">
                <a:solidFill>
                  <a:schemeClr val="bg1"/>
                </a:solidFill>
                <a:latin typeface="微软雅黑" pitchFamily="34" charset="-122"/>
                <a:ea typeface="微软雅黑" pitchFamily="34" charset="-122"/>
              </a:rPr>
              <a:t>因为</a:t>
            </a:r>
            <a:r>
              <a:rPr lang="zh-CN" altLang="en-US" sz="1600" dirty="0">
                <a:solidFill>
                  <a:schemeClr val="bg1"/>
                </a:solidFill>
                <a:latin typeface="微软雅黑" pitchFamily="34" charset="-122"/>
                <a:ea typeface="微软雅黑" pitchFamily="34" charset="-122"/>
              </a:rPr>
              <a:t>节点物理结构类似，因此主节点和从节点的信号收发原理是一样</a:t>
            </a:r>
            <a:r>
              <a:rPr lang="zh-CN" altLang="en-US" sz="1600" dirty="0" smtClean="0">
                <a:solidFill>
                  <a:schemeClr val="bg1"/>
                </a:solidFill>
                <a:latin typeface="微软雅黑" pitchFamily="34" charset="-122"/>
                <a:ea typeface="微软雅黑" pitchFamily="34" charset="-122"/>
              </a:rPr>
              <a:t>的。</a:t>
            </a:r>
            <a:endParaRPr lang="zh-CN" altLang="en-US" sz="1600" dirty="0">
              <a:solidFill>
                <a:schemeClr val="bg1"/>
              </a:solidFill>
              <a:latin typeface="微软雅黑" pitchFamily="34" charset="-122"/>
              <a:ea typeface="微软雅黑" pitchFamily="34" charset="-122"/>
            </a:endParaRPr>
          </a:p>
        </p:txBody>
      </p:sp>
      <p:sp>
        <p:nvSpPr>
          <p:cNvPr id="5" name="矩形 4"/>
          <p:cNvSpPr/>
          <p:nvPr/>
        </p:nvSpPr>
        <p:spPr>
          <a:xfrm>
            <a:off x="971119" y="4072886"/>
            <a:ext cx="5040561" cy="653769"/>
          </a:xfrm>
          <a:prstGeom prst="rect">
            <a:avLst/>
          </a:prstGeom>
          <a:solidFill>
            <a:srgbClr val="0070C0"/>
          </a:solidFill>
        </p:spPr>
        <p:txBody>
          <a:bodyPr wrap="square">
            <a:spAutoFit/>
          </a:bodyPr>
          <a:lstStyle/>
          <a:p>
            <a:pPr>
              <a:lnSpc>
                <a:spcPct val="114000"/>
              </a:lnSpc>
            </a:pPr>
            <a:r>
              <a:rPr lang="zh-CN" altLang="en-US" sz="1600" b="1" dirty="0">
                <a:solidFill>
                  <a:schemeClr val="bg1"/>
                </a:solidFill>
                <a:latin typeface="微软雅黑" pitchFamily="34" charset="-122"/>
                <a:ea typeface="微软雅黑" pitchFamily="34" charset="-122"/>
              </a:rPr>
              <a:t>提示：</a:t>
            </a:r>
            <a:r>
              <a:rPr lang="zh-CN" altLang="en-US" sz="1600" dirty="0">
                <a:solidFill>
                  <a:schemeClr val="bg1"/>
                </a:solidFill>
                <a:latin typeface="微软雅黑" pitchFamily="34" charset="-122"/>
                <a:ea typeface="微软雅黑" pitchFamily="34" charset="-122"/>
              </a:rPr>
              <a:t>如果 </a:t>
            </a:r>
            <a:r>
              <a:rPr lang="en-US" altLang="zh-CN" sz="1600" dirty="0">
                <a:solidFill>
                  <a:schemeClr val="bg1"/>
                </a:solidFill>
                <a:latin typeface="微软雅黑" pitchFamily="34" charset="-122"/>
                <a:ea typeface="微软雅黑" pitchFamily="34" charset="-122"/>
              </a:rPr>
              <a:t>LIN </a:t>
            </a:r>
            <a:r>
              <a:rPr lang="zh-CN" altLang="en-US" sz="1600" dirty="0">
                <a:solidFill>
                  <a:schemeClr val="bg1"/>
                </a:solidFill>
                <a:latin typeface="微软雅黑" pitchFamily="34" charset="-122"/>
                <a:ea typeface="微软雅黑" pitchFamily="34" charset="-122"/>
              </a:rPr>
              <a:t>总线处于待用状态一定时间，</a:t>
            </a:r>
            <a:r>
              <a:rPr lang="zh-CN" altLang="en-US" sz="1600" dirty="0" smtClean="0">
                <a:solidFill>
                  <a:schemeClr val="bg1"/>
                </a:solidFill>
                <a:latin typeface="微软雅黑" pitchFamily="34" charset="-122"/>
                <a:ea typeface="微软雅黑" pitchFamily="34" charset="-122"/>
              </a:rPr>
              <a:t>从节点</a:t>
            </a:r>
            <a:r>
              <a:rPr lang="zh-CN" altLang="en-US" sz="1600" dirty="0">
                <a:solidFill>
                  <a:schemeClr val="bg1"/>
                </a:solidFill>
                <a:latin typeface="微软雅黑" pitchFamily="34" charset="-122"/>
                <a:ea typeface="微软雅黑" pitchFamily="34" charset="-122"/>
              </a:rPr>
              <a:t>就会转为休眠模式，以便降低功率消耗。</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26</a:t>
            </a:fld>
            <a:endParaRPr lang="zh-CN" altLang="en-US" dirty="0"/>
          </a:p>
        </p:txBody>
      </p:sp>
      <p:sp>
        <p:nvSpPr>
          <p:cNvPr id="3" name="矩形 2"/>
          <p:cNvSpPr/>
          <p:nvPr/>
        </p:nvSpPr>
        <p:spPr>
          <a:xfrm>
            <a:off x="979575" y="1593601"/>
            <a:ext cx="3610284"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a:t>
            </a:r>
            <a:r>
              <a:rPr lang="en-US" sz="2000" b="1" dirty="0" smtClean="0">
                <a:solidFill>
                  <a:schemeClr val="bg1"/>
                </a:solidFill>
                <a:latin typeface="微软雅黑" panose="020B0503020204020204" pitchFamily="34" charset="-122"/>
                <a:ea typeface="微软雅黑" panose="020B0503020204020204" pitchFamily="34" charset="-122"/>
              </a:rPr>
              <a:t>4</a:t>
            </a:r>
            <a:r>
              <a:rPr sz="2000" b="1" dirty="0" smtClean="0">
                <a:solidFill>
                  <a:schemeClr val="bg1"/>
                </a:solidFill>
                <a:latin typeface="微软雅黑" panose="020B0503020204020204" pitchFamily="34" charset="-122"/>
                <a:ea typeface="微软雅黑" panose="020B0503020204020204" pitchFamily="34" charset="-122"/>
              </a:rPr>
              <a:t>）LIN总线</a:t>
            </a:r>
            <a:r>
              <a:rPr lang="zh-CN" altLang="en-US" sz="2000" b="1" dirty="0" smtClean="0">
                <a:solidFill>
                  <a:schemeClr val="bg1"/>
                </a:solidFill>
                <a:latin typeface="微软雅黑" panose="020B0503020204020204" pitchFamily="34" charset="-122"/>
                <a:ea typeface="微软雅黑" panose="020B0503020204020204" pitchFamily="34" charset="-122"/>
              </a:rPr>
              <a:t>在汽车上的应用</a:t>
            </a:r>
            <a:endParaRPr sz="2000" b="1" dirty="0" smtClean="0">
              <a:solidFill>
                <a:schemeClr val="bg1"/>
              </a:solidFill>
              <a:latin typeface="微软雅黑" panose="020B0503020204020204" pitchFamily="34" charset="-122"/>
              <a:ea typeface="微软雅黑" panose="020B0503020204020204" pitchFamily="34" charset="-122"/>
            </a:endParaRPr>
          </a:p>
        </p:txBody>
      </p:sp>
      <p:sp>
        <p:nvSpPr>
          <p:cNvPr id="9"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什么是LIN、MOST、Flex Ray总线网络？这些网络分别在汽车上有哪些应用？</a:t>
            </a:r>
          </a:p>
        </p:txBody>
      </p:sp>
      <p:sp>
        <p:nvSpPr>
          <p:cNvPr id="2" name="矩形 1"/>
          <p:cNvSpPr/>
          <p:nvPr/>
        </p:nvSpPr>
        <p:spPr>
          <a:xfrm>
            <a:off x="970581" y="2139702"/>
            <a:ext cx="2665315" cy="2338076"/>
          </a:xfrm>
          <a:prstGeom prst="rect">
            <a:avLst/>
          </a:prstGeom>
          <a:solidFill>
            <a:srgbClr val="0070C0"/>
          </a:solidFill>
        </p:spPr>
        <p:txBody>
          <a:bodyPr wrap="square">
            <a:spAutoFit/>
          </a:bodyPr>
          <a:lstStyle/>
          <a:p>
            <a:pPr>
              <a:lnSpc>
                <a:spcPct val="114000"/>
              </a:lnSpc>
            </a:pPr>
            <a:r>
              <a:rPr lang="en-US" altLang="zh-CN" sz="1600" dirty="0">
                <a:solidFill>
                  <a:schemeClr val="bg1"/>
                </a:solidFill>
                <a:latin typeface="微软雅黑" pitchFamily="34" charset="-122"/>
                <a:ea typeface="微软雅黑" pitchFamily="34" charset="-122"/>
              </a:rPr>
              <a:t>LIN </a:t>
            </a:r>
            <a:r>
              <a:rPr lang="zh-CN" altLang="en-US" sz="1600" dirty="0">
                <a:solidFill>
                  <a:schemeClr val="bg1"/>
                </a:solidFill>
                <a:latin typeface="微软雅黑" pitchFamily="34" charset="-122"/>
                <a:ea typeface="微软雅黑" pitchFamily="34" charset="-122"/>
              </a:rPr>
              <a:t>总线在智能网联汽车上的应用和传统汽车基本</a:t>
            </a:r>
            <a:r>
              <a:rPr lang="zh-CN" altLang="en-US" sz="1600" dirty="0" smtClean="0">
                <a:solidFill>
                  <a:schemeClr val="bg1"/>
                </a:solidFill>
                <a:latin typeface="微软雅黑" pitchFamily="34" charset="-122"/>
                <a:ea typeface="微软雅黑" pitchFamily="34" charset="-122"/>
              </a:rPr>
              <a:t>一致。沃</a:t>
            </a:r>
            <a:r>
              <a:rPr lang="zh-CN" altLang="en-US" sz="1600" dirty="0">
                <a:solidFill>
                  <a:schemeClr val="bg1"/>
                </a:solidFill>
                <a:latin typeface="微软雅黑" pitchFamily="34" charset="-122"/>
                <a:ea typeface="微软雅黑" pitchFamily="34" charset="-122"/>
              </a:rPr>
              <a:t>尔沃 </a:t>
            </a:r>
            <a:r>
              <a:rPr lang="en-US" altLang="zh-CN" sz="1600" dirty="0">
                <a:solidFill>
                  <a:schemeClr val="bg1"/>
                </a:solidFill>
                <a:latin typeface="微软雅黑" pitchFamily="34" charset="-122"/>
                <a:ea typeface="微软雅黑" pitchFamily="34" charset="-122"/>
              </a:rPr>
              <a:t>S60 </a:t>
            </a:r>
            <a:r>
              <a:rPr lang="zh-CN" altLang="en-US" sz="1600" dirty="0">
                <a:solidFill>
                  <a:schemeClr val="bg1"/>
                </a:solidFill>
                <a:latin typeface="微软雅黑" pitchFamily="34" charset="-122"/>
                <a:ea typeface="微软雅黑" pitchFamily="34" charset="-122"/>
              </a:rPr>
              <a:t>车型 </a:t>
            </a:r>
            <a:r>
              <a:rPr lang="en-US" altLang="zh-CN" sz="1600" dirty="0">
                <a:solidFill>
                  <a:schemeClr val="bg1"/>
                </a:solidFill>
                <a:latin typeface="微软雅黑" pitchFamily="34" charset="-122"/>
                <a:ea typeface="微软雅黑" pitchFamily="34" charset="-122"/>
              </a:rPr>
              <a:t>LIN </a:t>
            </a:r>
            <a:r>
              <a:rPr lang="zh-CN" altLang="en-US" sz="1600" dirty="0">
                <a:solidFill>
                  <a:schemeClr val="bg1"/>
                </a:solidFill>
                <a:latin typeface="微软雅黑" pitchFamily="34" charset="-122"/>
                <a:ea typeface="微软雅黑" pitchFamily="34" charset="-122"/>
              </a:rPr>
              <a:t>总线</a:t>
            </a:r>
            <a:r>
              <a:rPr lang="zh-CN" altLang="en-US" sz="1600" dirty="0" smtClean="0">
                <a:solidFill>
                  <a:schemeClr val="bg1"/>
                </a:solidFill>
                <a:latin typeface="微软雅黑" pitchFamily="34" charset="-122"/>
                <a:ea typeface="微软雅黑" pitchFamily="34" charset="-122"/>
              </a:rPr>
              <a:t>应用：中央</a:t>
            </a:r>
            <a:r>
              <a:rPr lang="zh-CN" altLang="en-US" sz="1600" dirty="0">
                <a:solidFill>
                  <a:schemeClr val="bg1"/>
                </a:solidFill>
                <a:latin typeface="微软雅黑" pitchFamily="34" charset="-122"/>
                <a:ea typeface="微软雅黑" pitchFamily="34" charset="-122"/>
              </a:rPr>
              <a:t>电子模块（</a:t>
            </a:r>
            <a:r>
              <a:rPr lang="en-US" altLang="zh-CN" sz="1600" dirty="0">
                <a:solidFill>
                  <a:schemeClr val="bg1"/>
                </a:solidFill>
                <a:latin typeface="微软雅黑" pitchFamily="34" charset="-122"/>
                <a:ea typeface="微软雅黑" pitchFamily="34" charset="-122"/>
              </a:rPr>
              <a:t>CEM</a:t>
            </a:r>
            <a:r>
              <a:rPr lang="zh-CN" altLang="en-US" sz="1600" dirty="0">
                <a:solidFill>
                  <a:schemeClr val="bg1"/>
                </a:solidFill>
                <a:latin typeface="微软雅黑" pitchFamily="34" charset="-122"/>
                <a:ea typeface="微软雅黑" pitchFamily="34" charset="-122"/>
              </a:rPr>
              <a:t>）与照明开关 模块（</a:t>
            </a:r>
            <a:r>
              <a:rPr lang="en-US" altLang="zh-CN" sz="1600" dirty="0">
                <a:solidFill>
                  <a:schemeClr val="bg1"/>
                </a:solidFill>
                <a:latin typeface="微软雅黑" pitchFamily="34" charset="-122"/>
                <a:ea typeface="微软雅黑" pitchFamily="34" charset="-122"/>
              </a:rPr>
              <a:t>LSM</a:t>
            </a:r>
            <a:r>
              <a:rPr lang="zh-CN" altLang="en-US" sz="1600" dirty="0">
                <a:solidFill>
                  <a:schemeClr val="bg1"/>
                </a:solidFill>
                <a:latin typeface="微软雅黑" pitchFamily="34" charset="-122"/>
                <a:ea typeface="微软雅黑" pitchFamily="34" charset="-122"/>
              </a:rPr>
              <a:t>）、转向盘模块（</a:t>
            </a:r>
            <a:r>
              <a:rPr lang="en-US" altLang="zh-CN" sz="1600" dirty="0">
                <a:solidFill>
                  <a:schemeClr val="bg1"/>
                </a:solidFill>
                <a:latin typeface="微软雅黑" pitchFamily="34" charset="-122"/>
                <a:ea typeface="微软雅黑" pitchFamily="34" charset="-122"/>
              </a:rPr>
              <a:t>SWM</a:t>
            </a:r>
            <a:r>
              <a:rPr lang="zh-CN" altLang="en-US" sz="1600" dirty="0">
                <a:solidFill>
                  <a:schemeClr val="bg1"/>
                </a:solidFill>
                <a:latin typeface="微软雅黑" pitchFamily="34" charset="-122"/>
                <a:ea typeface="微软雅黑" pitchFamily="34" charset="-122"/>
              </a:rPr>
              <a:t>）组成了一组 </a:t>
            </a:r>
            <a:r>
              <a:rPr lang="en-US" altLang="zh-CN" sz="1600" dirty="0">
                <a:solidFill>
                  <a:schemeClr val="bg1"/>
                </a:solidFill>
                <a:latin typeface="微软雅黑" pitchFamily="34" charset="-122"/>
                <a:ea typeface="微软雅黑" pitchFamily="34" charset="-122"/>
              </a:rPr>
              <a:t>LIN </a:t>
            </a:r>
            <a:r>
              <a:rPr lang="zh-CN" altLang="en-US" sz="1600" dirty="0">
                <a:solidFill>
                  <a:schemeClr val="bg1"/>
                </a:solidFill>
                <a:latin typeface="微软雅黑" pitchFamily="34" charset="-122"/>
                <a:ea typeface="微软雅黑" pitchFamily="34" charset="-122"/>
              </a:rPr>
              <a:t>总线，其中 </a:t>
            </a:r>
            <a:r>
              <a:rPr lang="en-US" altLang="zh-CN" sz="1600" dirty="0">
                <a:solidFill>
                  <a:schemeClr val="bg1"/>
                </a:solidFill>
                <a:latin typeface="微软雅黑" pitchFamily="34" charset="-122"/>
                <a:ea typeface="微软雅黑" pitchFamily="34" charset="-122"/>
              </a:rPr>
              <a:t>CEM </a:t>
            </a:r>
            <a:r>
              <a:rPr lang="zh-CN" altLang="en-US" sz="1600" dirty="0">
                <a:solidFill>
                  <a:schemeClr val="bg1"/>
                </a:solidFill>
                <a:latin typeface="微软雅黑" pitchFamily="34" charset="-122"/>
                <a:ea typeface="微软雅黑" pitchFamily="34" charset="-122"/>
              </a:rPr>
              <a:t>为主节点。</a:t>
            </a: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1920" y="2020178"/>
            <a:ext cx="4386060" cy="271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66769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27</a:t>
            </a:fld>
            <a:endParaRPr lang="zh-CN" altLang="en-US" dirty="0"/>
          </a:p>
        </p:txBody>
      </p:sp>
      <p:sp>
        <p:nvSpPr>
          <p:cNvPr id="3" name="矩形 2"/>
          <p:cNvSpPr/>
          <p:nvPr/>
        </p:nvSpPr>
        <p:spPr>
          <a:xfrm>
            <a:off x="979105" y="1612048"/>
            <a:ext cx="3001143"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2.MOST总线网络及应用</a:t>
            </a:r>
          </a:p>
        </p:txBody>
      </p:sp>
      <p:sp>
        <p:nvSpPr>
          <p:cNvPr id="9"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什么是LIN、MOST、Flex Ray总线网络？这些网络分别在汽车上有哪些应用？</a:t>
            </a:r>
          </a:p>
        </p:txBody>
      </p:sp>
      <p:sp>
        <p:nvSpPr>
          <p:cNvPr id="4" name="矩形 3"/>
          <p:cNvSpPr/>
          <p:nvPr/>
        </p:nvSpPr>
        <p:spPr>
          <a:xfrm>
            <a:off x="948966" y="2033349"/>
            <a:ext cx="7223434" cy="1228991"/>
          </a:xfrm>
          <a:prstGeom prst="rect">
            <a:avLst/>
          </a:prstGeom>
          <a:solidFill>
            <a:srgbClr val="0070C0"/>
          </a:solidFill>
        </p:spPr>
        <p:txBody>
          <a:bodyPr wrap="square">
            <a:spAutoFit/>
          </a:bodyPr>
          <a:lstStyle/>
          <a:p>
            <a:pPr>
              <a:lnSpc>
                <a:spcPct val="114000"/>
              </a:lnSpc>
            </a:pPr>
            <a:r>
              <a:rPr lang="zh-CN" altLang="en-US" sz="1600" b="1" dirty="0">
                <a:solidFill>
                  <a:schemeClr val="bg1"/>
                </a:solidFill>
                <a:latin typeface="微软雅黑" pitchFamily="34" charset="-122"/>
                <a:ea typeface="微软雅黑" pitchFamily="34" charset="-122"/>
              </a:rPr>
              <a:t>（</a:t>
            </a:r>
            <a:r>
              <a:rPr lang="en-US" altLang="zh-CN" sz="1600" b="1" dirty="0">
                <a:solidFill>
                  <a:schemeClr val="bg1"/>
                </a:solidFill>
                <a:latin typeface="微软雅黑" pitchFamily="34" charset="-122"/>
                <a:ea typeface="微软雅黑" pitchFamily="34" charset="-122"/>
              </a:rPr>
              <a:t>1</a:t>
            </a:r>
            <a:r>
              <a:rPr lang="zh-CN" altLang="en-US" sz="1600" b="1" dirty="0">
                <a:solidFill>
                  <a:schemeClr val="bg1"/>
                </a:solidFill>
                <a:latin typeface="微软雅黑" pitchFamily="34" charset="-122"/>
                <a:ea typeface="微软雅黑" pitchFamily="34" charset="-122"/>
              </a:rPr>
              <a:t>）</a:t>
            </a:r>
            <a:r>
              <a:rPr lang="en-US" altLang="zh-CN" sz="1600" b="1" dirty="0">
                <a:solidFill>
                  <a:schemeClr val="bg1"/>
                </a:solidFill>
                <a:latin typeface="微软雅黑" pitchFamily="34" charset="-122"/>
                <a:ea typeface="微软雅黑" pitchFamily="34" charset="-122"/>
              </a:rPr>
              <a:t>MOST </a:t>
            </a:r>
            <a:r>
              <a:rPr lang="zh-CN" altLang="en-US" sz="1600" b="1" dirty="0">
                <a:solidFill>
                  <a:schemeClr val="bg1"/>
                </a:solidFill>
                <a:latin typeface="微软雅黑" pitchFamily="34" charset="-122"/>
                <a:ea typeface="微软雅黑" pitchFamily="34" charset="-122"/>
              </a:rPr>
              <a:t>总线网络</a:t>
            </a:r>
            <a:r>
              <a:rPr lang="zh-CN" altLang="en-US" sz="1600" b="1" dirty="0" smtClean="0">
                <a:solidFill>
                  <a:schemeClr val="bg1"/>
                </a:solidFill>
                <a:latin typeface="微软雅黑" pitchFamily="34" charset="-122"/>
                <a:ea typeface="微软雅黑" pitchFamily="34" charset="-122"/>
              </a:rPr>
              <a:t>概述：</a:t>
            </a:r>
            <a:r>
              <a:rPr lang="en-US" altLang="zh-CN" sz="1600" dirty="0" smtClean="0">
                <a:solidFill>
                  <a:schemeClr val="bg1"/>
                </a:solidFill>
                <a:latin typeface="微软雅黑" pitchFamily="34" charset="-122"/>
                <a:ea typeface="微软雅黑" pitchFamily="34" charset="-122"/>
              </a:rPr>
              <a:t>MOST </a:t>
            </a:r>
            <a:r>
              <a:rPr lang="zh-CN" altLang="en-US" sz="1600" dirty="0" smtClean="0">
                <a:solidFill>
                  <a:schemeClr val="bg1"/>
                </a:solidFill>
                <a:latin typeface="微软雅黑" pitchFamily="34" charset="-122"/>
                <a:ea typeface="微软雅黑" pitchFamily="34" charset="-122"/>
              </a:rPr>
              <a:t>是 </a:t>
            </a:r>
            <a:r>
              <a:rPr lang="en-US" altLang="zh-CN" sz="1600" dirty="0" smtClean="0">
                <a:solidFill>
                  <a:schemeClr val="bg1"/>
                </a:solidFill>
                <a:latin typeface="微软雅黑" pitchFamily="34" charset="-122"/>
                <a:ea typeface="微软雅黑" pitchFamily="34" charset="-122"/>
              </a:rPr>
              <a:t>Media Oriented Systems Transport </a:t>
            </a:r>
            <a:r>
              <a:rPr lang="zh-CN" altLang="en-US" sz="1600" dirty="0" smtClean="0">
                <a:solidFill>
                  <a:schemeClr val="bg1"/>
                </a:solidFill>
                <a:latin typeface="微软雅黑" pitchFamily="34" charset="-122"/>
                <a:ea typeface="微软雅黑" pitchFamily="34" charset="-122"/>
              </a:rPr>
              <a:t>的缩写，意</a:t>
            </a:r>
            <a:r>
              <a:rPr lang="zh-CN" altLang="en-US" sz="1600" dirty="0">
                <a:solidFill>
                  <a:schemeClr val="bg1"/>
                </a:solidFill>
                <a:latin typeface="微软雅黑" pitchFamily="34" charset="-122"/>
                <a:ea typeface="微软雅黑" pitchFamily="34" charset="-122"/>
              </a:rPr>
              <a:t>为媒体导向系统传输网络。 </a:t>
            </a:r>
            <a:r>
              <a:rPr lang="en-US" altLang="zh-CN" sz="1600" dirty="0">
                <a:solidFill>
                  <a:schemeClr val="bg1"/>
                </a:solidFill>
                <a:latin typeface="微软雅黑" pitchFamily="34" charset="-122"/>
                <a:ea typeface="微软雅黑" pitchFamily="34" charset="-122"/>
              </a:rPr>
              <a:t>MOST </a:t>
            </a:r>
            <a:r>
              <a:rPr lang="zh-CN" altLang="en-US" sz="1600" dirty="0">
                <a:solidFill>
                  <a:schemeClr val="bg1"/>
                </a:solidFill>
                <a:latin typeface="微软雅黑" pitchFamily="34" charset="-122"/>
                <a:ea typeface="微软雅黑" pitchFamily="34" charset="-122"/>
              </a:rPr>
              <a:t>是一个用于多媒体应用程序的标准化网络</a:t>
            </a:r>
            <a:r>
              <a:rPr lang="zh-CN" altLang="en-US" sz="1600" dirty="0" smtClean="0">
                <a:solidFill>
                  <a:schemeClr val="bg1"/>
                </a:solidFill>
                <a:latin typeface="微软雅黑" pitchFamily="34" charset="-122"/>
                <a:ea typeface="微软雅黑" pitchFamily="34" charset="-122"/>
              </a:rPr>
              <a:t>通信系统，速率</a:t>
            </a:r>
            <a:r>
              <a:rPr lang="zh-CN" altLang="en-US" sz="1600" dirty="0">
                <a:solidFill>
                  <a:schemeClr val="bg1"/>
                </a:solidFill>
                <a:latin typeface="微软雅黑" pitchFamily="34" charset="-122"/>
                <a:ea typeface="微软雅黑" pitchFamily="34" charset="-122"/>
              </a:rPr>
              <a:t>可达 </a:t>
            </a:r>
            <a:r>
              <a:rPr lang="en-US" altLang="zh-CN" sz="1600" dirty="0">
                <a:solidFill>
                  <a:schemeClr val="bg1"/>
                </a:solidFill>
                <a:latin typeface="微软雅黑" pitchFamily="34" charset="-122"/>
                <a:ea typeface="微软雅黑" pitchFamily="34" charset="-122"/>
              </a:rPr>
              <a:t>25Mbit/s</a:t>
            </a:r>
            <a:r>
              <a:rPr lang="zh-CN" altLang="en-US" sz="1600" dirty="0" smtClean="0">
                <a:solidFill>
                  <a:schemeClr val="bg1"/>
                </a:solidFill>
                <a:latin typeface="微软雅黑" pitchFamily="34" charset="-122"/>
                <a:ea typeface="微软雅黑" pitchFamily="34" charset="-122"/>
              </a:rPr>
              <a:t>。在</a:t>
            </a:r>
            <a:r>
              <a:rPr lang="zh-CN" altLang="en-US" sz="1600" dirty="0">
                <a:solidFill>
                  <a:schemeClr val="bg1"/>
                </a:solidFill>
                <a:latin typeface="微软雅黑" pitchFamily="34" charset="-122"/>
                <a:ea typeface="微软雅黑" pitchFamily="34" charset="-122"/>
              </a:rPr>
              <a:t>汽车</a:t>
            </a:r>
            <a:r>
              <a:rPr lang="zh-CN" altLang="en-US" sz="1600" dirty="0" smtClean="0">
                <a:solidFill>
                  <a:schemeClr val="bg1"/>
                </a:solidFill>
                <a:latin typeface="微软雅黑" pitchFamily="34" charset="-122"/>
                <a:ea typeface="微软雅黑" pitchFamily="34" charset="-122"/>
              </a:rPr>
              <a:t>上采用</a:t>
            </a:r>
            <a:r>
              <a:rPr lang="zh-CN" altLang="en-US" sz="1600" dirty="0">
                <a:solidFill>
                  <a:schemeClr val="bg1"/>
                </a:solidFill>
                <a:latin typeface="微软雅黑" pitchFamily="34" charset="-122"/>
                <a:ea typeface="微软雅黑" pitchFamily="34" charset="-122"/>
              </a:rPr>
              <a:t>的光学总线主流是 </a:t>
            </a:r>
            <a:r>
              <a:rPr lang="en-US" altLang="zh-CN" sz="1600" dirty="0">
                <a:solidFill>
                  <a:schemeClr val="bg1"/>
                </a:solidFill>
                <a:latin typeface="微软雅黑" pitchFamily="34" charset="-122"/>
                <a:ea typeface="微软雅黑" pitchFamily="34" charset="-122"/>
              </a:rPr>
              <a:t>MOST </a:t>
            </a:r>
            <a:r>
              <a:rPr lang="zh-CN" altLang="en-US" sz="1600" dirty="0" smtClean="0">
                <a:solidFill>
                  <a:schemeClr val="bg1"/>
                </a:solidFill>
                <a:latin typeface="微软雅黑" pitchFamily="34" charset="-122"/>
                <a:ea typeface="微软雅黑" pitchFamily="34" charset="-122"/>
              </a:rPr>
              <a:t>总线。</a:t>
            </a:r>
            <a:endParaRPr lang="zh-CN" altLang="en-US" sz="1600" dirty="0">
              <a:solidFill>
                <a:schemeClr val="bg1"/>
              </a:solidFill>
              <a:latin typeface="微软雅黑" pitchFamily="34" charset="-122"/>
              <a:ea typeface="微软雅黑" pitchFamily="34" charset="-122"/>
            </a:endParaRPr>
          </a:p>
        </p:txBody>
      </p:sp>
      <p:pic>
        <p:nvPicPr>
          <p:cNvPr id="29" name="图片 29" descr="说明: C:\Users\Administrator\Desktop\图修改\汽车电气设备与维修\9-1-26.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4560683" y="2931790"/>
            <a:ext cx="3611717" cy="1867148"/>
          </a:xfrm>
          <a:prstGeom prst="rect">
            <a:avLst/>
          </a:prstGeom>
          <a:noFill/>
          <a:ln w="12700" cmpd="sng">
            <a:solidFill>
              <a:schemeClr val="accent1">
                <a:shade val="50000"/>
              </a:schemeClr>
            </a:solidFill>
            <a:prstDash val="solid"/>
          </a:ln>
        </p:spPr>
      </p:pic>
      <p:sp>
        <p:nvSpPr>
          <p:cNvPr id="10" name="矩形 9"/>
          <p:cNvSpPr/>
          <p:nvPr/>
        </p:nvSpPr>
        <p:spPr>
          <a:xfrm>
            <a:off x="932299" y="3363838"/>
            <a:ext cx="3495685" cy="1323439"/>
          </a:xfrm>
          <a:prstGeom prst="rect">
            <a:avLst/>
          </a:prstGeom>
          <a:solidFill>
            <a:srgbClr val="0070C0"/>
          </a:solidFill>
        </p:spPr>
        <p:txBody>
          <a:bodyPr wrap="square">
            <a:spAutoFit/>
          </a:bodyPr>
          <a:lstStyle/>
          <a:p>
            <a:r>
              <a:rPr lang="en-US" altLang="zh-CN" sz="1600" dirty="0">
                <a:solidFill>
                  <a:schemeClr val="bg1"/>
                </a:solidFill>
                <a:latin typeface="微软雅黑" pitchFamily="34" charset="-122"/>
                <a:ea typeface="微软雅黑" pitchFamily="34" charset="-122"/>
              </a:rPr>
              <a:t>MOST </a:t>
            </a:r>
            <a:r>
              <a:rPr lang="zh-CN" altLang="en-US" sz="1600" dirty="0">
                <a:solidFill>
                  <a:schemeClr val="bg1"/>
                </a:solidFill>
                <a:latin typeface="微软雅黑" pitchFamily="34" charset="-122"/>
                <a:ea typeface="微软雅黑" pitchFamily="34" charset="-122"/>
              </a:rPr>
              <a:t>总线采用环型</a:t>
            </a:r>
            <a:r>
              <a:rPr lang="zh-CN" altLang="en-US" sz="1600" dirty="0" smtClean="0">
                <a:solidFill>
                  <a:schemeClr val="bg1"/>
                </a:solidFill>
                <a:latin typeface="微软雅黑" pitchFamily="34" charset="-122"/>
                <a:ea typeface="微软雅黑" pitchFamily="34" charset="-122"/>
              </a:rPr>
              <a:t>结构，在</a:t>
            </a:r>
            <a:r>
              <a:rPr lang="zh-CN" altLang="en-US" sz="1600" dirty="0">
                <a:solidFill>
                  <a:schemeClr val="bg1"/>
                </a:solidFill>
                <a:latin typeface="微软雅黑" pitchFamily="34" charset="-122"/>
                <a:ea typeface="微软雅黑" pitchFamily="34" charset="-122"/>
              </a:rPr>
              <a:t>整个环型总线内</a:t>
            </a:r>
            <a:r>
              <a:rPr lang="zh-CN" altLang="en-US" sz="1600" dirty="0" smtClean="0">
                <a:solidFill>
                  <a:schemeClr val="bg1"/>
                </a:solidFill>
                <a:latin typeface="微软雅黑" pitchFamily="34" charset="-122"/>
                <a:ea typeface="微软雅黑" pitchFamily="34" charset="-122"/>
              </a:rPr>
              <a:t>都都可</a:t>
            </a:r>
            <a:r>
              <a:rPr lang="zh-CN" altLang="en-US" sz="1600" dirty="0">
                <a:solidFill>
                  <a:schemeClr val="bg1"/>
                </a:solidFill>
                <a:latin typeface="微软雅黑" pitchFamily="34" charset="-122"/>
                <a:ea typeface="微软雅黑" pitchFamily="34" charset="-122"/>
              </a:rPr>
              <a:t>获得相关</a:t>
            </a:r>
            <a:r>
              <a:rPr lang="zh-CN" altLang="en-US" sz="1600" dirty="0" smtClean="0">
                <a:solidFill>
                  <a:schemeClr val="bg1"/>
                </a:solidFill>
                <a:latin typeface="微软雅黑" pitchFamily="34" charset="-122"/>
                <a:ea typeface="微软雅黑" pitchFamily="34" charset="-122"/>
              </a:rPr>
              <a:t>数据，易于</a:t>
            </a:r>
            <a:r>
              <a:rPr lang="zh-CN" altLang="en-US" sz="1600" dirty="0">
                <a:solidFill>
                  <a:schemeClr val="bg1"/>
                </a:solidFill>
                <a:latin typeface="微软雅黑" pitchFamily="34" charset="-122"/>
                <a:ea typeface="微软雅黑" pitchFamily="34" charset="-122"/>
              </a:rPr>
              <a:t>扩展组件</a:t>
            </a:r>
            <a:r>
              <a:rPr lang="zh-CN" altLang="en-US" sz="1600" dirty="0" smtClean="0">
                <a:solidFill>
                  <a:schemeClr val="bg1"/>
                </a:solidFill>
                <a:latin typeface="微软雅黑" pitchFamily="34" charset="-122"/>
                <a:ea typeface="微软雅黑" pitchFamily="34" charset="-122"/>
              </a:rPr>
              <a:t>。如果</a:t>
            </a:r>
            <a:r>
              <a:rPr lang="zh-CN" altLang="en-US" sz="1600" dirty="0">
                <a:solidFill>
                  <a:schemeClr val="bg1"/>
                </a:solidFill>
                <a:latin typeface="微软雅黑" pitchFamily="34" charset="-122"/>
                <a:ea typeface="微软雅黑" pitchFamily="34" charset="-122"/>
              </a:rPr>
              <a:t>节点模块存在内部故障，则可以通过旁通模式直接将光波发送至下一个</a:t>
            </a:r>
            <a:r>
              <a:rPr lang="zh-CN" altLang="en-US" sz="1600" dirty="0" smtClean="0">
                <a:solidFill>
                  <a:schemeClr val="bg1"/>
                </a:solidFill>
                <a:latin typeface="微软雅黑" pitchFamily="34" charset="-122"/>
                <a:ea typeface="微软雅黑" pitchFamily="34" charset="-122"/>
              </a:rPr>
              <a:t>节点。</a:t>
            </a:r>
            <a:endParaRPr lang="zh-CN" altLang="en-US" sz="1600" dirty="0">
              <a:solidFill>
                <a:schemeClr val="bg1"/>
              </a:solidFill>
              <a:latin typeface="微软雅黑" pitchFamily="34" charset="-122"/>
              <a:ea typeface="微软雅黑"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28</a:t>
            </a:fld>
            <a:endParaRPr lang="zh-CN" altLang="en-US" dirty="0"/>
          </a:p>
        </p:txBody>
      </p:sp>
      <p:sp>
        <p:nvSpPr>
          <p:cNvPr id="3" name="矩形 2"/>
          <p:cNvSpPr/>
          <p:nvPr/>
        </p:nvSpPr>
        <p:spPr>
          <a:xfrm>
            <a:off x="979105" y="1612048"/>
            <a:ext cx="3001143"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2.MOST总线网络及应用</a:t>
            </a:r>
          </a:p>
        </p:txBody>
      </p:sp>
      <p:pic>
        <p:nvPicPr>
          <p:cNvPr id="28" name="图片 28" descr="说明: C:\Users\Administrator\Desktop\图修改\汽车电气设备与维修\9-1-27.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2267744" y="3167686"/>
            <a:ext cx="4464496" cy="1564303"/>
          </a:xfrm>
          <a:prstGeom prst="rect">
            <a:avLst/>
          </a:prstGeom>
          <a:noFill/>
          <a:ln w="12700" cmpd="sng">
            <a:solidFill>
              <a:schemeClr val="accent1">
                <a:shade val="50000"/>
              </a:schemeClr>
            </a:solidFill>
            <a:prstDash val="solid"/>
          </a:ln>
        </p:spPr>
      </p:pic>
      <p:sp>
        <p:nvSpPr>
          <p:cNvPr id="9"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什么是LIN、MOST、Flex Ray总线网络？这些网络分别在汽车上有哪些应用？</a:t>
            </a:r>
          </a:p>
        </p:txBody>
      </p:sp>
      <p:sp>
        <p:nvSpPr>
          <p:cNvPr id="2" name="矩形 1"/>
          <p:cNvSpPr/>
          <p:nvPr/>
        </p:nvSpPr>
        <p:spPr>
          <a:xfrm>
            <a:off x="945590" y="2115626"/>
            <a:ext cx="7154802" cy="934487"/>
          </a:xfrm>
          <a:prstGeom prst="rect">
            <a:avLst/>
          </a:prstGeom>
          <a:solidFill>
            <a:srgbClr val="0070C0"/>
          </a:solidFill>
        </p:spPr>
        <p:txBody>
          <a:bodyPr wrap="square">
            <a:spAutoFit/>
          </a:bodyPr>
          <a:lstStyle/>
          <a:p>
            <a:pPr>
              <a:lnSpc>
                <a:spcPct val="114000"/>
              </a:lnSpc>
            </a:pPr>
            <a:r>
              <a:rPr lang="zh-CN" altLang="en-US" sz="1600" b="1" dirty="0">
                <a:solidFill>
                  <a:schemeClr val="bg1"/>
                </a:solidFill>
                <a:latin typeface="微软雅黑" pitchFamily="34" charset="-122"/>
                <a:ea typeface="微软雅黑" pitchFamily="34" charset="-122"/>
              </a:rPr>
              <a:t>（</a:t>
            </a:r>
            <a:r>
              <a:rPr lang="en-US" altLang="zh-CN" sz="1600" b="1" dirty="0">
                <a:solidFill>
                  <a:schemeClr val="bg1"/>
                </a:solidFill>
                <a:latin typeface="微软雅黑" pitchFamily="34" charset="-122"/>
                <a:ea typeface="微软雅黑" pitchFamily="34" charset="-122"/>
              </a:rPr>
              <a:t>2</a:t>
            </a:r>
            <a:r>
              <a:rPr lang="zh-CN" altLang="en-US" sz="1600" b="1" dirty="0">
                <a:solidFill>
                  <a:schemeClr val="bg1"/>
                </a:solidFill>
                <a:latin typeface="微软雅黑" pitchFamily="34" charset="-122"/>
                <a:ea typeface="微软雅黑" pitchFamily="34" charset="-122"/>
              </a:rPr>
              <a:t>）</a:t>
            </a:r>
            <a:r>
              <a:rPr lang="en-US" altLang="zh-CN" sz="1600" b="1" dirty="0">
                <a:solidFill>
                  <a:schemeClr val="bg1"/>
                </a:solidFill>
                <a:latin typeface="微软雅黑" pitchFamily="34" charset="-122"/>
                <a:ea typeface="微软雅黑" pitchFamily="34" charset="-122"/>
              </a:rPr>
              <a:t>MOST </a:t>
            </a:r>
            <a:r>
              <a:rPr lang="zh-CN" altLang="en-US" sz="1600" b="1" dirty="0">
                <a:solidFill>
                  <a:schemeClr val="bg1"/>
                </a:solidFill>
                <a:latin typeface="微软雅黑" pitchFamily="34" charset="-122"/>
                <a:ea typeface="微软雅黑" pitchFamily="34" charset="-122"/>
              </a:rPr>
              <a:t>总线的基本原理和信号传输</a:t>
            </a:r>
            <a:r>
              <a:rPr lang="zh-CN" altLang="en-US" sz="1600" b="1" dirty="0" smtClean="0">
                <a:solidFill>
                  <a:schemeClr val="bg1"/>
                </a:solidFill>
                <a:latin typeface="微软雅黑" pitchFamily="34" charset="-122"/>
                <a:ea typeface="微软雅黑" pitchFamily="34" charset="-122"/>
              </a:rPr>
              <a:t>方式</a:t>
            </a:r>
            <a:r>
              <a:rPr lang="zh-CN" altLang="en-US" sz="1600" dirty="0">
                <a:solidFill>
                  <a:schemeClr val="bg1"/>
                </a:solidFill>
                <a:latin typeface="微软雅黑" pitchFamily="34" charset="-122"/>
                <a:ea typeface="微软雅黑" pitchFamily="34" charset="-122"/>
              </a:rPr>
              <a:t>：</a:t>
            </a:r>
            <a:r>
              <a:rPr lang="en-US" altLang="zh-CN" sz="1600" dirty="0" smtClean="0">
                <a:solidFill>
                  <a:schemeClr val="bg1"/>
                </a:solidFill>
                <a:latin typeface="微软雅黑" pitchFamily="34" charset="-122"/>
                <a:ea typeface="微软雅黑" pitchFamily="34" charset="-122"/>
              </a:rPr>
              <a:t>MOST </a:t>
            </a:r>
            <a:r>
              <a:rPr lang="zh-CN" altLang="en-US" sz="1600" dirty="0">
                <a:solidFill>
                  <a:schemeClr val="bg1"/>
                </a:solidFill>
                <a:latin typeface="微软雅黑" pitchFamily="34" charset="-122"/>
                <a:ea typeface="微软雅黑" pitchFamily="34" charset="-122"/>
              </a:rPr>
              <a:t>总线网络的特点主要体现在主从结构、光纤通信、光数据传输、单向传输、</a:t>
            </a:r>
            <a:r>
              <a:rPr lang="zh-CN" altLang="en-US" sz="1600" dirty="0" smtClean="0">
                <a:solidFill>
                  <a:schemeClr val="bg1"/>
                </a:solidFill>
                <a:latin typeface="微软雅黑" pitchFamily="34" charset="-122"/>
                <a:ea typeface="微软雅黑" pitchFamily="34" charset="-122"/>
              </a:rPr>
              <a:t>高速率</a:t>
            </a:r>
            <a:r>
              <a:rPr lang="zh-CN" altLang="en-US" sz="1600" dirty="0">
                <a:solidFill>
                  <a:schemeClr val="bg1"/>
                </a:solidFill>
                <a:latin typeface="微软雅黑" pitchFamily="34" charset="-122"/>
                <a:ea typeface="微软雅黑" pitchFamily="34" charset="-122"/>
              </a:rPr>
              <a:t>通信和无容错能力等方面。 </a:t>
            </a:r>
            <a:r>
              <a:rPr lang="en-US" altLang="zh-CN" sz="1600" dirty="0">
                <a:solidFill>
                  <a:schemeClr val="bg1"/>
                </a:solidFill>
                <a:latin typeface="微软雅黑" pitchFamily="34" charset="-122"/>
                <a:ea typeface="微软雅黑" pitchFamily="34" charset="-122"/>
              </a:rPr>
              <a:t>MOST</a:t>
            </a:r>
            <a:r>
              <a:rPr lang="zh-CN" altLang="en-US" sz="1600" dirty="0">
                <a:solidFill>
                  <a:schemeClr val="bg1"/>
                </a:solidFill>
                <a:latin typeface="微软雅黑" pitchFamily="34" charset="-122"/>
                <a:ea typeface="微软雅黑" pitchFamily="34" charset="-122"/>
              </a:rPr>
              <a:t>是光学总线，系统采用光纤传输信号。</a:t>
            </a:r>
          </a:p>
        </p:txBody>
      </p:sp>
    </p:spTree>
    <p:extLst>
      <p:ext uri="{BB962C8B-B14F-4D97-AF65-F5344CB8AC3E}">
        <p14:creationId xmlns:p14="http://schemas.microsoft.com/office/powerpoint/2010/main" val="18398511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29</a:t>
            </a:fld>
            <a:endParaRPr lang="zh-CN" altLang="en-US" dirty="0"/>
          </a:p>
        </p:txBody>
      </p:sp>
      <p:sp>
        <p:nvSpPr>
          <p:cNvPr id="3" name="矩形 2"/>
          <p:cNvSpPr/>
          <p:nvPr/>
        </p:nvSpPr>
        <p:spPr>
          <a:xfrm>
            <a:off x="979105" y="1612048"/>
            <a:ext cx="3001143"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2.MOST总线网络及应用</a:t>
            </a:r>
          </a:p>
        </p:txBody>
      </p:sp>
      <p:sp>
        <p:nvSpPr>
          <p:cNvPr id="9"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什么是LIN、MOST、Flex Ray总线网络？这些网络分别在汽车上有哪些应用？</a:t>
            </a:r>
          </a:p>
        </p:txBody>
      </p:sp>
      <p:sp>
        <p:nvSpPr>
          <p:cNvPr id="2" name="矩形 1"/>
          <p:cNvSpPr/>
          <p:nvPr/>
        </p:nvSpPr>
        <p:spPr>
          <a:xfrm>
            <a:off x="4067944" y="1625577"/>
            <a:ext cx="4248472" cy="373051"/>
          </a:xfrm>
          <a:prstGeom prst="rect">
            <a:avLst/>
          </a:prstGeom>
          <a:solidFill>
            <a:srgbClr val="0070C0"/>
          </a:solidFill>
        </p:spPr>
        <p:txBody>
          <a:bodyPr wrap="square">
            <a:spAutoFit/>
          </a:bodyPr>
          <a:lstStyle/>
          <a:p>
            <a:pPr>
              <a:lnSpc>
                <a:spcPct val="114000"/>
              </a:lnSpc>
            </a:pPr>
            <a:r>
              <a:rPr lang="zh-CN" altLang="en-US" sz="1600" b="1" dirty="0">
                <a:solidFill>
                  <a:schemeClr val="bg1"/>
                </a:solidFill>
                <a:latin typeface="微软雅黑" pitchFamily="34" charset="-122"/>
                <a:ea typeface="微软雅黑" pitchFamily="34" charset="-122"/>
              </a:rPr>
              <a:t>（</a:t>
            </a:r>
            <a:r>
              <a:rPr lang="en-US" altLang="zh-CN" sz="1600" b="1" dirty="0">
                <a:solidFill>
                  <a:schemeClr val="bg1"/>
                </a:solidFill>
                <a:latin typeface="微软雅黑" pitchFamily="34" charset="-122"/>
                <a:ea typeface="微软雅黑" pitchFamily="34" charset="-122"/>
              </a:rPr>
              <a:t>2</a:t>
            </a:r>
            <a:r>
              <a:rPr lang="zh-CN" altLang="en-US" sz="1600" b="1" dirty="0">
                <a:solidFill>
                  <a:schemeClr val="bg1"/>
                </a:solidFill>
                <a:latin typeface="微软雅黑" pitchFamily="34" charset="-122"/>
                <a:ea typeface="微软雅黑" pitchFamily="34" charset="-122"/>
              </a:rPr>
              <a:t>）</a:t>
            </a:r>
            <a:r>
              <a:rPr lang="en-US" altLang="zh-CN" sz="1600" b="1" dirty="0">
                <a:solidFill>
                  <a:schemeClr val="bg1"/>
                </a:solidFill>
                <a:latin typeface="微软雅黑" pitchFamily="34" charset="-122"/>
                <a:ea typeface="微软雅黑" pitchFamily="34" charset="-122"/>
              </a:rPr>
              <a:t>MOST </a:t>
            </a:r>
            <a:r>
              <a:rPr lang="zh-CN" altLang="en-US" sz="1600" b="1" dirty="0">
                <a:solidFill>
                  <a:schemeClr val="bg1"/>
                </a:solidFill>
                <a:latin typeface="微软雅黑" pitchFamily="34" charset="-122"/>
                <a:ea typeface="微软雅黑" pitchFamily="34" charset="-122"/>
              </a:rPr>
              <a:t>总线的基本原理和信号传输</a:t>
            </a:r>
            <a:r>
              <a:rPr lang="zh-CN" altLang="en-US" sz="1600" b="1" dirty="0" smtClean="0">
                <a:solidFill>
                  <a:schemeClr val="bg1"/>
                </a:solidFill>
                <a:latin typeface="微软雅黑" pitchFamily="34" charset="-122"/>
                <a:ea typeface="微软雅黑" pitchFamily="34" charset="-122"/>
              </a:rPr>
              <a:t>方式</a:t>
            </a:r>
            <a:endParaRPr lang="zh-CN" altLang="en-US" sz="1600" dirty="0">
              <a:solidFill>
                <a:schemeClr val="bg1"/>
              </a:solidFill>
              <a:latin typeface="微软雅黑" pitchFamily="34" charset="-122"/>
              <a:ea typeface="微软雅黑" pitchFamily="34" charset="-122"/>
            </a:endParaRP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105" y="2140332"/>
            <a:ext cx="4673015" cy="1799570"/>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9105" y="4011910"/>
            <a:ext cx="4405319" cy="579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41572" y="2140332"/>
            <a:ext cx="2454096" cy="1799570"/>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89172" y="4025267"/>
            <a:ext cx="2558896" cy="221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426946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30</a:t>
            </a:fld>
            <a:endParaRPr lang="zh-CN" altLang="en-US" dirty="0"/>
          </a:p>
        </p:txBody>
      </p:sp>
      <p:sp>
        <p:nvSpPr>
          <p:cNvPr id="3" name="矩形 2"/>
          <p:cNvSpPr/>
          <p:nvPr/>
        </p:nvSpPr>
        <p:spPr>
          <a:xfrm>
            <a:off x="979105" y="1612048"/>
            <a:ext cx="3001143"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2.MOST总线网络及应用</a:t>
            </a:r>
          </a:p>
        </p:txBody>
      </p:sp>
      <p:sp>
        <p:nvSpPr>
          <p:cNvPr id="9"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什么是LIN、MOST、Flex Ray总线网络？这些网络分别在汽车上有哪些应用？</a:t>
            </a:r>
          </a:p>
        </p:txBody>
      </p:sp>
      <p:sp>
        <p:nvSpPr>
          <p:cNvPr id="10" name="矩形 9"/>
          <p:cNvSpPr/>
          <p:nvPr/>
        </p:nvSpPr>
        <p:spPr>
          <a:xfrm>
            <a:off x="952834" y="2067694"/>
            <a:ext cx="7219566" cy="653769"/>
          </a:xfrm>
          <a:prstGeom prst="rect">
            <a:avLst/>
          </a:prstGeom>
          <a:solidFill>
            <a:srgbClr val="0070C0"/>
          </a:solidFill>
        </p:spPr>
        <p:txBody>
          <a:bodyPr wrap="square">
            <a:spAutoFit/>
          </a:bodyPr>
          <a:lstStyle/>
          <a:p>
            <a:pPr fontAlgn="base">
              <a:lnSpc>
                <a:spcPct val="114000"/>
              </a:lnSpc>
            </a:pPr>
            <a:r>
              <a:rPr sz="1600" dirty="0" smtClean="0">
                <a:solidFill>
                  <a:schemeClr val="bg1"/>
                </a:solidFill>
                <a:latin typeface="微软雅黑" panose="020B0503020204020204" pitchFamily="34" charset="-122"/>
                <a:ea typeface="微软雅黑" panose="020B0503020204020204" pitchFamily="34" charset="-122"/>
              </a:rPr>
              <a:t>MOST</a:t>
            </a:r>
            <a:r>
              <a:rPr lang="en-US" sz="1600" dirty="0" smtClean="0">
                <a:solidFill>
                  <a:schemeClr val="bg1"/>
                </a:solidFill>
                <a:latin typeface="微软雅黑" panose="020B0503020204020204" pitchFamily="34" charset="-122"/>
                <a:ea typeface="微软雅黑" panose="020B0503020204020204" pitchFamily="34" charset="-122"/>
              </a:rPr>
              <a:t> </a:t>
            </a:r>
            <a:r>
              <a:rPr sz="1600" dirty="0" err="1" smtClean="0">
                <a:solidFill>
                  <a:schemeClr val="bg1"/>
                </a:solidFill>
                <a:latin typeface="微软雅黑" panose="020B0503020204020204" pitchFamily="34" charset="-122"/>
                <a:ea typeface="微软雅黑" panose="020B0503020204020204" pitchFamily="34" charset="-122"/>
              </a:rPr>
              <a:t>总线在智能网联汽车上的应用和传统汽车基本一致</a:t>
            </a:r>
            <a:r>
              <a:rPr sz="1600" dirty="0" err="1">
                <a:solidFill>
                  <a:schemeClr val="bg1"/>
                </a:solidFill>
                <a:latin typeface="微软雅黑" panose="020B0503020204020204" pitchFamily="34" charset="-122"/>
                <a:ea typeface="微软雅黑" panose="020B0503020204020204" pitchFamily="34" charset="-122"/>
              </a:rPr>
              <a:t>，主要应用在导航、影音的光纤通信系统上</a:t>
            </a:r>
            <a:r>
              <a:rPr sz="1600" dirty="0">
                <a:solidFill>
                  <a:schemeClr val="bg1"/>
                </a:solidFill>
                <a:latin typeface="微软雅黑" panose="020B0503020204020204" pitchFamily="34" charset="-122"/>
                <a:ea typeface="微软雅黑" panose="020B0503020204020204" pitchFamily="34" charset="-122"/>
              </a:rPr>
              <a:t>。</a:t>
            </a:r>
          </a:p>
        </p:txBody>
      </p:sp>
      <p:pic>
        <p:nvPicPr>
          <p:cNvPr id="11" name="图片 24"/>
          <p:cNvPicPr>
            <a:picLocks noChangeAspect="1" noChangeArrowheads="1"/>
          </p:cNvPicPr>
          <p:nvPr/>
        </p:nvPicPr>
        <p:blipFill>
          <a:blip r:embed="rId3">
            <a:extLst>
              <a:ext uri="{28A0092B-C50C-407E-A947-70E740481C1C}">
                <a14:useLocalDpi xmlns:a14="http://schemas.microsoft.com/office/drawing/2010/main" val="0"/>
              </a:ext>
            </a:extLst>
          </a:blip>
          <a:srcRect l="557" t="3392" r="2251" b="4381"/>
          <a:stretch>
            <a:fillRect/>
          </a:stretch>
        </p:blipFill>
        <p:spPr>
          <a:xfrm>
            <a:off x="3707903" y="2859780"/>
            <a:ext cx="4426971" cy="1895290"/>
          </a:xfrm>
          <a:prstGeom prst="rect">
            <a:avLst/>
          </a:prstGeom>
          <a:noFill/>
          <a:ln w="12700" cmpd="sng">
            <a:solidFill>
              <a:schemeClr val="accent1"/>
            </a:solidFill>
            <a:prstDash val="solid"/>
          </a:ln>
        </p:spPr>
      </p:pic>
      <p:sp>
        <p:nvSpPr>
          <p:cNvPr id="4" name="矩形 3"/>
          <p:cNvSpPr/>
          <p:nvPr/>
        </p:nvSpPr>
        <p:spPr>
          <a:xfrm>
            <a:off x="971600" y="3024518"/>
            <a:ext cx="2617770" cy="1565813"/>
          </a:xfrm>
          <a:prstGeom prst="rect">
            <a:avLst/>
          </a:prstGeom>
          <a:solidFill>
            <a:srgbClr val="0070C0"/>
          </a:solidFill>
        </p:spPr>
        <p:txBody>
          <a:bodyPr wrap="square">
            <a:spAutoFit/>
          </a:bodyPr>
          <a:lstStyle/>
          <a:p>
            <a:pPr>
              <a:lnSpc>
                <a:spcPct val="114000"/>
              </a:lnSpc>
            </a:pPr>
            <a:r>
              <a:rPr lang="zh-CN" altLang="en-US" sz="1400" dirty="0">
                <a:solidFill>
                  <a:schemeClr val="bg1"/>
                </a:solidFill>
                <a:latin typeface="微软雅黑" pitchFamily="34" charset="-122"/>
                <a:ea typeface="微软雅黑" pitchFamily="34" charset="-122"/>
              </a:rPr>
              <a:t>在宝马车型中，</a:t>
            </a:r>
            <a:r>
              <a:rPr lang="en-US" altLang="zh-CN" sz="1400" dirty="0">
                <a:solidFill>
                  <a:schemeClr val="bg1"/>
                </a:solidFill>
                <a:latin typeface="微软雅黑" pitchFamily="34" charset="-122"/>
                <a:ea typeface="微软雅黑" pitchFamily="34" charset="-122"/>
              </a:rPr>
              <a:t>ZGM </a:t>
            </a:r>
            <a:r>
              <a:rPr lang="zh-CN" altLang="en-US" sz="1400" dirty="0">
                <a:solidFill>
                  <a:schemeClr val="bg1"/>
                </a:solidFill>
                <a:latin typeface="微软雅黑" pitchFamily="34" charset="-122"/>
                <a:ea typeface="微软雅黑" pitchFamily="34" charset="-122"/>
              </a:rPr>
              <a:t>中央网关模块是 </a:t>
            </a:r>
            <a:r>
              <a:rPr lang="en-US" altLang="zh-CN" sz="1400" dirty="0">
                <a:solidFill>
                  <a:schemeClr val="bg1"/>
                </a:solidFill>
                <a:latin typeface="微软雅黑" pitchFamily="34" charset="-122"/>
                <a:ea typeface="微软雅黑" pitchFamily="34" charset="-122"/>
              </a:rPr>
              <a:t>MOST </a:t>
            </a:r>
            <a:r>
              <a:rPr lang="zh-CN" altLang="en-US" sz="1400" dirty="0">
                <a:solidFill>
                  <a:schemeClr val="bg1"/>
                </a:solidFill>
                <a:latin typeface="微软雅黑" pitchFamily="34" charset="-122"/>
                <a:ea typeface="微软雅黑" pitchFamily="34" charset="-122"/>
              </a:rPr>
              <a:t>总线的主控模块</a:t>
            </a:r>
            <a:r>
              <a:rPr lang="zh-CN" altLang="en-US" sz="1400" dirty="0" smtClean="0">
                <a:solidFill>
                  <a:schemeClr val="bg1"/>
                </a:solidFill>
                <a:latin typeface="微软雅黑" pitchFamily="34" charset="-122"/>
                <a:ea typeface="微软雅黑" pitchFamily="34" charset="-122"/>
              </a:rPr>
              <a:t>。整个</a:t>
            </a:r>
            <a:r>
              <a:rPr lang="zh-CN" altLang="en-US" sz="1400" dirty="0">
                <a:solidFill>
                  <a:schemeClr val="bg1"/>
                </a:solidFill>
                <a:latin typeface="微软雅黑" pitchFamily="34" charset="-122"/>
                <a:ea typeface="微软雅黑" pitchFamily="34" charset="-122"/>
              </a:rPr>
              <a:t>环型网络中，采用光缆单向传输信号，传输速率为 </a:t>
            </a:r>
            <a:r>
              <a:rPr lang="en-US" altLang="zh-CN" sz="1400" dirty="0">
                <a:solidFill>
                  <a:schemeClr val="bg1"/>
                </a:solidFill>
                <a:latin typeface="微软雅黑" pitchFamily="34" charset="-122"/>
                <a:ea typeface="微软雅黑" pitchFamily="34" charset="-122"/>
              </a:rPr>
              <a:t>22.5Mbit/s</a:t>
            </a:r>
            <a:r>
              <a:rPr lang="zh-CN" altLang="en-US" sz="1400" dirty="0">
                <a:solidFill>
                  <a:schemeClr val="bg1"/>
                </a:solidFill>
                <a:latin typeface="微软雅黑" pitchFamily="34" charset="-122"/>
                <a:ea typeface="微软雅黑" pitchFamily="34" charset="-122"/>
              </a:rPr>
              <a:t>。如果光纤出现断裂</a:t>
            </a:r>
            <a:r>
              <a:rPr lang="zh-CN" altLang="en-US" sz="1400" dirty="0" smtClean="0">
                <a:solidFill>
                  <a:schemeClr val="bg1"/>
                </a:solidFill>
                <a:latin typeface="微软雅黑" pitchFamily="34" charset="-122"/>
                <a:ea typeface="微软雅黑" pitchFamily="34" charset="-122"/>
              </a:rPr>
              <a:t>，整个</a:t>
            </a:r>
            <a:r>
              <a:rPr lang="zh-CN" altLang="en-US" sz="1400" dirty="0">
                <a:solidFill>
                  <a:schemeClr val="bg1"/>
                </a:solidFill>
                <a:latin typeface="微软雅黑" pitchFamily="34" charset="-122"/>
                <a:ea typeface="微软雅黑" pitchFamily="34" charset="-122"/>
              </a:rPr>
              <a:t>环路都不能通信。</a:t>
            </a:r>
          </a:p>
        </p:txBody>
      </p:sp>
    </p:spTree>
    <p:extLst>
      <p:ext uri="{BB962C8B-B14F-4D97-AF65-F5344CB8AC3E}">
        <p14:creationId xmlns:p14="http://schemas.microsoft.com/office/powerpoint/2010/main" val="23482204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31</a:t>
            </a:fld>
            <a:endParaRPr lang="zh-CN" altLang="en-US" dirty="0"/>
          </a:p>
        </p:txBody>
      </p:sp>
      <p:sp>
        <p:nvSpPr>
          <p:cNvPr id="7"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什么是LIN、MOST、Flex Ray总线网络？这些网络分别在汽车上有哪些应用？</a:t>
            </a:r>
          </a:p>
        </p:txBody>
      </p:sp>
      <p:sp>
        <p:nvSpPr>
          <p:cNvPr id="9" name="矩形 8"/>
          <p:cNvSpPr/>
          <p:nvPr/>
        </p:nvSpPr>
        <p:spPr>
          <a:xfrm>
            <a:off x="971600" y="1667520"/>
            <a:ext cx="3281668"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3.Flex Ray总线网络及应用</a:t>
            </a:r>
          </a:p>
        </p:txBody>
      </p:sp>
      <p:sp>
        <p:nvSpPr>
          <p:cNvPr id="4" name="矩形 3"/>
          <p:cNvSpPr/>
          <p:nvPr/>
        </p:nvSpPr>
        <p:spPr>
          <a:xfrm>
            <a:off x="971600" y="2139702"/>
            <a:ext cx="7200800" cy="1495922"/>
          </a:xfrm>
          <a:prstGeom prst="rect">
            <a:avLst/>
          </a:prstGeom>
          <a:solidFill>
            <a:srgbClr val="0070C0"/>
          </a:solidFill>
        </p:spPr>
        <p:txBody>
          <a:bodyPr wrap="square">
            <a:spAutoFit/>
          </a:bodyPr>
          <a:lstStyle/>
          <a:p>
            <a:pPr>
              <a:lnSpc>
                <a:spcPct val="114000"/>
              </a:lnSpc>
            </a:pPr>
            <a:r>
              <a:rPr lang="zh-CN" altLang="en-US" sz="1600" b="1" dirty="0">
                <a:solidFill>
                  <a:schemeClr val="bg1"/>
                </a:solidFill>
                <a:latin typeface="微软雅黑" pitchFamily="34" charset="-122"/>
                <a:ea typeface="微软雅黑" pitchFamily="34" charset="-122"/>
              </a:rPr>
              <a:t>（</a:t>
            </a:r>
            <a:r>
              <a:rPr lang="en-US" altLang="zh-CN" sz="1600" b="1" dirty="0">
                <a:solidFill>
                  <a:schemeClr val="bg1"/>
                </a:solidFill>
                <a:latin typeface="微软雅黑" pitchFamily="34" charset="-122"/>
                <a:ea typeface="微软雅黑" pitchFamily="34" charset="-122"/>
              </a:rPr>
              <a:t>1</a:t>
            </a:r>
            <a:r>
              <a:rPr lang="zh-CN" altLang="en-US" sz="1600" b="1" dirty="0">
                <a:solidFill>
                  <a:schemeClr val="bg1"/>
                </a:solidFill>
                <a:latin typeface="微软雅黑" pitchFamily="34" charset="-122"/>
                <a:ea typeface="微软雅黑" pitchFamily="34" charset="-122"/>
              </a:rPr>
              <a:t>）</a:t>
            </a:r>
            <a:r>
              <a:rPr lang="en-US" altLang="zh-CN" sz="1600" b="1" dirty="0" err="1">
                <a:solidFill>
                  <a:schemeClr val="bg1"/>
                </a:solidFill>
                <a:latin typeface="微软雅黑" pitchFamily="34" charset="-122"/>
                <a:ea typeface="微软雅黑" pitchFamily="34" charset="-122"/>
              </a:rPr>
              <a:t>FlexRay</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总线网络</a:t>
            </a:r>
            <a:r>
              <a:rPr lang="zh-CN" altLang="en-US" sz="1600" b="1" dirty="0" smtClean="0">
                <a:solidFill>
                  <a:schemeClr val="bg1"/>
                </a:solidFill>
                <a:latin typeface="微软雅黑" pitchFamily="34" charset="-122"/>
                <a:ea typeface="微软雅黑" pitchFamily="34" charset="-122"/>
              </a:rPr>
              <a:t>概述</a:t>
            </a:r>
            <a:r>
              <a:rPr lang="zh-CN" altLang="en-US" sz="1600" b="1" dirty="0">
                <a:solidFill>
                  <a:schemeClr val="bg1"/>
                </a:solidFill>
                <a:latin typeface="微软雅黑" pitchFamily="34" charset="-122"/>
                <a:ea typeface="微软雅黑" pitchFamily="34" charset="-122"/>
              </a:rPr>
              <a:t>：</a:t>
            </a:r>
            <a:r>
              <a:rPr lang="en-US" altLang="zh-CN" sz="1600" dirty="0" err="1" smtClean="0">
                <a:solidFill>
                  <a:schemeClr val="bg1"/>
                </a:solidFill>
                <a:latin typeface="微软雅黑" pitchFamily="34" charset="-122"/>
                <a:ea typeface="微软雅黑" pitchFamily="34" charset="-122"/>
              </a:rPr>
              <a:t>FlexRay</a:t>
            </a:r>
            <a:r>
              <a:rPr lang="en-US" altLang="zh-CN" sz="1600" dirty="0" smtClean="0">
                <a:solidFill>
                  <a:schemeClr val="bg1"/>
                </a:solidFill>
                <a:latin typeface="微软雅黑" pitchFamily="34" charset="-122"/>
                <a:ea typeface="微软雅黑" pitchFamily="34" charset="-122"/>
              </a:rPr>
              <a:t> </a:t>
            </a:r>
            <a:r>
              <a:rPr lang="zh-CN" altLang="en-US" sz="1600" dirty="0">
                <a:solidFill>
                  <a:schemeClr val="bg1"/>
                </a:solidFill>
                <a:latin typeface="微软雅黑" pitchFamily="34" charset="-122"/>
                <a:ea typeface="微软雅黑" pitchFamily="34" charset="-122"/>
              </a:rPr>
              <a:t>联盟是一个研发企业联合组织，成立于 </a:t>
            </a:r>
            <a:r>
              <a:rPr lang="en-US" altLang="zh-CN" sz="1600" dirty="0">
                <a:solidFill>
                  <a:schemeClr val="bg1"/>
                </a:solidFill>
                <a:latin typeface="微软雅黑" pitchFamily="34" charset="-122"/>
                <a:ea typeface="微软雅黑" pitchFamily="34" charset="-122"/>
              </a:rPr>
              <a:t>2000</a:t>
            </a:r>
            <a:r>
              <a:rPr lang="zh-CN" altLang="en-US" sz="1600" dirty="0">
                <a:solidFill>
                  <a:schemeClr val="bg1"/>
                </a:solidFill>
                <a:latin typeface="微软雅黑" pitchFamily="34" charset="-122"/>
                <a:ea typeface="微软雅黑" pitchFamily="34" charset="-122"/>
              </a:rPr>
              <a:t>年，联盟核心成员包括宝马、大众</a:t>
            </a:r>
            <a:r>
              <a:rPr lang="zh-CN" altLang="en-US" sz="1600" dirty="0" smtClean="0">
                <a:solidFill>
                  <a:schemeClr val="bg1"/>
                </a:solidFill>
                <a:latin typeface="微软雅黑" pitchFamily="34" charset="-122"/>
                <a:ea typeface="微软雅黑" pitchFamily="34" charset="-122"/>
              </a:rPr>
              <a:t>、奔驰</a:t>
            </a:r>
            <a:r>
              <a:rPr lang="zh-CN" altLang="en-US" sz="1600" dirty="0">
                <a:solidFill>
                  <a:schemeClr val="bg1"/>
                </a:solidFill>
                <a:latin typeface="微软雅黑" pitchFamily="34" charset="-122"/>
                <a:ea typeface="微软雅黑" pitchFamily="34" charset="-122"/>
              </a:rPr>
              <a:t>、通用、</a:t>
            </a:r>
            <a:r>
              <a:rPr lang="en-US" altLang="zh-CN" sz="1600" dirty="0">
                <a:solidFill>
                  <a:schemeClr val="bg1"/>
                </a:solidFill>
                <a:latin typeface="微软雅黑" pitchFamily="34" charset="-122"/>
                <a:ea typeface="微软雅黑" pitchFamily="34" charset="-122"/>
              </a:rPr>
              <a:t>NXP</a:t>
            </a:r>
            <a:r>
              <a:rPr lang="zh-CN" altLang="en-US" sz="1600" dirty="0">
                <a:solidFill>
                  <a:schemeClr val="bg1"/>
                </a:solidFill>
                <a:latin typeface="微软雅黑" pitchFamily="34" charset="-122"/>
                <a:ea typeface="微软雅黑" pitchFamily="34" charset="-122"/>
              </a:rPr>
              <a:t>、博世、飞思卡</a:t>
            </a:r>
            <a:r>
              <a:rPr lang="zh-CN" altLang="en-US" sz="1600" dirty="0" smtClean="0">
                <a:solidFill>
                  <a:schemeClr val="bg1"/>
                </a:solidFill>
                <a:latin typeface="微软雅黑" pitchFamily="34" charset="-122"/>
                <a:ea typeface="微软雅黑" pitchFamily="34" charset="-122"/>
              </a:rPr>
              <a:t>尔等。 </a:t>
            </a:r>
            <a:r>
              <a:rPr lang="en-US" altLang="zh-CN" sz="1600" dirty="0" err="1" smtClean="0">
                <a:solidFill>
                  <a:schemeClr val="bg1"/>
                </a:solidFill>
                <a:latin typeface="微软雅黑" pitchFamily="34" charset="-122"/>
                <a:ea typeface="微软雅黑" pitchFamily="34" charset="-122"/>
              </a:rPr>
              <a:t>FlexRay</a:t>
            </a:r>
            <a:r>
              <a:rPr lang="en-US" altLang="zh-CN" sz="1600" dirty="0" smtClean="0">
                <a:solidFill>
                  <a:schemeClr val="bg1"/>
                </a:solidFill>
                <a:latin typeface="微软雅黑" pitchFamily="34" charset="-122"/>
                <a:ea typeface="微软雅黑" pitchFamily="34" charset="-122"/>
              </a:rPr>
              <a:t> </a:t>
            </a:r>
            <a:r>
              <a:rPr lang="zh-CN" altLang="en-US" sz="1600" dirty="0">
                <a:solidFill>
                  <a:schemeClr val="bg1"/>
                </a:solidFill>
                <a:latin typeface="微软雅黑" pitchFamily="34" charset="-122"/>
                <a:ea typeface="微软雅黑" pitchFamily="34" charset="-122"/>
              </a:rPr>
              <a:t>总线是一种用于汽车的高速的、确定性的、具备故障</a:t>
            </a:r>
            <a:r>
              <a:rPr lang="zh-CN" altLang="en-US" sz="1600" dirty="0" smtClean="0">
                <a:solidFill>
                  <a:schemeClr val="bg1"/>
                </a:solidFill>
                <a:latin typeface="微软雅黑" pitchFamily="34" charset="-122"/>
                <a:ea typeface="微软雅黑" pitchFamily="34" charset="-122"/>
              </a:rPr>
              <a:t>容错</a:t>
            </a:r>
            <a:r>
              <a:rPr lang="zh-CN" altLang="en-US" sz="1600" dirty="0">
                <a:solidFill>
                  <a:schemeClr val="bg1"/>
                </a:solidFill>
                <a:latin typeface="微软雅黑" pitchFamily="34" charset="-122"/>
                <a:ea typeface="微软雅黑" pitchFamily="34" charset="-122"/>
              </a:rPr>
              <a:t>能力的总线技术，它将事件触发和时间触发两种方式结合，具有高效的网络利用率和</a:t>
            </a:r>
            <a:r>
              <a:rPr lang="zh-CN" altLang="en-US" sz="1600" dirty="0" smtClean="0">
                <a:solidFill>
                  <a:schemeClr val="bg1"/>
                </a:solidFill>
                <a:latin typeface="微软雅黑" pitchFamily="34" charset="-122"/>
                <a:ea typeface="微软雅黑" pitchFamily="34" charset="-122"/>
              </a:rPr>
              <a:t>系统</a:t>
            </a:r>
            <a:r>
              <a:rPr lang="zh-CN" altLang="en-US" sz="1600" dirty="0">
                <a:solidFill>
                  <a:schemeClr val="bg1"/>
                </a:solidFill>
                <a:latin typeface="微软雅黑" pitchFamily="34" charset="-122"/>
                <a:ea typeface="微软雅黑" pitchFamily="34" charset="-122"/>
              </a:rPr>
              <a:t>灵活性特点。</a:t>
            </a:r>
          </a:p>
        </p:txBody>
      </p:sp>
      <p:sp>
        <p:nvSpPr>
          <p:cNvPr id="5" name="矩形 4"/>
          <p:cNvSpPr/>
          <p:nvPr/>
        </p:nvSpPr>
        <p:spPr>
          <a:xfrm>
            <a:off x="941502" y="3723878"/>
            <a:ext cx="7230898" cy="934487"/>
          </a:xfrm>
          <a:prstGeom prst="rect">
            <a:avLst/>
          </a:prstGeom>
          <a:solidFill>
            <a:srgbClr val="0070C0"/>
          </a:solidFill>
        </p:spPr>
        <p:txBody>
          <a:bodyPr wrap="square">
            <a:spAutoFit/>
          </a:bodyPr>
          <a:lstStyle/>
          <a:p>
            <a:pPr>
              <a:lnSpc>
                <a:spcPct val="114000"/>
              </a:lnSpc>
            </a:pPr>
            <a:r>
              <a:rPr lang="en-US" altLang="zh-CN" sz="1600" dirty="0" err="1">
                <a:solidFill>
                  <a:schemeClr val="bg1"/>
                </a:solidFill>
                <a:latin typeface="微软雅黑" pitchFamily="34" charset="-122"/>
                <a:ea typeface="微软雅黑" pitchFamily="34" charset="-122"/>
              </a:rPr>
              <a:t>FlexRay</a:t>
            </a:r>
            <a:r>
              <a:rPr lang="en-US" altLang="zh-CN" sz="1600" dirty="0">
                <a:solidFill>
                  <a:schemeClr val="bg1"/>
                </a:solidFill>
                <a:latin typeface="微软雅黑" pitchFamily="34" charset="-122"/>
                <a:ea typeface="微软雅黑" pitchFamily="34" charset="-122"/>
              </a:rPr>
              <a:t> </a:t>
            </a:r>
            <a:r>
              <a:rPr lang="zh-CN" altLang="en-US" sz="1600" dirty="0">
                <a:solidFill>
                  <a:schemeClr val="bg1"/>
                </a:solidFill>
                <a:latin typeface="微软雅黑" pitchFamily="34" charset="-122"/>
                <a:ea typeface="微软雅黑" pitchFamily="34" charset="-122"/>
              </a:rPr>
              <a:t>总线的基本特征是</a:t>
            </a:r>
            <a:r>
              <a:rPr lang="zh-CN" altLang="en-US" sz="1600" dirty="0" smtClean="0">
                <a:solidFill>
                  <a:schemeClr val="bg1"/>
                </a:solidFill>
                <a:latin typeface="微软雅黑" pitchFamily="34" charset="-122"/>
                <a:ea typeface="微软雅黑" pitchFamily="34" charset="-122"/>
              </a:rPr>
              <a:t>：采用</a:t>
            </a:r>
            <a:r>
              <a:rPr lang="zh-CN" altLang="en-US" sz="1600" dirty="0">
                <a:solidFill>
                  <a:schemeClr val="bg1"/>
                </a:solidFill>
                <a:latin typeface="微软雅黑" pitchFamily="34" charset="-122"/>
                <a:ea typeface="微软雅黑" pitchFamily="34" charset="-122"/>
              </a:rPr>
              <a:t>双绞线总线，也有终端</a:t>
            </a:r>
            <a:r>
              <a:rPr lang="zh-CN" altLang="en-US" sz="1600" dirty="0" smtClean="0">
                <a:solidFill>
                  <a:schemeClr val="bg1"/>
                </a:solidFill>
                <a:latin typeface="微软雅黑" pitchFamily="34" charset="-122"/>
                <a:ea typeface="微软雅黑" pitchFamily="34" charset="-122"/>
              </a:rPr>
              <a:t>电阻；数据传输率最快 </a:t>
            </a:r>
            <a:r>
              <a:rPr lang="en-US" altLang="zh-CN" sz="1600" dirty="0">
                <a:solidFill>
                  <a:schemeClr val="bg1"/>
                </a:solidFill>
                <a:latin typeface="微软雅黑" pitchFamily="34" charset="-122"/>
                <a:ea typeface="微软雅黑" pitchFamily="34" charset="-122"/>
              </a:rPr>
              <a:t>10 </a:t>
            </a:r>
            <a:r>
              <a:rPr lang="en-US" altLang="zh-CN" sz="1600" dirty="0" smtClean="0">
                <a:solidFill>
                  <a:schemeClr val="bg1"/>
                </a:solidFill>
                <a:latin typeface="微软雅黑" pitchFamily="34" charset="-122"/>
                <a:ea typeface="微软雅黑" pitchFamily="34" charset="-122"/>
              </a:rPr>
              <a:t>Mbit/s</a:t>
            </a:r>
            <a:r>
              <a:rPr lang="zh-CN" altLang="en-US" sz="1600" dirty="0" smtClean="0">
                <a:solidFill>
                  <a:schemeClr val="bg1"/>
                </a:solidFill>
                <a:latin typeface="微软雅黑" pitchFamily="34" charset="-122"/>
                <a:ea typeface="微软雅黑" pitchFamily="34" charset="-122"/>
              </a:rPr>
              <a:t>；传输</a:t>
            </a:r>
            <a:r>
              <a:rPr lang="zh-CN" altLang="en-US" sz="1600" dirty="0">
                <a:solidFill>
                  <a:schemeClr val="bg1"/>
                </a:solidFill>
                <a:latin typeface="微软雅黑" pitchFamily="34" charset="-122"/>
                <a:ea typeface="微软雅黑" pitchFamily="34" charset="-122"/>
              </a:rPr>
              <a:t>三种信号状态：“空闲”“</a:t>
            </a:r>
            <a:r>
              <a:rPr lang="en-US" altLang="zh-CN" sz="1600" dirty="0">
                <a:solidFill>
                  <a:schemeClr val="bg1"/>
                </a:solidFill>
                <a:latin typeface="微软雅黑" pitchFamily="34" charset="-122"/>
                <a:ea typeface="微软雅黑" pitchFamily="34" charset="-122"/>
              </a:rPr>
              <a:t>Data 0”“Data 1</a:t>
            </a:r>
            <a:r>
              <a:rPr lang="en-US" altLang="zh-CN" sz="1600" dirty="0" smtClean="0">
                <a:solidFill>
                  <a:schemeClr val="bg1"/>
                </a:solidFill>
                <a:latin typeface="微软雅黑" pitchFamily="34" charset="-122"/>
                <a:ea typeface="微软雅黑" pitchFamily="34" charset="-122"/>
              </a:rPr>
              <a:t>”</a:t>
            </a:r>
            <a:r>
              <a:rPr lang="zh-CN" altLang="en-US" sz="1600" dirty="0" smtClean="0">
                <a:solidFill>
                  <a:schemeClr val="bg1"/>
                </a:solidFill>
                <a:latin typeface="微软雅黑" pitchFamily="34" charset="-122"/>
                <a:ea typeface="微软雅黑" pitchFamily="34" charset="-122"/>
              </a:rPr>
              <a:t>；“主动”</a:t>
            </a:r>
            <a:r>
              <a:rPr lang="zh-CN" altLang="en-US" sz="1600" dirty="0">
                <a:solidFill>
                  <a:schemeClr val="bg1"/>
                </a:solidFill>
                <a:latin typeface="微软雅黑" pitchFamily="34" charset="-122"/>
                <a:ea typeface="微软雅黑" pitchFamily="34" charset="-122"/>
              </a:rPr>
              <a:t>星型</a:t>
            </a:r>
            <a:r>
              <a:rPr lang="zh-CN" altLang="en-US" sz="1600" dirty="0" smtClean="0">
                <a:solidFill>
                  <a:schemeClr val="bg1"/>
                </a:solidFill>
                <a:latin typeface="微软雅黑" pitchFamily="34" charset="-122"/>
                <a:ea typeface="微软雅黑" pitchFamily="34" charset="-122"/>
              </a:rPr>
              <a:t>拓扑结构；实时控制；实现</a:t>
            </a:r>
            <a:r>
              <a:rPr lang="zh-CN" altLang="en-US" sz="1600" dirty="0">
                <a:solidFill>
                  <a:schemeClr val="bg1"/>
                </a:solidFill>
                <a:latin typeface="微软雅黑" pitchFamily="34" charset="-122"/>
                <a:ea typeface="微软雅黑" pitchFamily="34" charset="-122"/>
              </a:rPr>
              <a:t>分布式控制和与安全相关的系统的使用。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32</a:t>
            </a:fld>
            <a:endParaRPr lang="zh-CN" altLang="en-US" dirty="0"/>
          </a:p>
        </p:txBody>
      </p:sp>
      <p:sp>
        <p:nvSpPr>
          <p:cNvPr id="7"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什么是LIN、MOST、Flex Ray总线网络？这些网络分别在汽车上有哪些应用？</a:t>
            </a:r>
          </a:p>
        </p:txBody>
      </p:sp>
      <p:sp>
        <p:nvSpPr>
          <p:cNvPr id="9" name="矩形 8"/>
          <p:cNvSpPr/>
          <p:nvPr/>
        </p:nvSpPr>
        <p:spPr>
          <a:xfrm>
            <a:off x="971600" y="1563638"/>
            <a:ext cx="3281668"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3.Flex Ray总线网络及应用</a:t>
            </a:r>
          </a:p>
        </p:txBody>
      </p:sp>
      <p:sp>
        <p:nvSpPr>
          <p:cNvPr id="4" name="矩形 3"/>
          <p:cNvSpPr/>
          <p:nvPr/>
        </p:nvSpPr>
        <p:spPr>
          <a:xfrm>
            <a:off x="971600" y="2067694"/>
            <a:ext cx="7200800" cy="653769"/>
          </a:xfrm>
          <a:prstGeom prst="rect">
            <a:avLst/>
          </a:prstGeom>
          <a:solidFill>
            <a:srgbClr val="0070C0"/>
          </a:solidFill>
        </p:spPr>
        <p:txBody>
          <a:bodyPr wrap="square">
            <a:spAutoFit/>
          </a:bodyPr>
          <a:lstStyle/>
          <a:p>
            <a:pPr>
              <a:lnSpc>
                <a:spcPct val="114000"/>
              </a:lnSpc>
            </a:pPr>
            <a:r>
              <a:rPr lang="en-US" altLang="zh-CN" sz="1600" dirty="0" err="1">
                <a:solidFill>
                  <a:schemeClr val="bg1"/>
                </a:solidFill>
                <a:latin typeface="微软雅黑" pitchFamily="34" charset="-122"/>
                <a:ea typeface="微软雅黑" pitchFamily="34" charset="-122"/>
              </a:rPr>
              <a:t>FlexRay</a:t>
            </a:r>
            <a:r>
              <a:rPr lang="en-US" altLang="zh-CN" sz="1600" dirty="0">
                <a:solidFill>
                  <a:schemeClr val="bg1"/>
                </a:solidFill>
                <a:latin typeface="微软雅黑" pitchFamily="34" charset="-122"/>
                <a:ea typeface="微软雅黑" pitchFamily="34" charset="-122"/>
              </a:rPr>
              <a:t> </a:t>
            </a:r>
            <a:r>
              <a:rPr lang="zh-CN" altLang="en-US" sz="1600" dirty="0" smtClean="0">
                <a:solidFill>
                  <a:schemeClr val="bg1"/>
                </a:solidFill>
                <a:latin typeface="微软雅黑" pitchFamily="34" charset="-122"/>
                <a:ea typeface="微软雅黑" pitchFamily="34" charset="-122"/>
              </a:rPr>
              <a:t>总线的基本</a:t>
            </a:r>
            <a:r>
              <a:rPr lang="zh-CN" altLang="en-US" sz="1600" dirty="0">
                <a:solidFill>
                  <a:schemeClr val="bg1"/>
                </a:solidFill>
                <a:latin typeface="微软雅黑" pitchFamily="34" charset="-122"/>
                <a:ea typeface="微软雅黑" pitchFamily="34" charset="-122"/>
              </a:rPr>
              <a:t>工作方式可以用索道做比喻：索道的站点就像总线用户，即信息发送和接收器（</a:t>
            </a:r>
            <a:r>
              <a:rPr lang="zh-CN" altLang="en-US" sz="1600" dirty="0" smtClean="0">
                <a:solidFill>
                  <a:schemeClr val="bg1"/>
                </a:solidFill>
                <a:latin typeface="微软雅黑" pitchFamily="34" charset="-122"/>
                <a:ea typeface="微软雅黑" pitchFamily="34" charset="-122"/>
              </a:rPr>
              <a:t>控制单元</a:t>
            </a:r>
            <a:r>
              <a:rPr lang="zh-CN" altLang="en-US" sz="1600" dirty="0">
                <a:solidFill>
                  <a:schemeClr val="bg1"/>
                </a:solidFill>
                <a:latin typeface="微软雅黑" pitchFamily="34" charset="-122"/>
                <a:ea typeface="微软雅黑" pitchFamily="34" charset="-122"/>
              </a:rPr>
              <a:t>）。索道的吊车就像数据帧，而乘客就是信息。</a:t>
            </a:r>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4049" y="2733840"/>
            <a:ext cx="3180822" cy="1998150"/>
          </a:xfrm>
          <a:prstGeom prst="rect">
            <a:avLst/>
          </a:prstGeom>
          <a:noFill/>
          <a:ln w="9525">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961648" y="2860803"/>
            <a:ext cx="3898384" cy="1811393"/>
          </a:xfrm>
          <a:prstGeom prst="rect">
            <a:avLst/>
          </a:prstGeom>
          <a:solidFill>
            <a:srgbClr val="0070C0"/>
          </a:solidFill>
        </p:spPr>
        <p:txBody>
          <a:bodyPr wrap="square">
            <a:spAutoFit/>
          </a:bodyPr>
          <a:lstStyle/>
          <a:p>
            <a:pPr>
              <a:lnSpc>
                <a:spcPct val="114000"/>
              </a:lnSpc>
            </a:pPr>
            <a:r>
              <a:rPr lang="zh-CN" altLang="en-US" sz="1400" dirty="0">
                <a:solidFill>
                  <a:schemeClr val="bg1"/>
                </a:solidFill>
                <a:latin typeface="微软雅黑" pitchFamily="34" charset="-122"/>
                <a:ea typeface="微软雅黑" pitchFamily="34" charset="-122"/>
              </a:rPr>
              <a:t>总线用户通过 </a:t>
            </a:r>
            <a:r>
              <a:rPr lang="en-US" altLang="zh-CN" sz="1400" dirty="0" err="1">
                <a:solidFill>
                  <a:schemeClr val="bg1"/>
                </a:solidFill>
                <a:latin typeface="微软雅黑" pitchFamily="34" charset="-122"/>
                <a:ea typeface="微软雅黑" pitchFamily="34" charset="-122"/>
              </a:rPr>
              <a:t>FlexRay</a:t>
            </a:r>
            <a:r>
              <a:rPr lang="en-US" altLang="zh-CN" sz="1400" dirty="0">
                <a:solidFill>
                  <a:schemeClr val="bg1"/>
                </a:solidFill>
                <a:latin typeface="微软雅黑" pitchFamily="34" charset="-122"/>
                <a:ea typeface="微软雅黑" pitchFamily="34" charset="-122"/>
              </a:rPr>
              <a:t> </a:t>
            </a:r>
            <a:r>
              <a:rPr lang="zh-CN" altLang="en-US" sz="1400" dirty="0">
                <a:solidFill>
                  <a:schemeClr val="bg1"/>
                </a:solidFill>
                <a:latin typeface="微软雅黑" pitchFamily="34" charset="-122"/>
                <a:ea typeface="微软雅黑" pitchFamily="34" charset="-122"/>
              </a:rPr>
              <a:t>总线发送信息的时间点精准确定；发出信息到达接收器的</a:t>
            </a:r>
            <a:r>
              <a:rPr lang="zh-CN" altLang="en-US" sz="1400" dirty="0" smtClean="0">
                <a:solidFill>
                  <a:schemeClr val="bg1"/>
                </a:solidFill>
                <a:latin typeface="微软雅黑" pitchFamily="34" charset="-122"/>
                <a:ea typeface="微软雅黑" pitchFamily="34" charset="-122"/>
              </a:rPr>
              <a:t>时间也</a:t>
            </a:r>
            <a:r>
              <a:rPr lang="zh-CN" altLang="en-US" sz="1400" dirty="0">
                <a:solidFill>
                  <a:schemeClr val="bg1"/>
                </a:solidFill>
                <a:latin typeface="微软雅黑" pitchFamily="34" charset="-122"/>
                <a:ea typeface="微软雅黑" pitchFamily="34" charset="-122"/>
              </a:rPr>
              <a:t>可以精确识别。这就与索道既定不变的“时刻表”相同。 即使总线用户不发送任何信息，也为它预留一定的带宽，就像索道上，无论是否有</a:t>
            </a:r>
            <a:r>
              <a:rPr lang="zh-CN" altLang="en-US" sz="1400" dirty="0" smtClean="0">
                <a:solidFill>
                  <a:schemeClr val="bg1"/>
                </a:solidFill>
                <a:latin typeface="微软雅黑" pitchFamily="34" charset="-122"/>
                <a:ea typeface="微软雅黑" pitchFamily="34" charset="-122"/>
              </a:rPr>
              <a:t>乘客</a:t>
            </a:r>
            <a:r>
              <a:rPr lang="zh-CN" altLang="en-US" sz="1400" dirty="0">
                <a:solidFill>
                  <a:schemeClr val="bg1"/>
                </a:solidFill>
                <a:latin typeface="微软雅黑" pitchFamily="34" charset="-122"/>
                <a:ea typeface="微软雅黑" pitchFamily="34" charset="-122"/>
              </a:rPr>
              <a:t>，索道都在运行。所以 </a:t>
            </a:r>
            <a:r>
              <a:rPr lang="en-US" altLang="zh-CN" sz="1400" dirty="0" err="1">
                <a:solidFill>
                  <a:schemeClr val="bg1"/>
                </a:solidFill>
                <a:latin typeface="微软雅黑" pitchFamily="34" charset="-122"/>
                <a:ea typeface="微软雅黑" pitchFamily="34" charset="-122"/>
              </a:rPr>
              <a:t>FlexRay</a:t>
            </a:r>
            <a:r>
              <a:rPr lang="en-US" altLang="zh-CN" sz="1400" dirty="0">
                <a:solidFill>
                  <a:schemeClr val="bg1"/>
                </a:solidFill>
                <a:latin typeface="微软雅黑" pitchFamily="34" charset="-122"/>
                <a:ea typeface="微软雅黑" pitchFamily="34" charset="-122"/>
              </a:rPr>
              <a:t> </a:t>
            </a:r>
            <a:r>
              <a:rPr lang="zh-CN" altLang="en-US" sz="1400" dirty="0">
                <a:solidFill>
                  <a:schemeClr val="bg1"/>
                </a:solidFill>
                <a:latin typeface="微软雅黑" pitchFamily="34" charset="-122"/>
                <a:ea typeface="微软雅黑" pitchFamily="34" charset="-122"/>
              </a:rPr>
              <a:t>总线不需要像在 </a:t>
            </a:r>
            <a:r>
              <a:rPr lang="en-US" altLang="zh-CN" sz="1400" dirty="0">
                <a:solidFill>
                  <a:schemeClr val="bg1"/>
                </a:solidFill>
                <a:latin typeface="微软雅黑" pitchFamily="34" charset="-122"/>
                <a:ea typeface="微软雅黑" pitchFamily="34" charset="-122"/>
              </a:rPr>
              <a:t>CAN </a:t>
            </a:r>
            <a:r>
              <a:rPr lang="zh-CN" altLang="en-US" sz="1400" dirty="0">
                <a:solidFill>
                  <a:schemeClr val="bg1"/>
                </a:solidFill>
                <a:latin typeface="微软雅黑" pitchFamily="34" charset="-122"/>
                <a:ea typeface="微软雅黑" pitchFamily="34" charset="-122"/>
              </a:rPr>
              <a:t>总线上那样设定信息的优先级。</a:t>
            </a:r>
          </a:p>
        </p:txBody>
      </p:sp>
      <p:sp>
        <p:nvSpPr>
          <p:cNvPr id="10" name="矩形 9"/>
          <p:cNvSpPr/>
          <p:nvPr/>
        </p:nvSpPr>
        <p:spPr>
          <a:xfrm>
            <a:off x="4308460" y="1563638"/>
            <a:ext cx="3876411" cy="338554"/>
          </a:xfrm>
          <a:prstGeom prst="rect">
            <a:avLst/>
          </a:prstGeom>
          <a:solidFill>
            <a:srgbClr val="0070C0"/>
          </a:solidFill>
        </p:spPr>
        <p:txBody>
          <a:bodyPr wrap="square">
            <a:spAutoFit/>
          </a:bodyPr>
          <a:lstStyle/>
          <a:p>
            <a:r>
              <a:rPr lang="zh-CN" altLang="en-US" sz="1600" dirty="0">
                <a:solidFill>
                  <a:schemeClr val="bg1"/>
                </a:solidFill>
                <a:latin typeface="微软雅黑" pitchFamily="34" charset="-122"/>
                <a:ea typeface="微软雅黑" pitchFamily="34" charset="-122"/>
              </a:rPr>
              <a:t>（</a:t>
            </a:r>
            <a:r>
              <a:rPr lang="en-US" altLang="zh-CN" sz="1600" dirty="0">
                <a:solidFill>
                  <a:schemeClr val="bg1"/>
                </a:solidFill>
                <a:latin typeface="微软雅黑" pitchFamily="34" charset="-122"/>
                <a:ea typeface="微软雅黑" pitchFamily="34" charset="-122"/>
              </a:rPr>
              <a:t>2</a:t>
            </a:r>
            <a:r>
              <a:rPr lang="zh-CN" altLang="en-US" sz="1600" dirty="0">
                <a:solidFill>
                  <a:schemeClr val="bg1"/>
                </a:solidFill>
                <a:latin typeface="微软雅黑" pitchFamily="34" charset="-122"/>
                <a:ea typeface="微软雅黑" pitchFamily="34" charset="-122"/>
              </a:rPr>
              <a:t>）</a:t>
            </a:r>
            <a:r>
              <a:rPr lang="en-US" altLang="zh-CN" sz="1600" dirty="0" err="1">
                <a:solidFill>
                  <a:schemeClr val="bg1"/>
                </a:solidFill>
                <a:latin typeface="微软雅黑" pitchFamily="34" charset="-122"/>
                <a:ea typeface="微软雅黑" pitchFamily="34" charset="-122"/>
              </a:rPr>
              <a:t>FlexRay</a:t>
            </a:r>
            <a:r>
              <a:rPr lang="en-US" altLang="zh-CN" sz="1600" dirty="0">
                <a:solidFill>
                  <a:schemeClr val="bg1"/>
                </a:solidFill>
                <a:latin typeface="微软雅黑" pitchFamily="34" charset="-122"/>
                <a:ea typeface="微软雅黑" pitchFamily="34" charset="-122"/>
              </a:rPr>
              <a:t> </a:t>
            </a:r>
            <a:r>
              <a:rPr lang="zh-CN" altLang="en-US" sz="1600" dirty="0" smtClean="0">
                <a:solidFill>
                  <a:schemeClr val="bg1"/>
                </a:solidFill>
                <a:latin typeface="微软雅黑" pitchFamily="34" charset="-122"/>
                <a:ea typeface="微软雅黑" pitchFamily="34" charset="-122"/>
              </a:rPr>
              <a:t>基本原理</a:t>
            </a:r>
            <a:r>
              <a:rPr lang="zh-CN" altLang="en-US" sz="1600" dirty="0">
                <a:solidFill>
                  <a:schemeClr val="bg1"/>
                </a:solidFill>
                <a:latin typeface="微软雅黑" pitchFamily="34" charset="-122"/>
                <a:ea typeface="微软雅黑" pitchFamily="34" charset="-122"/>
              </a:rPr>
              <a:t>和信号传输方式</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33</a:t>
            </a:fld>
            <a:endParaRPr lang="zh-CN" altLang="en-US" dirty="0"/>
          </a:p>
        </p:txBody>
      </p:sp>
      <p:sp>
        <p:nvSpPr>
          <p:cNvPr id="2" name="矩形 1"/>
          <p:cNvSpPr/>
          <p:nvPr/>
        </p:nvSpPr>
        <p:spPr>
          <a:xfrm>
            <a:off x="971600" y="2008742"/>
            <a:ext cx="7173456" cy="653769"/>
          </a:xfrm>
          <a:prstGeom prst="rect">
            <a:avLst/>
          </a:prstGeom>
          <a:solidFill>
            <a:srgbClr val="0070C0"/>
          </a:solidFill>
        </p:spPr>
        <p:txBody>
          <a:bodyPr wrap="square">
            <a:spAutoFit/>
          </a:bodyPr>
          <a:lstStyle/>
          <a:p>
            <a:pPr fontAlgn="base">
              <a:lnSpc>
                <a:spcPct val="114000"/>
              </a:lnSpc>
            </a:pPr>
            <a:r>
              <a:rPr lang="zh-CN" altLang="en-US" sz="1600" b="1" dirty="0">
                <a:solidFill>
                  <a:schemeClr val="bg1"/>
                </a:solidFill>
                <a:latin typeface="微软雅黑" pitchFamily="34" charset="-122"/>
                <a:ea typeface="微软雅黑" pitchFamily="34" charset="-122"/>
              </a:rPr>
              <a:t>（</a:t>
            </a:r>
            <a:r>
              <a:rPr lang="en-US" altLang="zh-CN" sz="1600" b="1" dirty="0">
                <a:solidFill>
                  <a:schemeClr val="bg1"/>
                </a:solidFill>
                <a:latin typeface="微软雅黑" pitchFamily="34" charset="-122"/>
                <a:ea typeface="微软雅黑" pitchFamily="34" charset="-122"/>
              </a:rPr>
              <a:t>3</a:t>
            </a:r>
            <a:r>
              <a:rPr lang="zh-CN" altLang="en-US" sz="1600" b="1" dirty="0">
                <a:solidFill>
                  <a:schemeClr val="bg1"/>
                </a:solidFill>
                <a:latin typeface="微软雅黑" pitchFamily="34" charset="-122"/>
                <a:ea typeface="微软雅黑" pitchFamily="34" charset="-122"/>
              </a:rPr>
              <a:t>）</a:t>
            </a:r>
            <a:r>
              <a:rPr lang="en-US" altLang="zh-CN" sz="1600" b="1" dirty="0" err="1">
                <a:solidFill>
                  <a:schemeClr val="bg1"/>
                </a:solidFill>
                <a:latin typeface="微软雅黑" pitchFamily="34" charset="-122"/>
                <a:ea typeface="微软雅黑" pitchFamily="34" charset="-122"/>
              </a:rPr>
              <a:t>FlexRay</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总线在汽车上的</a:t>
            </a:r>
            <a:r>
              <a:rPr lang="zh-CN" altLang="en-US" sz="1600" b="1" dirty="0" smtClean="0">
                <a:solidFill>
                  <a:schemeClr val="bg1"/>
                </a:solidFill>
                <a:latin typeface="微软雅黑" pitchFamily="34" charset="-122"/>
                <a:ea typeface="微软雅黑" pitchFamily="34" charset="-122"/>
              </a:rPr>
              <a:t>应用：</a:t>
            </a:r>
            <a:r>
              <a:rPr sz="1600" dirty="0" smtClean="0">
                <a:solidFill>
                  <a:schemeClr val="bg1"/>
                </a:solidFill>
                <a:latin typeface="微软雅黑" panose="020B0503020204020204" pitchFamily="34" charset="-122"/>
                <a:ea typeface="微软雅黑" panose="020B0503020204020204" pitchFamily="34" charset="-122"/>
              </a:rPr>
              <a:t>Flex </a:t>
            </a:r>
            <a:r>
              <a:rPr sz="1600" dirty="0" err="1">
                <a:solidFill>
                  <a:schemeClr val="bg1"/>
                </a:solidFill>
                <a:latin typeface="微软雅黑" panose="020B0503020204020204" pitchFamily="34" charset="-122"/>
                <a:ea typeface="微软雅黑" panose="020B0503020204020204" pitchFamily="34" charset="-122"/>
              </a:rPr>
              <a:t>Ray已经成为新一代汽车</a:t>
            </a:r>
            <a:r>
              <a:rPr sz="1600" dirty="0" smtClean="0">
                <a:solidFill>
                  <a:schemeClr val="bg1"/>
                </a:solidFill>
                <a:latin typeface="微软雅黑" panose="020B0503020204020204" pitchFamily="34" charset="-122"/>
                <a:ea typeface="微软雅黑" panose="020B0503020204020204" pitchFamily="34" charset="-122"/>
              </a:rPr>
              <a:t>（</a:t>
            </a:r>
            <a:r>
              <a:rPr lang="zh-CN" altLang="en-US" sz="1600" dirty="0">
                <a:solidFill>
                  <a:schemeClr val="bg1"/>
                </a:solidFill>
                <a:latin typeface="微软雅黑" panose="020B0503020204020204" pitchFamily="34" charset="-122"/>
                <a:ea typeface="微软雅黑" panose="020B0503020204020204" pitchFamily="34" charset="-122"/>
              </a:rPr>
              <a:t>含</a:t>
            </a:r>
            <a:r>
              <a:rPr sz="1600" dirty="0" err="1" smtClean="0">
                <a:solidFill>
                  <a:schemeClr val="bg1"/>
                </a:solidFill>
                <a:latin typeface="微软雅黑" panose="020B0503020204020204" pitchFamily="34" charset="-122"/>
                <a:ea typeface="微软雅黑" panose="020B0503020204020204" pitchFamily="34" charset="-122"/>
              </a:rPr>
              <a:t>智能网联汽车</a:t>
            </a:r>
            <a:r>
              <a:rPr sz="1600" dirty="0" err="1">
                <a:solidFill>
                  <a:schemeClr val="bg1"/>
                </a:solidFill>
                <a:latin typeface="微软雅黑" panose="020B0503020204020204" pitchFamily="34" charset="-122"/>
                <a:ea typeface="微软雅黑" panose="020B0503020204020204" pitchFamily="34" charset="-122"/>
              </a:rPr>
              <a:t>）内部网络的主干网络</a:t>
            </a:r>
            <a:r>
              <a:rPr sz="1600" dirty="0" smtClean="0">
                <a:solidFill>
                  <a:schemeClr val="bg1"/>
                </a:solidFill>
                <a:latin typeface="微软雅黑" panose="020B0503020204020204" pitchFamily="34" charset="-122"/>
                <a:ea typeface="微软雅黑" panose="020B0503020204020204" pitchFamily="34" charset="-122"/>
              </a:rPr>
              <a:t>。</a:t>
            </a:r>
            <a:endParaRPr sz="1600" dirty="0">
              <a:solidFill>
                <a:schemeClr val="bg1"/>
              </a:solidFill>
              <a:latin typeface="微软雅黑" panose="020B0503020204020204" pitchFamily="34" charset="-122"/>
              <a:ea typeface="微软雅黑" panose="020B0503020204020204" pitchFamily="34" charset="-122"/>
            </a:endParaRPr>
          </a:p>
        </p:txBody>
      </p:sp>
      <p:pic>
        <p:nvPicPr>
          <p:cNvPr id="23" name="图片 23"/>
          <p:cNvPicPr>
            <a:picLocks noChangeAspect="1" noChangeArrowheads="1"/>
          </p:cNvPicPr>
          <p:nvPr/>
        </p:nvPicPr>
        <p:blipFill>
          <a:blip r:embed="rId3">
            <a:extLst>
              <a:ext uri="{28A0092B-C50C-407E-A947-70E740481C1C}">
                <a14:useLocalDpi xmlns:a14="http://schemas.microsoft.com/office/drawing/2010/main" val="0"/>
              </a:ext>
            </a:extLst>
          </a:blip>
          <a:srcRect b="7259"/>
          <a:stretch>
            <a:fillRect/>
          </a:stretch>
        </p:blipFill>
        <p:spPr>
          <a:xfrm>
            <a:off x="4726260" y="2787773"/>
            <a:ext cx="3418796" cy="1646555"/>
          </a:xfrm>
          <a:prstGeom prst="rect">
            <a:avLst/>
          </a:prstGeom>
          <a:noFill/>
          <a:ln w="12700" cmpd="sng">
            <a:solidFill>
              <a:schemeClr val="accent1">
                <a:shade val="50000"/>
              </a:schemeClr>
            </a:solidFill>
            <a:prstDash val="solid"/>
          </a:ln>
        </p:spPr>
      </p:pic>
      <p:sp>
        <p:nvSpPr>
          <p:cNvPr id="7" name="Text Box 8"/>
          <p:cNvSpPr>
            <a:spLocks noChangeArrowheads="1"/>
          </p:cNvSpPr>
          <p:nvPr/>
        </p:nvSpPr>
        <p:spPr bwMode="auto">
          <a:xfrm>
            <a:off x="971600"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rPr>
              <a:t>什么是LIN、MOST、Flex Ray总线网络？这些网络分别在汽车上有哪些应用？</a:t>
            </a:r>
          </a:p>
        </p:txBody>
      </p:sp>
      <p:sp>
        <p:nvSpPr>
          <p:cNvPr id="9" name="矩形 8"/>
          <p:cNvSpPr/>
          <p:nvPr/>
        </p:nvSpPr>
        <p:spPr>
          <a:xfrm>
            <a:off x="971600" y="1563638"/>
            <a:ext cx="3281668" cy="400110"/>
          </a:xfrm>
          <a:prstGeom prst="rect">
            <a:avLst/>
          </a:prstGeom>
          <a:solidFill>
            <a:srgbClr val="0070C0"/>
          </a:solidFill>
        </p:spPr>
        <p:txBody>
          <a:bodyPr wrap="none">
            <a:spAutoFit/>
          </a:bodyPr>
          <a:lstStyle/>
          <a:p>
            <a:pPr algn="l" fontAlgn="ctr"/>
            <a:r>
              <a:rPr sz="2000" b="1" dirty="0" smtClean="0">
                <a:solidFill>
                  <a:schemeClr val="bg1"/>
                </a:solidFill>
                <a:latin typeface="微软雅黑" panose="020B0503020204020204" pitchFamily="34" charset="-122"/>
                <a:ea typeface="微软雅黑" panose="020B0503020204020204" pitchFamily="34" charset="-122"/>
              </a:rPr>
              <a:t>3.Flex Ray总线网络及应用</a:t>
            </a:r>
          </a:p>
        </p:txBody>
      </p:sp>
      <p:sp>
        <p:nvSpPr>
          <p:cNvPr id="10" name="矩形 9"/>
          <p:cNvSpPr/>
          <p:nvPr/>
        </p:nvSpPr>
        <p:spPr>
          <a:xfrm>
            <a:off x="957929" y="2688977"/>
            <a:ext cx="3600399" cy="2057358"/>
          </a:xfrm>
          <a:prstGeom prst="rect">
            <a:avLst/>
          </a:prstGeom>
          <a:solidFill>
            <a:srgbClr val="0070C0"/>
          </a:solidFill>
        </p:spPr>
        <p:txBody>
          <a:bodyPr wrap="square">
            <a:spAutoFit/>
          </a:bodyPr>
          <a:lstStyle/>
          <a:p>
            <a:pPr fontAlgn="base">
              <a:lnSpc>
                <a:spcPct val="114000"/>
              </a:lnSpc>
            </a:pPr>
            <a:r>
              <a:rPr sz="1600" dirty="0" err="1" smtClean="0">
                <a:solidFill>
                  <a:schemeClr val="bg1"/>
                </a:solidFill>
                <a:latin typeface="微软雅黑" panose="020B0503020204020204" pitchFamily="34" charset="-122"/>
                <a:ea typeface="微软雅黑" panose="020B0503020204020204" pitchFamily="34" charset="-122"/>
              </a:rPr>
              <a:t>采用</a:t>
            </a:r>
            <a:r>
              <a:rPr sz="1600" dirty="0" smtClean="0">
                <a:solidFill>
                  <a:schemeClr val="bg1"/>
                </a:solidFill>
                <a:latin typeface="微软雅黑" panose="020B0503020204020204" pitchFamily="34" charset="-122"/>
                <a:ea typeface="微软雅黑" panose="020B0503020204020204" pitchFamily="34" charset="-122"/>
              </a:rPr>
              <a:t> </a:t>
            </a:r>
            <a:r>
              <a:rPr sz="1600" dirty="0">
                <a:solidFill>
                  <a:schemeClr val="bg1"/>
                </a:solidFill>
                <a:latin typeface="微软雅黑" panose="020B0503020204020204" pitchFamily="34" charset="-122"/>
                <a:ea typeface="微软雅黑" panose="020B0503020204020204" pitchFamily="34" charset="-122"/>
              </a:rPr>
              <a:t>Flex </a:t>
            </a:r>
            <a:r>
              <a:rPr sz="1600" dirty="0" err="1">
                <a:solidFill>
                  <a:schemeClr val="bg1"/>
                </a:solidFill>
                <a:latin typeface="微软雅黑" panose="020B0503020204020204" pitchFamily="34" charset="-122"/>
                <a:ea typeface="微软雅黑" panose="020B0503020204020204" pitchFamily="34" charset="-122"/>
              </a:rPr>
              <a:t>Ray总线是为了满足智能网联汽车对控制单元联网结构更高的要求，特别是为了实现更快的数据传输率、更强的实时控制和更高的容错运算</a:t>
            </a:r>
            <a:r>
              <a:rPr sz="1600" dirty="0" smtClean="0">
                <a:solidFill>
                  <a:schemeClr val="bg1"/>
                </a:solidFill>
                <a:latin typeface="微软雅黑" panose="020B0503020204020204" pitchFamily="34" charset="-122"/>
                <a:ea typeface="微软雅黑" panose="020B0503020204020204" pitchFamily="34" charset="-122"/>
              </a:rPr>
              <a:t>。</a:t>
            </a:r>
            <a:r>
              <a:rPr lang="zh-CN" altLang="en-US" sz="1600" dirty="0" smtClean="0">
                <a:solidFill>
                  <a:schemeClr val="bg1"/>
                </a:solidFill>
                <a:latin typeface="微软雅黑" pitchFamily="34" charset="-122"/>
                <a:ea typeface="微软雅黑" pitchFamily="34" charset="-122"/>
              </a:rPr>
              <a:t>使用</a:t>
            </a:r>
            <a:r>
              <a:rPr lang="en-US" altLang="zh-CN" sz="1600" dirty="0" err="1" smtClean="0">
                <a:solidFill>
                  <a:schemeClr val="bg1"/>
                </a:solidFill>
                <a:latin typeface="微软雅黑" pitchFamily="34" charset="-122"/>
                <a:ea typeface="微软雅黑" pitchFamily="34" charset="-122"/>
              </a:rPr>
              <a:t>FlexRay</a:t>
            </a:r>
            <a:r>
              <a:rPr lang="zh-CN" altLang="en-US" sz="1600" dirty="0" smtClean="0">
                <a:solidFill>
                  <a:schemeClr val="bg1"/>
                </a:solidFill>
                <a:latin typeface="微软雅黑" pitchFamily="34" charset="-122"/>
                <a:ea typeface="微软雅黑" pitchFamily="34" charset="-122"/>
              </a:rPr>
              <a:t>总线</a:t>
            </a:r>
            <a:r>
              <a:rPr lang="zh-CN" altLang="en-US" sz="1600" dirty="0">
                <a:solidFill>
                  <a:schemeClr val="bg1"/>
                </a:solidFill>
                <a:latin typeface="微软雅黑" pitchFamily="34" charset="-122"/>
                <a:ea typeface="微软雅黑" pitchFamily="34" charset="-122"/>
              </a:rPr>
              <a:t>之后才可以实现驾驶动态控制、车距控制和</a:t>
            </a:r>
            <a:r>
              <a:rPr lang="zh-CN" altLang="en-US" sz="1600" dirty="0" smtClean="0">
                <a:solidFill>
                  <a:schemeClr val="bg1"/>
                </a:solidFill>
                <a:latin typeface="微软雅黑" pitchFamily="34" charset="-122"/>
                <a:ea typeface="微软雅黑" pitchFamily="34" charset="-122"/>
              </a:rPr>
              <a:t>图像处理</a:t>
            </a:r>
            <a:r>
              <a:rPr lang="zh-CN" altLang="en-US" sz="1600" dirty="0">
                <a:solidFill>
                  <a:schemeClr val="bg1"/>
                </a:solidFill>
                <a:latin typeface="微软雅黑" pitchFamily="34" charset="-122"/>
                <a:ea typeface="微软雅黑" pitchFamily="34" charset="-122"/>
              </a:rPr>
              <a:t>功能</a:t>
            </a:r>
            <a:r>
              <a:rPr lang="zh-CN" altLang="en-US" sz="1600" dirty="0" smtClean="0">
                <a:solidFill>
                  <a:schemeClr val="bg1"/>
                </a:solidFill>
                <a:latin typeface="微软雅黑" pitchFamily="34" charset="-122"/>
                <a:ea typeface="微软雅黑" pitchFamily="34" charset="-122"/>
              </a:rPr>
              <a:t>。</a:t>
            </a:r>
            <a:endParaRPr sz="16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34</a:t>
            </a:fld>
            <a:endParaRPr lang="zh-CN" altLang="en-US" dirty="0"/>
          </a:p>
        </p:txBody>
      </p:sp>
      <p:sp>
        <p:nvSpPr>
          <p:cNvPr id="8" name="Text Box 8"/>
          <p:cNvSpPr>
            <a:spLocks noChangeArrowheads="1"/>
          </p:cNvSpPr>
          <p:nvPr/>
        </p:nvSpPr>
        <p:spPr bwMode="auto">
          <a:xfrm>
            <a:off x="964645"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sym typeface="+mn-ea"/>
              </a:rPr>
              <a:t>车载总线网络的故障有什么特点？</a:t>
            </a:r>
            <a:r>
              <a:rPr lang="zh-CN" altLang="en-US" sz="3200" b="1" dirty="0" smtClean="0">
                <a:solidFill>
                  <a:schemeClr val="accent1"/>
                </a:solidFill>
                <a:latin typeface="微软雅黑" panose="020B0503020204020204" pitchFamily="34" charset="-122"/>
                <a:sym typeface="+mn-ea"/>
              </a:rPr>
              <a:t>出现</a:t>
            </a:r>
            <a:endParaRPr lang="en-US" altLang="zh-CN" sz="3200" b="1" dirty="0" smtClean="0">
              <a:solidFill>
                <a:schemeClr val="accent1"/>
              </a:solidFill>
              <a:latin typeface="微软雅黑" panose="020B0503020204020204" pitchFamily="34" charset="-122"/>
              <a:sym typeface="+mn-ea"/>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sym typeface="+mn-ea"/>
              </a:rPr>
              <a:t>故障</a:t>
            </a:r>
            <a:r>
              <a:rPr lang="zh-CN" altLang="en-US" sz="3200" b="1" dirty="0" smtClean="0">
                <a:solidFill>
                  <a:schemeClr val="accent1"/>
                </a:solidFill>
                <a:latin typeface="微软雅黑" panose="020B0503020204020204" pitchFamily="34" charset="-122"/>
                <a:sym typeface="+mn-ea"/>
              </a:rPr>
              <a:t>时，如何检修？ </a:t>
            </a:r>
          </a:p>
        </p:txBody>
      </p:sp>
      <p:sp>
        <p:nvSpPr>
          <p:cNvPr id="3" name="矩形 2"/>
          <p:cNvSpPr/>
          <p:nvPr/>
        </p:nvSpPr>
        <p:spPr>
          <a:xfrm>
            <a:off x="978314" y="1563638"/>
            <a:ext cx="7194085" cy="653769"/>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由于车载总线技术的可靠性较强</a:t>
            </a:r>
            <a:r>
              <a:rPr lang="zh-CN" altLang="en-US" sz="1600" dirty="0" smtClean="0">
                <a:solidFill>
                  <a:schemeClr val="bg1"/>
                </a:solidFill>
                <a:latin typeface="微软雅黑" pitchFamily="34" charset="-122"/>
                <a:ea typeface="微软雅黑" pitchFamily="34" charset="-122"/>
              </a:rPr>
              <a:t>，故障率不</a:t>
            </a:r>
            <a:r>
              <a:rPr lang="zh-CN" altLang="en-US" sz="1600" dirty="0">
                <a:solidFill>
                  <a:schemeClr val="bg1"/>
                </a:solidFill>
                <a:latin typeface="微软雅黑" pitchFamily="34" charset="-122"/>
                <a:ea typeface="微软雅黑" pitchFamily="34" charset="-122"/>
              </a:rPr>
              <a:t>高，一般是传输信号线 （</a:t>
            </a:r>
            <a:r>
              <a:rPr lang="en-US" altLang="zh-CN" sz="1600" dirty="0">
                <a:solidFill>
                  <a:schemeClr val="bg1"/>
                </a:solidFill>
                <a:latin typeface="微软雅黑" pitchFamily="34" charset="-122"/>
                <a:ea typeface="微软雅黑" pitchFamily="34" charset="-122"/>
              </a:rPr>
              <a:t>BUS</a:t>
            </a:r>
            <a:r>
              <a:rPr lang="zh-CN" altLang="en-US" sz="1600" dirty="0">
                <a:solidFill>
                  <a:schemeClr val="bg1"/>
                </a:solidFill>
                <a:latin typeface="微软雅黑" pitchFamily="34" charset="-122"/>
                <a:ea typeface="微软雅黑" pitchFamily="34" charset="-122"/>
              </a:rPr>
              <a:t>）机械性损坏（短路、断路）以及控制单元本身的软件、硬件故障。</a:t>
            </a:r>
          </a:p>
        </p:txBody>
      </p:sp>
      <p:sp>
        <p:nvSpPr>
          <p:cNvPr id="4" name="矩形 3"/>
          <p:cNvSpPr/>
          <p:nvPr/>
        </p:nvSpPr>
        <p:spPr>
          <a:xfrm>
            <a:off x="979993" y="2387084"/>
            <a:ext cx="3719288" cy="400110"/>
          </a:xfrm>
          <a:prstGeom prst="rect">
            <a:avLst/>
          </a:prstGeom>
          <a:solidFill>
            <a:srgbClr val="0070C0"/>
          </a:solidFill>
        </p:spPr>
        <p:txBody>
          <a:bodyPr wrap="none">
            <a:spAutoFit/>
          </a:bodyPr>
          <a:lstStyle/>
          <a:p>
            <a:r>
              <a:rPr lang="en-US" altLang="zh-CN" sz="2000" b="1" dirty="0">
                <a:solidFill>
                  <a:schemeClr val="bg1"/>
                </a:solidFill>
                <a:latin typeface="微软雅黑" pitchFamily="34" charset="-122"/>
                <a:ea typeface="微软雅黑" pitchFamily="34" charset="-122"/>
              </a:rPr>
              <a:t>1. CAN </a:t>
            </a:r>
            <a:r>
              <a:rPr lang="zh-CN" altLang="en-US" sz="2000" b="1" dirty="0">
                <a:solidFill>
                  <a:schemeClr val="bg1"/>
                </a:solidFill>
                <a:latin typeface="微软雅黑" pitchFamily="34" charset="-122"/>
                <a:ea typeface="微软雅黑" pitchFamily="34" charset="-122"/>
              </a:rPr>
              <a:t>总线系统故障诊断工具</a:t>
            </a:r>
          </a:p>
        </p:txBody>
      </p:sp>
      <p:sp>
        <p:nvSpPr>
          <p:cNvPr id="5" name="矩形 4"/>
          <p:cNvSpPr/>
          <p:nvPr/>
        </p:nvSpPr>
        <p:spPr>
          <a:xfrm>
            <a:off x="938952" y="2859782"/>
            <a:ext cx="7272807" cy="1569660"/>
          </a:xfrm>
          <a:prstGeom prst="rect">
            <a:avLst/>
          </a:prstGeom>
          <a:solidFill>
            <a:srgbClr val="0070C0"/>
          </a:solidFill>
        </p:spPr>
        <p:txBody>
          <a:bodyPr wrap="square">
            <a:spAutoFit/>
          </a:bodyPr>
          <a:lstStyle/>
          <a:p>
            <a:pPr>
              <a:lnSpc>
                <a:spcPct val="150000"/>
              </a:lnSpc>
            </a:pPr>
            <a:r>
              <a:rPr lang="zh-CN" altLang="en-US" sz="1600" dirty="0">
                <a:solidFill>
                  <a:schemeClr val="bg1"/>
                </a:solidFill>
                <a:latin typeface="微软雅黑" pitchFamily="34" charset="-122"/>
                <a:ea typeface="微软雅黑" pitchFamily="34" charset="-122"/>
              </a:rPr>
              <a:t>进行 </a:t>
            </a:r>
            <a:r>
              <a:rPr lang="en-US" altLang="zh-CN" sz="1600" dirty="0">
                <a:solidFill>
                  <a:schemeClr val="bg1"/>
                </a:solidFill>
                <a:latin typeface="微软雅黑" pitchFamily="34" charset="-122"/>
                <a:ea typeface="微软雅黑" pitchFamily="34" charset="-122"/>
              </a:rPr>
              <a:t>CAN </a:t>
            </a:r>
            <a:r>
              <a:rPr lang="zh-CN" altLang="en-US" sz="1600" dirty="0">
                <a:solidFill>
                  <a:schemeClr val="bg1"/>
                </a:solidFill>
                <a:latin typeface="微软雅黑" pitchFamily="34" charset="-122"/>
                <a:ea typeface="微软雅黑" pitchFamily="34" charset="-122"/>
              </a:rPr>
              <a:t>总线系统的检修，需要以下诊断工具： </a:t>
            </a:r>
            <a:endParaRPr lang="en-US" altLang="zh-CN" sz="1600" dirty="0" smtClean="0">
              <a:solidFill>
                <a:schemeClr val="bg1"/>
              </a:solidFill>
              <a:latin typeface="微软雅黑" pitchFamily="34" charset="-122"/>
              <a:ea typeface="微软雅黑" pitchFamily="34" charset="-122"/>
            </a:endParaRPr>
          </a:p>
          <a:p>
            <a:pPr>
              <a:lnSpc>
                <a:spcPct val="150000"/>
              </a:lnSpc>
            </a:pPr>
            <a:r>
              <a:rPr lang="zh-CN" altLang="en-US" sz="1600" dirty="0" smtClean="0">
                <a:solidFill>
                  <a:schemeClr val="bg1"/>
                </a:solidFill>
                <a:latin typeface="微软雅黑" pitchFamily="34" charset="-122"/>
                <a:ea typeface="微软雅黑" pitchFamily="34" charset="-122"/>
              </a:rPr>
              <a:t>①</a:t>
            </a:r>
            <a:r>
              <a:rPr lang="zh-CN" altLang="en-US" sz="1600" dirty="0">
                <a:solidFill>
                  <a:schemeClr val="bg1"/>
                </a:solidFill>
                <a:latin typeface="微软雅黑" pitchFamily="34" charset="-122"/>
                <a:ea typeface="微软雅黑" pitchFamily="34" charset="-122"/>
              </a:rPr>
              <a:t>诊断设备：能进行 </a:t>
            </a:r>
            <a:r>
              <a:rPr lang="en-US" altLang="zh-CN" sz="1600" dirty="0">
                <a:solidFill>
                  <a:schemeClr val="bg1"/>
                </a:solidFill>
                <a:latin typeface="微软雅黑" pitchFamily="34" charset="-122"/>
                <a:ea typeface="微软雅黑" pitchFamily="34" charset="-122"/>
              </a:rPr>
              <a:t>CAN </a:t>
            </a:r>
            <a:r>
              <a:rPr lang="zh-CN" altLang="en-US" sz="1600" dirty="0">
                <a:solidFill>
                  <a:schemeClr val="bg1"/>
                </a:solidFill>
                <a:latin typeface="微软雅黑" pitchFamily="34" charset="-122"/>
                <a:ea typeface="微软雅黑" pitchFamily="34" charset="-122"/>
              </a:rPr>
              <a:t>总线故障检测的诊断仪器（含原</a:t>
            </a:r>
            <a:r>
              <a:rPr lang="zh-CN" altLang="en-US" sz="1600" dirty="0" smtClean="0">
                <a:solidFill>
                  <a:schemeClr val="bg1"/>
                </a:solidFill>
                <a:latin typeface="微软雅黑" pitchFamily="34" charset="-122"/>
                <a:ea typeface="微软雅黑" pitchFamily="34" charset="-122"/>
              </a:rPr>
              <a:t>厂和通用型</a:t>
            </a:r>
            <a:r>
              <a:rPr lang="zh-CN" altLang="en-US" sz="1600" dirty="0">
                <a:solidFill>
                  <a:schemeClr val="bg1"/>
                </a:solidFill>
                <a:latin typeface="微软雅黑" pitchFamily="34" charset="-122"/>
                <a:ea typeface="微软雅黑" pitchFamily="34" charset="-122"/>
              </a:rPr>
              <a:t>仪器）。 </a:t>
            </a:r>
            <a:endParaRPr lang="en-US" altLang="zh-CN" sz="1600" dirty="0" smtClean="0">
              <a:solidFill>
                <a:schemeClr val="bg1"/>
              </a:solidFill>
              <a:latin typeface="微软雅黑" pitchFamily="34" charset="-122"/>
              <a:ea typeface="微软雅黑" pitchFamily="34" charset="-122"/>
            </a:endParaRPr>
          </a:p>
          <a:p>
            <a:pPr>
              <a:lnSpc>
                <a:spcPct val="150000"/>
              </a:lnSpc>
            </a:pPr>
            <a:r>
              <a:rPr lang="zh-CN" altLang="en-US" sz="1600" dirty="0" smtClean="0">
                <a:solidFill>
                  <a:schemeClr val="bg1"/>
                </a:solidFill>
                <a:latin typeface="微软雅黑" pitchFamily="34" charset="-122"/>
                <a:ea typeface="微软雅黑" pitchFamily="34" charset="-122"/>
              </a:rPr>
              <a:t>②</a:t>
            </a:r>
            <a:r>
              <a:rPr lang="zh-CN" altLang="en-US" sz="1600" dirty="0">
                <a:solidFill>
                  <a:schemeClr val="bg1"/>
                </a:solidFill>
                <a:latin typeface="微软雅黑" pitchFamily="34" charset="-122"/>
                <a:ea typeface="微软雅黑" pitchFamily="34" charset="-122"/>
              </a:rPr>
              <a:t>检测设备：汽车专用电表、示波器等。 </a:t>
            </a:r>
            <a:endParaRPr lang="en-US" altLang="zh-CN" sz="1600" dirty="0" smtClean="0">
              <a:solidFill>
                <a:schemeClr val="bg1"/>
              </a:solidFill>
              <a:latin typeface="微软雅黑" pitchFamily="34" charset="-122"/>
              <a:ea typeface="微软雅黑" pitchFamily="34" charset="-122"/>
            </a:endParaRPr>
          </a:p>
          <a:p>
            <a:pPr>
              <a:lnSpc>
                <a:spcPct val="150000"/>
              </a:lnSpc>
            </a:pPr>
            <a:r>
              <a:rPr lang="zh-CN" altLang="en-US" sz="1600" dirty="0" smtClean="0">
                <a:solidFill>
                  <a:schemeClr val="bg1"/>
                </a:solidFill>
                <a:latin typeface="微软雅黑" pitchFamily="34" charset="-122"/>
                <a:ea typeface="微软雅黑" pitchFamily="34" charset="-122"/>
              </a:rPr>
              <a:t>③</a:t>
            </a:r>
            <a:r>
              <a:rPr lang="zh-CN" altLang="en-US" sz="1600" dirty="0">
                <a:solidFill>
                  <a:schemeClr val="bg1"/>
                </a:solidFill>
                <a:latin typeface="微软雅黑" pitchFamily="34" charset="-122"/>
                <a:ea typeface="微软雅黑" pitchFamily="34" charset="-122"/>
              </a:rPr>
              <a:t>技术资料：相关车型 </a:t>
            </a:r>
            <a:r>
              <a:rPr lang="en-US" altLang="zh-CN" sz="1600" dirty="0">
                <a:solidFill>
                  <a:schemeClr val="bg1"/>
                </a:solidFill>
                <a:latin typeface="微软雅黑" pitchFamily="34" charset="-122"/>
                <a:ea typeface="微软雅黑" pitchFamily="34" charset="-122"/>
              </a:rPr>
              <a:t>CAN </a:t>
            </a:r>
            <a:r>
              <a:rPr lang="zh-CN" altLang="en-US" sz="1600" dirty="0">
                <a:solidFill>
                  <a:schemeClr val="bg1"/>
                </a:solidFill>
                <a:latin typeface="微软雅黑" pitchFamily="34" charset="-122"/>
                <a:ea typeface="微软雅黑" pitchFamily="34" charset="-122"/>
              </a:rPr>
              <a:t>总线系统结构图、线路图。</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35</a:t>
            </a:fld>
            <a:endParaRPr lang="zh-CN" altLang="en-US" dirty="0"/>
          </a:p>
        </p:txBody>
      </p:sp>
      <p:sp>
        <p:nvSpPr>
          <p:cNvPr id="5" name="Text Box 8"/>
          <p:cNvSpPr>
            <a:spLocks noChangeArrowheads="1"/>
          </p:cNvSpPr>
          <p:nvPr/>
        </p:nvSpPr>
        <p:spPr bwMode="auto">
          <a:xfrm>
            <a:off x="964645"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sym typeface="+mn-ea"/>
              </a:rPr>
              <a:t>车载总线网络的故障有什么特点？</a:t>
            </a:r>
            <a:r>
              <a:rPr lang="zh-CN" altLang="en-US" sz="3200" b="1" dirty="0" smtClean="0">
                <a:solidFill>
                  <a:schemeClr val="accent1"/>
                </a:solidFill>
                <a:latin typeface="微软雅黑" panose="020B0503020204020204" pitchFamily="34" charset="-122"/>
                <a:sym typeface="+mn-ea"/>
              </a:rPr>
              <a:t>出现</a:t>
            </a:r>
            <a:endParaRPr lang="en-US" altLang="zh-CN" sz="3200" b="1" dirty="0" smtClean="0">
              <a:solidFill>
                <a:schemeClr val="accent1"/>
              </a:solidFill>
              <a:latin typeface="微软雅黑" panose="020B0503020204020204" pitchFamily="34" charset="-122"/>
              <a:sym typeface="+mn-ea"/>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sym typeface="+mn-ea"/>
              </a:rPr>
              <a:t>故障</a:t>
            </a:r>
            <a:r>
              <a:rPr lang="zh-CN" altLang="en-US" sz="3200" b="1" dirty="0" smtClean="0">
                <a:solidFill>
                  <a:schemeClr val="accent1"/>
                </a:solidFill>
                <a:latin typeface="微软雅黑" panose="020B0503020204020204" pitchFamily="34" charset="-122"/>
                <a:sym typeface="+mn-ea"/>
              </a:rPr>
              <a:t>时，如何检修？ </a:t>
            </a:r>
          </a:p>
        </p:txBody>
      </p:sp>
      <p:sp>
        <p:nvSpPr>
          <p:cNvPr id="7" name="矩形 6"/>
          <p:cNvSpPr/>
          <p:nvPr/>
        </p:nvSpPr>
        <p:spPr>
          <a:xfrm>
            <a:off x="964645" y="1635646"/>
            <a:ext cx="4232249" cy="400110"/>
          </a:xfrm>
          <a:prstGeom prst="rect">
            <a:avLst/>
          </a:prstGeom>
          <a:solidFill>
            <a:srgbClr val="0070C0"/>
          </a:solidFill>
        </p:spPr>
        <p:txBody>
          <a:bodyPr wrap="none">
            <a:spAutoFit/>
          </a:bodyPr>
          <a:lstStyle/>
          <a:p>
            <a:r>
              <a:rPr lang="en-US" altLang="zh-CN" sz="2000" b="1" dirty="0" smtClean="0">
                <a:solidFill>
                  <a:schemeClr val="bg1"/>
                </a:solidFill>
                <a:latin typeface="微软雅黑" pitchFamily="34" charset="-122"/>
                <a:ea typeface="微软雅黑" pitchFamily="34" charset="-122"/>
              </a:rPr>
              <a:t>2. </a:t>
            </a:r>
            <a:r>
              <a:rPr lang="en-US" altLang="zh-CN" sz="2000" b="1" dirty="0">
                <a:solidFill>
                  <a:schemeClr val="bg1"/>
                </a:solidFill>
                <a:latin typeface="微软雅黑" pitchFamily="34" charset="-122"/>
                <a:ea typeface="微软雅黑" pitchFamily="34" charset="-122"/>
              </a:rPr>
              <a:t>CAN </a:t>
            </a:r>
            <a:r>
              <a:rPr lang="zh-CN" altLang="en-US" sz="2000" b="1" dirty="0" smtClean="0">
                <a:solidFill>
                  <a:schemeClr val="bg1"/>
                </a:solidFill>
                <a:latin typeface="微软雅黑" pitchFamily="34" charset="-122"/>
                <a:ea typeface="微软雅黑" pitchFamily="34" charset="-122"/>
              </a:rPr>
              <a:t>总线</a:t>
            </a:r>
            <a:r>
              <a:rPr lang="zh-CN" altLang="en-US" sz="2000" b="1" dirty="0">
                <a:solidFill>
                  <a:schemeClr val="bg1"/>
                </a:solidFill>
                <a:latin typeface="微软雅黑" pitchFamily="34" charset="-122"/>
                <a:ea typeface="微软雅黑" pitchFamily="34" charset="-122"/>
              </a:rPr>
              <a:t>的</a:t>
            </a:r>
            <a:r>
              <a:rPr lang="zh-CN" altLang="en-US" sz="2000" b="1" dirty="0" smtClean="0">
                <a:solidFill>
                  <a:schemeClr val="bg1"/>
                </a:solidFill>
                <a:latin typeface="微软雅黑" pitchFamily="34" charset="-122"/>
                <a:ea typeface="微软雅黑" pitchFamily="34" charset="-122"/>
              </a:rPr>
              <a:t>故障种类和故障部位</a:t>
            </a:r>
            <a:endParaRPr lang="zh-CN" altLang="en-US" sz="2000" b="1" dirty="0">
              <a:solidFill>
                <a:schemeClr val="bg1"/>
              </a:solidFill>
              <a:latin typeface="微软雅黑" pitchFamily="34" charset="-122"/>
              <a:ea typeface="微软雅黑" pitchFamily="34" charset="-122"/>
            </a:endParaRPr>
          </a:p>
        </p:txBody>
      </p:sp>
      <p:sp>
        <p:nvSpPr>
          <p:cNvPr id="3" name="矩形 2"/>
          <p:cNvSpPr/>
          <p:nvPr/>
        </p:nvSpPr>
        <p:spPr>
          <a:xfrm>
            <a:off x="971360" y="2211710"/>
            <a:ext cx="7201039" cy="2338076"/>
          </a:xfrm>
          <a:prstGeom prst="rect">
            <a:avLst/>
          </a:prstGeom>
          <a:solidFill>
            <a:srgbClr val="0070C0"/>
          </a:solidFill>
        </p:spPr>
        <p:txBody>
          <a:bodyPr wrap="square">
            <a:spAutoFit/>
          </a:bodyPr>
          <a:lstStyle/>
          <a:p>
            <a:pPr>
              <a:lnSpc>
                <a:spcPct val="114000"/>
              </a:lnSpc>
            </a:pPr>
            <a:r>
              <a:rPr lang="zh-CN" altLang="en-US" sz="1600" dirty="0">
                <a:solidFill>
                  <a:schemeClr val="bg1"/>
                </a:solidFill>
                <a:latin typeface="微软雅黑" pitchFamily="34" charset="-122"/>
                <a:ea typeface="微软雅黑" pitchFamily="34" charset="-122"/>
              </a:rPr>
              <a:t>①全部控制单元不能和诊断仪器通信：故障可能部位包括</a:t>
            </a:r>
            <a:r>
              <a:rPr lang="zh-CN" altLang="en-US" sz="1600" dirty="0" smtClean="0">
                <a:solidFill>
                  <a:schemeClr val="bg1"/>
                </a:solidFill>
                <a:latin typeface="微软雅黑" pitchFamily="34" charset="-122"/>
                <a:ea typeface="微软雅黑" pitchFamily="34" charset="-122"/>
              </a:rPr>
              <a:t>诊断接头、</a:t>
            </a:r>
            <a:r>
              <a:rPr lang="zh-CN" altLang="en-US" sz="1600" dirty="0">
                <a:solidFill>
                  <a:schemeClr val="bg1"/>
                </a:solidFill>
                <a:latin typeface="微软雅黑" pitchFamily="34" charset="-122"/>
                <a:ea typeface="微软雅黑" pitchFamily="34" charset="-122"/>
              </a:rPr>
              <a:t>总线、网关等</a:t>
            </a:r>
            <a:r>
              <a:rPr lang="zh-CN" altLang="en-US" sz="1600" dirty="0" smtClean="0">
                <a:solidFill>
                  <a:schemeClr val="bg1"/>
                </a:solidFill>
                <a:latin typeface="微软雅黑" pitchFamily="34" charset="-122"/>
                <a:ea typeface="微软雅黑" pitchFamily="34" charset="-122"/>
              </a:rPr>
              <a:t>。</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 </a:t>
            </a:r>
            <a:r>
              <a:rPr lang="zh-CN" altLang="en-US" sz="1600" dirty="0">
                <a:solidFill>
                  <a:schemeClr val="bg1"/>
                </a:solidFill>
                <a:latin typeface="微软雅黑" pitchFamily="34" charset="-122"/>
                <a:ea typeface="微软雅黑" pitchFamily="34" charset="-122"/>
              </a:rPr>
              <a:t>②部分或某个控制单元不能和诊断仪器通信：故障可能部位包括对应的总线、</a:t>
            </a:r>
            <a:r>
              <a:rPr lang="zh-CN" altLang="en-US" sz="1600" dirty="0" smtClean="0">
                <a:solidFill>
                  <a:schemeClr val="bg1"/>
                </a:solidFill>
                <a:latin typeface="微软雅黑" pitchFamily="34" charset="-122"/>
                <a:ea typeface="微软雅黑" pitchFamily="34" charset="-122"/>
              </a:rPr>
              <a:t>控制单元</a:t>
            </a:r>
            <a:r>
              <a:rPr lang="zh-CN" altLang="en-US" sz="1600" dirty="0">
                <a:solidFill>
                  <a:schemeClr val="bg1"/>
                </a:solidFill>
                <a:latin typeface="微软雅黑" pitchFamily="34" charset="-122"/>
                <a:ea typeface="微软雅黑" pitchFamily="34" charset="-122"/>
              </a:rPr>
              <a:t>等。 </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③</a:t>
            </a:r>
            <a:r>
              <a:rPr lang="zh-CN" altLang="en-US" sz="1600" dirty="0">
                <a:solidFill>
                  <a:schemeClr val="bg1"/>
                </a:solidFill>
                <a:latin typeface="微软雅黑" pitchFamily="34" charset="-122"/>
                <a:ea typeface="微软雅黑" pitchFamily="34" charset="-122"/>
              </a:rPr>
              <a:t>控制单元记忆系统相关的故障码：故障可能部位包括对应的总线、控制单元、</a:t>
            </a:r>
            <a:r>
              <a:rPr lang="zh-CN" altLang="en-US" sz="1600" dirty="0" smtClean="0">
                <a:solidFill>
                  <a:schemeClr val="bg1"/>
                </a:solidFill>
                <a:latin typeface="微软雅黑" pitchFamily="34" charset="-122"/>
                <a:ea typeface="微软雅黑" pitchFamily="34" charset="-122"/>
              </a:rPr>
              <a:t>相关元件</a:t>
            </a:r>
            <a:r>
              <a:rPr lang="zh-CN" altLang="en-US" sz="1600" dirty="0">
                <a:solidFill>
                  <a:schemeClr val="bg1"/>
                </a:solidFill>
                <a:latin typeface="微软雅黑" pitchFamily="34" charset="-122"/>
                <a:ea typeface="微软雅黑" pitchFamily="34" charset="-122"/>
              </a:rPr>
              <a:t>等</a:t>
            </a:r>
            <a:r>
              <a:rPr lang="zh-CN" altLang="en-US" sz="1600" dirty="0" smtClean="0">
                <a:solidFill>
                  <a:schemeClr val="bg1"/>
                </a:solidFill>
                <a:latin typeface="微软雅黑" pitchFamily="34" charset="-122"/>
                <a:ea typeface="微软雅黑" pitchFamily="34" charset="-122"/>
              </a:rPr>
              <a:t>。</a:t>
            </a:r>
            <a:endParaRPr lang="en-US" altLang="zh-CN" sz="1600" dirty="0" smtClean="0">
              <a:solidFill>
                <a:schemeClr val="bg1"/>
              </a:solidFill>
              <a:latin typeface="微软雅黑" pitchFamily="34" charset="-122"/>
              <a:ea typeface="微软雅黑" pitchFamily="34" charset="-122"/>
            </a:endParaRPr>
          </a:p>
          <a:p>
            <a:pPr>
              <a:lnSpc>
                <a:spcPct val="114000"/>
              </a:lnSpc>
            </a:pPr>
            <a:r>
              <a:rPr lang="zh-CN" altLang="en-US" sz="1600" dirty="0" smtClean="0">
                <a:solidFill>
                  <a:schemeClr val="bg1"/>
                </a:solidFill>
                <a:latin typeface="微软雅黑" pitchFamily="34" charset="-122"/>
                <a:ea typeface="微软雅黑" pitchFamily="34" charset="-122"/>
              </a:rPr>
              <a:t>④</a:t>
            </a:r>
            <a:r>
              <a:rPr lang="zh-CN" altLang="en-US" sz="1600" dirty="0">
                <a:solidFill>
                  <a:schemeClr val="bg1"/>
                </a:solidFill>
                <a:latin typeface="微软雅黑" pitchFamily="34" charset="-122"/>
                <a:ea typeface="微软雅黑" pitchFamily="34" charset="-122"/>
              </a:rPr>
              <a:t>采用 </a:t>
            </a:r>
            <a:r>
              <a:rPr lang="en-US" altLang="zh-CN" sz="1600" dirty="0">
                <a:solidFill>
                  <a:schemeClr val="bg1"/>
                </a:solidFill>
                <a:latin typeface="微软雅黑" pitchFamily="34" charset="-122"/>
                <a:ea typeface="微软雅黑" pitchFamily="34" charset="-122"/>
              </a:rPr>
              <a:t>CAN </a:t>
            </a:r>
            <a:r>
              <a:rPr lang="zh-CN" altLang="en-US" sz="1600" dirty="0">
                <a:solidFill>
                  <a:schemeClr val="bg1"/>
                </a:solidFill>
                <a:latin typeface="微软雅黑" pitchFamily="34" charset="-122"/>
                <a:ea typeface="微软雅黑" pitchFamily="34" charset="-122"/>
              </a:rPr>
              <a:t>系统控制的功能故障：故障可能部位包括对应的总线、控制单元、</a:t>
            </a:r>
            <a:r>
              <a:rPr lang="zh-CN" altLang="en-US" sz="1600" dirty="0" smtClean="0">
                <a:solidFill>
                  <a:schemeClr val="bg1"/>
                </a:solidFill>
                <a:latin typeface="微软雅黑" pitchFamily="34" charset="-122"/>
                <a:ea typeface="微软雅黑" pitchFamily="34" charset="-122"/>
              </a:rPr>
              <a:t>相关元件</a:t>
            </a:r>
            <a:r>
              <a:rPr lang="zh-CN" altLang="en-US" sz="1600" dirty="0">
                <a:solidFill>
                  <a:schemeClr val="bg1"/>
                </a:solidFill>
                <a:latin typeface="微软雅黑" pitchFamily="34" charset="-122"/>
                <a:ea typeface="微软雅黑" pitchFamily="34" charset="-122"/>
              </a:rPr>
              <a:t>等。</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36</a:t>
            </a:fld>
            <a:endParaRPr lang="zh-CN" altLang="en-US" dirty="0"/>
          </a:p>
        </p:txBody>
      </p:sp>
      <p:sp>
        <p:nvSpPr>
          <p:cNvPr id="2" name="矩形 1"/>
          <p:cNvSpPr/>
          <p:nvPr/>
        </p:nvSpPr>
        <p:spPr>
          <a:xfrm>
            <a:off x="964644" y="2139702"/>
            <a:ext cx="7207755" cy="2308324"/>
          </a:xfrm>
          <a:prstGeom prst="rect">
            <a:avLst/>
          </a:prstGeom>
          <a:solidFill>
            <a:srgbClr val="0070C0"/>
          </a:solidFill>
        </p:spPr>
        <p:txBody>
          <a:bodyPr wrap="square">
            <a:spAutoFit/>
          </a:bodyPr>
          <a:lstStyle/>
          <a:p>
            <a:pPr fontAlgn="base">
              <a:lnSpc>
                <a:spcPct val="150000"/>
              </a:lnSpc>
            </a:pPr>
            <a:r>
              <a:rPr sz="1600" b="1" dirty="0" smtClean="0">
                <a:solidFill>
                  <a:schemeClr val="bg1"/>
                </a:solidFill>
                <a:latin typeface="微软雅黑" panose="020B0503020204020204" pitchFamily="34" charset="-122"/>
                <a:ea typeface="微软雅黑" panose="020B0503020204020204" pitchFamily="34" charset="-122"/>
              </a:rPr>
              <a:t>（</a:t>
            </a:r>
            <a:r>
              <a:rPr sz="1600" b="1" dirty="0">
                <a:solidFill>
                  <a:schemeClr val="bg1"/>
                </a:solidFill>
                <a:latin typeface="微软雅黑" panose="020B0503020204020204" pitchFamily="34" charset="-122"/>
                <a:ea typeface="微软雅黑" panose="020B0503020204020204" pitchFamily="34" charset="-122"/>
              </a:rPr>
              <a:t>1）断路或短路的故障</a:t>
            </a:r>
          </a:p>
          <a:p>
            <a:pPr fontAlgn="base">
              <a:lnSpc>
                <a:spcPct val="150000"/>
              </a:lnSpc>
            </a:pPr>
            <a:r>
              <a:rPr sz="1600" dirty="0">
                <a:solidFill>
                  <a:schemeClr val="bg1"/>
                </a:solidFill>
                <a:latin typeface="微软雅黑" panose="020B0503020204020204" pitchFamily="34" charset="-122"/>
                <a:ea typeface="微软雅黑" panose="020B0503020204020204" pitchFamily="34" charset="-122"/>
              </a:rPr>
              <a:t>断路：总线上无电压</a:t>
            </a:r>
          </a:p>
          <a:p>
            <a:pPr fontAlgn="base">
              <a:lnSpc>
                <a:spcPct val="150000"/>
              </a:lnSpc>
            </a:pPr>
            <a:r>
              <a:rPr sz="1600" dirty="0">
                <a:solidFill>
                  <a:schemeClr val="bg1"/>
                </a:solidFill>
                <a:latin typeface="微软雅黑" panose="020B0503020204020204" pitchFamily="34" charset="-122"/>
                <a:ea typeface="微软雅黑" panose="020B0503020204020204" pitchFamily="34" charset="-122"/>
              </a:rPr>
              <a:t>对正极短路：总线上无电压变化，总线电压U = U蓄电池电压</a:t>
            </a:r>
          </a:p>
          <a:p>
            <a:pPr fontAlgn="base">
              <a:lnSpc>
                <a:spcPct val="150000"/>
              </a:lnSpc>
            </a:pPr>
            <a:r>
              <a:rPr sz="1600" dirty="0">
                <a:solidFill>
                  <a:schemeClr val="bg1"/>
                </a:solidFill>
                <a:latin typeface="微软雅黑" panose="020B0503020204020204" pitchFamily="34" charset="-122"/>
                <a:ea typeface="微软雅黑" panose="020B0503020204020204" pitchFamily="34" charset="-122"/>
              </a:rPr>
              <a:t>对地短路：总线上无电压变化，总线电压U = 0V</a:t>
            </a:r>
          </a:p>
          <a:p>
            <a:pPr fontAlgn="base">
              <a:lnSpc>
                <a:spcPct val="150000"/>
              </a:lnSpc>
            </a:pPr>
            <a:r>
              <a:rPr sz="1600" dirty="0" err="1" smtClean="0">
                <a:solidFill>
                  <a:schemeClr val="bg1"/>
                </a:solidFill>
                <a:latin typeface="微软雅黑" panose="020B0503020204020204" pitchFamily="34" charset="-122"/>
                <a:ea typeface="微软雅黑" panose="020B0503020204020204" pitchFamily="34" charset="-122"/>
              </a:rPr>
              <a:t>原因：</a:t>
            </a:r>
            <a:r>
              <a:rPr sz="1600" dirty="0" err="1">
                <a:solidFill>
                  <a:schemeClr val="bg1"/>
                </a:solidFill>
                <a:latin typeface="微软雅黑" panose="020B0503020204020204" pitchFamily="34" charset="-122"/>
                <a:ea typeface="微软雅黑" panose="020B0503020204020204" pitchFamily="34" charset="-122"/>
              </a:rPr>
              <a:t>导线中断；导线局部磨损；线束连接损坏</a:t>
            </a:r>
            <a:r>
              <a:rPr sz="1600" dirty="0">
                <a:solidFill>
                  <a:schemeClr val="bg1"/>
                </a:solidFill>
                <a:latin typeface="微软雅黑" panose="020B0503020204020204" pitchFamily="34" charset="-122"/>
                <a:ea typeface="微软雅黑" panose="020B0503020204020204" pitchFamily="34" charset="-122"/>
              </a:rPr>
              <a:t>/触头损坏/</a:t>
            </a:r>
            <a:r>
              <a:rPr sz="1600" dirty="0" err="1">
                <a:solidFill>
                  <a:schemeClr val="bg1"/>
                </a:solidFill>
                <a:latin typeface="微软雅黑" panose="020B0503020204020204" pitchFamily="34" charset="-122"/>
                <a:ea typeface="微软雅黑" panose="020B0503020204020204" pitchFamily="34" charset="-122"/>
              </a:rPr>
              <a:t>污垢、锈蚀；控制单元损坏或控制单元供电故障</a:t>
            </a:r>
            <a:r>
              <a:rPr sz="1600" dirty="0" smtClean="0">
                <a:solidFill>
                  <a:schemeClr val="bg1"/>
                </a:solidFill>
                <a:latin typeface="微软雅黑" panose="020B0503020204020204" pitchFamily="34" charset="-122"/>
                <a:ea typeface="微软雅黑" panose="020B0503020204020204" pitchFamily="34" charset="-122"/>
              </a:rPr>
              <a:t>。</a:t>
            </a:r>
            <a:endParaRPr sz="1600" dirty="0">
              <a:solidFill>
                <a:schemeClr val="bg1"/>
              </a:solidFill>
              <a:latin typeface="微软雅黑" panose="020B0503020204020204" pitchFamily="34" charset="-122"/>
              <a:ea typeface="微软雅黑" panose="020B0503020204020204" pitchFamily="34" charset="-122"/>
            </a:endParaRPr>
          </a:p>
        </p:txBody>
      </p:sp>
      <p:sp>
        <p:nvSpPr>
          <p:cNvPr id="7" name="Text Box 8"/>
          <p:cNvSpPr>
            <a:spLocks noChangeArrowheads="1"/>
          </p:cNvSpPr>
          <p:nvPr/>
        </p:nvSpPr>
        <p:spPr bwMode="auto">
          <a:xfrm>
            <a:off x="964645"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sym typeface="+mn-ea"/>
              </a:rPr>
              <a:t>车载总线网络的故障有什么特点？</a:t>
            </a:r>
            <a:r>
              <a:rPr lang="zh-CN" altLang="en-US" sz="3200" b="1" dirty="0" smtClean="0">
                <a:solidFill>
                  <a:schemeClr val="accent1"/>
                </a:solidFill>
                <a:latin typeface="微软雅黑" panose="020B0503020204020204" pitchFamily="34" charset="-122"/>
                <a:sym typeface="+mn-ea"/>
              </a:rPr>
              <a:t>出现</a:t>
            </a:r>
            <a:endParaRPr lang="en-US" altLang="zh-CN" sz="3200" b="1" dirty="0" smtClean="0">
              <a:solidFill>
                <a:schemeClr val="accent1"/>
              </a:solidFill>
              <a:latin typeface="微软雅黑" panose="020B0503020204020204" pitchFamily="34" charset="-122"/>
              <a:sym typeface="+mn-ea"/>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sym typeface="+mn-ea"/>
              </a:rPr>
              <a:t>故障</a:t>
            </a:r>
            <a:r>
              <a:rPr lang="zh-CN" altLang="en-US" sz="3200" b="1" dirty="0" smtClean="0">
                <a:solidFill>
                  <a:schemeClr val="accent1"/>
                </a:solidFill>
                <a:latin typeface="微软雅黑" panose="020B0503020204020204" pitchFamily="34" charset="-122"/>
                <a:sym typeface="+mn-ea"/>
              </a:rPr>
              <a:t>时，如何检修？ </a:t>
            </a:r>
          </a:p>
        </p:txBody>
      </p:sp>
      <p:sp>
        <p:nvSpPr>
          <p:cNvPr id="9" name="矩形 8"/>
          <p:cNvSpPr/>
          <p:nvPr/>
        </p:nvSpPr>
        <p:spPr>
          <a:xfrm>
            <a:off x="964645" y="1635646"/>
            <a:ext cx="2949846" cy="400110"/>
          </a:xfrm>
          <a:prstGeom prst="rect">
            <a:avLst/>
          </a:prstGeom>
          <a:solidFill>
            <a:srgbClr val="0070C0"/>
          </a:solidFill>
        </p:spPr>
        <p:txBody>
          <a:bodyPr wrap="none">
            <a:spAutoFit/>
          </a:bodyPr>
          <a:lstStyle/>
          <a:p>
            <a:r>
              <a:rPr lang="en-US" altLang="zh-CN" sz="2000" b="1" dirty="0" smtClean="0">
                <a:solidFill>
                  <a:schemeClr val="bg1"/>
                </a:solidFill>
                <a:latin typeface="微软雅黑" pitchFamily="34" charset="-122"/>
                <a:ea typeface="微软雅黑" pitchFamily="34" charset="-122"/>
              </a:rPr>
              <a:t>3. </a:t>
            </a:r>
            <a:r>
              <a:rPr lang="en-US" altLang="zh-CN" sz="2000" b="1" dirty="0">
                <a:solidFill>
                  <a:schemeClr val="bg1"/>
                </a:solidFill>
                <a:latin typeface="微软雅黑" pitchFamily="34" charset="-122"/>
                <a:ea typeface="微软雅黑" pitchFamily="34" charset="-122"/>
              </a:rPr>
              <a:t>CAN </a:t>
            </a:r>
            <a:r>
              <a:rPr lang="zh-CN" altLang="en-US" sz="2000" b="1" dirty="0" smtClean="0">
                <a:solidFill>
                  <a:schemeClr val="bg1"/>
                </a:solidFill>
                <a:latin typeface="微软雅黑" pitchFamily="34" charset="-122"/>
                <a:ea typeface="微软雅黑" pitchFamily="34" charset="-122"/>
              </a:rPr>
              <a:t>总线</a:t>
            </a:r>
            <a:r>
              <a:rPr lang="zh-CN" altLang="en-US" sz="2000" b="1" dirty="0">
                <a:solidFill>
                  <a:schemeClr val="bg1"/>
                </a:solidFill>
                <a:latin typeface="微软雅黑" pitchFamily="34" charset="-122"/>
                <a:ea typeface="微软雅黑" pitchFamily="34" charset="-122"/>
              </a:rPr>
              <a:t>的</a:t>
            </a:r>
            <a:r>
              <a:rPr lang="zh-CN" altLang="en-US" sz="2000" b="1" dirty="0" smtClean="0">
                <a:solidFill>
                  <a:schemeClr val="bg1"/>
                </a:solidFill>
                <a:latin typeface="微软雅黑" pitchFamily="34" charset="-122"/>
                <a:ea typeface="微软雅黑" pitchFamily="34" charset="-122"/>
              </a:rPr>
              <a:t>故障</a:t>
            </a:r>
            <a:r>
              <a:rPr lang="zh-CN" altLang="en-US" sz="2000" b="1" dirty="0">
                <a:solidFill>
                  <a:schemeClr val="bg1"/>
                </a:solidFill>
                <a:latin typeface="微软雅黑" pitchFamily="34" charset="-122"/>
                <a:ea typeface="微软雅黑" pitchFamily="34" charset="-122"/>
              </a:rPr>
              <a:t>现象</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37</a:t>
            </a:fld>
            <a:endParaRPr lang="zh-CN" altLang="en-US" dirty="0"/>
          </a:p>
        </p:txBody>
      </p:sp>
      <p:sp>
        <p:nvSpPr>
          <p:cNvPr id="3" name="矩形 2"/>
          <p:cNvSpPr/>
          <p:nvPr/>
        </p:nvSpPr>
        <p:spPr>
          <a:xfrm>
            <a:off x="964645" y="2211710"/>
            <a:ext cx="7207755" cy="2443105"/>
          </a:xfrm>
          <a:prstGeom prst="rect">
            <a:avLst/>
          </a:prstGeom>
          <a:solidFill>
            <a:srgbClr val="0070C0"/>
          </a:solidFill>
        </p:spPr>
        <p:txBody>
          <a:bodyPr wrap="square">
            <a:spAutoFit/>
          </a:bodyPr>
          <a:lstStyle/>
          <a:p>
            <a:pPr fontAlgn="base">
              <a:lnSpc>
                <a:spcPct val="114000"/>
              </a:lnSpc>
            </a:pPr>
            <a:r>
              <a:rPr sz="1600" b="1" dirty="0" smtClean="0">
                <a:solidFill>
                  <a:schemeClr val="bg1"/>
                </a:solidFill>
                <a:latin typeface="微软雅黑" panose="020B0503020204020204" pitchFamily="34" charset="-122"/>
                <a:ea typeface="微软雅黑" panose="020B0503020204020204" pitchFamily="34" charset="-122"/>
              </a:rPr>
              <a:t>（2</a:t>
            </a:r>
            <a:r>
              <a:rPr sz="1600" b="1" dirty="0">
                <a:solidFill>
                  <a:schemeClr val="bg1"/>
                </a:solidFill>
                <a:latin typeface="微软雅黑" panose="020B0503020204020204" pitchFamily="34" charset="-122"/>
                <a:ea typeface="微软雅黑" panose="020B0503020204020204" pitchFamily="34" charset="-122"/>
              </a:rPr>
              <a:t>）控制单元的故障</a:t>
            </a:r>
          </a:p>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会干扰总线系统的控制单元：该故障原因可能由于软件引起。</a:t>
            </a:r>
          </a:p>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症状：由电码干扰而导致的功能无法执行或功能异常。</a:t>
            </a:r>
          </a:p>
          <a:p>
            <a:pPr fontAlgn="base">
              <a:lnSpc>
                <a:spcPct val="114000"/>
              </a:lnSpc>
            </a:pPr>
            <a:r>
              <a:rPr sz="1600" dirty="0">
                <a:solidFill>
                  <a:schemeClr val="bg1"/>
                </a:solidFill>
                <a:latin typeface="微软雅黑" panose="020B0503020204020204" pitchFamily="34" charset="-122"/>
                <a:ea typeface="微软雅黑" panose="020B0503020204020204" pitchFamily="34" charset="-122"/>
              </a:rPr>
              <a:t>确定干扰总线系统的控制单元的方法：</a:t>
            </a:r>
          </a:p>
          <a:p>
            <a:pPr fontAlgn="base">
              <a:lnSpc>
                <a:spcPct val="114000"/>
              </a:lnSpc>
            </a:pPr>
            <a:r>
              <a:rPr sz="1400" dirty="0">
                <a:solidFill>
                  <a:schemeClr val="bg1"/>
                </a:solidFill>
                <a:latin typeface="微软雅黑" panose="020B0503020204020204" pitchFamily="34" charset="-122"/>
                <a:ea typeface="微软雅黑" panose="020B0503020204020204" pitchFamily="34" charset="-122"/>
              </a:rPr>
              <a:t>1）依次取下每根总线上连接的控制单元熔丝，脱开相应的控制单元。</a:t>
            </a:r>
          </a:p>
          <a:p>
            <a:pPr fontAlgn="base">
              <a:lnSpc>
                <a:spcPct val="114000"/>
              </a:lnSpc>
            </a:pPr>
            <a:r>
              <a:rPr sz="1400" dirty="0">
                <a:solidFill>
                  <a:schemeClr val="bg1"/>
                </a:solidFill>
                <a:latin typeface="微软雅黑" panose="020B0503020204020204" pitchFamily="34" charset="-122"/>
                <a:ea typeface="微软雅黑" panose="020B0503020204020204" pitchFamily="34" charset="-122"/>
              </a:rPr>
              <a:t>2）每脱开一个控制单元后，重复总线测试。</a:t>
            </a:r>
          </a:p>
          <a:p>
            <a:pPr fontAlgn="base">
              <a:lnSpc>
                <a:spcPct val="114000"/>
              </a:lnSpc>
            </a:pPr>
            <a:r>
              <a:rPr sz="1400" dirty="0">
                <a:solidFill>
                  <a:schemeClr val="bg1"/>
                </a:solidFill>
                <a:latin typeface="微软雅黑" panose="020B0503020204020204" pitchFamily="34" charset="-122"/>
                <a:ea typeface="微软雅黑" panose="020B0503020204020204" pitchFamily="34" charset="-122"/>
              </a:rPr>
              <a:t>3）如果在脱开某个控制单元后数据传送重新正常，则表明该控制单元干扰了数据交换。</a:t>
            </a:r>
          </a:p>
          <a:p>
            <a:pPr fontAlgn="base">
              <a:lnSpc>
                <a:spcPct val="114000"/>
              </a:lnSpc>
            </a:pPr>
            <a:r>
              <a:rPr sz="1400" dirty="0">
                <a:solidFill>
                  <a:schemeClr val="bg1"/>
                </a:solidFill>
                <a:latin typeface="微软雅黑" panose="020B0503020204020204" pitchFamily="34" charset="-122"/>
                <a:ea typeface="微软雅黑" panose="020B0503020204020204" pitchFamily="34" charset="-122"/>
              </a:rPr>
              <a:t>4）如果确定控制单元硬件故障，可更换相关的控制单元。</a:t>
            </a:r>
          </a:p>
          <a:p>
            <a:pPr fontAlgn="base">
              <a:lnSpc>
                <a:spcPct val="114000"/>
              </a:lnSpc>
            </a:pPr>
            <a:r>
              <a:rPr sz="1400" dirty="0">
                <a:solidFill>
                  <a:schemeClr val="bg1"/>
                </a:solidFill>
                <a:latin typeface="微软雅黑" panose="020B0503020204020204" pitchFamily="34" charset="-122"/>
                <a:ea typeface="微软雅黑" panose="020B0503020204020204" pitchFamily="34" charset="-122"/>
              </a:rPr>
              <a:t>5）如果确定控制单元软件故障，可对相关的控制单元进行重新编程。</a:t>
            </a:r>
          </a:p>
        </p:txBody>
      </p:sp>
      <p:sp>
        <p:nvSpPr>
          <p:cNvPr id="7" name="Text Box 8"/>
          <p:cNvSpPr>
            <a:spLocks noChangeArrowheads="1"/>
          </p:cNvSpPr>
          <p:nvPr/>
        </p:nvSpPr>
        <p:spPr bwMode="auto">
          <a:xfrm>
            <a:off x="964645"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sym typeface="+mn-ea"/>
              </a:rPr>
              <a:t>车载总线网络的故障有什么特点？</a:t>
            </a:r>
            <a:r>
              <a:rPr lang="zh-CN" altLang="en-US" sz="3200" b="1" dirty="0" smtClean="0">
                <a:solidFill>
                  <a:schemeClr val="accent1"/>
                </a:solidFill>
                <a:latin typeface="微软雅黑" panose="020B0503020204020204" pitchFamily="34" charset="-122"/>
                <a:sym typeface="+mn-ea"/>
              </a:rPr>
              <a:t>出现</a:t>
            </a:r>
            <a:endParaRPr lang="en-US" altLang="zh-CN" sz="3200" b="1" dirty="0" smtClean="0">
              <a:solidFill>
                <a:schemeClr val="accent1"/>
              </a:solidFill>
              <a:latin typeface="微软雅黑" panose="020B0503020204020204" pitchFamily="34" charset="-122"/>
              <a:sym typeface="+mn-ea"/>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sym typeface="+mn-ea"/>
              </a:rPr>
              <a:t>故障</a:t>
            </a:r>
            <a:r>
              <a:rPr lang="zh-CN" altLang="en-US" sz="3200" b="1" dirty="0" smtClean="0">
                <a:solidFill>
                  <a:schemeClr val="accent1"/>
                </a:solidFill>
                <a:latin typeface="微软雅黑" panose="020B0503020204020204" pitchFamily="34" charset="-122"/>
                <a:sym typeface="+mn-ea"/>
              </a:rPr>
              <a:t>时，如何检修？ </a:t>
            </a:r>
          </a:p>
        </p:txBody>
      </p:sp>
      <p:sp>
        <p:nvSpPr>
          <p:cNvPr id="9" name="矩形 8"/>
          <p:cNvSpPr/>
          <p:nvPr/>
        </p:nvSpPr>
        <p:spPr>
          <a:xfrm>
            <a:off x="964645" y="1635646"/>
            <a:ext cx="2949846" cy="400110"/>
          </a:xfrm>
          <a:prstGeom prst="rect">
            <a:avLst/>
          </a:prstGeom>
          <a:solidFill>
            <a:srgbClr val="0070C0"/>
          </a:solidFill>
        </p:spPr>
        <p:txBody>
          <a:bodyPr wrap="none">
            <a:spAutoFit/>
          </a:bodyPr>
          <a:lstStyle/>
          <a:p>
            <a:r>
              <a:rPr lang="en-US" altLang="zh-CN" sz="2000" b="1" dirty="0" smtClean="0">
                <a:solidFill>
                  <a:schemeClr val="bg1"/>
                </a:solidFill>
                <a:latin typeface="微软雅黑" pitchFamily="34" charset="-122"/>
                <a:ea typeface="微软雅黑" pitchFamily="34" charset="-122"/>
              </a:rPr>
              <a:t>3. </a:t>
            </a:r>
            <a:r>
              <a:rPr lang="en-US" altLang="zh-CN" sz="2000" b="1" dirty="0">
                <a:solidFill>
                  <a:schemeClr val="bg1"/>
                </a:solidFill>
                <a:latin typeface="微软雅黑" pitchFamily="34" charset="-122"/>
                <a:ea typeface="微软雅黑" pitchFamily="34" charset="-122"/>
              </a:rPr>
              <a:t>CAN </a:t>
            </a:r>
            <a:r>
              <a:rPr lang="zh-CN" altLang="en-US" sz="2000" b="1" dirty="0" smtClean="0">
                <a:solidFill>
                  <a:schemeClr val="bg1"/>
                </a:solidFill>
                <a:latin typeface="微软雅黑" pitchFamily="34" charset="-122"/>
                <a:ea typeface="微软雅黑" pitchFamily="34" charset="-122"/>
              </a:rPr>
              <a:t>总线</a:t>
            </a:r>
            <a:r>
              <a:rPr lang="zh-CN" altLang="en-US" sz="2000" b="1" dirty="0">
                <a:solidFill>
                  <a:schemeClr val="bg1"/>
                </a:solidFill>
                <a:latin typeface="微软雅黑" pitchFamily="34" charset="-122"/>
                <a:ea typeface="微软雅黑" pitchFamily="34" charset="-122"/>
              </a:rPr>
              <a:t>的</a:t>
            </a:r>
            <a:r>
              <a:rPr lang="zh-CN" altLang="en-US" sz="2000" b="1" dirty="0" smtClean="0">
                <a:solidFill>
                  <a:schemeClr val="bg1"/>
                </a:solidFill>
                <a:latin typeface="微软雅黑" pitchFamily="34" charset="-122"/>
                <a:ea typeface="微软雅黑" pitchFamily="34" charset="-122"/>
              </a:rPr>
              <a:t>故障</a:t>
            </a:r>
            <a:r>
              <a:rPr lang="zh-CN" altLang="en-US" sz="2000" b="1" dirty="0">
                <a:solidFill>
                  <a:schemeClr val="bg1"/>
                </a:solidFill>
                <a:latin typeface="微软雅黑" pitchFamily="34" charset="-122"/>
                <a:ea typeface="微软雅黑" pitchFamily="34" charset="-122"/>
              </a:rPr>
              <a:t>现象</a:t>
            </a:r>
          </a:p>
        </p:txBody>
      </p:sp>
    </p:spTree>
    <p:extLst>
      <p:ext uri="{BB962C8B-B14F-4D97-AF65-F5344CB8AC3E}">
        <p14:creationId xmlns:p14="http://schemas.microsoft.com/office/powerpoint/2010/main" val="12882605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107504" y="4840397"/>
            <a:ext cx="2133600" cy="273844"/>
          </a:xfrm>
        </p:spPr>
        <p:txBody>
          <a:bodyPr/>
          <a:lstStyle/>
          <a:p>
            <a:pPr algn="l"/>
            <a:fld id="{0C913308-F349-4B6D-A68A-DD1791B4A57B}" type="slidenum">
              <a:rPr lang="zh-CN" altLang="en-US" smtClean="0"/>
              <a:t>38</a:t>
            </a:fld>
            <a:endParaRPr lang="zh-CN" altLang="en-US" dirty="0"/>
          </a:p>
        </p:txBody>
      </p:sp>
      <p:sp>
        <p:nvSpPr>
          <p:cNvPr id="3" name="矩形 2"/>
          <p:cNvSpPr/>
          <p:nvPr/>
        </p:nvSpPr>
        <p:spPr>
          <a:xfrm>
            <a:off x="964644" y="2165383"/>
            <a:ext cx="5767595" cy="373051"/>
          </a:xfrm>
          <a:prstGeom prst="rect">
            <a:avLst/>
          </a:prstGeom>
          <a:solidFill>
            <a:srgbClr val="0070C0"/>
          </a:solidFill>
        </p:spPr>
        <p:txBody>
          <a:bodyPr wrap="square">
            <a:spAutoFit/>
          </a:bodyPr>
          <a:lstStyle/>
          <a:p>
            <a:pPr fontAlgn="base">
              <a:lnSpc>
                <a:spcPct val="114000"/>
              </a:lnSpc>
            </a:pPr>
            <a:r>
              <a:rPr lang="zh-CN" altLang="en-US" sz="1600" b="1" dirty="0" smtClean="0">
                <a:solidFill>
                  <a:schemeClr val="bg1"/>
                </a:solidFill>
                <a:latin typeface="微软雅黑" panose="020B0503020204020204" pitchFamily="34" charset="-122"/>
                <a:ea typeface="微软雅黑" panose="020B0503020204020204" pitchFamily="34" charset="-122"/>
              </a:rPr>
              <a:t>方法：</a:t>
            </a:r>
            <a:r>
              <a:rPr sz="1600" dirty="0" err="1" smtClean="0">
                <a:solidFill>
                  <a:schemeClr val="bg1"/>
                </a:solidFill>
                <a:latin typeface="微软雅黑" panose="020B0503020204020204" pitchFamily="34" charset="-122"/>
                <a:ea typeface="微软雅黑" panose="020B0503020204020204" pitchFamily="34" charset="-122"/>
              </a:rPr>
              <a:t>拆开在损坏点处的缠绕线</a:t>
            </a:r>
            <a:r>
              <a:rPr sz="1600" dirty="0" err="1">
                <a:solidFill>
                  <a:schemeClr val="bg1"/>
                </a:solidFill>
                <a:latin typeface="微软雅黑" panose="020B0503020204020204" pitchFamily="34" charset="-122"/>
                <a:ea typeface="微软雅黑" panose="020B0503020204020204" pitchFamily="34" charset="-122"/>
              </a:rPr>
              <a:t>，</a:t>
            </a:r>
            <a:r>
              <a:rPr sz="1600" dirty="0" err="1" smtClean="0">
                <a:solidFill>
                  <a:schemeClr val="bg1"/>
                </a:solidFill>
                <a:latin typeface="微软雅黑" panose="020B0503020204020204" pitchFamily="34" charset="-122"/>
                <a:ea typeface="微软雅黑" panose="020B0503020204020204" pitchFamily="34" charset="-122"/>
              </a:rPr>
              <a:t>对损坏点处进行维修</a:t>
            </a:r>
            <a:r>
              <a:rPr sz="1600" dirty="0" smtClean="0">
                <a:solidFill>
                  <a:schemeClr val="bg1"/>
                </a:solidFill>
                <a:latin typeface="微软雅黑" panose="020B0503020204020204" pitchFamily="34" charset="-122"/>
                <a:ea typeface="微软雅黑" panose="020B0503020204020204" pitchFamily="34" charset="-122"/>
              </a:rPr>
              <a:t>。</a:t>
            </a:r>
            <a:endParaRPr lang="en-US" sz="1600" dirty="0" smtClean="0">
              <a:solidFill>
                <a:schemeClr val="bg1"/>
              </a:solidFill>
              <a:latin typeface="微软雅黑" panose="020B0503020204020204" pitchFamily="34" charset="-122"/>
              <a:ea typeface="微软雅黑" panose="020B0503020204020204" pitchFamily="34" charset="-122"/>
            </a:endParaRPr>
          </a:p>
        </p:txBody>
      </p:sp>
      <p:pic>
        <p:nvPicPr>
          <p:cNvPr id="4" name="图片 2" descr="图4-1-20 总线的维修"/>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3563888" y="2625849"/>
            <a:ext cx="4613275" cy="1891665"/>
          </a:xfrm>
          <a:prstGeom prst="rect">
            <a:avLst/>
          </a:prstGeom>
          <a:noFill/>
          <a:ln w="12700" cmpd="sng">
            <a:solidFill>
              <a:schemeClr val="accent1">
                <a:shade val="50000"/>
              </a:schemeClr>
            </a:solidFill>
            <a:prstDash val="solid"/>
          </a:ln>
        </p:spPr>
      </p:pic>
      <p:sp>
        <p:nvSpPr>
          <p:cNvPr id="7" name="Text Box 8"/>
          <p:cNvSpPr>
            <a:spLocks noChangeArrowheads="1"/>
          </p:cNvSpPr>
          <p:nvPr/>
        </p:nvSpPr>
        <p:spPr bwMode="auto">
          <a:xfrm>
            <a:off x="964645" y="411510"/>
            <a:ext cx="7573236"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微软雅黑" panose="020B0503020204020204" pitchFamily="34" charset="-122"/>
                <a:sym typeface="Calibri" panose="020F0502020204030204" pitchFamily="34" charset="0"/>
              </a:defRPr>
            </a:lvl9pPr>
          </a:lstStyle>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sym typeface="+mn-ea"/>
              </a:rPr>
              <a:t>车载总线网络的故障有什么特点？</a:t>
            </a:r>
            <a:r>
              <a:rPr lang="zh-CN" altLang="en-US" sz="3200" b="1" dirty="0" smtClean="0">
                <a:solidFill>
                  <a:schemeClr val="accent1"/>
                </a:solidFill>
                <a:latin typeface="微软雅黑" panose="020B0503020204020204" pitchFamily="34" charset="-122"/>
                <a:sym typeface="+mn-ea"/>
              </a:rPr>
              <a:t>出现</a:t>
            </a:r>
            <a:endParaRPr lang="en-US" altLang="zh-CN" sz="3200" b="1" dirty="0" smtClean="0">
              <a:solidFill>
                <a:schemeClr val="accent1"/>
              </a:solidFill>
              <a:latin typeface="微软雅黑" panose="020B0503020204020204" pitchFamily="34" charset="-122"/>
              <a:sym typeface="+mn-ea"/>
            </a:endParaRPr>
          </a:p>
          <a:p>
            <a:pPr algn="ctr" eaLnBrk="1" hangingPunct="1">
              <a:spcBef>
                <a:spcPct val="0"/>
              </a:spcBef>
              <a:buFont typeface="Arial" panose="020B0604020202020204" pitchFamily="34" charset="0"/>
              <a:buNone/>
            </a:pPr>
            <a:r>
              <a:rPr lang="zh-CN" altLang="en-US" sz="3200" b="1" dirty="0" smtClean="0">
                <a:solidFill>
                  <a:schemeClr val="accent1"/>
                </a:solidFill>
                <a:latin typeface="微软雅黑" panose="020B0503020204020204" pitchFamily="34" charset="-122"/>
                <a:sym typeface="+mn-ea"/>
              </a:rPr>
              <a:t>故障</a:t>
            </a:r>
            <a:r>
              <a:rPr lang="zh-CN" altLang="en-US" sz="3200" b="1" dirty="0" smtClean="0">
                <a:solidFill>
                  <a:schemeClr val="accent1"/>
                </a:solidFill>
                <a:latin typeface="微软雅黑" panose="020B0503020204020204" pitchFamily="34" charset="-122"/>
                <a:sym typeface="+mn-ea"/>
              </a:rPr>
              <a:t>时，如何检修？ </a:t>
            </a:r>
          </a:p>
        </p:txBody>
      </p:sp>
      <p:sp>
        <p:nvSpPr>
          <p:cNvPr id="9" name="矩形 8"/>
          <p:cNvSpPr/>
          <p:nvPr/>
        </p:nvSpPr>
        <p:spPr>
          <a:xfrm>
            <a:off x="964645" y="1635646"/>
            <a:ext cx="2436886" cy="400110"/>
          </a:xfrm>
          <a:prstGeom prst="rect">
            <a:avLst/>
          </a:prstGeom>
          <a:solidFill>
            <a:srgbClr val="0070C0"/>
          </a:solidFill>
        </p:spPr>
        <p:txBody>
          <a:bodyPr wrap="none">
            <a:spAutoFit/>
          </a:bodyPr>
          <a:lstStyle/>
          <a:p>
            <a:r>
              <a:rPr lang="en-US" altLang="zh-CN" sz="2000" b="1" dirty="0" smtClean="0">
                <a:solidFill>
                  <a:schemeClr val="bg1"/>
                </a:solidFill>
                <a:latin typeface="微软雅黑" pitchFamily="34" charset="-122"/>
                <a:ea typeface="微软雅黑" pitchFamily="34" charset="-122"/>
              </a:rPr>
              <a:t>4. </a:t>
            </a:r>
            <a:r>
              <a:rPr lang="en-US" altLang="zh-CN" sz="2000" b="1" dirty="0">
                <a:solidFill>
                  <a:schemeClr val="bg1"/>
                </a:solidFill>
                <a:latin typeface="微软雅黑" pitchFamily="34" charset="-122"/>
                <a:ea typeface="微软雅黑" pitchFamily="34" charset="-122"/>
              </a:rPr>
              <a:t>CAN </a:t>
            </a:r>
            <a:r>
              <a:rPr lang="zh-CN" altLang="en-US" sz="2000" b="1" dirty="0" smtClean="0">
                <a:solidFill>
                  <a:schemeClr val="bg1"/>
                </a:solidFill>
                <a:latin typeface="微软雅黑" pitchFamily="34" charset="-122"/>
                <a:ea typeface="微软雅黑" pitchFamily="34" charset="-122"/>
              </a:rPr>
              <a:t>总线的</a:t>
            </a:r>
            <a:r>
              <a:rPr lang="zh-CN" altLang="en-US" sz="2000" b="1" dirty="0">
                <a:solidFill>
                  <a:schemeClr val="bg1"/>
                </a:solidFill>
                <a:latin typeface="微软雅黑" pitchFamily="34" charset="-122"/>
                <a:ea typeface="微软雅黑" pitchFamily="34" charset="-122"/>
              </a:rPr>
              <a:t>维修</a:t>
            </a:r>
          </a:p>
        </p:txBody>
      </p:sp>
      <p:sp>
        <p:nvSpPr>
          <p:cNvPr id="10" name="矩形 9"/>
          <p:cNvSpPr/>
          <p:nvPr/>
        </p:nvSpPr>
        <p:spPr>
          <a:xfrm>
            <a:off x="964644" y="2768974"/>
            <a:ext cx="2239203" cy="1495922"/>
          </a:xfrm>
          <a:prstGeom prst="rect">
            <a:avLst/>
          </a:prstGeom>
          <a:solidFill>
            <a:srgbClr val="0070C0"/>
          </a:solidFill>
        </p:spPr>
        <p:txBody>
          <a:bodyPr wrap="square">
            <a:spAutoFit/>
          </a:bodyPr>
          <a:lstStyle/>
          <a:p>
            <a:pPr fontAlgn="base">
              <a:lnSpc>
                <a:spcPct val="114000"/>
              </a:lnSpc>
            </a:pPr>
            <a:r>
              <a:rPr sz="1600" b="1" dirty="0" err="1" smtClean="0">
                <a:solidFill>
                  <a:schemeClr val="bg1"/>
                </a:solidFill>
                <a:latin typeface="微软雅黑" panose="020B0503020204020204" pitchFamily="34" charset="-122"/>
                <a:ea typeface="微软雅黑" panose="020B0503020204020204" pitchFamily="34" charset="-122"/>
              </a:rPr>
              <a:t>在维修时需注意</a:t>
            </a:r>
            <a:r>
              <a:rPr sz="1600" b="1" dirty="0" smtClean="0">
                <a:solidFill>
                  <a:schemeClr val="bg1"/>
                </a:solidFill>
                <a:latin typeface="微软雅黑" panose="020B0503020204020204" pitchFamily="34" charset="-122"/>
                <a:ea typeface="微软雅黑" panose="020B0503020204020204" pitchFamily="34" charset="-122"/>
              </a:rPr>
              <a:t>：</a:t>
            </a:r>
            <a:endParaRPr lang="en-US" sz="1600" b="1" dirty="0" smtClean="0">
              <a:solidFill>
                <a:schemeClr val="bg1"/>
              </a:solidFill>
              <a:latin typeface="微软雅黑" panose="020B0503020204020204" pitchFamily="34" charset="-122"/>
              <a:ea typeface="微软雅黑" panose="020B0503020204020204" pitchFamily="34" charset="-122"/>
            </a:endParaRPr>
          </a:p>
          <a:p>
            <a:pPr fontAlgn="base">
              <a:lnSpc>
                <a:spcPct val="114000"/>
              </a:lnSpc>
            </a:pPr>
            <a:r>
              <a:rPr sz="1600" dirty="0" smtClean="0">
                <a:solidFill>
                  <a:schemeClr val="bg1"/>
                </a:solidFill>
                <a:latin typeface="微软雅黑" panose="020B0503020204020204" pitchFamily="34" charset="-122"/>
                <a:ea typeface="微软雅黑" panose="020B0503020204020204" pitchFamily="34" charset="-122"/>
              </a:rPr>
              <a:t>为了屏蔽干扰</a:t>
            </a:r>
            <a:r>
              <a:rPr sz="1600" dirty="0">
                <a:solidFill>
                  <a:schemeClr val="bg1"/>
                </a:solidFill>
                <a:latin typeface="微软雅黑" panose="020B0503020204020204" pitchFamily="34" charset="-122"/>
                <a:ea typeface="微软雅黑" panose="020B0503020204020204" pitchFamily="34" charset="-122"/>
              </a:rPr>
              <a:t>，尽可能少拆解缠绕节，并且维修点之间的距离应保持至少100mm。</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a:spLocks noGrp="1" noChangeArrowheads="1"/>
          </p:cNvSpPr>
          <p:nvPr/>
        </p:nvSpPr>
        <p:spPr bwMode="auto">
          <a:xfrm>
            <a:off x="2699792" y="1698475"/>
            <a:ext cx="4074090" cy="756832"/>
          </a:xfrm>
          <a:prstGeom prst="rect">
            <a:avLst/>
          </a:prstGeom>
          <a:noFill/>
          <a:ln w="9525">
            <a:noFill/>
            <a:miter lim="800000"/>
          </a:ln>
          <a:effectLst/>
        </p:spPr>
        <p:txBody>
          <a:bodyPr anchor="ctr"/>
          <a:lstStyle/>
          <a:p>
            <a:pPr algn="ctr">
              <a:buFontTx/>
              <a:buNone/>
              <a:defRPr/>
            </a:pPr>
            <a:r>
              <a:rPr lang="en-US" altLang="zh-CN" sz="6000" b="1" dirty="0">
                <a:solidFill>
                  <a:srgbClr val="0A8029"/>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Thanks</a:t>
            </a:r>
            <a:r>
              <a:rPr lang="zh-CN" altLang="en-US" sz="6000" b="1" dirty="0">
                <a:solidFill>
                  <a:srgbClr val="0A8029"/>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p>
        </p:txBody>
      </p:sp>
      <p:sp>
        <p:nvSpPr>
          <p:cNvPr id="11" name="灯片编号占位符 5"/>
          <p:cNvSpPr txBox="1"/>
          <p:nvPr/>
        </p:nvSpPr>
        <p:spPr>
          <a:xfrm>
            <a:off x="107504" y="4840397"/>
            <a:ext cx="2133600" cy="273844"/>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913308-F349-4B6D-A68A-DD1791B4A57B}" type="slidenum">
              <a:rPr lang="zh-CN" altLang="en-US" sz="1200" smtClean="0"/>
              <a:t>39</a:t>
            </a:fld>
            <a:endParaRPr lang="zh-CN" altLang="en-US" sz="12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303</TotalTime>
  <Words>2904</Words>
  <Application>Microsoft Office PowerPoint</Application>
  <PresentationFormat>全屏显示(16:9)</PresentationFormat>
  <Paragraphs>227</Paragraphs>
  <Slides>39</Slides>
  <Notes>38</Notes>
  <HiddenSlides>0</HiddenSlides>
  <MMClips>0</MMClips>
  <ScaleCrop>false</ScaleCrop>
  <HeadingPairs>
    <vt:vector size="4" baseType="variant">
      <vt:variant>
        <vt:lpstr>主题</vt:lpstr>
      </vt:variant>
      <vt:variant>
        <vt:i4>1</vt:i4>
      </vt:variant>
      <vt:variant>
        <vt:lpstr>幻灯片标题</vt:lpstr>
      </vt:variant>
      <vt:variant>
        <vt:i4>39</vt:i4>
      </vt:variant>
    </vt:vector>
  </HeadingPairs>
  <TitlesOfParts>
    <vt:vector size="40" baseType="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内训体系构架（讨论稿）</dc:title>
  <dc:creator>Administrator</dc:creator>
  <cp:lastModifiedBy>Lenovo</cp:lastModifiedBy>
  <cp:revision>1600</cp:revision>
  <dcterms:created xsi:type="dcterms:W3CDTF">2017-08-03T05:04:00Z</dcterms:created>
  <dcterms:modified xsi:type="dcterms:W3CDTF">2022-03-04T06:34:09Z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8E4C9AADA725407FBE44C9347C02DF2D</vt:lpwstr>
  </property>
</Properties>
</file>