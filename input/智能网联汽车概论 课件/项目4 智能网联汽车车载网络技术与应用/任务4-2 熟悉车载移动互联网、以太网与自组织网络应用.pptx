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7"/>
  </p:notesMasterIdLst>
  <p:sldIdLst>
    <p:sldId id="452" r:id="rId2"/>
    <p:sldId id="575" r:id="rId3"/>
    <p:sldId id="552" r:id="rId4"/>
    <p:sldId id="642" r:id="rId5"/>
    <p:sldId id="653" r:id="rId6"/>
    <p:sldId id="643" r:id="rId7"/>
    <p:sldId id="654" r:id="rId8"/>
    <p:sldId id="655" r:id="rId9"/>
    <p:sldId id="645" r:id="rId10"/>
    <p:sldId id="646" r:id="rId11"/>
    <p:sldId id="657" r:id="rId12"/>
    <p:sldId id="656" r:id="rId13"/>
    <p:sldId id="647" r:id="rId14"/>
    <p:sldId id="658" r:id="rId15"/>
    <p:sldId id="659" r:id="rId16"/>
    <p:sldId id="607" r:id="rId17"/>
    <p:sldId id="652" r:id="rId18"/>
    <p:sldId id="624" r:id="rId19"/>
    <p:sldId id="648" r:id="rId20"/>
    <p:sldId id="649" r:id="rId21"/>
    <p:sldId id="650" r:id="rId22"/>
    <p:sldId id="651" r:id="rId23"/>
    <p:sldId id="661" r:id="rId24"/>
    <p:sldId id="662" r:id="rId25"/>
    <p:sldId id="569" r:id="rId26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735"/>
    <a:srgbClr val="E20000"/>
    <a:srgbClr val="0A8029"/>
    <a:srgbClr val="6BA42C"/>
    <a:srgbClr val="080B86"/>
    <a:srgbClr val="2A6430"/>
    <a:srgbClr val="F2DCDB"/>
    <a:srgbClr val="EECECD"/>
    <a:srgbClr val="FAC090"/>
    <a:srgbClr val="88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62" autoAdjust="0"/>
    <p:restoredTop sz="91794" autoAdjust="0"/>
  </p:normalViewPr>
  <p:slideViewPr>
    <p:cSldViewPr>
      <p:cViewPr>
        <p:scale>
          <a:sx n="70" d="100"/>
          <a:sy n="70" d="100"/>
        </p:scale>
        <p:origin x="-612" y="-184"/>
      </p:cViewPr>
      <p:guideLst>
        <p:guide orient="horz" pos="1393"/>
        <p:guide pos="2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C56A5-6504-4F84-B307-892CFB3AFEA7}" type="datetimeFigureOut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B046C-3A01-41E6-A822-7FA0A1965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849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A2C8B-5710-4407-A094-7D0381341E3B}" type="datetime1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body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66367"/>
            <a:ext cx="6176442" cy="4300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576" y="1063229"/>
            <a:ext cx="8229600" cy="3394472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FFB4-D8F7-48E0-9754-FAF3066818AC}" type="datetime1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17A1-F837-41FD-8512-7BBDAF0EED8B}" type="datetime1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7C002-758E-4D25-975A-AB620C087E93}" type="datetime1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3E8EA-488D-4BB4-AB2B-C90BF1352AF7}" type="datetime1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622F2-C2FC-4FED-ABEC-518BAC9A44A6}" type="datetime1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4C27-18E3-4311-8A9B-EEA28C49A864}" type="datetime1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B677-D259-4E34-9A89-F6EEDF9008C9}" type="datetime1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84B-109E-4527-94FF-867BDC11262B}" type="datetime1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1F9AA-5F1F-420B-9A0D-3439B6781FDC}" type="datetime1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2"/>
            <a:ext cx="2057400" cy="32908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2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0B00F-AA85-4C40-AA06-D9A56162892B}" type="datetime1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 userDrawn="1"/>
        </p:nvSpPr>
        <p:spPr bwMode="auto">
          <a:xfrm>
            <a:off x="5298304" y="915566"/>
            <a:ext cx="3670323" cy="3429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anchor="ctr"/>
          <a:lstStyle>
            <a:lvl1pPr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Rectangle 3"/>
          <p:cNvSpPr>
            <a:spLocks noChangeArrowheads="1"/>
          </p:cNvSpPr>
          <p:nvPr userDrawn="1"/>
        </p:nvSpPr>
        <p:spPr bwMode="auto">
          <a:xfrm>
            <a:off x="467544" y="3075806"/>
            <a:ext cx="4070521" cy="18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anchor="ctr"/>
          <a:lstStyle>
            <a:lvl1pPr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EA93C-689E-4CAB-A3E9-95BA7A7E3BFC}" type="datetime1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915566"/>
            <a:ext cx="7164288" cy="1985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39502"/>
            <a:ext cx="5282584" cy="4493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8" name="Text Box 8"/>
          <p:cNvSpPr>
            <a:spLocks noChangeArrowheads="1"/>
          </p:cNvSpPr>
          <p:nvPr/>
        </p:nvSpPr>
        <p:spPr bwMode="auto">
          <a:xfrm>
            <a:off x="467360" y="339502"/>
            <a:ext cx="8429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什么是车载移动互联网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车载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移动互联网有哪些应用？</a:t>
            </a:r>
          </a:p>
        </p:txBody>
      </p:sp>
      <p:sp>
        <p:nvSpPr>
          <p:cNvPr id="3" name="矩形 2"/>
          <p:cNvSpPr/>
          <p:nvPr/>
        </p:nvSpPr>
        <p:spPr>
          <a:xfrm>
            <a:off x="971600" y="1419622"/>
            <a:ext cx="4520789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1.移动互联网与车载移动互联网的定义</a:t>
            </a:r>
          </a:p>
        </p:txBody>
      </p:sp>
      <p:pic>
        <p:nvPicPr>
          <p:cNvPr id="73" name="图片 73" descr="图4-2-1 移动互联网的结构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60032" y="1923677"/>
            <a:ext cx="3949700" cy="281950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4" name="矩形 3"/>
          <p:cNvSpPr/>
          <p:nvPr/>
        </p:nvSpPr>
        <p:spPr>
          <a:xfrm>
            <a:off x="971600" y="1923678"/>
            <a:ext cx="3888432" cy="93448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）移动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互联网：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移动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互联网是以移动网络作为接入网络的互联网服务，包括移动终端、移动网络和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服务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个要素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45994" y="2931790"/>
            <a:ext cx="3914038" cy="181139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移动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互联网的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含义： 一方面，移动互联网是移动通信网络与互联网的融合，用户以移动终端接入无线移动 通信网络、无线城域网、无线局域网等方式访问互联网。 另一方面，移动互联网还产生了大量新的应用场景，这些应用与终端的可移动性、可定位和随时携带等特性相结合，为用户提供个性化的、位置相关的服务。</a:t>
            </a:r>
            <a:endParaRPr lang="zh-CN" altLang="en-US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4</a:t>
            </a:fld>
            <a:endParaRPr lang="zh-CN" altLang="en-US" dirty="0"/>
          </a:p>
        </p:txBody>
      </p:sp>
      <p:pic>
        <p:nvPicPr>
          <p:cNvPr id="72" name="图片 72" descr="1612673980(1)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2172" y="2571750"/>
            <a:ext cx="3506000" cy="2232142"/>
          </a:xfrm>
          <a:prstGeom prst="rect">
            <a:avLst/>
          </a:prstGeom>
          <a:noFill/>
          <a:ln w="12700" cmpd="sng">
            <a:solidFill>
              <a:schemeClr val="accent1"/>
            </a:solidFill>
            <a:prstDash val="solid"/>
          </a:ln>
        </p:spPr>
      </p:pic>
      <p:sp>
        <p:nvSpPr>
          <p:cNvPr id="9" name="Text Box 8"/>
          <p:cNvSpPr>
            <a:spLocks noChangeArrowheads="1"/>
          </p:cNvSpPr>
          <p:nvPr/>
        </p:nvSpPr>
        <p:spPr bwMode="auto">
          <a:xfrm>
            <a:off x="467360" y="339502"/>
            <a:ext cx="8429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什么是车载移动互联网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车载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移动互联网有哪些应用？</a:t>
            </a:r>
          </a:p>
        </p:txBody>
      </p:sp>
      <p:sp>
        <p:nvSpPr>
          <p:cNvPr id="10" name="矩形 9"/>
          <p:cNvSpPr/>
          <p:nvPr/>
        </p:nvSpPr>
        <p:spPr>
          <a:xfrm>
            <a:off x="971600" y="1419622"/>
            <a:ext cx="4520789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1.移动互联网与车载移动互联网的定义</a:t>
            </a:r>
          </a:p>
        </p:txBody>
      </p:sp>
      <p:sp>
        <p:nvSpPr>
          <p:cNvPr id="5" name="矩形 4"/>
          <p:cNvSpPr/>
          <p:nvPr/>
        </p:nvSpPr>
        <p:spPr>
          <a:xfrm>
            <a:off x="971600" y="1844671"/>
            <a:ext cx="7226406" cy="65376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车载移动互联网是以车为移动终端，通过远距离无线通信技术构建的车辆与移动互联 网之间的网络，实现车辆与服务信息在车载移动互联网上的传输。</a:t>
            </a:r>
          </a:p>
        </p:txBody>
      </p:sp>
      <p:sp>
        <p:nvSpPr>
          <p:cNvPr id="7" name="矩形 6"/>
          <p:cNvSpPr/>
          <p:nvPr/>
        </p:nvSpPr>
        <p:spPr>
          <a:xfrm>
            <a:off x="971600" y="2616744"/>
            <a:ext cx="3613203" cy="120032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车载移动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互联网先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通过短距离通信技术在车内建立无线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个域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网或无线局域网，再通过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4G/5G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网络与互联网连接。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9" name="Text Box 8"/>
          <p:cNvSpPr>
            <a:spLocks noChangeArrowheads="1"/>
          </p:cNvSpPr>
          <p:nvPr/>
        </p:nvSpPr>
        <p:spPr bwMode="auto">
          <a:xfrm>
            <a:off x="467360" y="339502"/>
            <a:ext cx="8429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什么是车载移动互联网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车载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移动互联网有哪些应用？</a:t>
            </a:r>
          </a:p>
        </p:txBody>
      </p:sp>
      <p:sp>
        <p:nvSpPr>
          <p:cNvPr id="10" name="矩形 9"/>
          <p:cNvSpPr/>
          <p:nvPr/>
        </p:nvSpPr>
        <p:spPr>
          <a:xfrm>
            <a:off x="971600" y="1419622"/>
            <a:ext cx="298190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.车载移动互联网的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1600" y="1923678"/>
            <a:ext cx="7200800" cy="205697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）终端移动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性：移动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互联网业务使得用户可以在移动状态下接入和使用互联网服务，移动的终端便于用户随时携带和随时使用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4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）业务及时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性：用户能够随时随地及时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获取所需的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服务和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数据。 </a:t>
            </a:r>
            <a:endParaRPr lang="en-US" altLang="zh-CN" sz="14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）服务便利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性：操作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简便，响应时间短。 </a:t>
            </a:r>
            <a:endParaRPr lang="en-US" altLang="zh-CN" sz="14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业务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终端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的强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关联性：同时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具备移动终端、接入网络和运营商提供的业务三项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基本条件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 </a:t>
            </a:r>
            <a:endParaRPr lang="en-US" altLang="zh-CN" sz="14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）终端和网络的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局限性：移动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互联网业务在便携的同时也受到了来自网络能力和终端能力的限制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37244" y="4083918"/>
            <a:ext cx="7235155" cy="65376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随着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物联网技术的发展，以及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5G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技术的普及，网络带宽、终端处理能力等已经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完全可以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支持车载移动互联服务了。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111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6</a:t>
            </a:fld>
            <a:endParaRPr lang="zh-CN" altLang="en-US" dirty="0"/>
          </a:p>
        </p:txBody>
      </p:sp>
      <p:pic>
        <p:nvPicPr>
          <p:cNvPr id="71" name="图片 71" descr="图4-2-2 卫星通信网络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4747" y="2571750"/>
            <a:ext cx="2618147" cy="1728192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70" name="图片 70" descr="图4-2-3 无线城域网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9786" y="2571749"/>
            <a:ext cx="2713355" cy="1728193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11" name="Text Box 8"/>
          <p:cNvSpPr>
            <a:spLocks noChangeArrowheads="1"/>
          </p:cNvSpPr>
          <p:nvPr/>
        </p:nvSpPr>
        <p:spPr bwMode="auto">
          <a:xfrm>
            <a:off x="467360" y="339502"/>
            <a:ext cx="8429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什么是车载移动互联网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车载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移动互联网有哪些应用？</a:t>
            </a:r>
          </a:p>
        </p:txBody>
      </p:sp>
      <p:sp>
        <p:nvSpPr>
          <p:cNvPr id="12" name="矩形 11"/>
          <p:cNvSpPr/>
          <p:nvPr/>
        </p:nvSpPr>
        <p:spPr>
          <a:xfrm>
            <a:off x="971600" y="1419622"/>
            <a:ext cx="349486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.车载移动互联网的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接入方式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7954" y="1853876"/>
            <a:ext cx="7194445" cy="65376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车载移动互联网的接入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方式有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卫星通信网络、无线城域网（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WMAN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）、无线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局域网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WLAN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）、无线个域网（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WPAN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）和蜂窝网络（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4G/5G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网络）等。</a:t>
            </a:r>
          </a:p>
        </p:txBody>
      </p:sp>
      <p:sp>
        <p:nvSpPr>
          <p:cNvPr id="15" name="矩形 14"/>
          <p:cNvSpPr/>
          <p:nvPr/>
        </p:nvSpPr>
        <p:spPr>
          <a:xfrm>
            <a:off x="1691680" y="4355356"/>
            <a:ext cx="1738320" cy="33791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altLang="en-US" sz="1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）卫星通信网络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181722" y="4379200"/>
            <a:ext cx="1729482" cy="33791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altLang="en-US" sz="1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）无线城域网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7</a:t>
            </a:fld>
            <a:endParaRPr lang="zh-CN" altLang="en-US" dirty="0"/>
          </a:p>
        </p:txBody>
      </p:sp>
      <p:pic>
        <p:nvPicPr>
          <p:cNvPr id="69" name="图片 69" descr="图4-2-4 无线局域网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7664" y="2571750"/>
            <a:ext cx="2664295" cy="1705863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11" name="Text Box 8"/>
          <p:cNvSpPr>
            <a:spLocks noChangeArrowheads="1"/>
          </p:cNvSpPr>
          <p:nvPr/>
        </p:nvSpPr>
        <p:spPr bwMode="auto">
          <a:xfrm>
            <a:off x="467360" y="339502"/>
            <a:ext cx="8429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什么是车载移动互联网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车载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移动互联网有哪些应用？</a:t>
            </a:r>
          </a:p>
        </p:txBody>
      </p:sp>
      <p:sp>
        <p:nvSpPr>
          <p:cNvPr id="12" name="矩形 11"/>
          <p:cNvSpPr/>
          <p:nvPr/>
        </p:nvSpPr>
        <p:spPr>
          <a:xfrm>
            <a:off x="971600" y="1419622"/>
            <a:ext cx="349486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.车载移动互联网的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接入方式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7954" y="1853876"/>
            <a:ext cx="7194445" cy="65376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车载移动互联网的接入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方式有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卫星通信网络、无线城域网（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WMAN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）、无线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局域网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WLAN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）、无线个域网（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WPAN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）和蜂窝网络（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4G/5G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网络）等。</a:t>
            </a:r>
          </a:p>
        </p:txBody>
      </p:sp>
      <p:sp>
        <p:nvSpPr>
          <p:cNvPr id="17" name="矩形 16"/>
          <p:cNvSpPr/>
          <p:nvPr/>
        </p:nvSpPr>
        <p:spPr>
          <a:xfrm>
            <a:off x="1879114" y="4415008"/>
            <a:ext cx="1729482" cy="33791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altLang="en-US" sz="1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）无线局域网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724128" y="4379964"/>
            <a:ext cx="1729482" cy="33791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altLang="en-US" sz="1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）无线个域网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68" descr="图4-2-5 无线个域网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20072" y="2571750"/>
            <a:ext cx="2445096" cy="1705863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227507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11" name="Text Box 8"/>
          <p:cNvSpPr>
            <a:spLocks noChangeArrowheads="1"/>
          </p:cNvSpPr>
          <p:nvPr/>
        </p:nvSpPr>
        <p:spPr bwMode="auto">
          <a:xfrm>
            <a:off x="467360" y="339502"/>
            <a:ext cx="8429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什么是车载移动互联网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车载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移动互联网有哪些应用？</a:t>
            </a:r>
          </a:p>
        </p:txBody>
      </p:sp>
      <p:sp>
        <p:nvSpPr>
          <p:cNvPr id="12" name="矩形 11"/>
          <p:cNvSpPr/>
          <p:nvPr/>
        </p:nvSpPr>
        <p:spPr>
          <a:xfrm>
            <a:off x="971600" y="1419622"/>
            <a:ext cx="349486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.车载移动互联网的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接入方式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7954" y="1853876"/>
            <a:ext cx="7194445" cy="65376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车载移动互联网的接入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方式有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卫星通信网络、无线城域网（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WMAN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）、无线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局域网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WLAN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）、无线个域网（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WPAN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）和蜂窝网络（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4G/5G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网络）等。</a:t>
            </a:r>
          </a:p>
        </p:txBody>
      </p:sp>
      <p:sp>
        <p:nvSpPr>
          <p:cNvPr id="17" name="矩形 16"/>
          <p:cNvSpPr/>
          <p:nvPr/>
        </p:nvSpPr>
        <p:spPr>
          <a:xfrm>
            <a:off x="1424313" y="4415008"/>
            <a:ext cx="1729482" cy="33791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altLang="en-US" sz="1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）蜂窝网络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" name="图片 67" descr="图4-2-6 蜂窝网络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8914" y="2539388"/>
            <a:ext cx="2520280" cy="181898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3" name="矩形 2"/>
          <p:cNvSpPr/>
          <p:nvPr/>
        </p:nvSpPr>
        <p:spPr>
          <a:xfrm>
            <a:off x="3600038" y="2643758"/>
            <a:ext cx="4572000" cy="653769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常见的蜂窝网络类型有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GSM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网络、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CDMA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网络、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3G/4G/5G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网络等多种类型。 </a:t>
            </a:r>
          </a:p>
        </p:txBody>
      </p:sp>
      <p:sp>
        <p:nvSpPr>
          <p:cNvPr id="4" name="矩形 3"/>
          <p:cNvSpPr/>
          <p:nvPr/>
        </p:nvSpPr>
        <p:spPr>
          <a:xfrm>
            <a:off x="3600399" y="3423886"/>
            <a:ext cx="4572000" cy="934487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蜂窝移动通信的主要缺点是成本高、带宽低。随着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5G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移动通信时代的到来，带宽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将不再是限制车载移动互联网发展的技术瓶颈。</a:t>
            </a:r>
          </a:p>
        </p:txBody>
      </p:sp>
    </p:spTree>
    <p:extLst>
      <p:ext uri="{BB962C8B-B14F-4D97-AF65-F5344CB8AC3E}">
        <p14:creationId xmlns:p14="http://schemas.microsoft.com/office/powerpoint/2010/main" val="221698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71600" y="1347614"/>
            <a:ext cx="298190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4.车载移动互联网的应用</a:t>
            </a:r>
          </a:p>
        </p:txBody>
      </p:sp>
      <p:pic>
        <p:nvPicPr>
          <p:cNvPr id="66" name="图片 66" descr="图4-2-8 车联网组成示意图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97878" y="1851670"/>
            <a:ext cx="3873500" cy="279971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4" name="文本框 3"/>
          <p:cNvSpPr txBox="1"/>
          <p:nvPr/>
        </p:nvSpPr>
        <p:spPr>
          <a:xfrm>
            <a:off x="971601" y="1851670"/>
            <a:ext cx="3312367" cy="279971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127000"/>
            <a:r>
              <a:rPr lang="zh-CN" sz="1600" b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车载移动互联网的典型应用就是车联网。车联网是指利用物联网、无线通信、卫星定位、云计算、语音识别等技术，建立的一张全面覆盖市民、车辆、交通基础设施、交通管理者、交通服务商等的快速通信网络，可实现智能信号控制、实时交通诱导、交通秩序管理、交通信息服务等一系列交通管理与服务应用，最终达到交通安全、行车高效、驾驶舒适、节能环保等</a:t>
            </a:r>
            <a:r>
              <a:rPr lang="zh-CN" sz="1600" b="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</a:t>
            </a:r>
            <a:r>
              <a:rPr lang="zh-CN" altLang="en-US" sz="1600" b="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标。</a:t>
            </a:r>
            <a:endParaRPr lang="zh-CN" altLang="en-US" sz="1600" b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Box 8"/>
          <p:cNvSpPr>
            <a:spLocks noChangeArrowheads="1"/>
          </p:cNvSpPr>
          <p:nvPr/>
        </p:nvSpPr>
        <p:spPr bwMode="auto">
          <a:xfrm>
            <a:off x="467360" y="339502"/>
            <a:ext cx="8429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什么是车载移动互联网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车载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移动互联网有哪些应用？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图片 65" descr="图4-2-9车辆分析终端示意图 （去水印）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39952" y="1851670"/>
            <a:ext cx="4032536" cy="222992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10" name="矩形 9"/>
          <p:cNvSpPr/>
          <p:nvPr/>
        </p:nvSpPr>
        <p:spPr>
          <a:xfrm>
            <a:off x="971600" y="1347614"/>
            <a:ext cx="298190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车载移动互联网的应用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8"/>
          <p:cNvSpPr>
            <a:spLocks noChangeArrowheads="1"/>
          </p:cNvSpPr>
          <p:nvPr/>
        </p:nvSpPr>
        <p:spPr bwMode="auto">
          <a:xfrm>
            <a:off x="467360" y="339502"/>
            <a:ext cx="8429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什么是车载移动互联网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车载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移动互联网有哪些应用？</a:t>
            </a:r>
          </a:p>
        </p:txBody>
      </p:sp>
      <p:sp>
        <p:nvSpPr>
          <p:cNvPr id="4" name="矩形 3"/>
          <p:cNvSpPr/>
          <p:nvPr/>
        </p:nvSpPr>
        <p:spPr>
          <a:xfrm>
            <a:off x="963146" y="1851670"/>
            <a:ext cx="3104798" cy="193899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应用一：车辆数据采集分析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终端</a:t>
            </a:r>
            <a:endParaRPr lang="en-US" altLang="zh-CN" sz="16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根据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车型不同，可以通过车辆的数据传输接口（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OBD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接口）采集车辆控制系统的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数千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项数据，并经过系统分析共享应用。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971600" y="1347614"/>
            <a:ext cx="298190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车载移动互联网的应用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8"/>
          <p:cNvSpPr>
            <a:spLocks noChangeArrowheads="1"/>
          </p:cNvSpPr>
          <p:nvPr/>
        </p:nvSpPr>
        <p:spPr bwMode="auto">
          <a:xfrm>
            <a:off x="467360" y="339502"/>
            <a:ext cx="8429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什么是车载移动互联网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车载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移动互联网有哪些应用？</a:t>
            </a:r>
          </a:p>
        </p:txBody>
      </p:sp>
      <p:pic>
        <p:nvPicPr>
          <p:cNvPr id="6" name="图片 64" descr="图4-2-10车联网维修保养示意图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99992" y="1867179"/>
            <a:ext cx="3673971" cy="2395337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2" name="矩形 1"/>
          <p:cNvSpPr/>
          <p:nvPr/>
        </p:nvSpPr>
        <p:spPr>
          <a:xfrm>
            <a:off x="971599" y="1886875"/>
            <a:ext cx="3384377" cy="267765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应用二：新型的维修保养系统 </a:t>
            </a:r>
            <a:endParaRPr lang="en-US" altLang="zh-CN" sz="16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车主能够实时了解车辆的状况。 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通过信息共享，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4S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店及其他维修企业可将服务由被动变主动。 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③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良好、方便、高效的沟通平台，实现自助化的维修保养模式，使得各方利益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最大化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1616573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图片 63" descr="图4-2-11车联网远程监控示意图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92080" y="1851660"/>
            <a:ext cx="2869183" cy="1872218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10" name="矩形 9"/>
          <p:cNvSpPr/>
          <p:nvPr/>
        </p:nvSpPr>
        <p:spPr>
          <a:xfrm>
            <a:off x="971600" y="1347614"/>
            <a:ext cx="298190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4.车载移动互联网的应用</a:t>
            </a:r>
          </a:p>
        </p:txBody>
      </p:sp>
      <p:sp>
        <p:nvSpPr>
          <p:cNvPr id="11" name="Text Box 8"/>
          <p:cNvSpPr>
            <a:spLocks noChangeArrowheads="1"/>
          </p:cNvSpPr>
          <p:nvPr/>
        </p:nvSpPr>
        <p:spPr bwMode="auto">
          <a:xfrm>
            <a:off x="467360" y="339502"/>
            <a:ext cx="8429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什么是车载移动互联网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车载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移动互联网有哪些应用？</a:t>
            </a:r>
          </a:p>
        </p:txBody>
      </p:sp>
      <p:sp>
        <p:nvSpPr>
          <p:cNvPr id="3" name="矩形 2"/>
          <p:cNvSpPr/>
          <p:nvPr/>
        </p:nvSpPr>
        <p:spPr>
          <a:xfrm>
            <a:off x="971600" y="1839637"/>
            <a:ext cx="4104456" cy="267765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应用三：远程监控诊断控制系统、新型救援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服务系统</a:t>
            </a:r>
            <a:endParaRPr lang="en-US" altLang="zh-CN" sz="16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①借助卫星定位，与紧急救援实现高效对接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实时的故障信息可保障各种及时的服务请求，如爆胎、加油等。 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③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服务中心的个性化服务将给车主带来全方位的汽车生活体验。</a:t>
            </a:r>
          </a:p>
        </p:txBody>
      </p:sp>
    </p:spTree>
    <p:extLst>
      <p:ext uri="{BB962C8B-B14F-4D97-AF65-F5344CB8AC3E}">
        <p14:creationId xmlns:p14="http://schemas.microsoft.com/office/powerpoint/2010/main" val="296482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1" descr="1612676811(1)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1851670"/>
            <a:ext cx="3584684" cy="2724712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10" name="矩形 9"/>
          <p:cNvSpPr/>
          <p:nvPr/>
        </p:nvSpPr>
        <p:spPr>
          <a:xfrm>
            <a:off x="971600" y="1347614"/>
            <a:ext cx="298190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4.车载移动互联网的应用</a:t>
            </a:r>
          </a:p>
        </p:txBody>
      </p:sp>
      <p:sp>
        <p:nvSpPr>
          <p:cNvPr id="11" name="Text Box 8"/>
          <p:cNvSpPr>
            <a:spLocks noChangeArrowheads="1"/>
          </p:cNvSpPr>
          <p:nvPr/>
        </p:nvSpPr>
        <p:spPr bwMode="auto">
          <a:xfrm>
            <a:off x="467360" y="339502"/>
            <a:ext cx="8429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什么是车载移动互联网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车载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移动互联网有哪些应用？</a:t>
            </a:r>
          </a:p>
        </p:txBody>
      </p:sp>
      <p:sp>
        <p:nvSpPr>
          <p:cNvPr id="2" name="矩形 1"/>
          <p:cNvSpPr/>
          <p:nvPr/>
        </p:nvSpPr>
        <p:spPr>
          <a:xfrm>
            <a:off x="961048" y="1855956"/>
            <a:ext cx="3538944" cy="193899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应用四：道路事故处理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</a:t>
            </a:r>
            <a:endParaRPr lang="en-US" altLang="zh-CN" sz="16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实时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及全面的行车数据使事故现场可以 轻松地在电脑上得以重现，这给交通管理、 保险等传统行业带来革命性的创新模式。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7" descr="1612676953(1)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3506" y="1851670"/>
            <a:ext cx="4218893" cy="288032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10" name="矩形 9"/>
          <p:cNvSpPr/>
          <p:nvPr/>
        </p:nvSpPr>
        <p:spPr>
          <a:xfrm>
            <a:off x="971600" y="1347614"/>
            <a:ext cx="298190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4.车载移动互联网的应用</a:t>
            </a:r>
          </a:p>
        </p:txBody>
      </p:sp>
      <p:sp>
        <p:nvSpPr>
          <p:cNvPr id="11" name="Text Box 8"/>
          <p:cNvSpPr>
            <a:spLocks noChangeArrowheads="1"/>
          </p:cNvSpPr>
          <p:nvPr/>
        </p:nvSpPr>
        <p:spPr bwMode="auto">
          <a:xfrm>
            <a:off x="467360" y="339502"/>
            <a:ext cx="8429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什么是车载移动互联网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车载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移动互联网有哪些应用？</a:t>
            </a:r>
          </a:p>
        </p:txBody>
      </p:sp>
      <p:sp>
        <p:nvSpPr>
          <p:cNvPr id="2" name="矩形 1"/>
          <p:cNvSpPr/>
          <p:nvPr/>
        </p:nvSpPr>
        <p:spPr>
          <a:xfrm>
            <a:off x="998521" y="1851670"/>
            <a:ext cx="2954985" cy="156966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应用五：用户的其他便捷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功能</a:t>
            </a:r>
            <a:endParaRPr lang="en-US" altLang="zh-CN" sz="16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用户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可以便捷查询到保险、路况、位置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以及车辆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油耗等需求的信息。</a:t>
            </a:r>
          </a:p>
        </p:txBody>
      </p:sp>
    </p:spTree>
    <p:extLst>
      <p:ext uri="{BB962C8B-B14F-4D97-AF65-F5344CB8AC3E}">
        <p14:creationId xmlns:p14="http://schemas.microsoft.com/office/powerpoint/2010/main" val="19761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971600" y="1347614"/>
            <a:ext cx="298190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4.车载移动互联网的应用</a:t>
            </a:r>
          </a:p>
        </p:txBody>
      </p:sp>
      <p:sp>
        <p:nvSpPr>
          <p:cNvPr id="11" name="Text Box 8"/>
          <p:cNvSpPr>
            <a:spLocks noChangeArrowheads="1"/>
          </p:cNvSpPr>
          <p:nvPr/>
        </p:nvSpPr>
        <p:spPr bwMode="auto">
          <a:xfrm>
            <a:off x="467360" y="339502"/>
            <a:ext cx="8429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什么是车载移动互联网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车载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移动互联网有哪些应用？</a:t>
            </a:r>
          </a:p>
        </p:txBody>
      </p:sp>
      <p:sp>
        <p:nvSpPr>
          <p:cNvPr id="2" name="矩形 1"/>
          <p:cNvSpPr/>
          <p:nvPr/>
        </p:nvSpPr>
        <p:spPr>
          <a:xfrm>
            <a:off x="971600" y="1783464"/>
            <a:ext cx="4320480" cy="300351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案例</a:t>
            </a:r>
            <a:endParaRPr lang="en-US" altLang="zh-CN" sz="16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智能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车载互联技术，即利用互联网技术，使得汽车可以与手机、平板电脑等移动终端 设备连接，实现驾驶员对汽车更加便捷、智能化的控制，如通过智能手机来控制汽车，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用语音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来给汽车下达指令等。目前，智能车载互联技术主要应用在车载娱乐系统、导航、车 载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APP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以及无人驾驶上。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619" y="1477447"/>
            <a:ext cx="2296755" cy="1670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620" y="3219822"/>
            <a:ext cx="2287760" cy="1503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912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8" name="Text Box 8"/>
          <p:cNvSpPr>
            <a:spLocks noChangeArrowheads="1"/>
          </p:cNvSpPr>
          <p:nvPr/>
        </p:nvSpPr>
        <p:spPr bwMode="auto">
          <a:xfrm>
            <a:off x="659346" y="483518"/>
            <a:ext cx="79959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什么是车载以太网？车载以太网有哪些应用？</a:t>
            </a:r>
          </a:p>
        </p:txBody>
      </p:sp>
      <p:sp>
        <p:nvSpPr>
          <p:cNvPr id="3" name="矩形 2"/>
          <p:cNvSpPr/>
          <p:nvPr/>
        </p:nvSpPr>
        <p:spPr>
          <a:xfrm>
            <a:off x="971600" y="1131590"/>
            <a:ext cx="298190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1.车载以太网的技术特点</a:t>
            </a:r>
          </a:p>
        </p:txBody>
      </p:sp>
      <p:sp>
        <p:nvSpPr>
          <p:cNvPr id="2" name="矩形 1"/>
          <p:cNvSpPr/>
          <p:nvPr/>
        </p:nvSpPr>
        <p:spPr>
          <a:xfrm>
            <a:off x="990488" y="2983739"/>
            <a:ext cx="7181911" cy="177664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1）数据传输速率高</a:t>
            </a:r>
          </a:p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（2）应用广泛</a:t>
            </a:r>
          </a:p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（3）容易与信息网络集成，有利于资源共享</a:t>
            </a:r>
          </a:p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（4）支持多种物理介质和拓扑结构</a:t>
            </a:r>
          </a:p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（5）</a:t>
            </a: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软硬件资源丰富</a:t>
            </a:r>
            <a:endParaRPr lang="en-US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14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）可持续发展潜力大</a:t>
            </a:r>
            <a:endParaRPr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1600" y="1635646"/>
            <a:ext cx="7200800" cy="121520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以太网（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Ethernet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）是以美国施乐（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Xerox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）公司创建，并由施乐、英特尔和数字装备（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）公司联合开发的基带局域网规范，是当今现有局域网采用的最通用的通信协议标准。以太网包括标准以太网（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10Mbit/s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）、快速以太网（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100Mbit/s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）、千兆以太网（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1000Mbit/s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）和万兆以太网（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10Gbit/s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950076" y="1633945"/>
            <a:ext cx="7196979" cy="65376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sz="16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以太网在汽车上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16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应用刚刚开始</a:t>
            </a:r>
            <a:r>
              <a:rPr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，但它优越的性能得到汽车业界的重视，有望成为智能网联汽车上重要的车载网络</a:t>
            </a: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2" descr="C:\Users\Lenovo\AppData\Local\Temp\1621268563(1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11960" y="2398167"/>
            <a:ext cx="3935095" cy="230632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7" name="Text Box 8"/>
          <p:cNvSpPr>
            <a:spLocks noChangeArrowheads="1"/>
          </p:cNvSpPr>
          <p:nvPr/>
        </p:nvSpPr>
        <p:spPr bwMode="auto">
          <a:xfrm>
            <a:off x="659346" y="483518"/>
            <a:ext cx="79959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什么是车载以太网？车载以太网有哪些应用？</a:t>
            </a:r>
          </a:p>
        </p:txBody>
      </p:sp>
      <p:sp>
        <p:nvSpPr>
          <p:cNvPr id="9" name="矩形 8"/>
          <p:cNvSpPr/>
          <p:nvPr/>
        </p:nvSpPr>
        <p:spPr>
          <a:xfrm>
            <a:off x="971600" y="1131590"/>
            <a:ext cx="2468946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.车载以太网的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50076" y="2366411"/>
            <a:ext cx="3117868" cy="233807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sz="16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随着先进传感器</a:t>
            </a:r>
            <a:r>
              <a:rPr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、高分辨率显示器、车载摄像头</a:t>
            </a:r>
            <a:r>
              <a:rPr sz="16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sz="16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ADAS</a:t>
            </a:r>
            <a:r>
              <a:rPr sz="16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高级驾驶辅助系统及其数据传输和控件的加入</a:t>
            </a:r>
            <a:r>
              <a:rPr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，汽车电子产品正变得更加复杂</a:t>
            </a: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采用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标准的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以太网协议将这些设备连接起来，可以帮助简化布线、节约成本、减少线束质量和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提升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车辆性能。</a:t>
            </a:r>
            <a:endParaRPr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71600" y="1491630"/>
            <a:ext cx="5033750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1.无线自组织网络与车载自组织网络的定义</a:t>
            </a:r>
          </a:p>
        </p:txBody>
      </p:sp>
      <p:sp>
        <p:nvSpPr>
          <p:cNvPr id="2" name="矩形 1"/>
          <p:cNvSpPr/>
          <p:nvPr/>
        </p:nvSpPr>
        <p:spPr>
          <a:xfrm>
            <a:off x="971600" y="1995686"/>
            <a:ext cx="7200800" cy="91319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</a:t>
            </a:r>
            <a:r>
              <a:rPr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无线自组织网络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是一种不同于传统无线通信网络的技术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，由一组具有无线通信能力移动终端节点组成的、具有任意和临时性网络拓扑的动态自组织网络系统。其中每个终端节点既可作为主机，也可作为路由器使用</a:t>
            </a: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8"/>
          <p:cNvSpPr>
            <a:spLocks noChangeArrowheads="1"/>
          </p:cNvSpPr>
          <p:nvPr/>
        </p:nvSpPr>
        <p:spPr bwMode="auto">
          <a:xfrm>
            <a:off x="548640" y="447993"/>
            <a:ext cx="799592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什么是车载自组织网络？车载自组织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网络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有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哪些应用？</a:t>
            </a:r>
          </a:p>
        </p:txBody>
      </p:sp>
      <p:sp>
        <p:nvSpPr>
          <p:cNvPr id="7" name="矩形 6"/>
          <p:cNvSpPr/>
          <p:nvPr/>
        </p:nvSpPr>
        <p:spPr>
          <a:xfrm>
            <a:off x="971600" y="3003798"/>
            <a:ext cx="4032447" cy="177664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2）</a:t>
            </a:r>
            <a:r>
              <a:rPr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车载自组织网络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6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是一种自组织</a:t>
            </a:r>
            <a:r>
              <a:rPr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、结构开放的车辆之间通信网络，能够提供车辆之间以及车辆与路边基础设施之间的通信</a:t>
            </a: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车载自组织网络是智能交通系统未来发展的通信基础，也是智能网联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汽车安全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行驶的保障。</a:t>
            </a:r>
            <a:endParaRPr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003798"/>
            <a:ext cx="2875942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960389" y="2355726"/>
            <a:ext cx="3683619" cy="233807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1）V2V通信是通过GPS定位辅助建立无线多跳连接</a:t>
            </a: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，能够进行暂时的数据通信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，提供行车信息、行车安全等服务。</a:t>
            </a:r>
          </a:p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2）V2I通信能够通过接入互联网获得更丰富的信息与服务。</a:t>
            </a:r>
          </a:p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3）V2P</a:t>
            </a: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通信目前主要通过智能手机中的特种芯片提供行人和交通状况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，以后会有更多的通信方式。</a:t>
            </a:r>
          </a:p>
        </p:txBody>
      </p:sp>
      <p:pic>
        <p:nvPicPr>
          <p:cNvPr id="9" name="图片 9" descr="图4-2-1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88024" y="2355726"/>
            <a:ext cx="3384376" cy="2338076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7" name="矩形 6"/>
          <p:cNvSpPr/>
          <p:nvPr/>
        </p:nvSpPr>
        <p:spPr>
          <a:xfrm>
            <a:off x="971600" y="1491630"/>
            <a:ext cx="3571812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sz="2000" b="1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车载自组织网络的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结构类型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8"/>
          <p:cNvSpPr>
            <a:spLocks noChangeArrowheads="1"/>
          </p:cNvSpPr>
          <p:nvPr/>
        </p:nvSpPr>
        <p:spPr bwMode="auto">
          <a:xfrm>
            <a:off x="548640" y="447993"/>
            <a:ext cx="799592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什么是车载自组织网络？车载自组织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网络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有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哪些应用？</a:t>
            </a:r>
          </a:p>
        </p:txBody>
      </p:sp>
      <p:sp>
        <p:nvSpPr>
          <p:cNvPr id="5" name="矩形 4"/>
          <p:cNvSpPr/>
          <p:nvPr/>
        </p:nvSpPr>
        <p:spPr>
          <a:xfrm>
            <a:off x="971600" y="1925419"/>
            <a:ext cx="7200800" cy="33855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车载自组织网络结构主要分 为三种类型，即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V2V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通信、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V2I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通信、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V2P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961224" y="2499742"/>
            <a:ext cx="7170752" cy="205735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</a:t>
            </a:r>
            <a:r>
              <a:rPr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车间自组织型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车辆之间形成自组织网络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，不需借助路侧单元，这种通信模式也称为V2V通信模式，也是传统移动自组织网络的通信模式。</a:t>
            </a:r>
          </a:p>
          <a:p>
            <a:pPr fontAlgn="base">
              <a:lnSpc>
                <a:spcPct val="114000"/>
              </a:lnSpc>
            </a:pPr>
            <a:r>
              <a:rPr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（2）无线局域网/</a:t>
            </a:r>
            <a:r>
              <a:rPr sz="1600" b="1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蜂窝网络型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在这种通信模式下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，车辆节点间不能直接通信，必须通过接入路侧单元互相通信，这种通信模式也称为V2I通信模式，相比车间自组织型，路侧单元建设成本较高。</a:t>
            </a:r>
          </a:p>
          <a:p>
            <a:pPr fontAlgn="base">
              <a:lnSpc>
                <a:spcPct val="114000"/>
              </a:lnSpc>
            </a:pPr>
            <a:r>
              <a:rPr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（3）</a:t>
            </a:r>
            <a:r>
              <a:rPr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混合型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6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混合型是前两种通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</a:t>
            </a:r>
            <a:r>
              <a:rPr sz="16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模式的混合模式</a:t>
            </a:r>
            <a:r>
              <a:rPr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，车辆可以根据实际情况选择不同的通信方式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971600" y="1491630"/>
            <a:ext cx="4084773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sz="2000" b="1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车载自组织网络的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路由协议类型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8"/>
          <p:cNvSpPr>
            <a:spLocks noChangeArrowheads="1"/>
          </p:cNvSpPr>
          <p:nvPr/>
        </p:nvSpPr>
        <p:spPr bwMode="auto">
          <a:xfrm>
            <a:off x="548640" y="447993"/>
            <a:ext cx="799592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什么是车载自组织网络？车载自组织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网络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有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哪些应用？</a:t>
            </a:r>
          </a:p>
        </p:txBody>
      </p:sp>
      <p:sp>
        <p:nvSpPr>
          <p:cNvPr id="5" name="矩形 4"/>
          <p:cNvSpPr/>
          <p:nvPr/>
        </p:nvSpPr>
        <p:spPr>
          <a:xfrm>
            <a:off x="961224" y="2008661"/>
            <a:ext cx="7170752" cy="33855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根据节点间通信是否需要借助路侧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单元进行车载自组织网络结构分类。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971600" y="2715766"/>
            <a:ext cx="7200800" cy="181139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sz="14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在移动的车载自组织网络中</a:t>
            </a:r>
            <a:r>
              <a:rPr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，最重要的特征就是节点的速度</a:t>
            </a:r>
            <a:r>
              <a:rPr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fontAlgn="base">
              <a:lnSpc>
                <a:spcPct val="114000"/>
              </a:lnSpc>
            </a:pPr>
            <a:r>
              <a:rPr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车辆是在预定的道路上行驶的，通常有两个行驶方向。只有在十字路口时，车辆的行驶方向才具有不确定性。一般情况下，将道路分为高密度城市道路、高速公路和乡村道路三种类型。</a:t>
            </a:r>
          </a:p>
          <a:p>
            <a:pPr fontAlgn="base">
              <a:lnSpc>
                <a:spcPct val="114000"/>
              </a:lnSpc>
            </a:pPr>
            <a:r>
              <a:rPr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除了速度和运动模式外，节点密度是车载自组织网络节点移动性的第三个关键属性。</a:t>
            </a:r>
          </a:p>
          <a:p>
            <a:pPr fontAlgn="base">
              <a:lnSpc>
                <a:spcPct val="114000"/>
              </a:lnSpc>
            </a:pPr>
            <a:r>
              <a:rPr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在车载自组织网络中，节点有许多不同种类。</a:t>
            </a:r>
          </a:p>
          <a:p>
            <a:pPr fontAlgn="base">
              <a:lnSpc>
                <a:spcPct val="114000"/>
              </a:lnSpc>
            </a:pPr>
            <a:r>
              <a:rPr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尽管车辆节点的运动规律比较复杂，但车辆的运动趋势在一定程度上仍然是可以预测的。</a:t>
            </a:r>
          </a:p>
        </p:txBody>
      </p:sp>
      <p:sp>
        <p:nvSpPr>
          <p:cNvPr id="7" name="矩形 6"/>
          <p:cNvSpPr/>
          <p:nvPr/>
        </p:nvSpPr>
        <p:spPr>
          <a:xfrm>
            <a:off x="971600" y="1491630"/>
            <a:ext cx="3058851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sz="2000" b="1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车载自组织网络的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8"/>
          <p:cNvSpPr>
            <a:spLocks noChangeArrowheads="1"/>
          </p:cNvSpPr>
          <p:nvPr/>
        </p:nvSpPr>
        <p:spPr bwMode="auto">
          <a:xfrm>
            <a:off x="548640" y="447993"/>
            <a:ext cx="799592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什么是车载自组织网络？车载自组织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网络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有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哪些应用？</a:t>
            </a:r>
          </a:p>
        </p:txBody>
      </p:sp>
      <p:sp>
        <p:nvSpPr>
          <p:cNvPr id="5" name="矩形 4"/>
          <p:cNvSpPr/>
          <p:nvPr/>
        </p:nvSpPr>
        <p:spPr>
          <a:xfrm>
            <a:off x="971600" y="1953801"/>
            <a:ext cx="7200800" cy="65376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lvl="0" fontAlgn="base">
              <a:lnSpc>
                <a:spcPct val="114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车载自组织网络特点主要包括节点速度、运动模式、节点密度、节点异构性和可预测的运动性等。</a:t>
            </a:r>
            <a:endParaRPr lang="zh-CN" altLang="en-US" sz="1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8" descr="图4-2-2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1600" y="2643758"/>
            <a:ext cx="3744416" cy="1584176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7" name="图片 7" descr="图4-2-2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60032" y="2649180"/>
            <a:ext cx="3301875" cy="1578754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15" name="矩形 14"/>
          <p:cNvSpPr/>
          <p:nvPr/>
        </p:nvSpPr>
        <p:spPr>
          <a:xfrm>
            <a:off x="971600" y="1491630"/>
            <a:ext cx="3058851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sz="2000" b="1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车载自组织网络的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8"/>
          <p:cNvSpPr>
            <a:spLocks noChangeArrowheads="1"/>
          </p:cNvSpPr>
          <p:nvPr/>
        </p:nvSpPr>
        <p:spPr bwMode="auto">
          <a:xfrm>
            <a:off x="548640" y="447993"/>
            <a:ext cx="799592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什么是车载自组织网络？车载自组织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网络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有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哪些应用？</a:t>
            </a:r>
          </a:p>
        </p:txBody>
      </p:sp>
      <p:sp>
        <p:nvSpPr>
          <p:cNvPr id="2" name="矩形 1"/>
          <p:cNvSpPr/>
          <p:nvPr/>
        </p:nvSpPr>
        <p:spPr>
          <a:xfrm>
            <a:off x="971600" y="1935440"/>
            <a:ext cx="7200800" cy="65376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车载自组织网络的应用场景主要包括碰撞预警、避免交通拥堵、紧急制动警告、并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线警告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和交叉路口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违规警告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等。</a:t>
            </a:r>
          </a:p>
        </p:txBody>
      </p:sp>
      <p:sp>
        <p:nvSpPr>
          <p:cNvPr id="17" name="矩形 16"/>
          <p:cNvSpPr/>
          <p:nvPr/>
        </p:nvSpPr>
        <p:spPr>
          <a:xfrm>
            <a:off x="1947026" y="4371950"/>
            <a:ext cx="1616861" cy="33855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）碰撞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预警</a:t>
            </a:r>
            <a:endParaRPr lang="zh-CN" altLang="en-US" sz="1600" b="1" dirty="0"/>
          </a:p>
        </p:txBody>
      </p:sp>
      <p:sp>
        <p:nvSpPr>
          <p:cNvPr id="19" name="矩形 18"/>
          <p:cNvSpPr/>
          <p:nvPr/>
        </p:nvSpPr>
        <p:spPr>
          <a:xfrm>
            <a:off x="5652120" y="4401812"/>
            <a:ext cx="1944216" cy="33855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）避免交通拥堵</a:t>
            </a:r>
            <a:endParaRPr lang="zh-CN" altLang="en-US" sz="16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971600" y="1491630"/>
            <a:ext cx="3058851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sz="2000" b="1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车载自组织网络的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8"/>
          <p:cNvSpPr>
            <a:spLocks noChangeArrowheads="1"/>
          </p:cNvSpPr>
          <p:nvPr/>
        </p:nvSpPr>
        <p:spPr bwMode="auto">
          <a:xfrm>
            <a:off x="548640" y="447993"/>
            <a:ext cx="799592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什么是车载自组织网络？车载自组织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网络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有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哪些应用？</a:t>
            </a:r>
          </a:p>
        </p:txBody>
      </p:sp>
      <p:sp>
        <p:nvSpPr>
          <p:cNvPr id="2" name="矩形 1"/>
          <p:cNvSpPr/>
          <p:nvPr/>
        </p:nvSpPr>
        <p:spPr>
          <a:xfrm>
            <a:off x="971600" y="1935440"/>
            <a:ext cx="7200800" cy="65376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车载自组织网络的应用场景主要包括碰撞预警、避免交通拥堵、紧急制动警告、并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线警告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和交叉路口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违规警告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等。</a:t>
            </a:r>
          </a:p>
        </p:txBody>
      </p:sp>
      <p:sp>
        <p:nvSpPr>
          <p:cNvPr id="17" name="矩形 16"/>
          <p:cNvSpPr/>
          <p:nvPr/>
        </p:nvSpPr>
        <p:spPr>
          <a:xfrm>
            <a:off x="1947026" y="4371950"/>
            <a:ext cx="1976902" cy="33855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）紧急制动警告</a:t>
            </a:r>
            <a:endParaRPr lang="zh-CN" altLang="en-US" sz="1600" b="1" dirty="0"/>
          </a:p>
        </p:txBody>
      </p:sp>
      <p:sp>
        <p:nvSpPr>
          <p:cNvPr id="19" name="矩形 18"/>
          <p:cNvSpPr/>
          <p:nvPr/>
        </p:nvSpPr>
        <p:spPr>
          <a:xfrm>
            <a:off x="5652120" y="4401812"/>
            <a:ext cx="1728192" cy="33855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）并线警告</a:t>
            </a:r>
            <a:endParaRPr lang="zh-CN" altLang="en-US" sz="1600" b="1" dirty="0"/>
          </a:p>
        </p:txBody>
      </p:sp>
      <p:pic>
        <p:nvPicPr>
          <p:cNvPr id="9" name="图片 6" descr="图4-2-22 紧急制动警告应用场景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19672" y="2706384"/>
            <a:ext cx="2926928" cy="1548363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10" name="图片 2" descr="图4-2-23 并线警告应用场景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48064" y="2720859"/>
            <a:ext cx="2664296" cy="1533887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74137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971600" y="1491630"/>
            <a:ext cx="3058851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sz="2000" b="1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车载自组织网络的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8"/>
          <p:cNvSpPr>
            <a:spLocks noChangeArrowheads="1"/>
          </p:cNvSpPr>
          <p:nvPr/>
        </p:nvSpPr>
        <p:spPr bwMode="auto">
          <a:xfrm>
            <a:off x="548640" y="447993"/>
            <a:ext cx="799592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什么是车载自组织网络？车载自组织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网络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有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哪些应用？</a:t>
            </a:r>
          </a:p>
        </p:txBody>
      </p:sp>
      <p:sp>
        <p:nvSpPr>
          <p:cNvPr id="2" name="矩形 1"/>
          <p:cNvSpPr/>
          <p:nvPr/>
        </p:nvSpPr>
        <p:spPr>
          <a:xfrm>
            <a:off x="971600" y="1935440"/>
            <a:ext cx="7200800" cy="65376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车载自组织网络的应用场景主要包括碰撞预警、避免交通拥堵、紧急制动警告、并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线警告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和交叉路口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违规警告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等。</a:t>
            </a:r>
          </a:p>
        </p:txBody>
      </p:sp>
      <p:sp>
        <p:nvSpPr>
          <p:cNvPr id="17" name="矩形 16"/>
          <p:cNvSpPr/>
          <p:nvPr/>
        </p:nvSpPr>
        <p:spPr>
          <a:xfrm>
            <a:off x="1276545" y="4356782"/>
            <a:ext cx="2408950" cy="33855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）交叉路口违规警告</a:t>
            </a:r>
            <a:endParaRPr lang="zh-CN" altLang="en-US" sz="1600" b="1" dirty="0"/>
          </a:p>
        </p:txBody>
      </p:sp>
      <p:pic>
        <p:nvPicPr>
          <p:cNvPr id="11" name="图片 1" descr="图4-2-24 交叉路口违规警告应用场景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1600" y="2715766"/>
            <a:ext cx="3018840" cy="1584176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3" name="矩形 2"/>
          <p:cNvSpPr/>
          <p:nvPr/>
        </p:nvSpPr>
        <p:spPr>
          <a:xfrm>
            <a:off x="4139952" y="2838440"/>
            <a:ext cx="4032448" cy="128990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随着车载自组织网络技术的发展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，应用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范围越来越广泛，主要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涉及交通安全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、驾驶、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公共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服务、商用、娱乐等。</a:t>
            </a:r>
          </a:p>
        </p:txBody>
      </p:sp>
    </p:spTree>
    <p:extLst>
      <p:ext uri="{BB962C8B-B14F-4D97-AF65-F5344CB8AC3E}">
        <p14:creationId xmlns:p14="http://schemas.microsoft.com/office/powerpoint/2010/main" val="59570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/>
        </p:nvSpPr>
        <p:spPr bwMode="auto">
          <a:xfrm>
            <a:off x="2699792" y="1698475"/>
            <a:ext cx="4074090" cy="756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>
              <a:buFontTx/>
              <a:buNone/>
              <a:defRPr/>
            </a:pPr>
            <a:r>
              <a:rPr lang="en-US" altLang="zh-CN" sz="6000" b="1" dirty="0">
                <a:solidFill>
                  <a:srgbClr val="0A80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r>
              <a:rPr lang="zh-CN" altLang="en-US" sz="6000" b="1" dirty="0">
                <a:solidFill>
                  <a:srgbClr val="0A80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11" name="灯片编号占位符 5"/>
          <p:cNvSpPr txBox="1"/>
          <p:nvPr/>
        </p:nvSpPr>
        <p:spPr>
          <a:xfrm>
            <a:off x="107504" y="4840397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200" smtClean="0"/>
              <a:t>25</a:t>
            </a:fld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290,&quot;width&quot;:622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1805</Words>
  <Application>Microsoft Office PowerPoint</Application>
  <PresentationFormat>全屏显示(16:9)</PresentationFormat>
  <Paragraphs>173</Paragraphs>
  <Slides>25</Slides>
  <Notes>24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6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内训体系构架（讨论稿）</dc:title>
  <dc:creator>Administrator</dc:creator>
  <cp:lastModifiedBy>Lenovo</cp:lastModifiedBy>
  <cp:revision>1595</cp:revision>
  <dcterms:created xsi:type="dcterms:W3CDTF">2017-08-03T05:04:00Z</dcterms:created>
  <dcterms:modified xsi:type="dcterms:W3CDTF">2022-03-04T15:11:50Z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8E4C9AADA725407FBE44C9347C02DF2D</vt:lpwstr>
  </property>
</Properties>
</file>