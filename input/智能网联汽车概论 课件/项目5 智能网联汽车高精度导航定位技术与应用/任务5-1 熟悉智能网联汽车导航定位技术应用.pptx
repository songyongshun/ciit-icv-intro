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25"/>
  </p:notesMasterIdLst>
  <p:sldIdLst>
    <p:sldId id="452" r:id="rId2"/>
    <p:sldId id="575" r:id="rId3"/>
    <p:sldId id="654" r:id="rId4"/>
    <p:sldId id="552" r:id="rId5"/>
    <p:sldId id="655" r:id="rId6"/>
    <p:sldId id="642" r:id="rId7"/>
    <p:sldId id="643" r:id="rId8"/>
    <p:sldId id="656" r:id="rId9"/>
    <p:sldId id="622" r:id="rId10"/>
    <p:sldId id="644" r:id="rId11"/>
    <p:sldId id="657" r:id="rId12"/>
    <p:sldId id="645" r:id="rId13"/>
    <p:sldId id="646" r:id="rId14"/>
    <p:sldId id="647" r:id="rId15"/>
    <p:sldId id="648" r:id="rId16"/>
    <p:sldId id="649" r:id="rId17"/>
    <p:sldId id="650" r:id="rId18"/>
    <p:sldId id="651" r:id="rId19"/>
    <p:sldId id="658" r:id="rId20"/>
    <p:sldId id="652" r:id="rId21"/>
    <p:sldId id="653" r:id="rId22"/>
    <p:sldId id="659" r:id="rId23"/>
    <p:sldId id="569" r:id="rId24"/>
  </p:sldIdLst>
  <p:sldSz cx="9144000" cy="5143500" type="screen16x9"/>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DA735"/>
    <a:srgbClr val="E20000"/>
    <a:srgbClr val="0A8029"/>
    <a:srgbClr val="6BA42C"/>
    <a:srgbClr val="080B86"/>
    <a:srgbClr val="2A6430"/>
    <a:srgbClr val="F2DCDB"/>
    <a:srgbClr val="EECECD"/>
    <a:srgbClr val="FAC090"/>
    <a:srgbClr val="88B0E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662" autoAdjust="0"/>
    <p:restoredTop sz="83310" autoAdjust="0"/>
  </p:normalViewPr>
  <p:slideViewPr>
    <p:cSldViewPr>
      <p:cViewPr>
        <p:scale>
          <a:sx n="70" d="100"/>
          <a:sy n="70" d="100"/>
        </p:scale>
        <p:origin x="-612" y="-60"/>
      </p:cViewPr>
      <p:guideLst>
        <p:guide orient="horz" pos="1400"/>
        <p:guide pos="2852"/>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DBC56A5-6504-4F84-B307-892CFB3AFEA7}" type="datetimeFigureOut">
              <a:rPr lang="zh-CN" altLang="en-US" smtClean="0"/>
              <a:t>2022/3/5</a:t>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58B046C-3A01-41E6-A822-7FA0A1965D87}" type="slidenum">
              <a:rPr lang="zh-CN" altLang="en-US" smtClean="0"/>
              <a:t>‹#›</a:t>
            </a:fld>
            <a:endParaRPr lang="zh-CN" altLang="en-US"/>
          </a:p>
        </p:txBody>
      </p:sp>
    </p:spTree>
    <p:extLst>
      <p:ext uri="{BB962C8B-B14F-4D97-AF65-F5344CB8AC3E}">
        <p14:creationId xmlns:p14="http://schemas.microsoft.com/office/powerpoint/2010/main" val="28368039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endParaRPr lang="zh-CN" altLang="zh-CN" dirty="0" smtClean="0">
              <a:effectLst/>
            </a:endParaRPr>
          </a:p>
        </p:txBody>
      </p:sp>
      <p:sp>
        <p:nvSpPr>
          <p:cNvPr id="4" name="灯片编号占位符 3"/>
          <p:cNvSpPr>
            <a:spLocks noGrp="1"/>
          </p:cNvSpPr>
          <p:nvPr>
            <p:ph type="sldNum" sz="quarter" idx="10"/>
          </p:nvPr>
        </p:nvSpPr>
        <p:spPr/>
        <p:txBody>
          <a:bodyPr/>
          <a:lstStyle/>
          <a:p>
            <a:fld id="{358B046C-3A01-41E6-A822-7FA0A1965D87}"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endParaRPr lang="zh-CN" altLang="zh-CN" dirty="0" smtClean="0">
              <a:effectLst/>
            </a:endParaRPr>
          </a:p>
        </p:txBody>
      </p:sp>
      <p:sp>
        <p:nvSpPr>
          <p:cNvPr id="4" name="灯片编号占位符 3"/>
          <p:cNvSpPr>
            <a:spLocks noGrp="1"/>
          </p:cNvSpPr>
          <p:nvPr>
            <p:ph type="sldNum" sz="quarter" idx="10"/>
          </p:nvPr>
        </p:nvSpPr>
        <p:spPr/>
        <p:txBody>
          <a:bodyPr/>
          <a:lstStyle/>
          <a:p>
            <a:fld id="{358B046C-3A01-41E6-A822-7FA0A1965D87}" type="slidenum">
              <a:rPr lang="zh-CN" altLang="en-US" smtClean="0"/>
              <a:t>2</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endParaRPr lang="zh-CN" altLang="zh-CN" dirty="0" smtClean="0">
              <a:effectLst/>
            </a:endParaRPr>
          </a:p>
        </p:txBody>
      </p:sp>
      <p:sp>
        <p:nvSpPr>
          <p:cNvPr id="4" name="灯片编号占位符 3"/>
          <p:cNvSpPr>
            <a:spLocks noGrp="1"/>
          </p:cNvSpPr>
          <p:nvPr>
            <p:ph type="sldNum" sz="quarter" idx="10"/>
          </p:nvPr>
        </p:nvSpPr>
        <p:spPr/>
        <p:txBody>
          <a:bodyPr/>
          <a:lstStyle/>
          <a:p>
            <a:fld id="{358B046C-3A01-41E6-A822-7FA0A1965D87}" type="slidenum">
              <a:rPr lang="zh-CN" altLang="en-US" smtClean="0"/>
              <a:t>3</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dirty="0">
              <a:effectLst/>
            </a:endParaRPr>
          </a:p>
        </p:txBody>
      </p:sp>
      <p:sp>
        <p:nvSpPr>
          <p:cNvPr id="4" name="灯片编号占位符 3"/>
          <p:cNvSpPr>
            <a:spLocks noGrp="1"/>
          </p:cNvSpPr>
          <p:nvPr>
            <p:ph type="sldNum" sz="quarter" idx="10"/>
          </p:nvPr>
        </p:nvSpPr>
        <p:spPr/>
        <p:txBody>
          <a:bodyPr/>
          <a:lstStyle/>
          <a:p>
            <a:fld id="{358B046C-3A01-41E6-A822-7FA0A1965D87}" type="slidenum">
              <a:rPr lang="zh-CN" altLang="en-US" smtClean="0"/>
              <a:t>4</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dirty="0">
              <a:effectLst/>
            </a:endParaRPr>
          </a:p>
        </p:txBody>
      </p:sp>
      <p:sp>
        <p:nvSpPr>
          <p:cNvPr id="4" name="灯片编号占位符 3"/>
          <p:cNvSpPr>
            <a:spLocks noGrp="1"/>
          </p:cNvSpPr>
          <p:nvPr>
            <p:ph type="sldNum" sz="quarter" idx="10"/>
          </p:nvPr>
        </p:nvSpPr>
        <p:spPr/>
        <p:txBody>
          <a:bodyPr/>
          <a:lstStyle/>
          <a:p>
            <a:fld id="{358B046C-3A01-41E6-A822-7FA0A1965D87}" type="slidenum">
              <a:rPr lang="zh-CN" altLang="en-US" smtClean="0"/>
              <a:t>5</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dirty="0">
              <a:effectLst/>
            </a:endParaRPr>
          </a:p>
        </p:txBody>
      </p:sp>
      <p:sp>
        <p:nvSpPr>
          <p:cNvPr id="4" name="灯片编号占位符 3"/>
          <p:cNvSpPr>
            <a:spLocks noGrp="1"/>
          </p:cNvSpPr>
          <p:nvPr>
            <p:ph type="sldNum" sz="quarter" idx="10"/>
          </p:nvPr>
        </p:nvSpPr>
        <p:spPr/>
        <p:txBody>
          <a:bodyPr/>
          <a:lstStyle/>
          <a:p>
            <a:fld id="{358B046C-3A01-41E6-A822-7FA0A1965D87}" type="slidenum">
              <a:rPr lang="zh-CN" altLang="en-US" smtClean="0"/>
              <a:t>6</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dirty="0">
              <a:effectLst/>
            </a:endParaRPr>
          </a:p>
        </p:txBody>
      </p:sp>
      <p:sp>
        <p:nvSpPr>
          <p:cNvPr id="4" name="灯片编号占位符 3"/>
          <p:cNvSpPr>
            <a:spLocks noGrp="1"/>
          </p:cNvSpPr>
          <p:nvPr>
            <p:ph type="sldNum" sz="quarter" idx="10"/>
          </p:nvPr>
        </p:nvSpPr>
        <p:spPr/>
        <p:txBody>
          <a:bodyPr/>
          <a:lstStyle/>
          <a:p>
            <a:fld id="{358B046C-3A01-41E6-A822-7FA0A1965D87}" type="slidenum">
              <a:rPr lang="zh-CN" altLang="en-US" smtClean="0"/>
              <a:t>7</a:t>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dirty="0">
              <a:effectLst/>
            </a:endParaRPr>
          </a:p>
        </p:txBody>
      </p:sp>
      <p:sp>
        <p:nvSpPr>
          <p:cNvPr id="4" name="灯片编号占位符 3"/>
          <p:cNvSpPr>
            <a:spLocks noGrp="1"/>
          </p:cNvSpPr>
          <p:nvPr>
            <p:ph type="sldNum" sz="quarter" idx="10"/>
          </p:nvPr>
        </p:nvSpPr>
        <p:spPr/>
        <p:txBody>
          <a:bodyPr/>
          <a:lstStyle/>
          <a:p>
            <a:fld id="{358B046C-3A01-41E6-A822-7FA0A1965D87}" type="slidenum">
              <a:rPr lang="zh-CN" altLang="en-US" smtClean="0"/>
              <a:t>8</a:t>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dirty="0">
              <a:effectLst/>
            </a:endParaRPr>
          </a:p>
        </p:txBody>
      </p:sp>
      <p:sp>
        <p:nvSpPr>
          <p:cNvPr id="4" name="灯片编号占位符 3"/>
          <p:cNvSpPr>
            <a:spLocks noGrp="1"/>
          </p:cNvSpPr>
          <p:nvPr>
            <p:ph type="sldNum" sz="quarter" idx="10"/>
          </p:nvPr>
        </p:nvSpPr>
        <p:spPr/>
        <p:txBody>
          <a:bodyPr/>
          <a:lstStyle/>
          <a:p>
            <a:fld id="{358B046C-3A01-41E6-A822-7FA0A1965D87}" type="slidenum">
              <a:rPr lang="zh-CN" altLang="en-US" smtClean="0"/>
              <a:t>9</a:t>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dirty="0">
              <a:effectLst/>
            </a:endParaRPr>
          </a:p>
        </p:txBody>
      </p:sp>
      <p:sp>
        <p:nvSpPr>
          <p:cNvPr id="4" name="灯片编号占位符 3"/>
          <p:cNvSpPr>
            <a:spLocks noGrp="1"/>
          </p:cNvSpPr>
          <p:nvPr>
            <p:ph type="sldNum" sz="quarter" idx="10"/>
          </p:nvPr>
        </p:nvSpPr>
        <p:spPr/>
        <p:txBody>
          <a:bodyPr/>
          <a:lstStyle/>
          <a:p>
            <a:fld id="{358B046C-3A01-41E6-A822-7FA0A1965D87}" type="slidenum">
              <a:rPr lang="zh-CN" altLang="en-US" smtClean="0"/>
              <a:t>10</a:t>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dirty="0">
              <a:effectLst/>
            </a:endParaRPr>
          </a:p>
        </p:txBody>
      </p:sp>
      <p:sp>
        <p:nvSpPr>
          <p:cNvPr id="4" name="灯片编号占位符 3"/>
          <p:cNvSpPr>
            <a:spLocks noGrp="1"/>
          </p:cNvSpPr>
          <p:nvPr>
            <p:ph type="sldNum" sz="quarter" idx="10"/>
          </p:nvPr>
        </p:nvSpPr>
        <p:spPr/>
        <p:txBody>
          <a:bodyPr/>
          <a:lstStyle/>
          <a:p>
            <a:fld id="{358B046C-3A01-41E6-A822-7FA0A1965D87}" type="slidenum">
              <a:rPr lang="zh-CN" altLang="en-US" smtClean="0"/>
              <a:t>11</a:t>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dirty="0">
              <a:effectLst/>
            </a:endParaRPr>
          </a:p>
        </p:txBody>
      </p:sp>
      <p:sp>
        <p:nvSpPr>
          <p:cNvPr id="4" name="灯片编号占位符 3"/>
          <p:cNvSpPr>
            <a:spLocks noGrp="1"/>
          </p:cNvSpPr>
          <p:nvPr>
            <p:ph type="sldNum" sz="quarter" idx="10"/>
          </p:nvPr>
        </p:nvSpPr>
        <p:spPr/>
        <p:txBody>
          <a:bodyPr/>
          <a:lstStyle/>
          <a:p>
            <a:fld id="{358B046C-3A01-41E6-A822-7FA0A1965D87}" type="slidenum">
              <a:rPr lang="zh-CN" altLang="en-US" smtClean="0"/>
              <a:t>12</a:t>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dirty="0">
              <a:effectLst/>
            </a:endParaRPr>
          </a:p>
        </p:txBody>
      </p:sp>
      <p:sp>
        <p:nvSpPr>
          <p:cNvPr id="4" name="灯片编号占位符 3"/>
          <p:cNvSpPr>
            <a:spLocks noGrp="1"/>
          </p:cNvSpPr>
          <p:nvPr>
            <p:ph type="sldNum" sz="quarter" idx="10"/>
          </p:nvPr>
        </p:nvSpPr>
        <p:spPr/>
        <p:txBody>
          <a:bodyPr/>
          <a:lstStyle/>
          <a:p>
            <a:fld id="{358B046C-3A01-41E6-A822-7FA0A1965D87}" type="slidenum">
              <a:rPr lang="zh-CN" altLang="en-US" smtClean="0"/>
              <a:t>13</a:t>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dirty="0">
              <a:effectLst/>
            </a:endParaRPr>
          </a:p>
        </p:txBody>
      </p:sp>
      <p:sp>
        <p:nvSpPr>
          <p:cNvPr id="4" name="灯片编号占位符 3"/>
          <p:cNvSpPr>
            <a:spLocks noGrp="1"/>
          </p:cNvSpPr>
          <p:nvPr>
            <p:ph type="sldNum" sz="quarter" idx="10"/>
          </p:nvPr>
        </p:nvSpPr>
        <p:spPr/>
        <p:txBody>
          <a:bodyPr/>
          <a:lstStyle/>
          <a:p>
            <a:fld id="{358B046C-3A01-41E6-A822-7FA0A1965D87}" type="slidenum">
              <a:rPr lang="zh-CN" altLang="en-US" smtClean="0"/>
              <a:t>14</a:t>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dirty="0">
              <a:effectLst/>
            </a:endParaRPr>
          </a:p>
        </p:txBody>
      </p:sp>
      <p:sp>
        <p:nvSpPr>
          <p:cNvPr id="4" name="灯片编号占位符 3"/>
          <p:cNvSpPr>
            <a:spLocks noGrp="1"/>
          </p:cNvSpPr>
          <p:nvPr>
            <p:ph type="sldNum" sz="quarter" idx="10"/>
          </p:nvPr>
        </p:nvSpPr>
        <p:spPr/>
        <p:txBody>
          <a:bodyPr/>
          <a:lstStyle/>
          <a:p>
            <a:fld id="{358B046C-3A01-41E6-A822-7FA0A1965D87}" type="slidenum">
              <a:rPr lang="zh-CN" altLang="en-US" smtClean="0"/>
              <a:t>15</a:t>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dirty="0">
              <a:effectLst/>
            </a:endParaRPr>
          </a:p>
        </p:txBody>
      </p:sp>
      <p:sp>
        <p:nvSpPr>
          <p:cNvPr id="4" name="灯片编号占位符 3"/>
          <p:cNvSpPr>
            <a:spLocks noGrp="1"/>
          </p:cNvSpPr>
          <p:nvPr>
            <p:ph type="sldNum" sz="quarter" idx="10"/>
          </p:nvPr>
        </p:nvSpPr>
        <p:spPr/>
        <p:txBody>
          <a:bodyPr/>
          <a:lstStyle/>
          <a:p>
            <a:fld id="{358B046C-3A01-41E6-A822-7FA0A1965D87}" type="slidenum">
              <a:rPr lang="zh-CN" altLang="en-US" smtClean="0"/>
              <a:t>16</a:t>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dirty="0">
              <a:effectLst/>
            </a:endParaRPr>
          </a:p>
        </p:txBody>
      </p:sp>
      <p:sp>
        <p:nvSpPr>
          <p:cNvPr id="4" name="灯片编号占位符 3"/>
          <p:cNvSpPr>
            <a:spLocks noGrp="1"/>
          </p:cNvSpPr>
          <p:nvPr>
            <p:ph type="sldNum" sz="quarter" idx="10"/>
          </p:nvPr>
        </p:nvSpPr>
        <p:spPr/>
        <p:txBody>
          <a:bodyPr/>
          <a:lstStyle/>
          <a:p>
            <a:fld id="{358B046C-3A01-41E6-A822-7FA0A1965D87}" type="slidenum">
              <a:rPr lang="zh-CN" altLang="en-US" smtClean="0"/>
              <a:t>17</a:t>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dirty="0">
              <a:effectLst/>
            </a:endParaRPr>
          </a:p>
        </p:txBody>
      </p:sp>
      <p:sp>
        <p:nvSpPr>
          <p:cNvPr id="4" name="灯片编号占位符 3"/>
          <p:cNvSpPr>
            <a:spLocks noGrp="1"/>
          </p:cNvSpPr>
          <p:nvPr>
            <p:ph type="sldNum" sz="quarter" idx="10"/>
          </p:nvPr>
        </p:nvSpPr>
        <p:spPr/>
        <p:txBody>
          <a:bodyPr/>
          <a:lstStyle/>
          <a:p>
            <a:fld id="{358B046C-3A01-41E6-A822-7FA0A1965D87}" type="slidenum">
              <a:rPr lang="zh-CN" altLang="en-US" smtClean="0"/>
              <a:t>18</a:t>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dirty="0">
              <a:effectLst/>
            </a:endParaRPr>
          </a:p>
        </p:txBody>
      </p:sp>
      <p:sp>
        <p:nvSpPr>
          <p:cNvPr id="4" name="灯片编号占位符 3"/>
          <p:cNvSpPr>
            <a:spLocks noGrp="1"/>
          </p:cNvSpPr>
          <p:nvPr>
            <p:ph type="sldNum" sz="quarter" idx="10"/>
          </p:nvPr>
        </p:nvSpPr>
        <p:spPr/>
        <p:txBody>
          <a:bodyPr/>
          <a:lstStyle/>
          <a:p>
            <a:fld id="{358B046C-3A01-41E6-A822-7FA0A1965D87}" type="slidenum">
              <a:rPr lang="zh-CN" altLang="en-US" smtClean="0"/>
              <a:t>19</a:t>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dirty="0">
              <a:effectLst/>
            </a:endParaRPr>
          </a:p>
        </p:txBody>
      </p:sp>
      <p:sp>
        <p:nvSpPr>
          <p:cNvPr id="4" name="灯片编号占位符 3"/>
          <p:cNvSpPr>
            <a:spLocks noGrp="1"/>
          </p:cNvSpPr>
          <p:nvPr>
            <p:ph type="sldNum" sz="quarter" idx="10"/>
          </p:nvPr>
        </p:nvSpPr>
        <p:spPr/>
        <p:txBody>
          <a:bodyPr/>
          <a:lstStyle/>
          <a:p>
            <a:fld id="{358B046C-3A01-41E6-A822-7FA0A1965D87}" type="slidenum">
              <a:rPr lang="zh-CN" altLang="en-US" smtClean="0"/>
              <a:t>20</a:t>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dirty="0">
              <a:effectLst/>
            </a:endParaRPr>
          </a:p>
        </p:txBody>
      </p:sp>
      <p:sp>
        <p:nvSpPr>
          <p:cNvPr id="4" name="灯片编号占位符 3"/>
          <p:cNvSpPr>
            <a:spLocks noGrp="1"/>
          </p:cNvSpPr>
          <p:nvPr>
            <p:ph type="sldNum" sz="quarter" idx="10"/>
          </p:nvPr>
        </p:nvSpPr>
        <p:spPr/>
        <p:txBody>
          <a:bodyPr/>
          <a:lstStyle/>
          <a:p>
            <a:fld id="{358B046C-3A01-41E6-A822-7FA0A1965D87}" type="slidenum">
              <a:rPr lang="zh-CN" altLang="en-US" smtClean="0"/>
              <a:t>21</a:t>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dirty="0">
              <a:effectLst/>
            </a:endParaRPr>
          </a:p>
        </p:txBody>
      </p:sp>
      <p:sp>
        <p:nvSpPr>
          <p:cNvPr id="4" name="灯片编号占位符 3"/>
          <p:cNvSpPr>
            <a:spLocks noGrp="1"/>
          </p:cNvSpPr>
          <p:nvPr>
            <p:ph type="sldNum" sz="quarter" idx="10"/>
          </p:nvPr>
        </p:nvSpPr>
        <p:spPr/>
        <p:txBody>
          <a:bodyPr/>
          <a:lstStyle/>
          <a:p>
            <a:fld id="{358B046C-3A01-41E6-A822-7FA0A1965D87}" type="slidenum">
              <a:rPr lang="zh-CN" altLang="en-US" smtClean="0"/>
              <a:t>22</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7820"/>
            <a:ext cx="7772400" cy="1102519"/>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A16A2C8B-5710-4407-A094-7D0381341E3B}" type="datetime1">
              <a:rPr lang="zh-CN" altLang="en-US" smtClean="0"/>
              <a:t>2022/3/5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pic>
        <p:nvPicPr>
          <p:cNvPr id="7" name="Picture 2" descr="body"/>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187624" y="466367"/>
            <a:ext cx="6176442" cy="43008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a:xfrm>
            <a:off x="755576" y="1063229"/>
            <a:ext cx="8229600" cy="3394472"/>
          </a:xfrm>
        </p:spPr>
        <p:txBody>
          <a:bodyPr/>
          <a:lstStyle/>
          <a:p>
            <a:pPr lvl="0"/>
            <a:r>
              <a:rPr lang="zh-CN" altLang="en-US" dirty="0" smtClean="0"/>
              <a:t>单击此处编辑母版文本样式</a:t>
            </a:r>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endParaRPr lang="zh-CN" altLang="en-US" dirty="0"/>
          </a:p>
        </p:txBody>
      </p:sp>
      <p:sp>
        <p:nvSpPr>
          <p:cNvPr id="4" name="日期占位符 3"/>
          <p:cNvSpPr>
            <a:spLocks noGrp="1"/>
          </p:cNvSpPr>
          <p:nvPr>
            <p:ph type="dt" sz="half" idx="10"/>
          </p:nvPr>
        </p:nvSpPr>
        <p:spPr/>
        <p:txBody>
          <a:bodyPr/>
          <a:lstStyle/>
          <a:p>
            <a:fld id="{BFE8FFB4-D8F7-48E0-9754-FAF3066818AC}" type="datetime1">
              <a:rPr lang="zh-CN" altLang="en-US" smtClean="0"/>
              <a:t>2022/3/5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6"/>
            <a:ext cx="7772400" cy="1021556"/>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p>
            <a:fld id="{3D4017A1-F837-41FD-8512-7BBDAF0EED8B}" type="datetime1">
              <a:rPr lang="zh-CN" altLang="en-US" smtClean="0"/>
              <a:t>2022/3/5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900114"/>
            <a:ext cx="4038600" cy="254555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900114"/>
            <a:ext cx="4038600" cy="254555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78E7C002-758E-4D25-975A-AB620C087E93}" type="datetime1">
              <a:rPr lang="zh-CN" altLang="en-US" smtClean="0"/>
              <a:t>2022/3/5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8"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8"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D2F3E8EA-488D-4BB4-AB2B-C90BF1352AF7}" type="datetime1">
              <a:rPr lang="zh-CN" altLang="en-US" smtClean="0"/>
              <a:t>2022/3/5</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6E3622F2-C2FC-4FED-ABEC-518BAC9A44A6}" type="datetime1">
              <a:rPr lang="zh-CN" altLang="en-US" smtClean="0"/>
              <a:t>2022/3/5</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6DA4C27-18E3-4311-8A9B-EEA28C49A864}" type="datetime1">
              <a:rPr lang="zh-CN" altLang="en-US" smtClean="0"/>
              <a:t>2022/3/5</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3" y="204787"/>
            <a:ext cx="3008313" cy="871538"/>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04789"/>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3" y="1076327"/>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D38DB677-D259-4E34-9A89-F6EEDF9008C9}" type="datetime1">
              <a:rPr lang="zh-CN" altLang="en-US" smtClean="0"/>
              <a:t>2022/3/5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1"/>
            <a:ext cx="5486400" cy="425054"/>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4025504"/>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90DAD84B-109E-4527-94FF-867BDC11262B}" type="datetime1">
              <a:rPr lang="zh-CN" altLang="en-US" smtClean="0"/>
              <a:t>2022/3/5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2EF1F9AA-5F1F-420B-9A0D-3439B6781FDC}" type="datetime1">
              <a:rPr lang="zh-CN" altLang="en-US" smtClean="0"/>
              <a:t>2022/3/5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154782"/>
            <a:ext cx="2057400" cy="329088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154782"/>
            <a:ext cx="6019800" cy="3290888"/>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2AD0B00F-AA85-4C40-AA06-D9A56162892B}" type="datetime1">
              <a:rPr lang="zh-CN" altLang="en-US" smtClean="0"/>
              <a:t>2022/3/5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cSld name="1_标题幻灯片">
    <p:spTree>
      <p:nvGrpSpPr>
        <p:cNvPr id="1" name=""/>
        <p:cNvGrpSpPr/>
        <p:nvPr/>
      </p:nvGrpSpPr>
      <p:grpSpPr>
        <a:xfrm>
          <a:off x="0" y="0"/>
          <a:ext cx="0" cy="0"/>
          <a:chOff x="0" y="0"/>
          <a:chExt cx="0" cy="0"/>
        </a:xfrm>
      </p:grpSpPr>
      <p:sp>
        <p:nvSpPr>
          <p:cNvPr id="3" name="Rectangle 3"/>
          <p:cNvSpPr>
            <a:spLocks noChangeArrowheads="1"/>
          </p:cNvSpPr>
          <p:nvPr userDrawn="1"/>
        </p:nvSpPr>
        <p:spPr bwMode="auto">
          <a:xfrm>
            <a:off x="5298304" y="915566"/>
            <a:ext cx="3670323" cy="342900"/>
          </a:xfrm>
          <a:prstGeom prst="rect">
            <a:avLst/>
          </a:prstGeom>
          <a:solidFill>
            <a:schemeClr val="bg1"/>
          </a:solidFill>
          <a:ln w="9525">
            <a:solidFill>
              <a:schemeClr val="bg1"/>
            </a:solidFill>
            <a:miter lim="800000"/>
          </a:ln>
        </p:spPr>
        <p:txBody>
          <a:bodyPr anchor="ctr"/>
          <a:lstStyle>
            <a:lvl1pPr eaLnBrk="0" hangingPunct="0">
              <a:defRPr sz="4400">
                <a:solidFill>
                  <a:schemeClr val="tx1"/>
                </a:solidFill>
                <a:latin typeface="Arial" panose="020B0604020202020204" pitchFamily="34" charset="0"/>
                <a:ea typeface="宋体" panose="02010600030101010101" pitchFamily="2" charset="-122"/>
              </a:defRPr>
            </a:lvl1pPr>
            <a:lvl2pPr marL="742950" indent="-285750" eaLnBrk="0" hangingPunct="0">
              <a:defRPr sz="4400">
                <a:solidFill>
                  <a:schemeClr val="tx1"/>
                </a:solidFill>
                <a:latin typeface="Arial" panose="020B0604020202020204" pitchFamily="34" charset="0"/>
                <a:ea typeface="宋体" panose="02010600030101010101" pitchFamily="2" charset="-122"/>
              </a:defRPr>
            </a:lvl2pPr>
            <a:lvl3pPr marL="1143000" indent="-228600" eaLnBrk="0" hangingPunct="0">
              <a:defRPr sz="4400">
                <a:solidFill>
                  <a:schemeClr val="tx1"/>
                </a:solidFill>
                <a:latin typeface="Arial" panose="020B0604020202020204" pitchFamily="34" charset="0"/>
                <a:ea typeface="宋体" panose="02010600030101010101" pitchFamily="2" charset="-122"/>
              </a:defRPr>
            </a:lvl3pPr>
            <a:lvl4pPr marL="1600200" indent="-228600" eaLnBrk="0" hangingPunct="0">
              <a:defRPr sz="4400">
                <a:solidFill>
                  <a:schemeClr val="tx1"/>
                </a:solidFill>
                <a:latin typeface="Arial" panose="020B0604020202020204" pitchFamily="34" charset="0"/>
                <a:ea typeface="宋体" panose="02010600030101010101" pitchFamily="2" charset="-122"/>
              </a:defRPr>
            </a:lvl4pPr>
            <a:lvl5pPr marL="2057400" indent="-228600" eaLnBrk="0" hangingPunct="0">
              <a:defRPr sz="4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4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4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4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4400">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6" name="Rectangle 3"/>
          <p:cNvSpPr>
            <a:spLocks noChangeArrowheads="1"/>
          </p:cNvSpPr>
          <p:nvPr userDrawn="1"/>
        </p:nvSpPr>
        <p:spPr bwMode="auto">
          <a:xfrm>
            <a:off x="467544" y="3075806"/>
            <a:ext cx="4070521" cy="1800200"/>
          </a:xfrm>
          <a:prstGeom prst="rect">
            <a:avLst/>
          </a:prstGeom>
          <a:solidFill>
            <a:schemeClr val="bg1"/>
          </a:solidFill>
          <a:ln w="9525">
            <a:solidFill>
              <a:schemeClr val="bg1"/>
            </a:solidFill>
            <a:miter lim="800000"/>
          </a:ln>
        </p:spPr>
        <p:txBody>
          <a:bodyPr anchor="ctr"/>
          <a:lstStyle>
            <a:lvl1pPr eaLnBrk="0" hangingPunct="0">
              <a:defRPr sz="4400">
                <a:solidFill>
                  <a:schemeClr val="tx1"/>
                </a:solidFill>
                <a:latin typeface="Arial" panose="020B0604020202020204" pitchFamily="34" charset="0"/>
                <a:ea typeface="宋体" panose="02010600030101010101" pitchFamily="2" charset="-122"/>
              </a:defRPr>
            </a:lvl1pPr>
            <a:lvl2pPr marL="742950" indent="-285750" eaLnBrk="0" hangingPunct="0">
              <a:defRPr sz="4400">
                <a:solidFill>
                  <a:schemeClr val="tx1"/>
                </a:solidFill>
                <a:latin typeface="Arial" panose="020B0604020202020204" pitchFamily="34" charset="0"/>
                <a:ea typeface="宋体" panose="02010600030101010101" pitchFamily="2" charset="-122"/>
              </a:defRPr>
            </a:lvl2pPr>
            <a:lvl3pPr marL="1143000" indent="-228600" eaLnBrk="0" hangingPunct="0">
              <a:defRPr sz="4400">
                <a:solidFill>
                  <a:schemeClr val="tx1"/>
                </a:solidFill>
                <a:latin typeface="Arial" panose="020B0604020202020204" pitchFamily="34" charset="0"/>
                <a:ea typeface="宋体" panose="02010600030101010101" pitchFamily="2" charset="-122"/>
              </a:defRPr>
            </a:lvl3pPr>
            <a:lvl4pPr marL="1600200" indent="-228600" eaLnBrk="0" hangingPunct="0">
              <a:defRPr sz="4400">
                <a:solidFill>
                  <a:schemeClr val="tx1"/>
                </a:solidFill>
                <a:latin typeface="Arial" panose="020B0604020202020204" pitchFamily="34" charset="0"/>
                <a:ea typeface="宋体" panose="02010600030101010101" pitchFamily="2" charset="-122"/>
              </a:defRPr>
            </a:lvl4pPr>
            <a:lvl5pPr marL="2057400" indent="-228600" eaLnBrk="0" hangingPunct="0">
              <a:defRPr sz="4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4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4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4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4400">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Tree>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457200" y="4767264"/>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5F7EA93C-689E-4CAB-A3E9-95BA7A7E3BFC}" type="datetime1">
              <a:rPr lang="zh-CN" altLang="en-US" smtClean="0"/>
              <a:t>2022/3/5</a:t>
            </a:fld>
            <a:endParaRPr lang="zh-CN" altLang="en-US"/>
          </a:p>
        </p:txBody>
      </p:sp>
      <p:sp>
        <p:nvSpPr>
          <p:cNvPr id="5" name="页脚占位符 4"/>
          <p:cNvSpPr>
            <a:spLocks noGrp="1"/>
          </p:cNvSpPr>
          <p:nvPr>
            <p:ph type="ftr" sz="quarter" idx="3"/>
          </p:nvPr>
        </p:nvSpPr>
        <p:spPr>
          <a:xfrm>
            <a:off x="3124200" y="4767264"/>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4767264"/>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0C913308-F349-4B6D-A68A-DD1791B4A57B}"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iming>
    <p:tnLst>
      <p:par>
        <p:cTn id="1" dur="indefinite" restart="never" nodeType="tmRoot"/>
      </p:par>
    </p:tnLst>
  </p:timing>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image" Target="../media/image18.jpeg"/><Relationship Id="rId4" Type="http://schemas.openxmlformats.org/officeDocument/2006/relationships/image" Target="../media/image17.jpeg"/></Relationships>
</file>

<file path=ppt/slides/_rels/slide19.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4730" y="411510"/>
            <a:ext cx="8028384" cy="36956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3568" y="1038443"/>
            <a:ext cx="7740352" cy="2006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03648" y="339502"/>
            <a:ext cx="6272361" cy="45310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93401204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Box 8"/>
          <p:cNvSpPr>
            <a:spLocks noChangeArrowheads="1"/>
          </p:cNvSpPr>
          <p:nvPr/>
        </p:nvSpPr>
        <p:spPr bwMode="auto">
          <a:xfrm>
            <a:off x="971600" y="244828"/>
            <a:ext cx="7573236" cy="10147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9pPr>
          </a:lstStyle>
          <a:p>
            <a:pPr algn="ctr" eaLnBrk="1" hangingPunct="1">
              <a:spcBef>
                <a:spcPct val="0"/>
              </a:spcBef>
              <a:buFont typeface="Arial" panose="020B0604020202020204" pitchFamily="34" charset="0"/>
              <a:buNone/>
            </a:pPr>
            <a:r>
              <a:rPr lang="zh-CN" altLang="en-US" sz="2800" b="1" dirty="0" smtClean="0">
                <a:solidFill>
                  <a:schemeClr val="accent1"/>
                </a:solidFill>
                <a:latin typeface="微软雅黑" panose="020B0503020204020204" pitchFamily="34" charset="-122"/>
              </a:rPr>
              <a:t>什么是导航定位技术？智能网联汽车的导航定位系统有什么要求</a:t>
            </a:r>
            <a:r>
              <a:rPr lang="zh-CN" altLang="en-US" sz="3200" b="1" dirty="0" smtClean="0">
                <a:solidFill>
                  <a:schemeClr val="accent1"/>
                </a:solidFill>
                <a:latin typeface="微软雅黑" panose="020B0503020204020204" pitchFamily="34" charset="-122"/>
              </a:rPr>
              <a:t>？ </a:t>
            </a:r>
          </a:p>
        </p:txBody>
      </p:sp>
      <p:sp>
        <p:nvSpPr>
          <p:cNvPr id="3" name="矩形 2"/>
          <p:cNvSpPr/>
          <p:nvPr/>
        </p:nvSpPr>
        <p:spPr>
          <a:xfrm>
            <a:off x="951755" y="1243350"/>
            <a:ext cx="1955985" cy="400110"/>
          </a:xfrm>
          <a:prstGeom prst="rect">
            <a:avLst/>
          </a:prstGeom>
          <a:solidFill>
            <a:schemeClr val="accent1"/>
          </a:solidFill>
        </p:spPr>
        <p:txBody>
          <a:bodyPr wrap="none">
            <a:spAutoFit/>
          </a:bodyPr>
          <a:lstStyle/>
          <a:p>
            <a:pPr algn="l" fontAlgn="ctr"/>
            <a:r>
              <a:rPr sz="2000" b="1" dirty="0" smtClean="0">
                <a:solidFill>
                  <a:schemeClr val="bg1"/>
                </a:solidFill>
                <a:latin typeface="微软雅黑" panose="020B0503020204020204" pitchFamily="34" charset="-122"/>
                <a:ea typeface="微软雅黑" panose="020B0503020204020204" pitchFamily="34" charset="-122"/>
              </a:rPr>
              <a:t>1.导航定位技术</a:t>
            </a:r>
          </a:p>
        </p:txBody>
      </p:sp>
      <p:sp>
        <p:nvSpPr>
          <p:cNvPr id="2" name="文本框 1"/>
          <p:cNvSpPr txBox="1"/>
          <p:nvPr/>
        </p:nvSpPr>
        <p:spPr>
          <a:xfrm>
            <a:off x="951755" y="2761076"/>
            <a:ext cx="4196309" cy="1938992"/>
          </a:xfrm>
          <a:prstGeom prst="rect">
            <a:avLst/>
          </a:prstGeom>
          <a:solidFill>
            <a:schemeClr val="accent1"/>
          </a:solidFill>
          <a:ln w="9525">
            <a:noFill/>
          </a:ln>
        </p:spPr>
        <p:txBody>
          <a:bodyPr wrap="square">
            <a:spAutoFit/>
          </a:bodyPr>
          <a:lstStyle/>
          <a:p>
            <a:pPr indent="127000">
              <a:lnSpc>
                <a:spcPct val="150000"/>
              </a:lnSpc>
            </a:pPr>
            <a:r>
              <a:rPr lang="zh-CN" sz="1600" b="1" dirty="0">
                <a:solidFill>
                  <a:schemeClr val="bg1"/>
                </a:solidFill>
                <a:latin typeface="微软雅黑" pitchFamily="34" charset="-122"/>
                <a:ea typeface="微软雅黑" pitchFamily="34" charset="-122"/>
              </a:rPr>
              <a:t>（1）全球卫星导航定位系统</a:t>
            </a:r>
          </a:p>
          <a:p>
            <a:pPr indent="127000">
              <a:lnSpc>
                <a:spcPct val="150000"/>
              </a:lnSpc>
            </a:pPr>
            <a:r>
              <a:rPr lang="zh-CN" sz="1600" b="0" dirty="0">
                <a:solidFill>
                  <a:schemeClr val="bg1"/>
                </a:solidFill>
                <a:latin typeface="微软雅黑" pitchFamily="34" charset="-122"/>
                <a:ea typeface="微软雅黑" pitchFamily="34" charset="-122"/>
              </a:rPr>
              <a:t>全球卫星导航定位系统（Global Navigation Satellite System，</a:t>
            </a:r>
            <a:r>
              <a:rPr lang="zh-CN" sz="1600" b="0" dirty="0" smtClean="0">
                <a:solidFill>
                  <a:schemeClr val="bg1"/>
                </a:solidFill>
                <a:latin typeface="微软雅黑" pitchFamily="34" charset="-122"/>
                <a:ea typeface="微软雅黑" pitchFamily="34" charset="-122"/>
              </a:rPr>
              <a:t>GNSS</a:t>
            </a:r>
            <a:r>
              <a:rPr lang="zh-CN" altLang="en-US" sz="1600" b="0" dirty="0" smtClean="0">
                <a:solidFill>
                  <a:schemeClr val="bg1"/>
                </a:solidFill>
                <a:latin typeface="微软雅黑" pitchFamily="34" charset="-122"/>
                <a:ea typeface="微软雅黑" pitchFamily="34" charset="-122"/>
              </a:rPr>
              <a:t>）</a:t>
            </a:r>
            <a:r>
              <a:rPr lang="zh-CN" sz="1600" b="0" dirty="0" smtClean="0">
                <a:solidFill>
                  <a:schemeClr val="bg1"/>
                </a:solidFill>
                <a:latin typeface="微软雅黑" pitchFamily="34" charset="-122"/>
                <a:ea typeface="微软雅黑" pitchFamily="34" charset="-122"/>
              </a:rPr>
              <a:t>是</a:t>
            </a:r>
            <a:r>
              <a:rPr lang="zh-CN" sz="1600" b="0" dirty="0">
                <a:solidFill>
                  <a:schemeClr val="bg1"/>
                </a:solidFill>
                <a:latin typeface="微软雅黑" pitchFamily="34" charset="-122"/>
                <a:ea typeface="微软雅黑" pitchFamily="34" charset="-122"/>
              </a:rPr>
              <a:t>联合国卫星导航委员会已经认定的四大卫星定位系统供应商。</a:t>
            </a:r>
          </a:p>
        </p:txBody>
      </p:sp>
      <p:pic>
        <p:nvPicPr>
          <p:cNvPr id="5" name="图片 8" descr="说明: C:\Users\Lenovo\Desktop\智能网联汽车 人民交通\项目5 智能网联汽车高精度定位与导航系统应用\任务5-1 图片\2019_05_27_f54f6a1b8e734df294fe3c0340f2089c.jpe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a:xfrm>
            <a:off x="5292080" y="2761076"/>
            <a:ext cx="2880320" cy="2072318"/>
          </a:xfrm>
          <a:prstGeom prst="rect">
            <a:avLst/>
          </a:prstGeom>
          <a:noFill/>
          <a:ln>
            <a:noFill/>
          </a:ln>
        </p:spPr>
      </p:pic>
      <p:sp>
        <p:nvSpPr>
          <p:cNvPr id="4" name="矩形 3"/>
          <p:cNvSpPr/>
          <p:nvPr/>
        </p:nvSpPr>
        <p:spPr>
          <a:xfrm>
            <a:off x="971600" y="1766738"/>
            <a:ext cx="7200800" cy="934487"/>
          </a:xfrm>
          <a:prstGeom prst="rect">
            <a:avLst/>
          </a:prstGeom>
          <a:solidFill>
            <a:schemeClr val="accent1"/>
          </a:solidFill>
        </p:spPr>
        <p:txBody>
          <a:bodyPr wrap="square">
            <a:spAutoFit/>
          </a:bodyPr>
          <a:lstStyle/>
          <a:p>
            <a:pPr>
              <a:lnSpc>
                <a:spcPct val="114000"/>
              </a:lnSpc>
            </a:pPr>
            <a:r>
              <a:rPr lang="zh-CN" altLang="en-US" sz="1600" dirty="0">
                <a:solidFill>
                  <a:schemeClr val="bg1"/>
                </a:solidFill>
                <a:latin typeface="微软雅黑" pitchFamily="34" charset="-122"/>
                <a:ea typeface="微软雅黑" pitchFamily="34" charset="-122"/>
              </a:rPr>
              <a:t>定位（</a:t>
            </a:r>
            <a:r>
              <a:rPr lang="en-US" altLang="zh-CN" sz="1600" dirty="0">
                <a:solidFill>
                  <a:schemeClr val="bg1"/>
                </a:solidFill>
                <a:latin typeface="微软雅黑" pitchFamily="34" charset="-122"/>
                <a:ea typeface="微软雅黑" pitchFamily="34" charset="-122"/>
              </a:rPr>
              <a:t>Location</a:t>
            </a:r>
            <a:r>
              <a:rPr lang="zh-CN" altLang="en-US" sz="1600" dirty="0">
                <a:solidFill>
                  <a:schemeClr val="bg1"/>
                </a:solidFill>
                <a:latin typeface="微软雅黑" pitchFamily="34" charset="-122"/>
                <a:ea typeface="微软雅黑" pitchFamily="34" charset="-122"/>
              </a:rPr>
              <a:t>）和导航（</a:t>
            </a:r>
            <a:r>
              <a:rPr lang="en-US" altLang="zh-CN" sz="1600" dirty="0">
                <a:solidFill>
                  <a:schemeClr val="bg1"/>
                </a:solidFill>
                <a:latin typeface="微软雅黑" pitchFamily="34" charset="-122"/>
                <a:ea typeface="微软雅黑" pitchFamily="34" charset="-122"/>
              </a:rPr>
              <a:t>Navigation</a:t>
            </a:r>
            <a:r>
              <a:rPr lang="zh-CN" altLang="en-US" sz="1600" dirty="0">
                <a:solidFill>
                  <a:schemeClr val="bg1"/>
                </a:solidFill>
                <a:latin typeface="微软雅黑" pitchFamily="34" charset="-122"/>
                <a:ea typeface="微软雅黑" pitchFamily="34" charset="-122"/>
              </a:rPr>
              <a:t>）技术负责实时提供载体（如智能机器人、飞机、 轮船、火车、汽车甚至是徒步旅行者等）的运动信息，包括位置、速度、姿态、加速度、 角速度等。</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827584" y="411508"/>
            <a:ext cx="684076" cy="4198393"/>
          </a:xfrm>
          <a:prstGeom prst="rect">
            <a:avLst/>
          </a:prstGeom>
          <a:solidFill>
            <a:schemeClr val="accent1"/>
          </a:solidFill>
        </p:spPr>
        <p:txBody>
          <a:bodyPr wrap="square">
            <a:spAutoFit/>
          </a:bodyPr>
          <a:lstStyle/>
          <a:p>
            <a:pPr algn="ctr">
              <a:lnSpc>
                <a:spcPct val="150000"/>
              </a:lnSpc>
            </a:pPr>
            <a:r>
              <a:rPr lang="zh-CN" altLang="en-US" b="1" dirty="0">
                <a:solidFill>
                  <a:schemeClr val="bg1"/>
                </a:solidFill>
                <a:latin typeface="微软雅黑" pitchFamily="34" charset="-122"/>
                <a:ea typeface="微软雅黑" pitchFamily="34" charset="-122"/>
              </a:rPr>
              <a:t>全球四大卫星导航定位系统性能及参数比较</a:t>
            </a:r>
          </a:p>
        </p:txBody>
      </p:sp>
      <p:grpSp>
        <p:nvGrpSpPr>
          <p:cNvPr id="7" name="组合 6"/>
          <p:cNvGrpSpPr/>
          <p:nvPr/>
        </p:nvGrpSpPr>
        <p:grpSpPr>
          <a:xfrm>
            <a:off x="1648599" y="411508"/>
            <a:ext cx="6523801" cy="4320481"/>
            <a:chOff x="1648599" y="411509"/>
            <a:chExt cx="6523801" cy="4092600"/>
          </a:xfrm>
        </p:grpSpPr>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70139" y="3234792"/>
              <a:ext cx="6480720" cy="1269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48599" y="411509"/>
              <a:ext cx="6523801" cy="30640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Tree>
    <p:extLst>
      <p:ext uri="{BB962C8B-B14F-4D97-AF65-F5344CB8AC3E}">
        <p14:creationId xmlns:p14="http://schemas.microsoft.com/office/powerpoint/2010/main" val="46385186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951755" y="1697123"/>
            <a:ext cx="3384375" cy="2338076"/>
          </a:xfrm>
          <a:prstGeom prst="rect">
            <a:avLst/>
          </a:prstGeom>
          <a:solidFill>
            <a:schemeClr val="accent1"/>
          </a:solidFill>
          <a:ln w="9525">
            <a:noFill/>
          </a:ln>
        </p:spPr>
        <p:txBody>
          <a:bodyPr wrap="square">
            <a:spAutoFit/>
          </a:bodyPr>
          <a:lstStyle/>
          <a:p>
            <a:pPr indent="127000">
              <a:lnSpc>
                <a:spcPct val="114000"/>
              </a:lnSpc>
            </a:pPr>
            <a:r>
              <a:rPr lang="zh-CN" sz="1600" b="1" dirty="0">
                <a:solidFill>
                  <a:schemeClr val="bg1"/>
                </a:solidFill>
                <a:latin typeface="微软雅黑" pitchFamily="34" charset="-122"/>
                <a:ea typeface="微软雅黑" pitchFamily="34" charset="-122"/>
              </a:rPr>
              <a:t>（2）汽车导航定位系统</a:t>
            </a:r>
          </a:p>
          <a:p>
            <a:pPr indent="127000">
              <a:lnSpc>
                <a:spcPct val="114000"/>
              </a:lnSpc>
            </a:pPr>
            <a:r>
              <a:rPr lang="zh-CN" sz="1600" b="0" dirty="0">
                <a:solidFill>
                  <a:schemeClr val="bg1"/>
                </a:solidFill>
                <a:latin typeface="微软雅黑" pitchFamily="34" charset="-122"/>
                <a:ea typeface="微软雅黑" pitchFamily="34" charset="-122"/>
              </a:rPr>
              <a:t>汽车的导航定位系统涉及卫星技术（即GNSS的应用）、图像采集技术、电子地图技术、数据库技术、显示技术、接口技术和应用软件技术等领域，是通信与信息技术、传感器技术、车辆自动定位技术和计算机技术的综合应用。</a:t>
            </a:r>
          </a:p>
        </p:txBody>
      </p:sp>
      <p:pic>
        <p:nvPicPr>
          <p:cNvPr id="9" name="图片 9" descr="说明: http://5b0988e595225.cdn.sohucs.com/images/20190709/1055d42d55b34b728727b8ef0e46fa9a.jpe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a:xfrm>
            <a:off x="4468634" y="1697123"/>
            <a:ext cx="3717280" cy="2338076"/>
          </a:xfrm>
          <a:prstGeom prst="rect">
            <a:avLst/>
          </a:prstGeom>
          <a:noFill/>
          <a:ln>
            <a:noFill/>
          </a:ln>
        </p:spPr>
      </p:pic>
      <p:sp>
        <p:nvSpPr>
          <p:cNvPr id="10" name="Text Box 8"/>
          <p:cNvSpPr>
            <a:spLocks noChangeArrowheads="1"/>
          </p:cNvSpPr>
          <p:nvPr/>
        </p:nvSpPr>
        <p:spPr bwMode="auto">
          <a:xfrm>
            <a:off x="971600" y="244828"/>
            <a:ext cx="7573236" cy="10147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9pPr>
          </a:lstStyle>
          <a:p>
            <a:pPr algn="ctr" eaLnBrk="1" hangingPunct="1">
              <a:spcBef>
                <a:spcPct val="0"/>
              </a:spcBef>
              <a:buFont typeface="Arial" panose="020B0604020202020204" pitchFamily="34" charset="0"/>
              <a:buNone/>
            </a:pPr>
            <a:r>
              <a:rPr lang="zh-CN" altLang="en-US" sz="2800" b="1" dirty="0" smtClean="0">
                <a:solidFill>
                  <a:schemeClr val="accent1"/>
                </a:solidFill>
                <a:latin typeface="微软雅黑" panose="020B0503020204020204" pitchFamily="34" charset="-122"/>
              </a:rPr>
              <a:t>什么是导航定位技术？智能网联汽车的导航定位系统有什么要求</a:t>
            </a:r>
            <a:r>
              <a:rPr lang="zh-CN" altLang="en-US" sz="3200" b="1" dirty="0" smtClean="0">
                <a:solidFill>
                  <a:schemeClr val="accent1"/>
                </a:solidFill>
                <a:latin typeface="微软雅黑" panose="020B0503020204020204" pitchFamily="34" charset="-122"/>
              </a:rPr>
              <a:t>？ </a:t>
            </a:r>
          </a:p>
        </p:txBody>
      </p:sp>
      <p:sp>
        <p:nvSpPr>
          <p:cNvPr id="11" name="矩形 10"/>
          <p:cNvSpPr/>
          <p:nvPr/>
        </p:nvSpPr>
        <p:spPr>
          <a:xfrm>
            <a:off x="951755" y="1243350"/>
            <a:ext cx="1955985" cy="400110"/>
          </a:xfrm>
          <a:prstGeom prst="rect">
            <a:avLst/>
          </a:prstGeom>
          <a:solidFill>
            <a:schemeClr val="accent1"/>
          </a:solidFill>
        </p:spPr>
        <p:txBody>
          <a:bodyPr wrap="none">
            <a:spAutoFit/>
          </a:bodyPr>
          <a:lstStyle/>
          <a:p>
            <a:pPr algn="l" fontAlgn="ctr"/>
            <a:r>
              <a:rPr sz="2000" b="1" dirty="0" smtClean="0">
                <a:solidFill>
                  <a:schemeClr val="bg1"/>
                </a:solidFill>
                <a:latin typeface="微软雅黑" panose="020B0503020204020204" pitchFamily="34" charset="-122"/>
                <a:ea typeface="微软雅黑" panose="020B0503020204020204" pitchFamily="34" charset="-122"/>
              </a:rPr>
              <a:t>1.导航定位技术</a:t>
            </a:r>
          </a:p>
        </p:txBody>
      </p:sp>
      <p:sp>
        <p:nvSpPr>
          <p:cNvPr id="4" name="矩形 3"/>
          <p:cNvSpPr/>
          <p:nvPr/>
        </p:nvSpPr>
        <p:spPr>
          <a:xfrm>
            <a:off x="942042" y="4083918"/>
            <a:ext cx="7243871" cy="738664"/>
          </a:xfrm>
          <a:prstGeom prst="rect">
            <a:avLst/>
          </a:prstGeom>
          <a:solidFill>
            <a:schemeClr val="accent1"/>
          </a:solidFill>
        </p:spPr>
        <p:txBody>
          <a:bodyPr wrap="square">
            <a:spAutoFit/>
          </a:bodyPr>
          <a:lstStyle/>
          <a:p>
            <a:r>
              <a:rPr lang="zh-CN" altLang="en-US" sz="1400" dirty="0">
                <a:solidFill>
                  <a:schemeClr val="bg1"/>
                </a:solidFill>
                <a:latin typeface="微软雅黑" pitchFamily="34" charset="-122"/>
                <a:ea typeface="微软雅黑" pitchFamily="34" charset="-122"/>
              </a:rPr>
              <a:t>智能网联汽车的自动（无人）驾驶系统通过定位系统准确感知自身在全局环境中的</a:t>
            </a:r>
            <a:r>
              <a:rPr lang="zh-CN" altLang="en-US" sz="1400" dirty="0" smtClean="0">
                <a:solidFill>
                  <a:schemeClr val="bg1"/>
                </a:solidFill>
                <a:latin typeface="微软雅黑" pitchFamily="34" charset="-122"/>
                <a:ea typeface="微软雅黑" pitchFamily="34" charset="-122"/>
              </a:rPr>
              <a:t>位置</a:t>
            </a:r>
            <a:r>
              <a:rPr lang="zh-CN" altLang="en-US" sz="1400" dirty="0">
                <a:solidFill>
                  <a:schemeClr val="bg1"/>
                </a:solidFill>
                <a:latin typeface="微软雅黑" pitchFamily="34" charset="-122"/>
                <a:ea typeface="微软雅黑" pitchFamily="34" charset="-122"/>
              </a:rPr>
              <a:t>，并使环境信息与车辆信息融合成为一个系统性的整体；再通过导航系统准确感知</a:t>
            </a:r>
            <a:r>
              <a:rPr lang="zh-CN" altLang="en-US" sz="1400" dirty="0" smtClean="0">
                <a:solidFill>
                  <a:schemeClr val="bg1"/>
                </a:solidFill>
                <a:latin typeface="微软雅黑" pitchFamily="34" charset="-122"/>
                <a:ea typeface="微软雅黑" pitchFamily="34" charset="-122"/>
              </a:rPr>
              <a:t>汽车所</a:t>
            </a:r>
            <a:r>
              <a:rPr lang="zh-CN" altLang="en-US" sz="1400" dirty="0">
                <a:solidFill>
                  <a:schemeClr val="bg1"/>
                </a:solidFill>
                <a:latin typeface="微软雅黑" pitchFamily="34" charset="-122"/>
                <a:ea typeface="微软雅黑" pitchFamily="34" charset="-122"/>
              </a:rPr>
              <a:t>要行驶的方向和路径等信息，自动控制车辆行驶到目的地。</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930033" y="1426903"/>
            <a:ext cx="4264309" cy="400110"/>
          </a:xfrm>
          <a:prstGeom prst="rect">
            <a:avLst/>
          </a:prstGeom>
          <a:solidFill>
            <a:schemeClr val="accent1"/>
          </a:solidFill>
        </p:spPr>
        <p:txBody>
          <a:bodyPr wrap="none">
            <a:spAutoFit/>
          </a:bodyPr>
          <a:lstStyle/>
          <a:p>
            <a:pPr algn="l" fontAlgn="ctr"/>
            <a:r>
              <a:rPr sz="2000" b="1" dirty="0" smtClean="0">
                <a:solidFill>
                  <a:schemeClr val="bg1"/>
                </a:solidFill>
                <a:latin typeface="微软雅黑" panose="020B0503020204020204" pitchFamily="34" charset="-122"/>
                <a:ea typeface="微软雅黑" panose="020B0503020204020204" pitchFamily="34" charset="-122"/>
              </a:rPr>
              <a:t>2.智能网联汽车导航定位系统的要求</a:t>
            </a:r>
          </a:p>
        </p:txBody>
      </p:sp>
      <p:sp>
        <p:nvSpPr>
          <p:cNvPr id="7" name="Text Box 8"/>
          <p:cNvSpPr>
            <a:spLocks noChangeArrowheads="1"/>
          </p:cNvSpPr>
          <p:nvPr/>
        </p:nvSpPr>
        <p:spPr bwMode="auto">
          <a:xfrm>
            <a:off x="971600" y="244828"/>
            <a:ext cx="7573236" cy="10147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9pPr>
          </a:lstStyle>
          <a:p>
            <a:pPr algn="ctr" eaLnBrk="1" hangingPunct="1">
              <a:spcBef>
                <a:spcPct val="0"/>
              </a:spcBef>
              <a:buFont typeface="Arial" panose="020B0604020202020204" pitchFamily="34" charset="0"/>
              <a:buNone/>
            </a:pPr>
            <a:r>
              <a:rPr lang="zh-CN" altLang="en-US" sz="2800" b="1" dirty="0" smtClean="0">
                <a:solidFill>
                  <a:schemeClr val="accent1"/>
                </a:solidFill>
                <a:latin typeface="微软雅黑" panose="020B0503020204020204" pitchFamily="34" charset="-122"/>
              </a:rPr>
              <a:t>什么是导航定位技术？智能网联汽车的导航定位系统有什么要求</a:t>
            </a:r>
            <a:r>
              <a:rPr lang="zh-CN" altLang="en-US" sz="3200" b="1" dirty="0" smtClean="0">
                <a:solidFill>
                  <a:schemeClr val="accent1"/>
                </a:solidFill>
                <a:latin typeface="微软雅黑" panose="020B0503020204020204" pitchFamily="34" charset="-122"/>
              </a:rPr>
              <a:t>？ </a:t>
            </a:r>
          </a:p>
        </p:txBody>
      </p:sp>
      <p:sp>
        <p:nvSpPr>
          <p:cNvPr id="4" name="矩形 3"/>
          <p:cNvSpPr/>
          <p:nvPr/>
        </p:nvSpPr>
        <p:spPr>
          <a:xfrm>
            <a:off x="930033" y="1923678"/>
            <a:ext cx="1542410" cy="338554"/>
          </a:xfrm>
          <a:prstGeom prst="rect">
            <a:avLst/>
          </a:prstGeom>
          <a:solidFill>
            <a:schemeClr val="accent1"/>
          </a:solidFill>
        </p:spPr>
        <p:txBody>
          <a:bodyPr wrap="none">
            <a:spAutoFit/>
          </a:bodyPr>
          <a:lstStyle/>
          <a:p>
            <a:r>
              <a:rPr lang="zh-CN" altLang="en-US" sz="1600" b="1" dirty="0">
                <a:solidFill>
                  <a:schemeClr val="bg1"/>
                </a:solidFill>
                <a:latin typeface="微软雅黑" pitchFamily="34" charset="-122"/>
                <a:ea typeface="微软雅黑" pitchFamily="34" charset="-122"/>
              </a:rPr>
              <a:t>（</a:t>
            </a:r>
            <a:r>
              <a:rPr lang="en-US" altLang="zh-CN" sz="1600" b="1" dirty="0">
                <a:solidFill>
                  <a:schemeClr val="bg1"/>
                </a:solidFill>
                <a:latin typeface="微软雅黑" pitchFamily="34" charset="-122"/>
                <a:ea typeface="微软雅黑" pitchFamily="34" charset="-122"/>
              </a:rPr>
              <a:t>1</a:t>
            </a:r>
            <a:r>
              <a:rPr lang="zh-CN" altLang="en-US" sz="1600" b="1" dirty="0">
                <a:solidFill>
                  <a:schemeClr val="bg1"/>
                </a:solidFill>
                <a:latin typeface="微软雅黑" pitchFamily="34" charset="-122"/>
                <a:ea typeface="微软雅黑" pitchFamily="34" charset="-122"/>
              </a:rPr>
              <a:t>）</a:t>
            </a:r>
            <a:r>
              <a:rPr lang="zh-CN" altLang="en-US" sz="1600" b="1" dirty="0" smtClean="0">
                <a:solidFill>
                  <a:schemeClr val="bg1"/>
                </a:solidFill>
                <a:latin typeface="微软雅黑" pitchFamily="34" charset="-122"/>
                <a:ea typeface="微软雅黑" pitchFamily="34" charset="-122"/>
              </a:rPr>
              <a:t>定位系统</a:t>
            </a:r>
            <a:endParaRPr lang="zh-CN" altLang="en-US" sz="1600" b="1" dirty="0">
              <a:solidFill>
                <a:schemeClr val="bg1"/>
              </a:solidFill>
              <a:latin typeface="微软雅黑" pitchFamily="34" charset="-122"/>
              <a:ea typeface="微软雅黑" pitchFamily="34" charset="-122"/>
            </a:endParaRPr>
          </a:p>
        </p:txBody>
      </p:sp>
      <p:sp>
        <p:nvSpPr>
          <p:cNvPr id="5" name="矩形 4"/>
          <p:cNvSpPr/>
          <p:nvPr/>
        </p:nvSpPr>
        <p:spPr>
          <a:xfrm>
            <a:off x="930033" y="2355726"/>
            <a:ext cx="7207738" cy="1215204"/>
          </a:xfrm>
          <a:prstGeom prst="rect">
            <a:avLst/>
          </a:prstGeom>
          <a:solidFill>
            <a:schemeClr val="accent1"/>
          </a:solidFill>
        </p:spPr>
        <p:txBody>
          <a:bodyPr wrap="square">
            <a:spAutoFit/>
          </a:bodyPr>
          <a:lstStyle/>
          <a:p>
            <a:pPr>
              <a:lnSpc>
                <a:spcPct val="114000"/>
              </a:lnSpc>
            </a:pPr>
            <a:r>
              <a:rPr lang="en-US" altLang="zh-CN" sz="1600" dirty="0">
                <a:solidFill>
                  <a:schemeClr val="bg1"/>
                </a:solidFill>
                <a:latin typeface="微软雅黑" pitchFamily="34" charset="-122"/>
                <a:ea typeface="微软雅黑" pitchFamily="34" charset="-122"/>
              </a:rPr>
              <a:t>1</a:t>
            </a:r>
            <a:r>
              <a:rPr lang="zh-CN" altLang="en-US" sz="1600" dirty="0">
                <a:solidFill>
                  <a:schemeClr val="bg1"/>
                </a:solidFill>
                <a:latin typeface="微软雅黑" pitchFamily="34" charset="-122"/>
                <a:ea typeface="微软雅黑" pitchFamily="34" charset="-122"/>
              </a:rPr>
              <a:t>）定位精度。根据智能网联汽车自动驾驶级别的功能要求，需要提供“车道级”</a:t>
            </a:r>
            <a:r>
              <a:rPr lang="zh-CN" altLang="en-US" sz="1600" dirty="0" smtClean="0">
                <a:solidFill>
                  <a:schemeClr val="bg1"/>
                </a:solidFill>
                <a:latin typeface="微软雅黑" pitchFamily="34" charset="-122"/>
                <a:ea typeface="微软雅黑" pitchFamily="34" charset="-122"/>
              </a:rPr>
              <a:t>甚至</a:t>
            </a:r>
            <a:r>
              <a:rPr lang="zh-CN" altLang="en-US" sz="1600" dirty="0">
                <a:solidFill>
                  <a:schemeClr val="bg1"/>
                </a:solidFill>
                <a:latin typeface="微软雅黑" pitchFamily="34" charset="-122"/>
                <a:ea typeface="微软雅黑" pitchFamily="34" charset="-122"/>
              </a:rPr>
              <a:t>是“厘米级”的高精度定位</a:t>
            </a:r>
            <a:r>
              <a:rPr lang="zh-CN" altLang="en-US" sz="1600" dirty="0" smtClean="0">
                <a:solidFill>
                  <a:schemeClr val="bg1"/>
                </a:solidFill>
                <a:latin typeface="微软雅黑" pitchFamily="34" charset="-122"/>
                <a:ea typeface="微软雅黑" pitchFamily="34" charset="-122"/>
              </a:rPr>
              <a:t>。</a:t>
            </a:r>
            <a:endParaRPr lang="en-US" altLang="zh-CN" sz="1600" dirty="0" smtClean="0">
              <a:solidFill>
                <a:schemeClr val="bg1"/>
              </a:solidFill>
              <a:latin typeface="微软雅黑" pitchFamily="34" charset="-122"/>
              <a:ea typeface="微软雅黑" pitchFamily="34" charset="-122"/>
            </a:endParaRPr>
          </a:p>
          <a:p>
            <a:pPr>
              <a:lnSpc>
                <a:spcPct val="114000"/>
              </a:lnSpc>
            </a:pPr>
            <a:r>
              <a:rPr lang="en-US" altLang="zh-CN" sz="1600" dirty="0" smtClean="0">
                <a:solidFill>
                  <a:schemeClr val="bg1"/>
                </a:solidFill>
                <a:latin typeface="微软雅黑" pitchFamily="34" charset="-122"/>
                <a:ea typeface="微软雅黑" pitchFamily="34" charset="-122"/>
              </a:rPr>
              <a:t>2</a:t>
            </a:r>
            <a:r>
              <a:rPr lang="zh-CN" altLang="en-US" sz="1600" dirty="0">
                <a:solidFill>
                  <a:schemeClr val="bg1"/>
                </a:solidFill>
                <a:latin typeface="微软雅黑" pitchFamily="34" charset="-122"/>
                <a:ea typeface="微软雅黑" pitchFamily="34" charset="-122"/>
              </a:rPr>
              <a:t>）定位方式。为了达到不同的定位精度的要求，按照定位的方式，智能网联汽车</a:t>
            </a:r>
            <a:r>
              <a:rPr lang="zh-CN" altLang="en-US" sz="1600" dirty="0" smtClean="0">
                <a:solidFill>
                  <a:schemeClr val="bg1"/>
                </a:solidFill>
                <a:latin typeface="微软雅黑" pitchFamily="34" charset="-122"/>
                <a:ea typeface="微软雅黑" pitchFamily="34" charset="-122"/>
              </a:rPr>
              <a:t>自动</a:t>
            </a:r>
            <a:r>
              <a:rPr lang="zh-CN" altLang="en-US" sz="1600" dirty="0">
                <a:solidFill>
                  <a:schemeClr val="bg1"/>
                </a:solidFill>
                <a:latin typeface="微软雅黑" pitchFamily="34" charset="-122"/>
                <a:ea typeface="微软雅黑" pitchFamily="34" charset="-122"/>
              </a:rPr>
              <a:t>驾驶的定位可分为相对定位、绝对定位和组合定位</a:t>
            </a:r>
            <a:r>
              <a:rPr lang="zh-CN" altLang="en-US" sz="1600" dirty="0" smtClean="0">
                <a:solidFill>
                  <a:schemeClr val="bg1"/>
                </a:solidFill>
                <a:latin typeface="微软雅黑" pitchFamily="34" charset="-122"/>
                <a:ea typeface="微软雅黑" pitchFamily="34" charset="-122"/>
              </a:rPr>
              <a:t>。</a:t>
            </a:r>
            <a:endParaRPr lang="zh-CN" altLang="en-US" sz="1600" dirty="0">
              <a:solidFill>
                <a:schemeClr val="bg1"/>
              </a:solidFill>
              <a:latin typeface="微软雅黑" pitchFamily="34" charset="-122"/>
              <a:ea typeface="微软雅黑" pitchFamily="34" charset="-122"/>
            </a:endParaRPr>
          </a:p>
        </p:txBody>
      </p:sp>
      <p:sp>
        <p:nvSpPr>
          <p:cNvPr id="10" name="矩形 9"/>
          <p:cNvSpPr/>
          <p:nvPr/>
        </p:nvSpPr>
        <p:spPr>
          <a:xfrm>
            <a:off x="930033" y="3610860"/>
            <a:ext cx="1542410" cy="338554"/>
          </a:xfrm>
          <a:prstGeom prst="rect">
            <a:avLst/>
          </a:prstGeom>
          <a:solidFill>
            <a:schemeClr val="accent1"/>
          </a:solidFill>
        </p:spPr>
        <p:txBody>
          <a:bodyPr wrap="none">
            <a:spAutoFit/>
          </a:bodyPr>
          <a:lstStyle/>
          <a:p>
            <a:r>
              <a:rPr lang="zh-CN" altLang="en-US" sz="1600" b="1" dirty="0" smtClean="0">
                <a:solidFill>
                  <a:schemeClr val="bg1"/>
                </a:solidFill>
                <a:latin typeface="微软雅黑" pitchFamily="34" charset="-122"/>
                <a:ea typeface="微软雅黑" pitchFamily="34" charset="-122"/>
              </a:rPr>
              <a:t>（</a:t>
            </a:r>
            <a:r>
              <a:rPr lang="en-US" altLang="zh-CN" sz="1600" b="1" dirty="0" smtClean="0">
                <a:solidFill>
                  <a:schemeClr val="bg1"/>
                </a:solidFill>
                <a:latin typeface="微软雅黑" pitchFamily="34" charset="-122"/>
                <a:ea typeface="微软雅黑" pitchFamily="34" charset="-122"/>
              </a:rPr>
              <a:t>2</a:t>
            </a:r>
            <a:r>
              <a:rPr lang="zh-CN" altLang="en-US" sz="1600" b="1" dirty="0" smtClean="0">
                <a:solidFill>
                  <a:schemeClr val="bg1"/>
                </a:solidFill>
                <a:latin typeface="微软雅黑" pitchFamily="34" charset="-122"/>
                <a:ea typeface="微软雅黑" pitchFamily="34" charset="-122"/>
              </a:rPr>
              <a:t>）地图信息</a:t>
            </a:r>
            <a:endParaRPr lang="zh-CN" altLang="en-US" sz="1600" b="1" dirty="0">
              <a:solidFill>
                <a:schemeClr val="bg1"/>
              </a:solidFill>
              <a:latin typeface="微软雅黑" pitchFamily="34" charset="-122"/>
              <a:ea typeface="微软雅黑" pitchFamily="34" charset="-122"/>
            </a:endParaRPr>
          </a:p>
        </p:txBody>
      </p:sp>
      <p:sp>
        <p:nvSpPr>
          <p:cNvPr id="11" name="矩形 10"/>
          <p:cNvSpPr/>
          <p:nvPr/>
        </p:nvSpPr>
        <p:spPr>
          <a:xfrm>
            <a:off x="930033" y="4051268"/>
            <a:ext cx="7207738" cy="653769"/>
          </a:xfrm>
          <a:prstGeom prst="rect">
            <a:avLst/>
          </a:prstGeom>
          <a:solidFill>
            <a:schemeClr val="accent1"/>
          </a:solidFill>
        </p:spPr>
        <p:txBody>
          <a:bodyPr wrap="square">
            <a:spAutoFit/>
          </a:bodyPr>
          <a:lstStyle/>
          <a:p>
            <a:pPr>
              <a:lnSpc>
                <a:spcPct val="114000"/>
              </a:lnSpc>
            </a:pPr>
            <a:r>
              <a:rPr lang="zh-CN" altLang="en-US" sz="1600" dirty="0">
                <a:solidFill>
                  <a:schemeClr val="bg1"/>
                </a:solidFill>
                <a:latin typeface="微软雅黑" pitchFamily="34" charset="-122"/>
                <a:ea typeface="微软雅黑" pitchFamily="34" charset="-122"/>
              </a:rPr>
              <a:t>智能网联汽车需要更加丰富、精确的道路环境信息，例如道路中交通元素的形状、</a:t>
            </a:r>
            <a:r>
              <a:rPr lang="zh-CN" altLang="en-US" sz="1600" dirty="0" smtClean="0">
                <a:solidFill>
                  <a:schemeClr val="bg1"/>
                </a:solidFill>
                <a:latin typeface="微软雅黑" pitchFamily="34" charset="-122"/>
                <a:ea typeface="微软雅黑" pitchFamily="34" charset="-122"/>
              </a:rPr>
              <a:t>位置</a:t>
            </a:r>
            <a:r>
              <a:rPr lang="zh-CN" altLang="en-US" sz="1600" dirty="0">
                <a:solidFill>
                  <a:schemeClr val="bg1"/>
                </a:solidFill>
                <a:latin typeface="微软雅黑" pitchFamily="34" charset="-122"/>
                <a:ea typeface="微软雅黑" pitchFamily="34" charset="-122"/>
              </a:rPr>
              <a:t>特征等，以实现辅助环境感知、精确的路径规划等功能。</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930033" y="1426903"/>
            <a:ext cx="4264309" cy="400110"/>
          </a:xfrm>
          <a:prstGeom prst="rect">
            <a:avLst/>
          </a:prstGeom>
          <a:solidFill>
            <a:schemeClr val="accent1"/>
          </a:solidFill>
        </p:spPr>
        <p:txBody>
          <a:bodyPr wrap="none">
            <a:spAutoFit/>
          </a:bodyPr>
          <a:lstStyle/>
          <a:p>
            <a:pPr algn="l" fontAlgn="ctr"/>
            <a:r>
              <a:rPr sz="2000" b="1" dirty="0" smtClean="0">
                <a:solidFill>
                  <a:schemeClr val="bg1"/>
                </a:solidFill>
                <a:latin typeface="微软雅黑" panose="020B0503020204020204" pitchFamily="34" charset="-122"/>
                <a:ea typeface="微软雅黑" panose="020B0503020204020204" pitchFamily="34" charset="-122"/>
              </a:rPr>
              <a:t>2.智能网联汽车导航定位系统的要求</a:t>
            </a:r>
          </a:p>
        </p:txBody>
      </p:sp>
      <p:pic>
        <p:nvPicPr>
          <p:cNvPr id="6" name="图片 6" descr="说明: C:\Users\Lenovo\Desktop\智能网联汽车 人民交通\项目5 智能网联汽车高精度定位与导航系统应用\任务5-1 图片\t0140350e4a9624cd80.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a:xfrm>
            <a:off x="4427984" y="1943999"/>
            <a:ext cx="3717863" cy="2487465"/>
          </a:xfrm>
          <a:prstGeom prst="rect">
            <a:avLst/>
          </a:prstGeom>
          <a:noFill/>
          <a:ln>
            <a:noFill/>
          </a:ln>
        </p:spPr>
      </p:pic>
      <p:sp>
        <p:nvSpPr>
          <p:cNvPr id="7" name="Text Box 8"/>
          <p:cNvSpPr>
            <a:spLocks noChangeArrowheads="1"/>
          </p:cNvSpPr>
          <p:nvPr/>
        </p:nvSpPr>
        <p:spPr bwMode="auto">
          <a:xfrm>
            <a:off x="971600" y="244828"/>
            <a:ext cx="7573236" cy="10147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9pPr>
          </a:lstStyle>
          <a:p>
            <a:pPr algn="ctr" eaLnBrk="1" hangingPunct="1">
              <a:spcBef>
                <a:spcPct val="0"/>
              </a:spcBef>
              <a:buFont typeface="Arial" panose="020B0604020202020204" pitchFamily="34" charset="0"/>
              <a:buNone/>
            </a:pPr>
            <a:r>
              <a:rPr lang="zh-CN" altLang="en-US" sz="2800" b="1" dirty="0" smtClean="0">
                <a:solidFill>
                  <a:schemeClr val="accent1"/>
                </a:solidFill>
                <a:latin typeface="微软雅黑" panose="020B0503020204020204" pitchFamily="34" charset="-122"/>
              </a:rPr>
              <a:t>什么是导航定位技术？智能网联汽车的导航定位系统有什么要求</a:t>
            </a:r>
            <a:r>
              <a:rPr lang="zh-CN" altLang="en-US" sz="3200" b="1" dirty="0" smtClean="0">
                <a:solidFill>
                  <a:schemeClr val="accent1"/>
                </a:solidFill>
                <a:latin typeface="微软雅黑" panose="020B0503020204020204" pitchFamily="34" charset="-122"/>
              </a:rPr>
              <a:t>？ </a:t>
            </a:r>
          </a:p>
        </p:txBody>
      </p:sp>
      <p:sp>
        <p:nvSpPr>
          <p:cNvPr id="4" name="矩形 3"/>
          <p:cNvSpPr/>
          <p:nvPr/>
        </p:nvSpPr>
        <p:spPr>
          <a:xfrm>
            <a:off x="930033" y="1944000"/>
            <a:ext cx="1952779" cy="338554"/>
          </a:xfrm>
          <a:prstGeom prst="rect">
            <a:avLst/>
          </a:prstGeom>
          <a:solidFill>
            <a:schemeClr val="accent1"/>
          </a:solidFill>
        </p:spPr>
        <p:txBody>
          <a:bodyPr wrap="none">
            <a:spAutoFit/>
          </a:bodyPr>
          <a:lstStyle/>
          <a:p>
            <a:r>
              <a:rPr lang="zh-CN" altLang="en-US" sz="1600" b="1" dirty="0" smtClean="0">
                <a:solidFill>
                  <a:schemeClr val="bg1"/>
                </a:solidFill>
                <a:latin typeface="微软雅黑" pitchFamily="34" charset="-122"/>
                <a:ea typeface="微软雅黑" pitchFamily="34" charset="-122"/>
              </a:rPr>
              <a:t>（</a:t>
            </a:r>
            <a:r>
              <a:rPr lang="en-US" altLang="zh-CN" sz="1600" b="1" dirty="0" smtClean="0">
                <a:solidFill>
                  <a:schemeClr val="bg1"/>
                </a:solidFill>
                <a:latin typeface="微软雅黑" pitchFamily="34" charset="-122"/>
                <a:ea typeface="微软雅黑" pitchFamily="34" charset="-122"/>
              </a:rPr>
              <a:t>3</a:t>
            </a:r>
            <a:r>
              <a:rPr lang="zh-CN" altLang="en-US" sz="1600" b="1" dirty="0" smtClean="0">
                <a:solidFill>
                  <a:schemeClr val="bg1"/>
                </a:solidFill>
                <a:latin typeface="微软雅黑" pitchFamily="34" charset="-122"/>
                <a:ea typeface="微软雅黑" pitchFamily="34" charset="-122"/>
              </a:rPr>
              <a:t>）路径规划技术</a:t>
            </a:r>
            <a:endParaRPr lang="zh-CN" altLang="en-US" sz="1600" b="1" dirty="0">
              <a:solidFill>
                <a:schemeClr val="bg1"/>
              </a:solidFill>
              <a:latin typeface="微软雅黑" pitchFamily="34" charset="-122"/>
              <a:ea typeface="微软雅黑" pitchFamily="34" charset="-122"/>
            </a:endParaRPr>
          </a:p>
        </p:txBody>
      </p:sp>
      <p:sp>
        <p:nvSpPr>
          <p:cNvPr id="2" name="矩形 1"/>
          <p:cNvSpPr/>
          <p:nvPr/>
        </p:nvSpPr>
        <p:spPr>
          <a:xfrm>
            <a:off x="930033" y="2374107"/>
            <a:ext cx="3281927" cy="2057358"/>
          </a:xfrm>
          <a:prstGeom prst="rect">
            <a:avLst/>
          </a:prstGeom>
          <a:solidFill>
            <a:schemeClr val="accent1"/>
          </a:solidFill>
        </p:spPr>
        <p:txBody>
          <a:bodyPr wrap="square">
            <a:spAutoFit/>
          </a:bodyPr>
          <a:lstStyle/>
          <a:p>
            <a:pPr>
              <a:lnSpc>
                <a:spcPct val="114000"/>
              </a:lnSpc>
            </a:pPr>
            <a:r>
              <a:rPr lang="zh-CN" altLang="en-US" sz="1600" dirty="0">
                <a:solidFill>
                  <a:schemeClr val="bg1"/>
                </a:solidFill>
                <a:latin typeface="微软雅黑" pitchFamily="34" charset="-122"/>
                <a:ea typeface="微软雅黑" pitchFamily="34" charset="-122"/>
              </a:rPr>
              <a:t>智能网联汽车需要规划出高精度、连续的轨迹。相比于传统的导航系统全局路径</a:t>
            </a:r>
            <a:r>
              <a:rPr lang="zh-CN" altLang="en-US" sz="1600" dirty="0" smtClean="0">
                <a:solidFill>
                  <a:schemeClr val="bg1"/>
                </a:solidFill>
                <a:latin typeface="微软雅黑" pitchFamily="34" charset="-122"/>
                <a:ea typeface="微软雅黑" pitchFamily="34" charset="-122"/>
              </a:rPr>
              <a:t>规划技术</a:t>
            </a:r>
            <a:r>
              <a:rPr lang="zh-CN" altLang="en-US" sz="1600" dirty="0">
                <a:solidFill>
                  <a:schemeClr val="bg1"/>
                </a:solidFill>
                <a:latin typeface="微软雅黑" pitchFamily="34" charset="-122"/>
                <a:ea typeface="微软雅黑" pitchFamily="34" charset="-122"/>
              </a:rPr>
              <a:t>，需要增加车道级的路径规划、路口轨迹的连接、辅助环境感知信息的提取等，同时 还要考虑驾乘人员意图、个性等因素，做出更加智能的决策。</a:t>
            </a:r>
          </a:p>
        </p:txBody>
      </p:sp>
    </p:spTree>
    <p:extLst>
      <p:ext uri="{BB962C8B-B14F-4D97-AF65-F5344CB8AC3E}">
        <p14:creationId xmlns:p14="http://schemas.microsoft.com/office/powerpoint/2010/main" val="67581715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a:xfrm>
            <a:off x="107504" y="4840397"/>
            <a:ext cx="2133600" cy="273844"/>
          </a:xfrm>
        </p:spPr>
        <p:txBody>
          <a:bodyPr/>
          <a:lstStyle/>
          <a:p>
            <a:pPr algn="l"/>
            <a:fld id="{0C913308-F349-4B6D-A68A-DD1791B4A57B}" type="slidenum">
              <a:rPr lang="zh-CN" altLang="en-US" smtClean="0"/>
              <a:t>9</a:t>
            </a:fld>
            <a:endParaRPr lang="zh-CN" altLang="en-US" dirty="0"/>
          </a:p>
        </p:txBody>
      </p:sp>
      <p:sp>
        <p:nvSpPr>
          <p:cNvPr id="8" name="Text Box 8"/>
          <p:cNvSpPr>
            <a:spLocks noChangeArrowheads="1"/>
          </p:cNvSpPr>
          <p:nvPr/>
        </p:nvSpPr>
        <p:spPr bwMode="auto">
          <a:xfrm>
            <a:off x="971600" y="339502"/>
            <a:ext cx="7573236" cy="583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9pPr>
          </a:lstStyle>
          <a:p>
            <a:pPr algn="ctr" eaLnBrk="1" hangingPunct="1">
              <a:spcBef>
                <a:spcPct val="0"/>
              </a:spcBef>
              <a:buFont typeface="Arial" panose="020B0604020202020204" pitchFamily="34" charset="0"/>
              <a:buNone/>
            </a:pPr>
            <a:r>
              <a:rPr lang="zh-CN" altLang="en-US" sz="3200" b="1" dirty="0" smtClean="0">
                <a:solidFill>
                  <a:schemeClr val="accent1"/>
                </a:solidFill>
                <a:latin typeface="微软雅黑" panose="020B0503020204020204" pitchFamily="34" charset="-122"/>
                <a:sym typeface="+mn-ea"/>
              </a:rPr>
              <a:t>智能网联汽车上应用了哪些导航定位系统？</a:t>
            </a:r>
          </a:p>
        </p:txBody>
      </p:sp>
      <p:sp>
        <p:nvSpPr>
          <p:cNvPr id="3" name="矩形 2"/>
          <p:cNvSpPr/>
          <p:nvPr/>
        </p:nvSpPr>
        <p:spPr>
          <a:xfrm>
            <a:off x="971600" y="2355726"/>
            <a:ext cx="2986715" cy="400110"/>
          </a:xfrm>
          <a:prstGeom prst="rect">
            <a:avLst/>
          </a:prstGeom>
          <a:solidFill>
            <a:schemeClr val="accent1"/>
          </a:solidFill>
        </p:spPr>
        <p:txBody>
          <a:bodyPr wrap="none">
            <a:spAutoFit/>
          </a:bodyPr>
          <a:lstStyle/>
          <a:p>
            <a:pPr algn="l" fontAlgn="ctr"/>
            <a:r>
              <a:rPr sz="2000" b="1" dirty="0" smtClean="0">
                <a:solidFill>
                  <a:schemeClr val="bg1"/>
                </a:solidFill>
                <a:latin typeface="微软雅黑" panose="020B0503020204020204" pitchFamily="34" charset="-122"/>
                <a:ea typeface="微软雅黑" panose="020B0503020204020204" pitchFamily="34" charset="-122"/>
              </a:rPr>
              <a:t>1.全球定位系统（GPS）</a:t>
            </a:r>
          </a:p>
        </p:txBody>
      </p:sp>
      <p:sp>
        <p:nvSpPr>
          <p:cNvPr id="100" name="文本框 99"/>
          <p:cNvSpPr txBox="1"/>
          <p:nvPr/>
        </p:nvSpPr>
        <p:spPr>
          <a:xfrm>
            <a:off x="940602" y="2849807"/>
            <a:ext cx="4135455" cy="1569660"/>
          </a:xfrm>
          <a:prstGeom prst="rect">
            <a:avLst/>
          </a:prstGeom>
          <a:solidFill>
            <a:schemeClr val="accent1"/>
          </a:solidFill>
          <a:ln w="9525">
            <a:noFill/>
          </a:ln>
        </p:spPr>
        <p:txBody>
          <a:bodyPr wrap="square">
            <a:spAutoFit/>
          </a:bodyPr>
          <a:lstStyle/>
          <a:p>
            <a:pPr indent="266700"/>
            <a:r>
              <a:rPr lang="en-US" sz="1600" b="0" dirty="0" smtClean="0">
                <a:solidFill>
                  <a:schemeClr val="bg1"/>
                </a:solidFill>
                <a:latin typeface="微软雅黑" pitchFamily="34" charset="-122"/>
                <a:ea typeface="微软雅黑" pitchFamily="34" charset="-122"/>
                <a:cs typeface="Times New Roman" panose="02020603050405020304" charset="0"/>
              </a:rPr>
              <a:t>GPS</a:t>
            </a:r>
            <a:r>
              <a:rPr lang="zh-CN" sz="1600" b="0" dirty="0" smtClean="0">
                <a:solidFill>
                  <a:schemeClr val="bg1"/>
                </a:solidFill>
                <a:latin typeface="微软雅黑" pitchFamily="34" charset="-122"/>
                <a:ea typeface="微软雅黑" pitchFamily="34" charset="-122"/>
              </a:rPr>
              <a:t>是</a:t>
            </a:r>
            <a:r>
              <a:rPr lang="zh-CN" sz="1600" b="0" dirty="0">
                <a:solidFill>
                  <a:schemeClr val="bg1"/>
                </a:solidFill>
                <a:latin typeface="微软雅黑" pitchFamily="34" charset="-122"/>
                <a:ea typeface="微软雅黑" pitchFamily="34" charset="-122"/>
              </a:rPr>
              <a:t>由美国国防部建设的基于卫星的无线电导航定位系统，它能连续为世界各地的陆海空用户提供精确地位置、速度和时间信息，最大优势是覆盖全球，全天候工作，可以为高动态、高精度平台服务，目前得到普遍应用。</a:t>
            </a:r>
            <a:endParaRPr lang="zh-CN" altLang="en-US" sz="1600" b="0" dirty="0">
              <a:solidFill>
                <a:schemeClr val="bg1"/>
              </a:solidFill>
              <a:latin typeface="微软雅黑" pitchFamily="34" charset="-122"/>
              <a:ea typeface="微软雅黑" pitchFamily="34" charset="-122"/>
            </a:endParaRPr>
          </a:p>
        </p:txBody>
      </p:sp>
      <p:pic>
        <p:nvPicPr>
          <p:cNvPr id="34" name="图片 34" descr="图5-1-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a:xfrm>
            <a:off x="5218663" y="2376737"/>
            <a:ext cx="2953737" cy="2088232"/>
          </a:xfrm>
          <a:prstGeom prst="rect">
            <a:avLst/>
          </a:prstGeom>
          <a:noFill/>
          <a:ln>
            <a:solidFill>
              <a:schemeClr val="accent1"/>
            </a:solidFill>
          </a:ln>
        </p:spPr>
      </p:pic>
      <p:sp>
        <p:nvSpPr>
          <p:cNvPr id="2" name="矩形 1"/>
          <p:cNvSpPr/>
          <p:nvPr/>
        </p:nvSpPr>
        <p:spPr>
          <a:xfrm>
            <a:off x="971600" y="1109524"/>
            <a:ext cx="7200800" cy="1215204"/>
          </a:xfrm>
          <a:prstGeom prst="rect">
            <a:avLst/>
          </a:prstGeom>
          <a:solidFill>
            <a:schemeClr val="accent1"/>
          </a:solidFill>
        </p:spPr>
        <p:txBody>
          <a:bodyPr wrap="square">
            <a:spAutoFit/>
          </a:bodyPr>
          <a:lstStyle/>
          <a:p>
            <a:pPr>
              <a:lnSpc>
                <a:spcPct val="114000"/>
              </a:lnSpc>
            </a:pPr>
            <a:r>
              <a:rPr lang="zh-CN" altLang="en-US" sz="1600" dirty="0">
                <a:solidFill>
                  <a:schemeClr val="bg1"/>
                </a:solidFill>
                <a:latin typeface="微软雅黑" pitchFamily="34" charset="-122"/>
                <a:ea typeface="微软雅黑" pitchFamily="34" charset="-122"/>
              </a:rPr>
              <a:t>高精度定位是智能网联汽车实现自动驾驶甚至无人驾驶的核心关键技术，智能网联</a:t>
            </a:r>
            <a:r>
              <a:rPr lang="zh-CN" altLang="en-US" sz="1600" dirty="0" smtClean="0">
                <a:solidFill>
                  <a:schemeClr val="bg1"/>
                </a:solidFill>
                <a:latin typeface="微软雅黑" pitchFamily="34" charset="-122"/>
                <a:ea typeface="微软雅黑" pitchFamily="34" charset="-122"/>
              </a:rPr>
              <a:t>汽车</a:t>
            </a:r>
            <a:r>
              <a:rPr lang="zh-CN" altLang="en-US" sz="1600" dirty="0">
                <a:solidFill>
                  <a:schemeClr val="bg1"/>
                </a:solidFill>
                <a:latin typeface="微软雅黑" pitchFamily="34" charset="-122"/>
                <a:ea typeface="微软雅黑" pitchFamily="34" charset="-122"/>
              </a:rPr>
              <a:t>应用的定位技术主要有全球定位系统（</a:t>
            </a:r>
            <a:r>
              <a:rPr lang="en-US" altLang="zh-CN" sz="1600" dirty="0">
                <a:solidFill>
                  <a:schemeClr val="bg1"/>
                </a:solidFill>
                <a:latin typeface="微软雅黑" pitchFamily="34" charset="-122"/>
                <a:ea typeface="微软雅黑" pitchFamily="34" charset="-122"/>
              </a:rPr>
              <a:t>GPS</a:t>
            </a:r>
            <a:r>
              <a:rPr lang="zh-CN" altLang="en-US" sz="1600" dirty="0">
                <a:solidFill>
                  <a:schemeClr val="bg1"/>
                </a:solidFill>
                <a:latin typeface="微软雅黑" pitchFamily="34" charset="-122"/>
                <a:ea typeface="微软雅黑" pitchFamily="34" charset="-122"/>
              </a:rPr>
              <a:t>）、差分全球定位系统（</a:t>
            </a:r>
            <a:r>
              <a:rPr lang="en-US" altLang="zh-CN" sz="1600" dirty="0">
                <a:solidFill>
                  <a:schemeClr val="bg1"/>
                </a:solidFill>
                <a:latin typeface="微软雅黑" pitchFamily="34" charset="-122"/>
                <a:ea typeface="微软雅黑" pitchFamily="34" charset="-122"/>
              </a:rPr>
              <a:t>DGPS</a:t>
            </a:r>
            <a:r>
              <a:rPr lang="zh-CN" altLang="en-US" sz="1600" dirty="0">
                <a:solidFill>
                  <a:schemeClr val="bg1"/>
                </a:solidFill>
                <a:latin typeface="微软雅黑" pitchFamily="34" charset="-122"/>
                <a:ea typeface="微软雅黑" pitchFamily="34" charset="-122"/>
              </a:rPr>
              <a:t>）、北斗卫 星导航定位系统（</a:t>
            </a:r>
            <a:r>
              <a:rPr lang="en-US" altLang="zh-CN" sz="1600" dirty="0">
                <a:solidFill>
                  <a:schemeClr val="bg1"/>
                </a:solidFill>
                <a:latin typeface="微软雅黑" pitchFamily="34" charset="-122"/>
                <a:ea typeface="微软雅黑" pitchFamily="34" charset="-122"/>
              </a:rPr>
              <a:t>BDS</a:t>
            </a:r>
            <a:r>
              <a:rPr lang="zh-CN" altLang="en-US" sz="1600" dirty="0">
                <a:solidFill>
                  <a:schemeClr val="bg1"/>
                </a:solidFill>
                <a:latin typeface="微软雅黑" pitchFamily="34" charset="-122"/>
                <a:ea typeface="微软雅黑" pitchFamily="34" charset="-122"/>
              </a:rPr>
              <a:t>）、惯性导航系统（</a:t>
            </a:r>
            <a:r>
              <a:rPr lang="en-US" altLang="zh-CN" sz="1600" dirty="0">
                <a:solidFill>
                  <a:schemeClr val="bg1"/>
                </a:solidFill>
                <a:latin typeface="微软雅黑" pitchFamily="34" charset="-122"/>
                <a:ea typeface="微软雅黑" pitchFamily="34" charset="-122"/>
              </a:rPr>
              <a:t>INS</a:t>
            </a:r>
            <a:r>
              <a:rPr lang="zh-CN" altLang="en-US" sz="1600" dirty="0">
                <a:solidFill>
                  <a:schemeClr val="bg1"/>
                </a:solidFill>
                <a:latin typeface="微软雅黑" pitchFamily="34" charset="-122"/>
                <a:ea typeface="微软雅黑" pitchFamily="34" charset="-122"/>
              </a:rPr>
              <a:t>）以及激光雷达定位等。</a:t>
            </a:r>
          </a:p>
        </p:txBody>
      </p:sp>
      <p:sp>
        <p:nvSpPr>
          <p:cNvPr id="4" name="矩形 3"/>
          <p:cNvSpPr/>
          <p:nvPr/>
        </p:nvSpPr>
        <p:spPr>
          <a:xfrm>
            <a:off x="940603" y="4432103"/>
            <a:ext cx="4135454" cy="338554"/>
          </a:xfrm>
          <a:prstGeom prst="rect">
            <a:avLst/>
          </a:prstGeom>
          <a:solidFill>
            <a:schemeClr val="accent1"/>
          </a:solidFill>
        </p:spPr>
        <p:txBody>
          <a:bodyPr wrap="square">
            <a:spAutoFit/>
          </a:bodyPr>
          <a:lstStyle/>
          <a:p>
            <a:r>
              <a:rPr lang="zh-CN" altLang="en-US" sz="1600" b="1" dirty="0">
                <a:solidFill>
                  <a:schemeClr val="bg1"/>
                </a:solidFill>
                <a:latin typeface="微软雅黑" pitchFamily="34" charset="-122"/>
                <a:ea typeface="微软雅黑" pitchFamily="34" charset="-122"/>
              </a:rPr>
              <a:t>（</a:t>
            </a:r>
            <a:r>
              <a:rPr lang="en-US" altLang="zh-CN" sz="1600" b="1" dirty="0">
                <a:solidFill>
                  <a:schemeClr val="bg1"/>
                </a:solidFill>
                <a:latin typeface="微软雅黑" pitchFamily="34" charset="-122"/>
                <a:ea typeface="微软雅黑" pitchFamily="34" charset="-122"/>
              </a:rPr>
              <a:t>1</a:t>
            </a:r>
            <a:r>
              <a:rPr lang="zh-CN" altLang="en-US" sz="1600" b="1" dirty="0">
                <a:solidFill>
                  <a:schemeClr val="bg1"/>
                </a:solidFill>
                <a:latin typeface="微软雅黑" pitchFamily="34" charset="-122"/>
                <a:ea typeface="微软雅黑" pitchFamily="34" charset="-122"/>
              </a:rPr>
              <a:t>）</a:t>
            </a:r>
            <a:r>
              <a:rPr lang="en-US" altLang="zh-CN" sz="1600" b="1" dirty="0">
                <a:solidFill>
                  <a:schemeClr val="bg1"/>
                </a:solidFill>
                <a:latin typeface="微软雅黑" pitchFamily="34" charset="-122"/>
                <a:ea typeface="微软雅黑" pitchFamily="34" charset="-122"/>
              </a:rPr>
              <a:t>GPS </a:t>
            </a:r>
            <a:r>
              <a:rPr lang="zh-CN" altLang="en-US" sz="1600" b="1" dirty="0">
                <a:solidFill>
                  <a:schemeClr val="bg1"/>
                </a:solidFill>
                <a:latin typeface="微软雅黑" pitchFamily="34" charset="-122"/>
                <a:ea typeface="微软雅黑" pitchFamily="34" charset="-122"/>
              </a:rPr>
              <a:t>的</a:t>
            </a:r>
            <a:r>
              <a:rPr lang="zh-CN" altLang="en-US" sz="1600" b="1" dirty="0" smtClean="0">
                <a:solidFill>
                  <a:schemeClr val="bg1"/>
                </a:solidFill>
                <a:latin typeface="微软雅黑" pitchFamily="34" charset="-122"/>
                <a:ea typeface="微软雅黑" pitchFamily="34" charset="-122"/>
              </a:rPr>
              <a:t>组成</a:t>
            </a:r>
            <a:r>
              <a:rPr lang="zh-CN" altLang="en-US" sz="1600" dirty="0" smtClean="0">
                <a:solidFill>
                  <a:schemeClr val="bg1"/>
                </a:solidFill>
                <a:latin typeface="微软雅黑" pitchFamily="34" charset="-122"/>
                <a:ea typeface="微软雅黑" pitchFamily="34" charset="-122"/>
              </a:rPr>
              <a:t>：卫星、控制站、接收机。</a:t>
            </a:r>
            <a:endParaRPr lang="zh-CN" altLang="en-US" sz="1600" dirty="0">
              <a:solidFill>
                <a:schemeClr val="bg1"/>
              </a:solidFill>
              <a:latin typeface="微软雅黑" pitchFamily="34" charset="-122"/>
              <a:ea typeface="微软雅黑" pitchFamily="34" charset="-122"/>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a:xfrm>
            <a:off x="107504" y="4840397"/>
            <a:ext cx="2133600" cy="273844"/>
          </a:xfrm>
        </p:spPr>
        <p:txBody>
          <a:bodyPr/>
          <a:lstStyle/>
          <a:p>
            <a:pPr algn="l"/>
            <a:fld id="{0C913308-F349-4B6D-A68A-DD1791B4A57B}" type="slidenum">
              <a:rPr lang="zh-CN" altLang="en-US" smtClean="0"/>
              <a:t>10</a:t>
            </a:fld>
            <a:endParaRPr lang="zh-CN" altLang="en-US" dirty="0"/>
          </a:p>
        </p:txBody>
      </p:sp>
      <p:sp>
        <p:nvSpPr>
          <p:cNvPr id="3" name="矩形 2"/>
          <p:cNvSpPr/>
          <p:nvPr/>
        </p:nvSpPr>
        <p:spPr>
          <a:xfrm>
            <a:off x="945040" y="1099840"/>
            <a:ext cx="2978888" cy="400110"/>
          </a:xfrm>
          <a:prstGeom prst="rect">
            <a:avLst/>
          </a:prstGeom>
          <a:solidFill>
            <a:schemeClr val="accent1"/>
          </a:solidFill>
        </p:spPr>
        <p:txBody>
          <a:bodyPr wrap="square">
            <a:spAutoFit/>
          </a:bodyPr>
          <a:lstStyle/>
          <a:p>
            <a:pPr algn="l" fontAlgn="ctr"/>
            <a:r>
              <a:rPr sz="2000" b="1" dirty="0" smtClean="0">
                <a:solidFill>
                  <a:schemeClr val="bg1"/>
                </a:solidFill>
                <a:latin typeface="微软雅黑" panose="020B0503020204020204" pitchFamily="34" charset="-122"/>
                <a:ea typeface="微软雅黑" panose="020B0503020204020204" pitchFamily="34" charset="-122"/>
              </a:rPr>
              <a:t>1.全球定位系统（GPS</a:t>
            </a:r>
            <a:r>
              <a:rPr sz="2000" b="1" dirty="0" smtClean="0">
                <a:solidFill>
                  <a:schemeClr val="bg1"/>
                </a:solidFill>
                <a:latin typeface="微软雅黑" panose="020B0503020204020204" pitchFamily="34" charset="-122"/>
                <a:ea typeface="微软雅黑" panose="020B0503020204020204" pitchFamily="34" charset="-122"/>
              </a:rPr>
              <a:t>）</a:t>
            </a:r>
            <a:endParaRPr sz="2000" b="1" dirty="0" smtClean="0">
              <a:solidFill>
                <a:schemeClr val="bg1"/>
              </a:solidFill>
              <a:latin typeface="微软雅黑" panose="020B0503020204020204" pitchFamily="34" charset="-122"/>
              <a:ea typeface="微软雅黑" panose="020B0503020204020204" pitchFamily="34" charset="-122"/>
            </a:endParaRPr>
          </a:p>
        </p:txBody>
      </p:sp>
      <p:pic>
        <p:nvPicPr>
          <p:cNvPr id="2" name="图片 1"/>
          <p:cNvPicPr>
            <a:picLocks noChangeAspect="1"/>
          </p:cNvPicPr>
          <p:nvPr/>
        </p:nvPicPr>
        <p:blipFill>
          <a:blip r:embed="rId3"/>
          <a:stretch>
            <a:fillRect/>
          </a:stretch>
        </p:blipFill>
        <p:spPr>
          <a:xfrm>
            <a:off x="5127997" y="1614508"/>
            <a:ext cx="3151736" cy="2829450"/>
          </a:xfrm>
          <a:prstGeom prst="rect">
            <a:avLst/>
          </a:prstGeom>
          <a:ln>
            <a:solidFill>
              <a:schemeClr val="accent1"/>
            </a:solidFill>
          </a:ln>
        </p:spPr>
      </p:pic>
      <p:sp>
        <p:nvSpPr>
          <p:cNvPr id="9" name="Text Box 8"/>
          <p:cNvSpPr>
            <a:spLocks noChangeArrowheads="1"/>
          </p:cNvSpPr>
          <p:nvPr/>
        </p:nvSpPr>
        <p:spPr bwMode="auto">
          <a:xfrm>
            <a:off x="971600" y="339502"/>
            <a:ext cx="7573236" cy="583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9pPr>
          </a:lstStyle>
          <a:p>
            <a:pPr algn="ctr" eaLnBrk="1" hangingPunct="1">
              <a:spcBef>
                <a:spcPct val="0"/>
              </a:spcBef>
              <a:buFont typeface="Arial" panose="020B0604020202020204" pitchFamily="34" charset="0"/>
              <a:buNone/>
            </a:pPr>
            <a:r>
              <a:rPr lang="zh-CN" altLang="en-US" sz="3200" b="1" dirty="0" smtClean="0">
                <a:solidFill>
                  <a:schemeClr val="accent1"/>
                </a:solidFill>
                <a:latin typeface="微软雅黑" panose="020B0503020204020204" pitchFamily="34" charset="-122"/>
                <a:sym typeface="+mn-ea"/>
              </a:rPr>
              <a:t>智能网联汽车上应用了哪些导航定位系统？</a:t>
            </a:r>
          </a:p>
        </p:txBody>
      </p:sp>
      <p:sp>
        <p:nvSpPr>
          <p:cNvPr id="10" name="矩形 9"/>
          <p:cNvSpPr/>
          <p:nvPr/>
        </p:nvSpPr>
        <p:spPr>
          <a:xfrm>
            <a:off x="4078808" y="1130618"/>
            <a:ext cx="2162772" cy="338554"/>
          </a:xfrm>
          <a:prstGeom prst="rect">
            <a:avLst/>
          </a:prstGeom>
          <a:solidFill>
            <a:schemeClr val="accent1"/>
          </a:solidFill>
        </p:spPr>
        <p:txBody>
          <a:bodyPr wrap="none">
            <a:spAutoFit/>
          </a:bodyPr>
          <a:lstStyle/>
          <a:p>
            <a:r>
              <a:rPr lang="zh-CN" altLang="en-US" sz="1600" b="1" dirty="0" smtClean="0">
                <a:solidFill>
                  <a:schemeClr val="bg1"/>
                </a:solidFill>
                <a:latin typeface="微软雅黑" pitchFamily="34" charset="-122"/>
                <a:ea typeface="微软雅黑" pitchFamily="34" charset="-122"/>
              </a:rPr>
              <a:t>（</a:t>
            </a:r>
            <a:r>
              <a:rPr lang="en-US" altLang="zh-CN" sz="1600" b="1" dirty="0" smtClean="0">
                <a:solidFill>
                  <a:schemeClr val="bg1"/>
                </a:solidFill>
                <a:latin typeface="微软雅黑" pitchFamily="34" charset="-122"/>
                <a:ea typeface="微软雅黑" pitchFamily="34" charset="-122"/>
              </a:rPr>
              <a:t>2</a:t>
            </a:r>
            <a:r>
              <a:rPr lang="zh-CN" altLang="en-US" sz="1600" b="1" dirty="0" smtClean="0">
                <a:solidFill>
                  <a:schemeClr val="bg1"/>
                </a:solidFill>
                <a:latin typeface="微软雅黑" pitchFamily="34" charset="-122"/>
                <a:ea typeface="微软雅黑" pitchFamily="34" charset="-122"/>
              </a:rPr>
              <a:t>）</a:t>
            </a:r>
            <a:r>
              <a:rPr lang="en-US" altLang="zh-CN" sz="1600" b="1" dirty="0" smtClean="0">
                <a:solidFill>
                  <a:schemeClr val="bg1"/>
                </a:solidFill>
                <a:latin typeface="微软雅黑" pitchFamily="34" charset="-122"/>
                <a:ea typeface="微软雅黑" pitchFamily="34" charset="-122"/>
              </a:rPr>
              <a:t>GPS</a:t>
            </a:r>
            <a:r>
              <a:rPr lang="zh-CN" altLang="en-US" sz="1600" b="1" dirty="0" smtClean="0">
                <a:solidFill>
                  <a:schemeClr val="bg1"/>
                </a:solidFill>
                <a:latin typeface="微软雅黑" pitchFamily="34" charset="-122"/>
                <a:ea typeface="微软雅黑" pitchFamily="34" charset="-122"/>
              </a:rPr>
              <a:t>的工作原理</a:t>
            </a:r>
            <a:endParaRPr lang="zh-CN" altLang="en-US" sz="1600" b="1" dirty="0">
              <a:solidFill>
                <a:schemeClr val="bg1"/>
              </a:solidFill>
              <a:latin typeface="微软雅黑" pitchFamily="34" charset="-122"/>
              <a:ea typeface="微软雅黑" pitchFamily="34" charset="-122"/>
            </a:endParaRPr>
          </a:p>
        </p:txBody>
      </p:sp>
      <p:sp>
        <p:nvSpPr>
          <p:cNvPr id="5" name="矩形 4"/>
          <p:cNvSpPr/>
          <p:nvPr/>
        </p:nvSpPr>
        <p:spPr>
          <a:xfrm>
            <a:off x="940994" y="1614508"/>
            <a:ext cx="4059008" cy="2899512"/>
          </a:xfrm>
          <a:prstGeom prst="rect">
            <a:avLst/>
          </a:prstGeom>
          <a:solidFill>
            <a:schemeClr val="accent1"/>
          </a:solidFill>
        </p:spPr>
        <p:txBody>
          <a:bodyPr wrap="square">
            <a:spAutoFit/>
          </a:bodyPr>
          <a:lstStyle/>
          <a:p>
            <a:pPr>
              <a:lnSpc>
                <a:spcPct val="114000"/>
              </a:lnSpc>
            </a:pPr>
            <a:r>
              <a:rPr lang="zh-CN" altLang="en-US" sz="1600" dirty="0">
                <a:solidFill>
                  <a:schemeClr val="bg1"/>
                </a:solidFill>
                <a:latin typeface="微软雅黑" pitchFamily="34" charset="-122"/>
                <a:ea typeface="微软雅黑" pitchFamily="34" charset="-122"/>
              </a:rPr>
              <a:t>①当 </a:t>
            </a:r>
            <a:r>
              <a:rPr lang="en-US" altLang="zh-CN" sz="1600" dirty="0">
                <a:solidFill>
                  <a:schemeClr val="bg1"/>
                </a:solidFill>
                <a:latin typeface="微软雅黑" pitchFamily="34" charset="-122"/>
                <a:ea typeface="微软雅黑" pitchFamily="34" charset="-122"/>
              </a:rPr>
              <a:t>GPS </a:t>
            </a:r>
            <a:r>
              <a:rPr lang="zh-CN" altLang="en-US" sz="1600" dirty="0">
                <a:solidFill>
                  <a:schemeClr val="bg1"/>
                </a:solidFill>
                <a:latin typeface="微软雅黑" pitchFamily="34" charset="-122"/>
                <a:ea typeface="微软雅黑" pitchFamily="34" charset="-122"/>
              </a:rPr>
              <a:t>接收机收到一颗卫星传来的信号时，接收机可以测定该卫星离用户的</a:t>
            </a:r>
            <a:r>
              <a:rPr lang="zh-CN" altLang="en-US" sz="1600" dirty="0" smtClean="0">
                <a:solidFill>
                  <a:schemeClr val="bg1"/>
                </a:solidFill>
                <a:latin typeface="微软雅黑" pitchFamily="34" charset="-122"/>
                <a:ea typeface="微软雅黑" pitchFamily="34" charset="-122"/>
              </a:rPr>
              <a:t>空间距离</a:t>
            </a:r>
            <a:r>
              <a:rPr lang="zh-CN" altLang="en-US" sz="1600" dirty="0">
                <a:solidFill>
                  <a:schemeClr val="bg1"/>
                </a:solidFill>
                <a:latin typeface="微软雅黑" pitchFamily="34" charset="-122"/>
                <a:ea typeface="微软雅黑" pitchFamily="34" charset="-122"/>
              </a:rPr>
              <a:t>，用户就位于以观测卫星为球心、以观测距离为半径的球面与地球表面相交的圆弧的 某一点。 </a:t>
            </a:r>
            <a:endParaRPr lang="en-US" altLang="zh-CN" sz="1600" dirty="0" smtClean="0">
              <a:solidFill>
                <a:schemeClr val="bg1"/>
              </a:solidFill>
              <a:latin typeface="微软雅黑" pitchFamily="34" charset="-122"/>
              <a:ea typeface="微软雅黑" pitchFamily="34" charset="-122"/>
            </a:endParaRPr>
          </a:p>
          <a:p>
            <a:pPr>
              <a:lnSpc>
                <a:spcPct val="114000"/>
              </a:lnSpc>
            </a:pPr>
            <a:r>
              <a:rPr lang="zh-CN" altLang="en-US" sz="1600" dirty="0" smtClean="0">
                <a:solidFill>
                  <a:schemeClr val="bg1"/>
                </a:solidFill>
                <a:latin typeface="微软雅黑" pitchFamily="34" charset="-122"/>
                <a:ea typeface="微软雅黑" pitchFamily="34" charset="-122"/>
              </a:rPr>
              <a:t>②</a:t>
            </a:r>
            <a:r>
              <a:rPr lang="zh-CN" altLang="en-US" sz="1600" dirty="0">
                <a:solidFill>
                  <a:schemeClr val="bg1"/>
                </a:solidFill>
                <a:latin typeface="微软雅黑" pitchFamily="34" charset="-122"/>
                <a:ea typeface="微软雅黑" pitchFamily="34" charset="-122"/>
              </a:rPr>
              <a:t>当 </a:t>
            </a:r>
            <a:r>
              <a:rPr lang="en-US" altLang="zh-CN" sz="1600" dirty="0">
                <a:solidFill>
                  <a:schemeClr val="bg1"/>
                </a:solidFill>
                <a:latin typeface="微软雅黑" pitchFamily="34" charset="-122"/>
                <a:ea typeface="微软雅黑" pitchFamily="34" charset="-122"/>
              </a:rPr>
              <a:t>GPS </a:t>
            </a:r>
            <a:r>
              <a:rPr lang="zh-CN" altLang="en-US" sz="1600" dirty="0">
                <a:solidFill>
                  <a:schemeClr val="bg1"/>
                </a:solidFill>
                <a:latin typeface="微软雅黑" pitchFamily="34" charset="-122"/>
                <a:ea typeface="微软雅黑" pitchFamily="34" charset="-122"/>
              </a:rPr>
              <a:t>接收机接收到第二颗卫星的信号时，以第二颗卫星为球心，以第二个观测 距离为半径的球面也与地球表面相交为一个圆弧，上述两个圆弧在地球表面会有两个</a:t>
            </a:r>
            <a:r>
              <a:rPr lang="zh-CN" altLang="en-US" sz="1600" dirty="0" smtClean="0">
                <a:solidFill>
                  <a:schemeClr val="bg1"/>
                </a:solidFill>
                <a:latin typeface="微软雅黑" pitchFamily="34" charset="-122"/>
                <a:ea typeface="微软雅黑" pitchFamily="34" charset="-122"/>
              </a:rPr>
              <a:t>交会点</a:t>
            </a:r>
            <a:r>
              <a:rPr lang="zh-CN" altLang="en-US" sz="1600" dirty="0">
                <a:solidFill>
                  <a:schemeClr val="bg1"/>
                </a:solidFill>
                <a:latin typeface="微软雅黑" pitchFamily="34" charset="-122"/>
                <a:ea typeface="微软雅黑" pitchFamily="34" charset="-122"/>
              </a:rPr>
              <a:t>，但是还不能确定出用户唯一的</a:t>
            </a:r>
            <a:r>
              <a:rPr lang="zh-CN" altLang="en-US" sz="1600" dirty="0" smtClean="0">
                <a:solidFill>
                  <a:schemeClr val="bg1"/>
                </a:solidFill>
                <a:latin typeface="微软雅黑" pitchFamily="34" charset="-122"/>
                <a:ea typeface="微软雅黑" pitchFamily="34" charset="-122"/>
              </a:rPr>
              <a:t>位置。</a:t>
            </a:r>
            <a:endParaRPr lang="zh-CN" altLang="en-US" sz="1600" dirty="0">
              <a:solidFill>
                <a:schemeClr val="bg1"/>
              </a:solidFill>
              <a:latin typeface="微软雅黑" pitchFamily="34" charset="-122"/>
              <a:ea typeface="微软雅黑" pitchFamily="34" charset="-122"/>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a:xfrm>
            <a:off x="107504" y="4840397"/>
            <a:ext cx="2133600" cy="273844"/>
          </a:xfrm>
        </p:spPr>
        <p:txBody>
          <a:bodyPr/>
          <a:lstStyle/>
          <a:p>
            <a:pPr algn="l"/>
            <a:fld id="{0C913308-F349-4B6D-A68A-DD1791B4A57B}" type="slidenum">
              <a:rPr lang="zh-CN" altLang="en-US" smtClean="0"/>
              <a:t>11</a:t>
            </a:fld>
            <a:endParaRPr lang="zh-CN" altLang="en-US" dirty="0"/>
          </a:p>
        </p:txBody>
      </p:sp>
      <p:sp>
        <p:nvSpPr>
          <p:cNvPr id="3" name="矩形 2"/>
          <p:cNvSpPr/>
          <p:nvPr/>
        </p:nvSpPr>
        <p:spPr>
          <a:xfrm>
            <a:off x="945040" y="1099840"/>
            <a:ext cx="2978888" cy="400110"/>
          </a:xfrm>
          <a:prstGeom prst="rect">
            <a:avLst/>
          </a:prstGeom>
          <a:solidFill>
            <a:schemeClr val="accent1"/>
          </a:solidFill>
        </p:spPr>
        <p:txBody>
          <a:bodyPr wrap="square">
            <a:spAutoFit/>
          </a:bodyPr>
          <a:lstStyle/>
          <a:p>
            <a:pPr algn="l" fontAlgn="ctr"/>
            <a:r>
              <a:rPr sz="2000" b="1" dirty="0" smtClean="0">
                <a:solidFill>
                  <a:schemeClr val="bg1"/>
                </a:solidFill>
                <a:latin typeface="微软雅黑" panose="020B0503020204020204" pitchFamily="34" charset="-122"/>
                <a:ea typeface="微软雅黑" panose="020B0503020204020204" pitchFamily="34" charset="-122"/>
              </a:rPr>
              <a:t>1.全球定位系统（GPS</a:t>
            </a:r>
            <a:r>
              <a:rPr sz="2000" b="1" dirty="0" smtClean="0">
                <a:solidFill>
                  <a:schemeClr val="bg1"/>
                </a:solidFill>
                <a:latin typeface="微软雅黑" panose="020B0503020204020204" pitchFamily="34" charset="-122"/>
                <a:ea typeface="微软雅黑" panose="020B0503020204020204" pitchFamily="34" charset="-122"/>
              </a:rPr>
              <a:t>）</a:t>
            </a:r>
            <a:endParaRPr sz="2000" b="1" dirty="0" smtClean="0">
              <a:solidFill>
                <a:schemeClr val="bg1"/>
              </a:solidFill>
              <a:latin typeface="微软雅黑" panose="020B0503020204020204" pitchFamily="34" charset="-122"/>
              <a:ea typeface="微软雅黑" panose="020B0503020204020204" pitchFamily="34" charset="-122"/>
            </a:endParaRPr>
          </a:p>
        </p:txBody>
      </p:sp>
      <p:sp>
        <p:nvSpPr>
          <p:cNvPr id="9" name="Text Box 8"/>
          <p:cNvSpPr>
            <a:spLocks noChangeArrowheads="1"/>
          </p:cNvSpPr>
          <p:nvPr/>
        </p:nvSpPr>
        <p:spPr bwMode="auto">
          <a:xfrm>
            <a:off x="971600" y="339502"/>
            <a:ext cx="7573236" cy="583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9pPr>
          </a:lstStyle>
          <a:p>
            <a:pPr algn="ctr" eaLnBrk="1" hangingPunct="1">
              <a:spcBef>
                <a:spcPct val="0"/>
              </a:spcBef>
              <a:buFont typeface="Arial" panose="020B0604020202020204" pitchFamily="34" charset="0"/>
              <a:buNone/>
            </a:pPr>
            <a:r>
              <a:rPr lang="zh-CN" altLang="en-US" sz="3200" b="1" dirty="0" smtClean="0">
                <a:solidFill>
                  <a:schemeClr val="accent1"/>
                </a:solidFill>
                <a:latin typeface="微软雅黑" panose="020B0503020204020204" pitchFamily="34" charset="-122"/>
                <a:sym typeface="+mn-ea"/>
              </a:rPr>
              <a:t>智能网联汽车上应用了哪些导航定位系统？</a:t>
            </a:r>
          </a:p>
        </p:txBody>
      </p:sp>
      <p:sp>
        <p:nvSpPr>
          <p:cNvPr id="10" name="矩形 9"/>
          <p:cNvSpPr/>
          <p:nvPr/>
        </p:nvSpPr>
        <p:spPr>
          <a:xfrm>
            <a:off x="4078808" y="1130618"/>
            <a:ext cx="2162772" cy="338554"/>
          </a:xfrm>
          <a:prstGeom prst="rect">
            <a:avLst/>
          </a:prstGeom>
          <a:solidFill>
            <a:schemeClr val="accent1"/>
          </a:solidFill>
        </p:spPr>
        <p:txBody>
          <a:bodyPr wrap="none">
            <a:spAutoFit/>
          </a:bodyPr>
          <a:lstStyle/>
          <a:p>
            <a:r>
              <a:rPr lang="zh-CN" altLang="en-US" sz="1600" b="1" dirty="0" smtClean="0">
                <a:solidFill>
                  <a:schemeClr val="bg1"/>
                </a:solidFill>
                <a:latin typeface="微软雅黑" pitchFamily="34" charset="-122"/>
                <a:ea typeface="微软雅黑" pitchFamily="34" charset="-122"/>
              </a:rPr>
              <a:t>（</a:t>
            </a:r>
            <a:r>
              <a:rPr lang="en-US" altLang="zh-CN" sz="1600" b="1" dirty="0" smtClean="0">
                <a:solidFill>
                  <a:schemeClr val="bg1"/>
                </a:solidFill>
                <a:latin typeface="微软雅黑" pitchFamily="34" charset="-122"/>
                <a:ea typeface="微软雅黑" pitchFamily="34" charset="-122"/>
              </a:rPr>
              <a:t>2</a:t>
            </a:r>
            <a:r>
              <a:rPr lang="zh-CN" altLang="en-US" sz="1600" b="1" dirty="0" smtClean="0">
                <a:solidFill>
                  <a:schemeClr val="bg1"/>
                </a:solidFill>
                <a:latin typeface="微软雅黑" pitchFamily="34" charset="-122"/>
                <a:ea typeface="微软雅黑" pitchFamily="34" charset="-122"/>
              </a:rPr>
              <a:t>）</a:t>
            </a:r>
            <a:r>
              <a:rPr lang="en-US" altLang="zh-CN" sz="1600" b="1" dirty="0" smtClean="0">
                <a:solidFill>
                  <a:schemeClr val="bg1"/>
                </a:solidFill>
                <a:latin typeface="微软雅黑" pitchFamily="34" charset="-122"/>
                <a:ea typeface="微软雅黑" pitchFamily="34" charset="-122"/>
              </a:rPr>
              <a:t>GPS</a:t>
            </a:r>
            <a:r>
              <a:rPr lang="zh-CN" altLang="en-US" sz="1600" b="1" dirty="0" smtClean="0">
                <a:solidFill>
                  <a:schemeClr val="bg1"/>
                </a:solidFill>
                <a:latin typeface="微软雅黑" pitchFamily="34" charset="-122"/>
                <a:ea typeface="微软雅黑" pitchFamily="34" charset="-122"/>
              </a:rPr>
              <a:t>的工作原理</a:t>
            </a:r>
            <a:endParaRPr lang="zh-CN" altLang="en-US" sz="1600" b="1" dirty="0">
              <a:solidFill>
                <a:schemeClr val="bg1"/>
              </a:solidFill>
              <a:latin typeface="微软雅黑" pitchFamily="34" charset="-122"/>
              <a:ea typeface="微软雅黑" pitchFamily="34" charset="-122"/>
            </a:endParaRPr>
          </a:p>
        </p:txBody>
      </p:sp>
      <p:sp>
        <p:nvSpPr>
          <p:cNvPr id="5" name="矩形 4"/>
          <p:cNvSpPr/>
          <p:nvPr/>
        </p:nvSpPr>
        <p:spPr>
          <a:xfrm>
            <a:off x="945040" y="1533311"/>
            <a:ext cx="3987000" cy="1495922"/>
          </a:xfrm>
          <a:prstGeom prst="rect">
            <a:avLst/>
          </a:prstGeom>
          <a:solidFill>
            <a:schemeClr val="accent1"/>
          </a:solidFill>
        </p:spPr>
        <p:txBody>
          <a:bodyPr wrap="square">
            <a:spAutoFit/>
          </a:bodyPr>
          <a:lstStyle/>
          <a:p>
            <a:pPr>
              <a:lnSpc>
                <a:spcPct val="114000"/>
              </a:lnSpc>
            </a:pPr>
            <a:r>
              <a:rPr lang="zh-CN" altLang="en-US" sz="1600" dirty="0" smtClean="0">
                <a:solidFill>
                  <a:schemeClr val="bg1"/>
                </a:solidFill>
                <a:latin typeface="微软雅黑" pitchFamily="34" charset="-122"/>
                <a:ea typeface="微软雅黑" pitchFamily="34" charset="-122"/>
              </a:rPr>
              <a:t>③</a:t>
            </a:r>
            <a:r>
              <a:rPr lang="zh-CN" altLang="en-US" sz="1600" dirty="0">
                <a:solidFill>
                  <a:schemeClr val="bg1"/>
                </a:solidFill>
                <a:latin typeface="微软雅黑" pitchFamily="34" charset="-122"/>
                <a:ea typeface="微软雅黑" pitchFamily="34" charset="-122"/>
              </a:rPr>
              <a:t>当 </a:t>
            </a:r>
            <a:r>
              <a:rPr lang="en-US" altLang="zh-CN" sz="1600" dirty="0">
                <a:solidFill>
                  <a:schemeClr val="bg1"/>
                </a:solidFill>
                <a:latin typeface="微软雅黑" pitchFamily="34" charset="-122"/>
                <a:ea typeface="微软雅黑" pitchFamily="34" charset="-122"/>
              </a:rPr>
              <a:t>GPS </a:t>
            </a:r>
            <a:r>
              <a:rPr lang="zh-CN" altLang="en-US" sz="1600" dirty="0">
                <a:solidFill>
                  <a:schemeClr val="bg1"/>
                </a:solidFill>
                <a:latin typeface="微软雅黑" pitchFamily="34" charset="-122"/>
                <a:ea typeface="微软雅黑" pitchFamily="34" charset="-122"/>
              </a:rPr>
              <a:t>接收机接收到第三颗卫星的信号时，以第三颗卫星为球心，以第三个</a:t>
            </a:r>
            <a:r>
              <a:rPr lang="zh-CN" altLang="en-US" sz="1600" dirty="0" smtClean="0">
                <a:solidFill>
                  <a:schemeClr val="bg1"/>
                </a:solidFill>
                <a:latin typeface="微软雅黑" pitchFamily="34" charset="-122"/>
                <a:ea typeface="微软雅黑" pitchFamily="34" charset="-122"/>
              </a:rPr>
              <a:t>观测距离</a:t>
            </a:r>
            <a:r>
              <a:rPr lang="zh-CN" altLang="en-US" sz="1600" dirty="0">
                <a:solidFill>
                  <a:schemeClr val="bg1"/>
                </a:solidFill>
                <a:latin typeface="微软雅黑" pitchFamily="34" charset="-122"/>
                <a:ea typeface="微软雅黑" pitchFamily="34" charset="-122"/>
              </a:rPr>
              <a:t>为半径的球面也与地球表面相交为一个圆弧，上述三个弧在地球表面相交于一点，</a:t>
            </a:r>
            <a:r>
              <a:rPr lang="zh-CN" altLang="en-US" sz="1600" dirty="0" smtClean="0">
                <a:solidFill>
                  <a:schemeClr val="bg1"/>
                </a:solidFill>
                <a:latin typeface="微软雅黑" pitchFamily="34" charset="-122"/>
                <a:ea typeface="微软雅黑" pitchFamily="34" charset="-122"/>
              </a:rPr>
              <a:t>该点</a:t>
            </a:r>
            <a:r>
              <a:rPr lang="zh-CN" altLang="en-US" sz="1600" dirty="0">
                <a:solidFill>
                  <a:schemeClr val="bg1"/>
                </a:solidFill>
                <a:latin typeface="微软雅黑" pitchFamily="34" charset="-122"/>
                <a:ea typeface="微软雅黑" pitchFamily="34" charset="-122"/>
              </a:rPr>
              <a:t>即 </a:t>
            </a:r>
            <a:r>
              <a:rPr lang="en-US" altLang="zh-CN" sz="1600" dirty="0">
                <a:solidFill>
                  <a:schemeClr val="bg1"/>
                </a:solidFill>
                <a:latin typeface="微软雅黑" pitchFamily="34" charset="-122"/>
                <a:ea typeface="微软雅黑" pitchFamily="34" charset="-122"/>
              </a:rPr>
              <a:t>GPS </a:t>
            </a:r>
            <a:r>
              <a:rPr lang="zh-CN" altLang="en-US" sz="1600" dirty="0">
                <a:solidFill>
                  <a:schemeClr val="bg1"/>
                </a:solidFill>
                <a:latin typeface="微软雅黑" pitchFamily="34" charset="-122"/>
                <a:ea typeface="微软雅黑" pitchFamily="34" charset="-122"/>
              </a:rPr>
              <a:t>用户所在的位置。 </a:t>
            </a:r>
          </a:p>
        </p:txBody>
      </p:sp>
      <p:pic>
        <p:nvPicPr>
          <p:cNvPr id="8" name="图片 7"/>
          <p:cNvPicPr>
            <a:picLocks noChangeAspect="1"/>
          </p:cNvPicPr>
          <p:nvPr/>
        </p:nvPicPr>
        <p:blipFill>
          <a:blip r:embed="rId3"/>
          <a:stretch>
            <a:fillRect/>
          </a:stretch>
        </p:blipFill>
        <p:spPr>
          <a:xfrm>
            <a:off x="5117924" y="1533311"/>
            <a:ext cx="3151736" cy="2829450"/>
          </a:xfrm>
          <a:prstGeom prst="rect">
            <a:avLst/>
          </a:prstGeom>
          <a:ln>
            <a:solidFill>
              <a:schemeClr val="accent1"/>
            </a:solidFill>
          </a:ln>
        </p:spPr>
      </p:pic>
      <p:sp>
        <p:nvSpPr>
          <p:cNvPr id="4" name="矩形 3"/>
          <p:cNvSpPr/>
          <p:nvPr/>
        </p:nvSpPr>
        <p:spPr>
          <a:xfrm>
            <a:off x="943961" y="3075806"/>
            <a:ext cx="3987000" cy="1811393"/>
          </a:xfrm>
          <a:prstGeom prst="rect">
            <a:avLst/>
          </a:prstGeom>
          <a:solidFill>
            <a:schemeClr val="accent1"/>
          </a:solidFill>
        </p:spPr>
        <p:txBody>
          <a:bodyPr wrap="square">
            <a:spAutoFit/>
          </a:bodyPr>
          <a:lstStyle/>
          <a:p>
            <a:pPr>
              <a:lnSpc>
                <a:spcPct val="114000"/>
              </a:lnSpc>
            </a:pPr>
            <a:r>
              <a:rPr lang="zh-CN" altLang="en-US" sz="1400" dirty="0">
                <a:solidFill>
                  <a:schemeClr val="bg1"/>
                </a:solidFill>
                <a:latin typeface="微软雅黑" pitchFamily="34" charset="-122"/>
                <a:ea typeface="微软雅黑" pitchFamily="34" charset="-122"/>
              </a:rPr>
              <a:t>如果没有时钟误差，用户 </a:t>
            </a:r>
            <a:r>
              <a:rPr lang="en-US" altLang="zh-CN" sz="1400" dirty="0">
                <a:solidFill>
                  <a:schemeClr val="bg1"/>
                </a:solidFill>
                <a:latin typeface="微软雅黑" pitchFamily="34" charset="-122"/>
                <a:ea typeface="微软雅黑" pitchFamily="34" charset="-122"/>
              </a:rPr>
              <a:t>GPS </a:t>
            </a:r>
            <a:r>
              <a:rPr lang="zh-CN" altLang="en-US" sz="1400" dirty="0">
                <a:solidFill>
                  <a:schemeClr val="bg1"/>
                </a:solidFill>
                <a:latin typeface="微软雅黑" pitchFamily="34" charset="-122"/>
                <a:ea typeface="微软雅黑" pitchFamily="34" charset="-122"/>
              </a:rPr>
              <a:t>接收机只要利用接收到的 </a:t>
            </a:r>
            <a:r>
              <a:rPr lang="en-US" altLang="zh-CN" sz="1400" dirty="0">
                <a:solidFill>
                  <a:schemeClr val="bg1"/>
                </a:solidFill>
                <a:latin typeface="微软雅黑" pitchFamily="34" charset="-122"/>
                <a:ea typeface="微软雅黑" pitchFamily="34" charset="-122"/>
              </a:rPr>
              <a:t>3 </a:t>
            </a:r>
            <a:r>
              <a:rPr lang="zh-CN" altLang="en-US" sz="1400" dirty="0">
                <a:solidFill>
                  <a:schemeClr val="bg1"/>
                </a:solidFill>
                <a:latin typeface="微软雅黑" pitchFamily="34" charset="-122"/>
                <a:ea typeface="微软雅黑" pitchFamily="34" charset="-122"/>
              </a:rPr>
              <a:t>颗卫星的距离观测值，</a:t>
            </a:r>
            <a:r>
              <a:rPr lang="zh-CN" altLang="en-US" sz="1400" dirty="0" smtClean="0">
                <a:solidFill>
                  <a:schemeClr val="bg1"/>
                </a:solidFill>
                <a:latin typeface="微软雅黑" pitchFamily="34" charset="-122"/>
                <a:ea typeface="微软雅黑" pitchFamily="34" charset="-122"/>
              </a:rPr>
              <a:t>就可以</a:t>
            </a:r>
            <a:r>
              <a:rPr lang="zh-CN" altLang="en-US" sz="1400" dirty="0">
                <a:solidFill>
                  <a:schemeClr val="bg1"/>
                </a:solidFill>
                <a:latin typeface="微软雅黑" pitchFamily="34" charset="-122"/>
                <a:ea typeface="微软雅黑" pitchFamily="34" charset="-122"/>
              </a:rPr>
              <a:t>确定出用户所在的唯一位置。但由于 </a:t>
            </a:r>
            <a:r>
              <a:rPr lang="en-US" altLang="zh-CN" sz="1400" dirty="0">
                <a:solidFill>
                  <a:schemeClr val="bg1"/>
                </a:solidFill>
                <a:latin typeface="微软雅黑" pitchFamily="34" charset="-122"/>
                <a:ea typeface="微软雅黑" pitchFamily="34" charset="-122"/>
              </a:rPr>
              <a:t>GPS </a:t>
            </a:r>
            <a:r>
              <a:rPr lang="zh-CN" altLang="en-US" sz="1400" dirty="0">
                <a:solidFill>
                  <a:schemeClr val="bg1"/>
                </a:solidFill>
                <a:latin typeface="微软雅黑" pitchFamily="34" charset="-122"/>
                <a:ea typeface="微软雅黑" pitchFamily="34" charset="-122"/>
              </a:rPr>
              <a:t>接收机的时钟有误差，从而会使测得的</a:t>
            </a:r>
            <a:r>
              <a:rPr lang="zh-CN" altLang="en-US" sz="1400" dirty="0" smtClean="0">
                <a:solidFill>
                  <a:schemeClr val="bg1"/>
                </a:solidFill>
                <a:latin typeface="微软雅黑" pitchFamily="34" charset="-122"/>
                <a:ea typeface="微软雅黑" pitchFamily="34" charset="-122"/>
              </a:rPr>
              <a:t>距离</a:t>
            </a:r>
            <a:r>
              <a:rPr lang="zh-CN" altLang="en-US" sz="1400" dirty="0">
                <a:solidFill>
                  <a:schemeClr val="bg1"/>
                </a:solidFill>
                <a:latin typeface="微软雅黑" pitchFamily="34" charset="-122"/>
                <a:ea typeface="微软雅黑" pitchFamily="34" charset="-122"/>
              </a:rPr>
              <a:t>含有误差，所以定位时要求 </a:t>
            </a:r>
            <a:r>
              <a:rPr lang="en-US" altLang="zh-CN" sz="1400" dirty="0">
                <a:solidFill>
                  <a:schemeClr val="bg1"/>
                </a:solidFill>
                <a:latin typeface="微软雅黑" pitchFamily="34" charset="-122"/>
                <a:ea typeface="微软雅黑" pitchFamily="34" charset="-122"/>
              </a:rPr>
              <a:t>GPS </a:t>
            </a:r>
            <a:r>
              <a:rPr lang="zh-CN" altLang="en-US" sz="1400" dirty="0">
                <a:solidFill>
                  <a:schemeClr val="bg1"/>
                </a:solidFill>
                <a:latin typeface="微软雅黑" pitchFamily="34" charset="-122"/>
                <a:ea typeface="微软雅黑" pitchFamily="34" charset="-122"/>
              </a:rPr>
              <a:t>接收机至少观测到 </a:t>
            </a:r>
            <a:r>
              <a:rPr lang="en-US" altLang="zh-CN" sz="1400" dirty="0">
                <a:solidFill>
                  <a:schemeClr val="bg1"/>
                </a:solidFill>
                <a:latin typeface="微软雅黑" pitchFamily="34" charset="-122"/>
                <a:ea typeface="微软雅黑" pitchFamily="34" charset="-122"/>
              </a:rPr>
              <a:t>4 </a:t>
            </a:r>
            <a:r>
              <a:rPr lang="zh-CN" altLang="en-US" sz="1400" dirty="0">
                <a:solidFill>
                  <a:schemeClr val="bg1"/>
                </a:solidFill>
                <a:latin typeface="微软雅黑" pitchFamily="34" charset="-122"/>
                <a:ea typeface="微软雅黑" pitchFamily="34" charset="-122"/>
              </a:rPr>
              <a:t>颗卫星的距离观测值才能同时</a:t>
            </a:r>
            <a:r>
              <a:rPr lang="zh-CN" altLang="en-US" sz="1400" dirty="0" smtClean="0">
                <a:solidFill>
                  <a:schemeClr val="bg1"/>
                </a:solidFill>
                <a:latin typeface="微软雅黑" pitchFamily="34" charset="-122"/>
                <a:ea typeface="微软雅黑" pitchFamily="34" charset="-122"/>
              </a:rPr>
              <a:t>确定</a:t>
            </a:r>
            <a:r>
              <a:rPr lang="zh-CN" altLang="en-US" sz="1400" dirty="0">
                <a:solidFill>
                  <a:schemeClr val="bg1"/>
                </a:solidFill>
                <a:latin typeface="微软雅黑" pitchFamily="34" charset="-122"/>
                <a:ea typeface="微软雅黑" pitchFamily="34" charset="-122"/>
              </a:rPr>
              <a:t>出用户所在空间位置及接收机时钟差</a:t>
            </a:r>
            <a:r>
              <a:rPr lang="zh-CN" altLang="en-US" sz="1400" dirty="0" smtClean="0">
                <a:solidFill>
                  <a:schemeClr val="bg1"/>
                </a:solidFill>
                <a:latin typeface="微软雅黑" pitchFamily="34" charset="-122"/>
                <a:ea typeface="微软雅黑" pitchFamily="34" charset="-122"/>
              </a:rPr>
              <a:t>。</a:t>
            </a:r>
            <a:endParaRPr lang="zh-CN" altLang="en-US" sz="1400" dirty="0">
              <a:solidFill>
                <a:schemeClr val="bg1"/>
              </a:solidFill>
              <a:latin typeface="微软雅黑" pitchFamily="34" charset="-122"/>
              <a:ea typeface="微软雅黑" pitchFamily="34" charset="-122"/>
            </a:endParaRPr>
          </a:p>
        </p:txBody>
      </p:sp>
    </p:spTree>
    <p:extLst>
      <p:ext uri="{BB962C8B-B14F-4D97-AF65-F5344CB8AC3E}">
        <p14:creationId xmlns:p14="http://schemas.microsoft.com/office/powerpoint/2010/main" val="228563292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a:xfrm>
            <a:off x="107504" y="4840397"/>
            <a:ext cx="2133600" cy="273844"/>
          </a:xfrm>
        </p:spPr>
        <p:txBody>
          <a:bodyPr/>
          <a:lstStyle/>
          <a:p>
            <a:pPr algn="l"/>
            <a:fld id="{0C913308-F349-4B6D-A68A-DD1791B4A57B}" type="slidenum">
              <a:rPr lang="zh-CN" altLang="en-US" smtClean="0"/>
              <a:t>12</a:t>
            </a:fld>
            <a:endParaRPr lang="zh-CN" altLang="en-US" dirty="0"/>
          </a:p>
        </p:txBody>
      </p:sp>
      <p:sp>
        <p:nvSpPr>
          <p:cNvPr id="7" name="矩形 6"/>
          <p:cNvSpPr/>
          <p:nvPr/>
        </p:nvSpPr>
        <p:spPr>
          <a:xfrm>
            <a:off x="945040" y="1099840"/>
            <a:ext cx="2978888" cy="400110"/>
          </a:xfrm>
          <a:prstGeom prst="rect">
            <a:avLst/>
          </a:prstGeom>
          <a:solidFill>
            <a:schemeClr val="accent1"/>
          </a:solidFill>
        </p:spPr>
        <p:txBody>
          <a:bodyPr wrap="square">
            <a:spAutoFit/>
          </a:bodyPr>
          <a:lstStyle/>
          <a:p>
            <a:pPr algn="l" fontAlgn="ctr"/>
            <a:r>
              <a:rPr sz="2000" b="1" dirty="0" smtClean="0">
                <a:solidFill>
                  <a:schemeClr val="bg1"/>
                </a:solidFill>
                <a:latin typeface="微软雅黑" panose="020B0503020204020204" pitchFamily="34" charset="-122"/>
                <a:ea typeface="微软雅黑" panose="020B0503020204020204" pitchFamily="34" charset="-122"/>
              </a:rPr>
              <a:t>1.全球定位系统（GPS</a:t>
            </a:r>
            <a:r>
              <a:rPr sz="2000" b="1" dirty="0" smtClean="0">
                <a:solidFill>
                  <a:schemeClr val="bg1"/>
                </a:solidFill>
                <a:latin typeface="微软雅黑" panose="020B0503020204020204" pitchFamily="34" charset="-122"/>
                <a:ea typeface="微软雅黑" panose="020B0503020204020204" pitchFamily="34" charset="-122"/>
              </a:rPr>
              <a:t>）</a:t>
            </a:r>
            <a:endParaRPr sz="2000" b="1" dirty="0" smtClean="0">
              <a:solidFill>
                <a:schemeClr val="bg1"/>
              </a:solidFill>
              <a:latin typeface="微软雅黑" panose="020B0503020204020204" pitchFamily="34" charset="-122"/>
              <a:ea typeface="微软雅黑" panose="020B0503020204020204" pitchFamily="34" charset="-122"/>
            </a:endParaRPr>
          </a:p>
        </p:txBody>
      </p:sp>
      <p:sp>
        <p:nvSpPr>
          <p:cNvPr id="9" name="Text Box 8"/>
          <p:cNvSpPr>
            <a:spLocks noChangeArrowheads="1"/>
          </p:cNvSpPr>
          <p:nvPr/>
        </p:nvSpPr>
        <p:spPr bwMode="auto">
          <a:xfrm>
            <a:off x="971600" y="339502"/>
            <a:ext cx="7573236" cy="583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9pPr>
          </a:lstStyle>
          <a:p>
            <a:pPr algn="ctr" eaLnBrk="1" hangingPunct="1">
              <a:spcBef>
                <a:spcPct val="0"/>
              </a:spcBef>
              <a:buFont typeface="Arial" panose="020B0604020202020204" pitchFamily="34" charset="0"/>
              <a:buNone/>
            </a:pPr>
            <a:r>
              <a:rPr lang="zh-CN" altLang="en-US" sz="3200" b="1" dirty="0" smtClean="0">
                <a:solidFill>
                  <a:schemeClr val="accent1"/>
                </a:solidFill>
                <a:latin typeface="微软雅黑" panose="020B0503020204020204" pitchFamily="34" charset="-122"/>
                <a:sym typeface="+mn-ea"/>
              </a:rPr>
              <a:t>智能网联汽车上应用了哪些导航定位系统？</a:t>
            </a:r>
          </a:p>
        </p:txBody>
      </p:sp>
      <p:sp>
        <p:nvSpPr>
          <p:cNvPr id="10" name="矩形 9"/>
          <p:cNvSpPr/>
          <p:nvPr/>
        </p:nvSpPr>
        <p:spPr>
          <a:xfrm>
            <a:off x="4078808" y="1130618"/>
            <a:ext cx="1752403" cy="338554"/>
          </a:xfrm>
          <a:prstGeom prst="rect">
            <a:avLst/>
          </a:prstGeom>
          <a:solidFill>
            <a:schemeClr val="accent1"/>
          </a:solidFill>
        </p:spPr>
        <p:txBody>
          <a:bodyPr wrap="none">
            <a:spAutoFit/>
          </a:bodyPr>
          <a:lstStyle/>
          <a:p>
            <a:r>
              <a:rPr lang="zh-CN" altLang="en-US" sz="1600" b="1" dirty="0" smtClean="0">
                <a:solidFill>
                  <a:schemeClr val="bg1"/>
                </a:solidFill>
                <a:latin typeface="微软雅黑" pitchFamily="34" charset="-122"/>
                <a:ea typeface="微软雅黑" pitchFamily="34" charset="-122"/>
              </a:rPr>
              <a:t>（</a:t>
            </a:r>
            <a:r>
              <a:rPr lang="en-US" altLang="zh-CN" sz="1600" b="1" dirty="0" smtClean="0">
                <a:solidFill>
                  <a:schemeClr val="bg1"/>
                </a:solidFill>
                <a:latin typeface="微软雅黑" pitchFamily="34" charset="-122"/>
                <a:ea typeface="微软雅黑" pitchFamily="34" charset="-122"/>
              </a:rPr>
              <a:t>3</a:t>
            </a:r>
            <a:r>
              <a:rPr lang="zh-CN" altLang="en-US" sz="1600" b="1" dirty="0" smtClean="0">
                <a:solidFill>
                  <a:schemeClr val="bg1"/>
                </a:solidFill>
                <a:latin typeface="微软雅黑" pitchFamily="34" charset="-122"/>
                <a:ea typeface="微软雅黑" pitchFamily="34" charset="-122"/>
              </a:rPr>
              <a:t>）</a:t>
            </a:r>
            <a:r>
              <a:rPr lang="en-US" altLang="zh-CN" sz="1600" b="1" dirty="0" smtClean="0">
                <a:solidFill>
                  <a:schemeClr val="bg1"/>
                </a:solidFill>
                <a:latin typeface="微软雅黑" pitchFamily="34" charset="-122"/>
                <a:ea typeface="微软雅黑" pitchFamily="34" charset="-122"/>
              </a:rPr>
              <a:t>GPS</a:t>
            </a:r>
            <a:r>
              <a:rPr lang="zh-CN" altLang="en-US" sz="1600" b="1" dirty="0" smtClean="0">
                <a:solidFill>
                  <a:schemeClr val="bg1"/>
                </a:solidFill>
                <a:latin typeface="微软雅黑" pitchFamily="34" charset="-122"/>
                <a:ea typeface="微软雅黑" pitchFamily="34" charset="-122"/>
              </a:rPr>
              <a:t>的</a:t>
            </a:r>
            <a:r>
              <a:rPr lang="zh-CN" altLang="en-US" sz="1600" b="1" dirty="0">
                <a:solidFill>
                  <a:schemeClr val="bg1"/>
                </a:solidFill>
                <a:latin typeface="微软雅黑" pitchFamily="34" charset="-122"/>
                <a:ea typeface="微软雅黑" pitchFamily="34" charset="-122"/>
              </a:rPr>
              <a:t>特点</a:t>
            </a:r>
          </a:p>
        </p:txBody>
      </p:sp>
      <p:sp>
        <p:nvSpPr>
          <p:cNvPr id="2" name="矩形 1"/>
          <p:cNvSpPr/>
          <p:nvPr/>
        </p:nvSpPr>
        <p:spPr>
          <a:xfrm>
            <a:off x="971600" y="1614508"/>
            <a:ext cx="7200800" cy="3180230"/>
          </a:xfrm>
          <a:prstGeom prst="rect">
            <a:avLst/>
          </a:prstGeom>
          <a:solidFill>
            <a:schemeClr val="accent1"/>
          </a:solidFill>
        </p:spPr>
        <p:txBody>
          <a:bodyPr wrap="square">
            <a:spAutoFit/>
          </a:bodyPr>
          <a:lstStyle/>
          <a:p>
            <a:pPr>
              <a:lnSpc>
                <a:spcPct val="114000"/>
              </a:lnSpc>
            </a:pPr>
            <a:r>
              <a:rPr lang="zh-CN" altLang="en-US" sz="1600" dirty="0">
                <a:solidFill>
                  <a:schemeClr val="bg1"/>
                </a:solidFill>
                <a:latin typeface="微软雅黑" pitchFamily="34" charset="-122"/>
                <a:ea typeface="微软雅黑" pitchFamily="34" charset="-122"/>
              </a:rPr>
              <a:t>①能够全球全天候定位</a:t>
            </a:r>
            <a:r>
              <a:rPr lang="zh-CN" altLang="en-US" sz="1600" dirty="0" smtClean="0">
                <a:solidFill>
                  <a:schemeClr val="bg1"/>
                </a:solidFill>
                <a:latin typeface="微软雅黑" pitchFamily="34" charset="-122"/>
                <a:ea typeface="微软雅黑" pitchFamily="34" charset="-122"/>
              </a:rPr>
              <a:t>。地球</a:t>
            </a:r>
            <a:r>
              <a:rPr lang="zh-CN" altLang="en-US" sz="1600" dirty="0">
                <a:solidFill>
                  <a:schemeClr val="bg1"/>
                </a:solidFill>
                <a:latin typeface="微软雅黑" pitchFamily="34" charset="-122"/>
                <a:ea typeface="微软雅黑" pitchFamily="34" charset="-122"/>
              </a:rPr>
              <a:t>上</a:t>
            </a:r>
            <a:r>
              <a:rPr lang="zh-CN" altLang="en-US" sz="1600" dirty="0" smtClean="0">
                <a:solidFill>
                  <a:schemeClr val="bg1"/>
                </a:solidFill>
                <a:latin typeface="微软雅黑" pitchFamily="34" charset="-122"/>
                <a:ea typeface="微软雅黑" pitchFamily="34" charset="-122"/>
              </a:rPr>
              <a:t>任何</a:t>
            </a:r>
            <a:r>
              <a:rPr lang="zh-CN" altLang="en-US" sz="1600" dirty="0">
                <a:solidFill>
                  <a:schemeClr val="bg1"/>
                </a:solidFill>
                <a:latin typeface="微软雅黑" pitchFamily="34" charset="-122"/>
                <a:ea typeface="微软雅黑" pitchFamily="34" charset="-122"/>
              </a:rPr>
              <a:t>地方、任何时间至少可以同时观测</a:t>
            </a:r>
            <a:r>
              <a:rPr lang="zh-CN" altLang="en-US" sz="1600" dirty="0" smtClean="0">
                <a:solidFill>
                  <a:schemeClr val="bg1"/>
                </a:solidFill>
                <a:latin typeface="微软雅黑" pitchFamily="34" charset="-122"/>
                <a:ea typeface="微软雅黑" pitchFamily="34" charset="-122"/>
              </a:rPr>
              <a:t>到 </a:t>
            </a:r>
            <a:r>
              <a:rPr lang="en-US" altLang="zh-CN" sz="1600" dirty="0" smtClean="0">
                <a:solidFill>
                  <a:schemeClr val="bg1"/>
                </a:solidFill>
                <a:latin typeface="微软雅黑" pitchFamily="34" charset="-122"/>
                <a:ea typeface="微软雅黑" pitchFamily="34" charset="-122"/>
              </a:rPr>
              <a:t>4 </a:t>
            </a:r>
            <a:r>
              <a:rPr lang="zh-CN" altLang="en-US" sz="1600" dirty="0">
                <a:solidFill>
                  <a:schemeClr val="bg1"/>
                </a:solidFill>
                <a:latin typeface="微软雅黑" pitchFamily="34" charset="-122"/>
                <a:ea typeface="微软雅黑" pitchFamily="34" charset="-122"/>
              </a:rPr>
              <a:t>颗 </a:t>
            </a:r>
            <a:r>
              <a:rPr lang="en-US" altLang="zh-CN" sz="1600" dirty="0">
                <a:solidFill>
                  <a:schemeClr val="bg1"/>
                </a:solidFill>
                <a:latin typeface="微软雅黑" pitchFamily="34" charset="-122"/>
                <a:ea typeface="微软雅黑" pitchFamily="34" charset="-122"/>
              </a:rPr>
              <a:t>GPS </a:t>
            </a:r>
            <a:r>
              <a:rPr lang="zh-CN" altLang="en-US" sz="1600" dirty="0">
                <a:solidFill>
                  <a:schemeClr val="bg1"/>
                </a:solidFill>
                <a:latin typeface="微软雅黑" pitchFamily="34" charset="-122"/>
                <a:ea typeface="微软雅黑" pitchFamily="34" charset="-122"/>
              </a:rPr>
              <a:t>卫星，确保实现全球全天候连续的</a:t>
            </a:r>
            <a:r>
              <a:rPr lang="zh-CN" altLang="en-US" sz="1600" dirty="0" smtClean="0">
                <a:solidFill>
                  <a:schemeClr val="bg1"/>
                </a:solidFill>
                <a:latin typeface="微软雅黑" pitchFamily="34" charset="-122"/>
                <a:ea typeface="微软雅黑" pitchFamily="34" charset="-122"/>
              </a:rPr>
              <a:t>导航定位</a:t>
            </a:r>
            <a:r>
              <a:rPr lang="zh-CN" altLang="en-US" sz="1600" dirty="0">
                <a:solidFill>
                  <a:schemeClr val="bg1"/>
                </a:solidFill>
                <a:latin typeface="微软雅黑" pitchFamily="34" charset="-122"/>
                <a:ea typeface="微软雅黑" pitchFamily="34" charset="-122"/>
              </a:rPr>
              <a:t>服务</a:t>
            </a:r>
            <a:r>
              <a:rPr lang="zh-CN" altLang="en-US" sz="1600" dirty="0" smtClean="0">
                <a:solidFill>
                  <a:schemeClr val="bg1"/>
                </a:solidFill>
                <a:latin typeface="微软雅黑" pitchFamily="34" charset="-122"/>
                <a:ea typeface="微软雅黑" pitchFamily="34" charset="-122"/>
              </a:rPr>
              <a:t>。</a:t>
            </a:r>
            <a:endParaRPr lang="en-US" altLang="zh-CN" sz="1600" dirty="0" smtClean="0">
              <a:solidFill>
                <a:schemeClr val="bg1"/>
              </a:solidFill>
              <a:latin typeface="微软雅黑" pitchFamily="34" charset="-122"/>
              <a:ea typeface="微软雅黑" pitchFamily="34" charset="-122"/>
            </a:endParaRPr>
          </a:p>
          <a:p>
            <a:pPr>
              <a:lnSpc>
                <a:spcPct val="114000"/>
              </a:lnSpc>
            </a:pPr>
            <a:r>
              <a:rPr lang="zh-CN" altLang="en-US" sz="1600" dirty="0" smtClean="0">
                <a:solidFill>
                  <a:schemeClr val="bg1"/>
                </a:solidFill>
                <a:latin typeface="微软雅黑" pitchFamily="34" charset="-122"/>
                <a:ea typeface="微软雅黑" pitchFamily="34" charset="-122"/>
              </a:rPr>
              <a:t>②</a:t>
            </a:r>
            <a:r>
              <a:rPr lang="zh-CN" altLang="en-US" sz="1600" dirty="0">
                <a:solidFill>
                  <a:schemeClr val="bg1"/>
                </a:solidFill>
                <a:latin typeface="微软雅黑" pitchFamily="34" charset="-122"/>
                <a:ea typeface="微软雅黑" pitchFamily="34" charset="-122"/>
              </a:rPr>
              <a:t>覆盖范围广。能够覆盖全球 </a:t>
            </a:r>
            <a:r>
              <a:rPr lang="en-US" altLang="zh-CN" sz="1600" dirty="0">
                <a:solidFill>
                  <a:schemeClr val="bg1"/>
                </a:solidFill>
                <a:latin typeface="微软雅黑" pitchFamily="34" charset="-122"/>
                <a:ea typeface="微软雅黑" pitchFamily="34" charset="-122"/>
              </a:rPr>
              <a:t>98% </a:t>
            </a:r>
            <a:r>
              <a:rPr lang="zh-CN" altLang="en-US" sz="1600" dirty="0">
                <a:solidFill>
                  <a:schemeClr val="bg1"/>
                </a:solidFill>
                <a:latin typeface="微软雅黑" pitchFamily="34" charset="-122"/>
                <a:ea typeface="微软雅黑" pitchFamily="34" charset="-122"/>
              </a:rPr>
              <a:t>的</a:t>
            </a:r>
            <a:r>
              <a:rPr lang="zh-CN" altLang="en-US" sz="1600" dirty="0" smtClean="0">
                <a:solidFill>
                  <a:schemeClr val="bg1"/>
                </a:solidFill>
                <a:latin typeface="微软雅黑" pitchFamily="34" charset="-122"/>
                <a:ea typeface="微软雅黑" pitchFamily="34" charset="-122"/>
              </a:rPr>
              <a:t>范围。 </a:t>
            </a:r>
            <a:endParaRPr lang="en-US" altLang="zh-CN" sz="1600" dirty="0" smtClean="0">
              <a:solidFill>
                <a:schemeClr val="bg1"/>
              </a:solidFill>
              <a:latin typeface="微软雅黑" pitchFamily="34" charset="-122"/>
              <a:ea typeface="微软雅黑" pitchFamily="34" charset="-122"/>
            </a:endParaRPr>
          </a:p>
          <a:p>
            <a:pPr>
              <a:lnSpc>
                <a:spcPct val="114000"/>
              </a:lnSpc>
            </a:pPr>
            <a:r>
              <a:rPr lang="zh-CN" altLang="en-US" sz="1600" dirty="0" smtClean="0">
                <a:solidFill>
                  <a:schemeClr val="bg1"/>
                </a:solidFill>
                <a:latin typeface="微软雅黑" pitchFamily="34" charset="-122"/>
                <a:ea typeface="微软雅黑" pitchFamily="34" charset="-122"/>
              </a:rPr>
              <a:t>③</a:t>
            </a:r>
            <a:r>
              <a:rPr lang="zh-CN" altLang="en-US" sz="1600" dirty="0">
                <a:solidFill>
                  <a:schemeClr val="bg1"/>
                </a:solidFill>
                <a:latin typeface="微软雅黑" pitchFamily="34" charset="-122"/>
                <a:ea typeface="微软雅黑" pitchFamily="34" charset="-122"/>
              </a:rPr>
              <a:t>定位精度高。</a:t>
            </a:r>
            <a:r>
              <a:rPr lang="en-US" altLang="zh-CN" sz="1600" dirty="0">
                <a:solidFill>
                  <a:schemeClr val="bg1"/>
                </a:solidFill>
                <a:latin typeface="微软雅黑" pitchFamily="34" charset="-122"/>
                <a:ea typeface="微软雅黑" pitchFamily="34" charset="-122"/>
              </a:rPr>
              <a:t>GPS </a:t>
            </a:r>
            <a:r>
              <a:rPr lang="zh-CN" altLang="en-US" sz="1600" dirty="0">
                <a:solidFill>
                  <a:schemeClr val="bg1"/>
                </a:solidFill>
                <a:latin typeface="微软雅黑" pitchFamily="34" charset="-122"/>
                <a:ea typeface="微软雅黑" pitchFamily="34" charset="-122"/>
              </a:rPr>
              <a:t>相对定位精度在 </a:t>
            </a:r>
            <a:r>
              <a:rPr lang="en-US" altLang="zh-CN" sz="1600" dirty="0">
                <a:solidFill>
                  <a:schemeClr val="bg1"/>
                </a:solidFill>
                <a:latin typeface="微软雅黑" pitchFamily="34" charset="-122"/>
                <a:ea typeface="微软雅黑" pitchFamily="34" charset="-122"/>
              </a:rPr>
              <a:t>50km </a:t>
            </a:r>
            <a:r>
              <a:rPr lang="zh-CN" altLang="en-US" sz="1600" dirty="0">
                <a:solidFill>
                  <a:schemeClr val="bg1"/>
                </a:solidFill>
                <a:latin typeface="微软雅黑" pitchFamily="34" charset="-122"/>
                <a:ea typeface="微软雅黑" pitchFamily="34" charset="-122"/>
              </a:rPr>
              <a:t>以内可达 </a:t>
            </a:r>
            <a:r>
              <a:rPr lang="en-US" altLang="zh-CN" sz="1600" dirty="0">
                <a:solidFill>
                  <a:schemeClr val="bg1"/>
                </a:solidFill>
                <a:latin typeface="微软雅黑" pitchFamily="34" charset="-122"/>
                <a:ea typeface="微软雅黑" pitchFamily="34" charset="-122"/>
              </a:rPr>
              <a:t>6~10m</a:t>
            </a:r>
            <a:r>
              <a:rPr lang="zh-CN" altLang="en-US" sz="1600" dirty="0">
                <a:solidFill>
                  <a:schemeClr val="bg1"/>
                </a:solidFill>
                <a:latin typeface="微软雅黑" pitchFamily="34" charset="-122"/>
                <a:ea typeface="微软雅黑" pitchFamily="34" charset="-122"/>
              </a:rPr>
              <a:t>，</a:t>
            </a:r>
            <a:r>
              <a:rPr lang="en-US" altLang="zh-CN" sz="1600" dirty="0">
                <a:solidFill>
                  <a:schemeClr val="bg1"/>
                </a:solidFill>
                <a:latin typeface="微软雅黑" pitchFamily="34" charset="-122"/>
                <a:ea typeface="微软雅黑" pitchFamily="34" charset="-122"/>
              </a:rPr>
              <a:t>100~500km </a:t>
            </a:r>
            <a:r>
              <a:rPr lang="zh-CN" altLang="en-US" sz="1600" dirty="0">
                <a:solidFill>
                  <a:schemeClr val="bg1"/>
                </a:solidFill>
                <a:latin typeface="微软雅黑" pitchFamily="34" charset="-122"/>
                <a:ea typeface="微软雅黑" pitchFamily="34" charset="-122"/>
              </a:rPr>
              <a:t>内可达 </a:t>
            </a:r>
            <a:r>
              <a:rPr lang="en-US" altLang="zh-CN" sz="1600" dirty="0">
                <a:solidFill>
                  <a:schemeClr val="bg1"/>
                </a:solidFill>
                <a:latin typeface="微软雅黑" pitchFamily="34" charset="-122"/>
                <a:ea typeface="微软雅黑" pitchFamily="34" charset="-122"/>
              </a:rPr>
              <a:t>7~10m</a:t>
            </a:r>
            <a:r>
              <a:rPr lang="zh-CN" altLang="en-US" sz="1600" dirty="0">
                <a:solidFill>
                  <a:schemeClr val="bg1"/>
                </a:solidFill>
                <a:latin typeface="微软雅黑" pitchFamily="34" charset="-122"/>
                <a:ea typeface="微软雅黑" pitchFamily="34" charset="-122"/>
              </a:rPr>
              <a:t>，</a:t>
            </a:r>
            <a:r>
              <a:rPr lang="en-US" altLang="zh-CN" sz="1600" dirty="0">
                <a:solidFill>
                  <a:schemeClr val="bg1"/>
                </a:solidFill>
                <a:latin typeface="微软雅黑" pitchFamily="34" charset="-122"/>
                <a:ea typeface="微软雅黑" pitchFamily="34" charset="-122"/>
              </a:rPr>
              <a:t>1 000km </a:t>
            </a:r>
            <a:r>
              <a:rPr lang="zh-CN" altLang="en-US" sz="1600" dirty="0">
                <a:solidFill>
                  <a:schemeClr val="bg1"/>
                </a:solidFill>
                <a:latin typeface="微软雅黑" pitchFamily="34" charset="-122"/>
                <a:ea typeface="微软雅黑" pitchFamily="34" charset="-122"/>
              </a:rPr>
              <a:t>可达 </a:t>
            </a:r>
            <a:r>
              <a:rPr lang="en-US" altLang="zh-CN" sz="1600" dirty="0">
                <a:solidFill>
                  <a:schemeClr val="bg1"/>
                </a:solidFill>
                <a:latin typeface="微软雅黑" pitchFamily="34" charset="-122"/>
                <a:ea typeface="微软雅黑" pitchFamily="34" charset="-122"/>
              </a:rPr>
              <a:t>9~10m</a:t>
            </a:r>
            <a:r>
              <a:rPr lang="zh-CN" altLang="en-US" sz="1600" dirty="0">
                <a:solidFill>
                  <a:schemeClr val="bg1"/>
                </a:solidFill>
                <a:latin typeface="微软雅黑" pitchFamily="34" charset="-122"/>
                <a:ea typeface="微软雅黑" pitchFamily="34" charset="-122"/>
              </a:rPr>
              <a:t>。 </a:t>
            </a:r>
            <a:endParaRPr lang="en-US" altLang="zh-CN" sz="1600" dirty="0" smtClean="0">
              <a:solidFill>
                <a:schemeClr val="bg1"/>
              </a:solidFill>
              <a:latin typeface="微软雅黑" pitchFamily="34" charset="-122"/>
              <a:ea typeface="微软雅黑" pitchFamily="34" charset="-122"/>
            </a:endParaRPr>
          </a:p>
          <a:p>
            <a:pPr>
              <a:lnSpc>
                <a:spcPct val="114000"/>
              </a:lnSpc>
            </a:pPr>
            <a:r>
              <a:rPr lang="zh-CN" altLang="en-US" sz="1600" dirty="0" smtClean="0">
                <a:solidFill>
                  <a:schemeClr val="bg1"/>
                </a:solidFill>
                <a:latin typeface="微软雅黑" pitchFamily="34" charset="-122"/>
                <a:ea typeface="微软雅黑" pitchFamily="34" charset="-122"/>
              </a:rPr>
              <a:t>④</a:t>
            </a:r>
            <a:r>
              <a:rPr lang="zh-CN" altLang="en-US" sz="1600" dirty="0">
                <a:solidFill>
                  <a:schemeClr val="bg1"/>
                </a:solidFill>
                <a:latin typeface="微软雅黑" pitchFamily="34" charset="-122"/>
                <a:ea typeface="微软雅黑" pitchFamily="34" charset="-122"/>
              </a:rPr>
              <a:t>观测时间短。</a:t>
            </a:r>
            <a:r>
              <a:rPr lang="en-US" altLang="zh-CN" sz="1600" dirty="0">
                <a:solidFill>
                  <a:schemeClr val="bg1"/>
                </a:solidFill>
                <a:latin typeface="微软雅黑" pitchFamily="34" charset="-122"/>
                <a:ea typeface="微软雅黑" pitchFamily="34" charset="-122"/>
              </a:rPr>
              <a:t>20km </a:t>
            </a:r>
            <a:r>
              <a:rPr lang="zh-CN" altLang="en-US" sz="1600" dirty="0">
                <a:solidFill>
                  <a:schemeClr val="bg1"/>
                </a:solidFill>
                <a:latin typeface="微软雅黑" pitchFamily="34" charset="-122"/>
                <a:ea typeface="微软雅黑" pitchFamily="34" charset="-122"/>
              </a:rPr>
              <a:t>以内的相对静态定位仅需 </a:t>
            </a:r>
            <a:r>
              <a:rPr lang="en-US" altLang="zh-CN" sz="1600" dirty="0">
                <a:solidFill>
                  <a:schemeClr val="bg1"/>
                </a:solidFill>
                <a:latin typeface="微软雅黑" pitchFamily="34" charset="-122"/>
                <a:ea typeface="微软雅黑" pitchFamily="34" charset="-122"/>
              </a:rPr>
              <a:t>15~20min</a:t>
            </a:r>
            <a:r>
              <a:rPr lang="zh-CN" altLang="en-US" sz="1600" dirty="0">
                <a:solidFill>
                  <a:schemeClr val="bg1"/>
                </a:solidFill>
                <a:latin typeface="微软雅黑" pitchFamily="34" charset="-122"/>
                <a:ea typeface="微软雅黑" pitchFamily="34" charset="-122"/>
              </a:rPr>
              <a:t>；快速静态相对定位测量时</a:t>
            </a:r>
            <a:r>
              <a:rPr lang="zh-CN" altLang="en-US" sz="1600" dirty="0" smtClean="0">
                <a:solidFill>
                  <a:schemeClr val="bg1"/>
                </a:solidFill>
                <a:latin typeface="微软雅黑" pitchFamily="34" charset="-122"/>
                <a:ea typeface="微软雅黑" pitchFamily="34" charset="-122"/>
              </a:rPr>
              <a:t>，当</a:t>
            </a:r>
            <a:r>
              <a:rPr lang="zh-CN" altLang="en-US" sz="1600" dirty="0">
                <a:solidFill>
                  <a:schemeClr val="bg1"/>
                </a:solidFill>
                <a:latin typeface="微软雅黑" pitchFamily="34" charset="-122"/>
                <a:ea typeface="微软雅黑" pitchFamily="34" charset="-122"/>
              </a:rPr>
              <a:t>每个流动站与基准站相</a:t>
            </a:r>
            <a:r>
              <a:rPr lang="zh-CN" altLang="en-US" sz="1600" dirty="0" smtClean="0">
                <a:solidFill>
                  <a:schemeClr val="bg1"/>
                </a:solidFill>
                <a:latin typeface="微软雅黑" pitchFamily="34" charset="-122"/>
                <a:ea typeface="微软雅黑" pitchFamily="34" charset="-122"/>
              </a:rPr>
              <a:t>距</a:t>
            </a:r>
            <a:r>
              <a:rPr lang="en-US" altLang="zh-CN" sz="1600" dirty="0" smtClean="0">
                <a:solidFill>
                  <a:schemeClr val="bg1"/>
                </a:solidFill>
                <a:latin typeface="微软雅黑" pitchFamily="34" charset="-122"/>
                <a:ea typeface="微软雅黑" pitchFamily="34" charset="-122"/>
              </a:rPr>
              <a:t>15km </a:t>
            </a:r>
            <a:r>
              <a:rPr lang="zh-CN" altLang="en-US" sz="1600" dirty="0">
                <a:solidFill>
                  <a:schemeClr val="bg1"/>
                </a:solidFill>
                <a:latin typeface="微软雅黑" pitchFamily="34" charset="-122"/>
                <a:ea typeface="微软雅黑" pitchFamily="34" charset="-122"/>
              </a:rPr>
              <a:t>以内时，流动站观测时间只需 </a:t>
            </a:r>
            <a:r>
              <a:rPr lang="en-US" altLang="zh-CN" sz="1600" dirty="0">
                <a:solidFill>
                  <a:schemeClr val="bg1"/>
                </a:solidFill>
                <a:latin typeface="微软雅黑" pitchFamily="34" charset="-122"/>
                <a:ea typeface="微软雅黑" pitchFamily="34" charset="-122"/>
              </a:rPr>
              <a:t>1~2min</a:t>
            </a:r>
            <a:r>
              <a:rPr lang="zh-CN" altLang="en-US" sz="1600" dirty="0">
                <a:solidFill>
                  <a:schemeClr val="bg1"/>
                </a:solidFill>
                <a:latin typeface="微软雅黑" pitchFamily="34" charset="-122"/>
                <a:ea typeface="微软雅黑" pitchFamily="34" charset="-122"/>
              </a:rPr>
              <a:t>；采取实时动态</a:t>
            </a:r>
            <a:r>
              <a:rPr lang="zh-CN" altLang="en-US" sz="1600" dirty="0" smtClean="0">
                <a:solidFill>
                  <a:schemeClr val="bg1"/>
                </a:solidFill>
                <a:latin typeface="微软雅黑" pitchFamily="34" charset="-122"/>
                <a:ea typeface="微软雅黑" pitchFamily="34" charset="-122"/>
              </a:rPr>
              <a:t>定位</a:t>
            </a:r>
            <a:r>
              <a:rPr lang="zh-CN" altLang="en-US" sz="1600" dirty="0">
                <a:solidFill>
                  <a:schemeClr val="bg1"/>
                </a:solidFill>
                <a:latin typeface="微软雅黑" pitchFamily="34" charset="-122"/>
                <a:ea typeface="微软雅黑" pitchFamily="34" charset="-122"/>
              </a:rPr>
              <a:t>模式时，每站观测仅需几秒。 </a:t>
            </a:r>
            <a:endParaRPr lang="en-US" altLang="zh-CN" sz="1600" dirty="0" smtClean="0">
              <a:solidFill>
                <a:schemeClr val="bg1"/>
              </a:solidFill>
              <a:latin typeface="微软雅黑" pitchFamily="34" charset="-122"/>
              <a:ea typeface="微软雅黑" pitchFamily="34" charset="-122"/>
            </a:endParaRPr>
          </a:p>
          <a:p>
            <a:pPr>
              <a:lnSpc>
                <a:spcPct val="114000"/>
              </a:lnSpc>
            </a:pPr>
            <a:r>
              <a:rPr lang="zh-CN" altLang="en-US" sz="1600" dirty="0" smtClean="0">
                <a:solidFill>
                  <a:schemeClr val="bg1"/>
                </a:solidFill>
                <a:latin typeface="微软雅黑" pitchFamily="34" charset="-122"/>
                <a:ea typeface="微软雅黑" pitchFamily="34" charset="-122"/>
              </a:rPr>
              <a:t>⑤</a:t>
            </a:r>
            <a:r>
              <a:rPr lang="zh-CN" altLang="en-US" sz="1600" dirty="0">
                <a:solidFill>
                  <a:schemeClr val="bg1"/>
                </a:solidFill>
                <a:latin typeface="微软雅黑" pitchFamily="34" charset="-122"/>
                <a:ea typeface="微软雅黑" pitchFamily="34" charset="-122"/>
              </a:rPr>
              <a:t>可提供全球统一的三维地心坐标，可同时精确测定测站平面位置和大地高程。 ⑥测站之间无须通视，只要求测站上空开阔</a:t>
            </a:r>
            <a:r>
              <a:rPr lang="zh-CN" altLang="en-US" sz="1600" dirty="0" smtClean="0">
                <a:solidFill>
                  <a:schemeClr val="bg1"/>
                </a:solidFill>
                <a:latin typeface="微软雅黑" pitchFamily="34" charset="-122"/>
                <a:ea typeface="微软雅黑" pitchFamily="34" charset="-122"/>
              </a:rPr>
              <a:t>，减少</a:t>
            </a:r>
            <a:r>
              <a:rPr lang="zh-CN" altLang="en-US" sz="1600" dirty="0">
                <a:solidFill>
                  <a:schemeClr val="bg1"/>
                </a:solidFill>
                <a:latin typeface="微软雅黑" pitchFamily="34" charset="-122"/>
                <a:ea typeface="微软雅黑" pitchFamily="34" charset="-122"/>
              </a:rPr>
              <a:t>测量工作所需的经费</a:t>
            </a:r>
            <a:r>
              <a:rPr lang="zh-CN" altLang="en-US" sz="1600" dirty="0" smtClean="0">
                <a:solidFill>
                  <a:schemeClr val="bg1"/>
                </a:solidFill>
                <a:latin typeface="微软雅黑" pitchFamily="34" charset="-122"/>
                <a:ea typeface="微软雅黑" pitchFamily="34" charset="-122"/>
              </a:rPr>
              <a:t>和时间</a:t>
            </a:r>
            <a:r>
              <a:rPr lang="zh-CN" altLang="en-US" sz="1600" dirty="0">
                <a:solidFill>
                  <a:schemeClr val="bg1"/>
                </a:solidFill>
                <a:latin typeface="微软雅黑" pitchFamily="34" charset="-122"/>
                <a:ea typeface="微软雅黑" pitchFamily="34" charset="-122"/>
              </a:rPr>
              <a:t>，也使选点工作更灵活。</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a:xfrm>
            <a:off x="107504" y="4840397"/>
            <a:ext cx="2133600" cy="273844"/>
          </a:xfrm>
        </p:spPr>
        <p:txBody>
          <a:bodyPr/>
          <a:lstStyle/>
          <a:p>
            <a:pPr algn="l"/>
            <a:fld id="{0C913308-F349-4B6D-A68A-DD1791B4A57B}" type="slidenum">
              <a:rPr lang="zh-CN" altLang="en-US" smtClean="0"/>
              <a:t>13</a:t>
            </a:fld>
            <a:endParaRPr lang="zh-CN" altLang="en-US" dirty="0"/>
          </a:p>
        </p:txBody>
      </p:sp>
      <p:sp>
        <p:nvSpPr>
          <p:cNvPr id="4" name="文本框 3"/>
          <p:cNvSpPr txBox="1"/>
          <p:nvPr/>
        </p:nvSpPr>
        <p:spPr>
          <a:xfrm>
            <a:off x="945041" y="1601521"/>
            <a:ext cx="2402823" cy="2899512"/>
          </a:xfrm>
          <a:prstGeom prst="rect">
            <a:avLst/>
          </a:prstGeom>
          <a:solidFill>
            <a:schemeClr val="accent1"/>
          </a:solidFill>
          <a:ln w="9525">
            <a:noFill/>
          </a:ln>
        </p:spPr>
        <p:txBody>
          <a:bodyPr wrap="square">
            <a:spAutoFit/>
          </a:bodyPr>
          <a:lstStyle/>
          <a:p>
            <a:pPr indent="0" fontAlgn="auto">
              <a:lnSpc>
                <a:spcPct val="114000"/>
              </a:lnSpc>
            </a:pPr>
            <a:r>
              <a:rPr sz="1600" b="0" dirty="0" smtClean="0">
                <a:solidFill>
                  <a:schemeClr val="bg1"/>
                </a:solidFill>
                <a:latin typeface="微软雅黑" pitchFamily="34" charset="-122"/>
                <a:ea typeface="微软雅黑" pitchFamily="34" charset="-122"/>
              </a:rPr>
              <a:t>GPS</a:t>
            </a:r>
            <a:r>
              <a:rPr sz="1600" b="0" dirty="0">
                <a:solidFill>
                  <a:schemeClr val="bg1"/>
                </a:solidFill>
                <a:latin typeface="微软雅黑" pitchFamily="34" charset="-122"/>
                <a:ea typeface="微软雅黑" pitchFamily="34" charset="-122"/>
              </a:rPr>
              <a:t>的定位方法优点在于可全天候连续定位，且适合于全局定位。但GPS缺点在于受环境影响较大，高楼、树木、隧道等都会屏敝GPS信号，而且GPS定位精度低，更新周期长，远远不能满足智能网联汽车自动驾驶的需求。</a:t>
            </a:r>
          </a:p>
        </p:txBody>
      </p:sp>
      <p:pic>
        <p:nvPicPr>
          <p:cNvPr id="33" name="图片 33" descr="图5-1-4"/>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a:xfrm>
            <a:off x="3419872" y="1586865"/>
            <a:ext cx="4717018" cy="3073118"/>
          </a:xfrm>
          <a:prstGeom prst="rect">
            <a:avLst/>
          </a:prstGeom>
          <a:noFill/>
          <a:ln>
            <a:solidFill>
              <a:schemeClr val="accent1"/>
            </a:solidFill>
          </a:ln>
        </p:spPr>
      </p:pic>
      <p:sp>
        <p:nvSpPr>
          <p:cNvPr id="7" name="矩形 6"/>
          <p:cNvSpPr/>
          <p:nvPr/>
        </p:nvSpPr>
        <p:spPr>
          <a:xfrm>
            <a:off x="945040" y="1099840"/>
            <a:ext cx="2978888" cy="400110"/>
          </a:xfrm>
          <a:prstGeom prst="rect">
            <a:avLst/>
          </a:prstGeom>
          <a:solidFill>
            <a:schemeClr val="accent1"/>
          </a:solidFill>
        </p:spPr>
        <p:txBody>
          <a:bodyPr wrap="square">
            <a:spAutoFit/>
          </a:bodyPr>
          <a:lstStyle/>
          <a:p>
            <a:pPr algn="l" fontAlgn="ctr"/>
            <a:r>
              <a:rPr sz="2000" b="1" dirty="0" smtClean="0">
                <a:solidFill>
                  <a:schemeClr val="bg1"/>
                </a:solidFill>
                <a:latin typeface="微软雅黑" panose="020B0503020204020204" pitchFamily="34" charset="-122"/>
                <a:ea typeface="微软雅黑" panose="020B0503020204020204" pitchFamily="34" charset="-122"/>
              </a:rPr>
              <a:t>1.全球定位系统（GPS</a:t>
            </a:r>
            <a:r>
              <a:rPr sz="2000" b="1" dirty="0" smtClean="0">
                <a:solidFill>
                  <a:schemeClr val="bg1"/>
                </a:solidFill>
                <a:latin typeface="微软雅黑" panose="020B0503020204020204" pitchFamily="34" charset="-122"/>
                <a:ea typeface="微软雅黑" panose="020B0503020204020204" pitchFamily="34" charset="-122"/>
              </a:rPr>
              <a:t>）</a:t>
            </a:r>
            <a:endParaRPr sz="2000" b="1" dirty="0" smtClean="0">
              <a:solidFill>
                <a:schemeClr val="bg1"/>
              </a:solidFill>
              <a:latin typeface="微软雅黑" panose="020B0503020204020204" pitchFamily="34" charset="-122"/>
              <a:ea typeface="微软雅黑" panose="020B0503020204020204" pitchFamily="34" charset="-122"/>
            </a:endParaRPr>
          </a:p>
        </p:txBody>
      </p:sp>
      <p:sp>
        <p:nvSpPr>
          <p:cNvPr id="9" name="Text Box 8"/>
          <p:cNvSpPr>
            <a:spLocks noChangeArrowheads="1"/>
          </p:cNvSpPr>
          <p:nvPr/>
        </p:nvSpPr>
        <p:spPr bwMode="auto">
          <a:xfrm>
            <a:off x="971600" y="339502"/>
            <a:ext cx="7573236" cy="583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9pPr>
          </a:lstStyle>
          <a:p>
            <a:pPr algn="ctr" eaLnBrk="1" hangingPunct="1">
              <a:spcBef>
                <a:spcPct val="0"/>
              </a:spcBef>
              <a:buFont typeface="Arial" panose="020B0604020202020204" pitchFamily="34" charset="0"/>
              <a:buNone/>
            </a:pPr>
            <a:r>
              <a:rPr lang="zh-CN" altLang="en-US" sz="3200" b="1" dirty="0" smtClean="0">
                <a:solidFill>
                  <a:schemeClr val="accent1"/>
                </a:solidFill>
                <a:latin typeface="微软雅黑" panose="020B0503020204020204" pitchFamily="34" charset="-122"/>
                <a:sym typeface="+mn-ea"/>
              </a:rPr>
              <a:t>智能网联汽车上应用了哪些导航定位系统？</a:t>
            </a:r>
          </a:p>
        </p:txBody>
      </p:sp>
      <p:sp>
        <p:nvSpPr>
          <p:cNvPr id="10" name="矩形 9"/>
          <p:cNvSpPr/>
          <p:nvPr/>
        </p:nvSpPr>
        <p:spPr>
          <a:xfrm>
            <a:off x="4078808" y="1130618"/>
            <a:ext cx="2573140" cy="338554"/>
          </a:xfrm>
          <a:prstGeom prst="rect">
            <a:avLst/>
          </a:prstGeom>
          <a:solidFill>
            <a:schemeClr val="accent1"/>
          </a:solidFill>
        </p:spPr>
        <p:txBody>
          <a:bodyPr wrap="none">
            <a:spAutoFit/>
          </a:bodyPr>
          <a:lstStyle/>
          <a:p>
            <a:r>
              <a:rPr lang="zh-CN" altLang="en-US" sz="1600" b="1" dirty="0" smtClean="0">
                <a:solidFill>
                  <a:schemeClr val="bg1"/>
                </a:solidFill>
                <a:latin typeface="微软雅黑" pitchFamily="34" charset="-122"/>
                <a:ea typeface="微软雅黑" pitchFamily="34" charset="-122"/>
              </a:rPr>
              <a:t>（</a:t>
            </a:r>
            <a:r>
              <a:rPr lang="en-US" altLang="zh-CN" sz="1600" b="1" dirty="0" smtClean="0">
                <a:solidFill>
                  <a:schemeClr val="bg1"/>
                </a:solidFill>
                <a:latin typeface="微软雅黑" pitchFamily="34" charset="-122"/>
                <a:ea typeface="微软雅黑" pitchFamily="34" charset="-122"/>
              </a:rPr>
              <a:t>4</a:t>
            </a:r>
            <a:r>
              <a:rPr lang="zh-CN" altLang="en-US" sz="1600" b="1" dirty="0" smtClean="0">
                <a:solidFill>
                  <a:schemeClr val="bg1"/>
                </a:solidFill>
                <a:latin typeface="微软雅黑" pitchFamily="34" charset="-122"/>
                <a:ea typeface="微软雅黑" pitchFamily="34" charset="-122"/>
              </a:rPr>
              <a:t>）</a:t>
            </a:r>
            <a:r>
              <a:rPr lang="en-US" altLang="zh-CN" sz="1600" b="1" dirty="0" smtClean="0">
                <a:solidFill>
                  <a:schemeClr val="bg1"/>
                </a:solidFill>
                <a:latin typeface="微软雅黑" pitchFamily="34" charset="-122"/>
                <a:ea typeface="微软雅黑" pitchFamily="34" charset="-122"/>
              </a:rPr>
              <a:t>GPS</a:t>
            </a:r>
            <a:r>
              <a:rPr lang="zh-CN" altLang="en-US" sz="1600" b="1" dirty="0" smtClean="0">
                <a:solidFill>
                  <a:schemeClr val="bg1"/>
                </a:solidFill>
                <a:latin typeface="微软雅黑" pitchFamily="34" charset="-122"/>
                <a:ea typeface="微软雅黑" pitchFamily="34" charset="-122"/>
              </a:rPr>
              <a:t>在汽车上的应用</a:t>
            </a:r>
            <a:endParaRPr lang="zh-CN" altLang="en-US" sz="1600" b="1" dirty="0">
              <a:solidFill>
                <a:schemeClr val="bg1"/>
              </a:solidFill>
              <a:latin typeface="微软雅黑" pitchFamily="34" charset="-122"/>
              <a:ea typeface="微软雅黑" pitchFamily="34" charset="-122"/>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a:xfrm>
            <a:off x="107504" y="4840397"/>
            <a:ext cx="2133600" cy="273844"/>
          </a:xfrm>
        </p:spPr>
        <p:txBody>
          <a:bodyPr/>
          <a:lstStyle/>
          <a:p>
            <a:pPr algn="l"/>
            <a:fld id="{0C913308-F349-4B6D-A68A-DD1791B4A57B}" type="slidenum">
              <a:rPr lang="zh-CN" altLang="en-US" smtClean="0"/>
              <a:t>14</a:t>
            </a:fld>
            <a:endParaRPr lang="zh-CN" altLang="en-US" dirty="0"/>
          </a:p>
        </p:txBody>
      </p:sp>
      <p:sp>
        <p:nvSpPr>
          <p:cNvPr id="3" name="矩形 2"/>
          <p:cNvSpPr/>
          <p:nvPr/>
        </p:nvSpPr>
        <p:spPr>
          <a:xfrm>
            <a:off x="971600" y="1142855"/>
            <a:ext cx="3672408" cy="400110"/>
          </a:xfrm>
          <a:prstGeom prst="rect">
            <a:avLst/>
          </a:prstGeom>
          <a:solidFill>
            <a:schemeClr val="accent1"/>
          </a:solidFill>
        </p:spPr>
        <p:txBody>
          <a:bodyPr wrap="square">
            <a:spAutoFit/>
          </a:bodyPr>
          <a:lstStyle/>
          <a:p>
            <a:pPr algn="l" fontAlgn="ctr"/>
            <a:r>
              <a:rPr sz="2000" b="1" dirty="0" smtClean="0">
                <a:solidFill>
                  <a:schemeClr val="bg1"/>
                </a:solidFill>
                <a:latin typeface="微软雅黑" panose="020B0503020204020204" pitchFamily="34" charset="-122"/>
                <a:ea typeface="微软雅黑" panose="020B0503020204020204" pitchFamily="34" charset="-122"/>
              </a:rPr>
              <a:t>2.差分全球定位系统（DGPS</a:t>
            </a:r>
            <a:r>
              <a:rPr sz="2000" b="1" dirty="0" smtClean="0">
                <a:solidFill>
                  <a:schemeClr val="bg1"/>
                </a:solidFill>
                <a:latin typeface="微软雅黑" panose="020B0503020204020204" pitchFamily="34" charset="-122"/>
                <a:ea typeface="微软雅黑" panose="020B0503020204020204" pitchFamily="34" charset="-122"/>
              </a:rPr>
              <a:t>）</a:t>
            </a:r>
            <a:endParaRPr sz="2000" b="1" dirty="0" smtClean="0">
              <a:solidFill>
                <a:schemeClr val="bg1"/>
              </a:solidFill>
              <a:latin typeface="微软雅黑" panose="020B0503020204020204" pitchFamily="34" charset="-122"/>
              <a:ea typeface="微软雅黑" panose="020B0503020204020204" pitchFamily="34" charset="-122"/>
            </a:endParaRPr>
          </a:p>
        </p:txBody>
      </p:sp>
      <p:sp>
        <p:nvSpPr>
          <p:cNvPr id="4" name="文本框 3"/>
          <p:cNvSpPr txBox="1"/>
          <p:nvPr/>
        </p:nvSpPr>
        <p:spPr>
          <a:xfrm>
            <a:off x="960963" y="1626008"/>
            <a:ext cx="2890957" cy="1776640"/>
          </a:xfrm>
          <a:prstGeom prst="rect">
            <a:avLst/>
          </a:prstGeom>
          <a:solidFill>
            <a:schemeClr val="accent1"/>
          </a:solidFill>
          <a:ln w="9525">
            <a:noFill/>
          </a:ln>
        </p:spPr>
        <p:txBody>
          <a:bodyPr wrap="square">
            <a:spAutoFit/>
          </a:bodyPr>
          <a:lstStyle/>
          <a:p>
            <a:pPr indent="0" fontAlgn="auto">
              <a:lnSpc>
                <a:spcPct val="114000"/>
              </a:lnSpc>
            </a:pPr>
            <a:r>
              <a:rPr lang="zh-CN" sz="1600" b="0" dirty="0">
                <a:solidFill>
                  <a:schemeClr val="bg1"/>
                </a:solidFill>
                <a:latin typeface="微软雅黑" pitchFamily="34" charset="-122"/>
                <a:ea typeface="微软雅黑" pitchFamily="34" charset="-122"/>
              </a:rPr>
              <a:t>差分全球定位系统(Differential Global Position System，简称DGPS)，是在GPS的基础上利用差分技术使用户能够从GPS系统中获得更高的精度。</a:t>
            </a:r>
          </a:p>
        </p:txBody>
      </p:sp>
      <p:pic>
        <p:nvPicPr>
          <p:cNvPr id="32" name="图片 32" descr="图5-1-5"/>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a:xfrm>
            <a:off x="3923928" y="1646297"/>
            <a:ext cx="4244206" cy="2554178"/>
          </a:xfrm>
          <a:prstGeom prst="rect">
            <a:avLst/>
          </a:prstGeom>
          <a:noFill/>
          <a:ln>
            <a:solidFill>
              <a:schemeClr val="accent1"/>
            </a:solidFill>
          </a:ln>
        </p:spPr>
      </p:pic>
      <p:sp>
        <p:nvSpPr>
          <p:cNvPr id="7" name="Text Box 8"/>
          <p:cNvSpPr>
            <a:spLocks noChangeArrowheads="1"/>
          </p:cNvSpPr>
          <p:nvPr/>
        </p:nvSpPr>
        <p:spPr bwMode="auto">
          <a:xfrm>
            <a:off x="971600" y="339502"/>
            <a:ext cx="7573236" cy="583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9pPr>
          </a:lstStyle>
          <a:p>
            <a:pPr algn="ctr" eaLnBrk="1" hangingPunct="1">
              <a:spcBef>
                <a:spcPct val="0"/>
              </a:spcBef>
              <a:buFont typeface="Arial" panose="020B0604020202020204" pitchFamily="34" charset="0"/>
              <a:buNone/>
            </a:pPr>
            <a:r>
              <a:rPr lang="zh-CN" altLang="en-US" sz="3200" b="1" dirty="0" smtClean="0">
                <a:solidFill>
                  <a:schemeClr val="accent1"/>
                </a:solidFill>
                <a:latin typeface="微软雅黑" panose="020B0503020204020204" pitchFamily="34" charset="-122"/>
                <a:sym typeface="+mn-ea"/>
              </a:rPr>
              <a:t>智能网联汽车上应用了哪些导航定位系统？</a:t>
            </a:r>
          </a:p>
        </p:txBody>
      </p:sp>
      <p:sp>
        <p:nvSpPr>
          <p:cNvPr id="2" name="矩形 1"/>
          <p:cNvSpPr/>
          <p:nvPr/>
        </p:nvSpPr>
        <p:spPr>
          <a:xfrm>
            <a:off x="960963" y="3546706"/>
            <a:ext cx="2890957" cy="653769"/>
          </a:xfrm>
          <a:prstGeom prst="rect">
            <a:avLst/>
          </a:prstGeom>
          <a:solidFill>
            <a:schemeClr val="accent1"/>
          </a:solidFill>
        </p:spPr>
        <p:txBody>
          <a:bodyPr wrap="square">
            <a:spAutoFit/>
          </a:bodyPr>
          <a:lstStyle/>
          <a:p>
            <a:pPr>
              <a:lnSpc>
                <a:spcPct val="114000"/>
              </a:lnSpc>
            </a:pPr>
            <a:r>
              <a:rPr lang="en-US" altLang="zh-CN" sz="1600" dirty="0">
                <a:solidFill>
                  <a:schemeClr val="bg1"/>
                </a:solidFill>
                <a:latin typeface="微软雅黑" pitchFamily="34" charset="-122"/>
                <a:ea typeface="微软雅黑" pitchFamily="34" charset="-122"/>
              </a:rPr>
              <a:t>DGPS </a:t>
            </a:r>
            <a:r>
              <a:rPr lang="zh-CN" altLang="en-US" sz="1600" dirty="0">
                <a:solidFill>
                  <a:schemeClr val="bg1"/>
                </a:solidFill>
                <a:latin typeface="微软雅黑" pitchFamily="34" charset="-122"/>
                <a:ea typeface="微软雅黑" pitchFamily="34" charset="-122"/>
              </a:rPr>
              <a:t>由基准站、数据传输设备和移动站</a:t>
            </a:r>
            <a:r>
              <a:rPr lang="zh-CN" altLang="en-US" sz="1600" dirty="0" smtClean="0">
                <a:solidFill>
                  <a:schemeClr val="bg1"/>
                </a:solidFill>
                <a:latin typeface="微软雅黑" pitchFamily="34" charset="-122"/>
                <a:ea typeface="微软雅黑" pitchFamily="34" charset="-122"/>
              </a:rPr>
              <a:t>组成。</a:t>
            </a:r>
            <a:endParaRPr lang="zh-CN" altLang="en-US" sz="1600" dirty="0">
              <a:solidFill>
                <a:schemeClr val="bg1"/>
              </a:solidFill>
              <a:latin typeface="微软雅黑" pitchFamily="34" charset="-122"/>
              <a:ea typeface="微软雅黑" pitchFamily="34" charset="-122"/>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a:xfrm>
            <a:off x="107504" y="4840397"/>
            <a:ext cx="2133600" cy="273844"/>
          </a:xfrm>
        </p:spPr>
        <p:txBody>
          <a:bodyPr/>
          <a:lstStyle/>
          <a:p>
            <a:pPr algn="l"/>
            <a:fld id="{0C913308-F349-4B6D-A68A-DD1791B4A57B}" type="slidenum">
              <a:rPr lang="zh-CN" altLang="en-US" smtClean="0"/>
              <a:t>15</a:t>
            </a:fld>
            <a:endParaRPr lang="zh-CN" altLang="en-US" dirty="0"/>
          </a:p>
        </p:txBody>
      </p:sp>
      <p:sp>
        <p:nvSpPr>
          <p:cNvPr id="3" name="矩形 2"/>
          <p:cNvSpPr/>
          <p:nvPr/>
        </p:nvSpPr>
        <p:spPr>
          <a:xfrm>
            <a:off x="971600" y="1131590"/>
            <a:ext cx="2981907" cy="400110"/>
          </a:xfrm>
          <a:prstGeom prst="rect">
            <a:avLst/>
          </a:prstGeom>
          <a:solidFill>
            <a:schemeClr val="accent1"/>
          </a:solidFill>
        </p:spPr>
        <p:txBody>
          <a:bodyPr wrap="none">
            <a:spAutoFit/>
          </a:bodyPr>
          <a:lstStyle/>
          <a:p>
            <a:pPr algn="l" fontAlgn="ctr"/>
            <a:r>
              <a:rPr sz="2000" b="1" dirty="0" smtClean="0">
                <a:solidFill>
                  <a:schemeClr val="bg1"/>
                </a:solidFill>
                <a:latin typeface="微软雅黑" panose="020B0503020204020204" pitchFamily="34" charset="-122"/>
                <a:ea typeface="微软雅黑" panose="020B0503020204020204" pitchFamily="34" charset="-122"/>
              </a:rPr>
              <a:t>3.北斗卫星导航定位系统</a:t>
            </a:r>
          </a:p>
        </p:txBody>
      </p:sp>
      <p:pic>
        <p:nvPicPr>
          <p:cNvPr id="30" name="图片 30" descr="图5-1-7"/>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a:xfrm>
            <a:off x="4283968" y="2652077"/>
            <a:ext cx="3888433" cy="2059599"/>
          </a:xfrm>
          <a:prstGeom prst="rect">
            <a:avLst/>
          </a:prstGeom>
          <a:noFill/>
          <a:ln>
            <a:noFill/>
          </a:ln>
        </p:spPr>
      </p:pic>
      <p:sp>
        <p:nvSpPr>
          <p:cNvPr id="7" name="Text Box 8"/>
          <p:cNvSpPr>
            <a:spLocks noChangeArrowheads="1"/>
          </p:cNvSpPr>
          <p:nvPr/>
        </p:nvSpPr>
        <p:spPr bwMode="auto">
          <a:xfrm>
            <a:off x="971600" y="339502"/>
            <a:ext cx="7573236" cy="583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9pPr>
          </a:lstStyle>
          <a:p>
            <a:pPr algn="ctr" eaLnBrk="1" hangingPunct="1">
              <a:spcBef>
                <a:spcPct val="0"/>
              </a:spcBef>
              <a:buFont typeface="Arial" panose="020B0604020202020204" pitchFamily="34" charset="0"/>
              <a:buNone/>
            </a:pPr>
            <a:r>
              <a:rPr lang="zh-CN" altLang="en-US" sz="3200" b="1" dirty="0" smtClean="0">
                <a:solidFill>
                  <a:schemeClr val="accent1"/>
                </a:solidFill>
                <a:latin typeface="微软雅黑" panose="020B0503020204020204" pitchFamily="34" charset="-122"/>
                <a:sym typeface="+mn-ea"/>
              </a:rPr>
              <a:t>智能网联汽车上应用了哪些导航定位系统？</a:t>
            </a:r>
          </a:p>
        </p:txBody>
      </p:sp>
      <p:sp>
        <p:nvSpPr>
          <p:cNvPr id="2" name="矩形 1"/>
          <p:cNvSpPr/>
          <p:nvPr/>
        </p:nvSpPr>
        <p:spPr>
          <a:xfrm>
            <a:off x="971600" y="1635646"/>
            <a:ext cx="7200800" cy="934487"/>
          </a:xfrm>
          <a:prstGeom prst="rect">
            <a:avLst/>
          </a:prstGeom>
          <a:solidFill>
            <a:schemeClr val="accent1"/>
          </a:solidFill>
        </p:spPr>
        <p:txBody>
          <a:bodyPr wrap="square">
            <a:spAutoFit/>
          </a:bodyPr>
          <a:lstStyle/>
          <a:p>
            <a:pPr>
              <a:lnSpc>
                <a:spcPct val="114000"/>
              </a:lnSpc>
            </a:pPr>
            <a:r>
              <a:rPr lang="zh-CN" altLang="en-US" sz="1600" dirty="0">
                <a:solidFill>
                  <a:schemeClr val="bg1"/>
                </a:solidFill>
                <a:latin typeface="微软雅黑" pitchFamily="34" charset="-122"/>
                <a:ea typeface="微软雅黑" pitchFamily="34" charset="-122"/>
              </a:rPr>
              <a:t>北斗卫星导航定位系统（</a:t>
            </a:r>
            <a:r>
              <a:rPr lang="en-US" altLang="zh-CN" sz="1600" dirty="0">
                <a:solidFill>
                  <a:schemeClr val="bg1"/>
                </a:solidFill>
                <a:latin typeface="微软雅黑" pitchFamily="34" charset="-122"/>
                <a:ea typeface="微软雅黑" pitchFamily="34" charset="-122"/>
              </a:rPr>
              <a:t>BDS</a:t>
            </a:r>
            <a:r>
              <a:rPr lang="zh-CN" altLang="en-US" sz="1600" dirty="0" smtClean="0">
                <a:solidFill>
                  <a:schemeClr val="bg1"/>
                </a:solidFill>
                <a:latin typeface="微软雅黑" pitchFamily="34" charset="-122"/>
                <a:ea typeface="微软雅黑" pitchFamily="34" charset="-122"/>
              </a:rPr>
              <a:t>）是</a:t>
            </a:r>
            <a:r>
              <a:rPr lang="zh-CN" altLang="en-US" sz="1600" dirty="0">
                <a:solidFill>
                  <a:schemeClr val="bg1"/>
                </a:solidFill>
                <a:latin typeface="微软雅黑" pitchFamily="34" charset="-122"/>
                <a:ea typeface="微软雅黑" pitchFamily="34" charset="-122"/>
              </a:rPr>
              <a:t>由中国自行研制开发的区域性</a:t>
            </a:r>
            <a:r>
              <a:rPr lang="zh-CN" altLang="en-US" sz="1600" dirty="0" smtClean="0">
                <a:solidFill>
                  <a:schemeClr val="bg1"/>
                </a:solidFill>
                <a:latin typeface="微软雅黑" pitchFamily="34" charset="-122"/>
                <a:ea typeface="微软雅黑" pitchFamily="34" charset="-122"/>
              </a:rPr>
              <a:t>有源三维</a:t>
            </a:r>
            <a:r>
              <a:rPr lang="zh-CN" altLang="en-US" sz="1600" dirty="0">
                <a:solidFill>
                  <a:schemeClr val="bg1"/>
                </a:solidFill>
                <a:latin typeface="微软雅黑" pitchFamily="34" charset="-122"/>
                <a:ea typeface="微软雅黑" pitchFamily="34" charset="-122"/>
              </a:rPr>
              <a:t>卫星定位与</a:t>
            </a:r>
            <a:r>
              <a:rPr lang="zh-CN" altLang="en-US" sz="1600" dirty="0" smtClean="0">
                <a:solidFill>
                  <a:schemeClr val="bg1"/>
                </a:solidFill>
                <a:latin typeface="微软雅黑" pitchFamily="34" charset="-122"/>
                <a:ea typeface="微软雅黑" pitchFamily="34" charset="-122"/>
              </a:rPr>
              <a:t>通信系统。</a:t>
            </a:r>
            <a:r>
              <a:rPr lang="zh-CN" altLang="en-US" sz="1600" dirty="0">
                <a:solidFill>
                  <a:schemeClr val="bg1"/>
                </a:solidFill>
                <a:latin typeface="微软雅黑" pitchFamily="34" charset="-122"/>
                <a:ea typeface="微软雅黑" pitchFamily="34" charset="-122"/>
              </a:rPr>
              <a:t>北斗卫星导航</a:t>
            </a:r>
            <a:r>
              <a:rPr lang="zh-CN" altLang="en-US" sz="1600" dirty="0" smtClean="0">
                <a:solidFill>
                  <a:schemeClr val="bg1"/>
                </a:solidFill>
                <a:latin typeface="微软雅黑" pitchFamily="34" charset="-122"/>
                <a:ea typeface="微软雅黑" pitchFamily="34" charset="-122"/>
              </a:rPr>
              <a:t>定位系统</a:t>
            </a:r>
            <a:r>
              <a:rPr lang="zh-CN" altLang="en-US" sz="1600" dirty="0">
                <a:solidFill>
                  <a:schemeClr val="bg1"/>
                </a:solidFill>
                <a:latin typeface="微软雅黑" pitchFamily="34" charset="-122"/>
                <a:ea typeface="微软雅黑" pitchFamily="34" charset="-122"/>
              </a:rPr>
              <a:t>致力于向全球提供高质量的定位</a:t>
            </a:r>
            <a:r>
              <a:rPr lang="zh-CN" altLang="en-US" sz="1600" dirty="0" smtClean="0">
                <a:solidFill>
                  <a:schemeClr val="bg1"/>
                </a:solidFill>
                <a:latin typeface="微软雅黑" pitchFamily="34" charset="-122"/>
                <a:ea typeface="微软雅黑" pitchFamily="34" charset="-122"/>
              </a:rPr>
              <a:t>、导航</a:t>
            </a:r>
            <a:r>
              <a:rPr lang="zh-CN" altLang="en-US" sz="1600" dirty="0">
                <a:solidFill>
                  <a:schemeClr val="bg1"/>
                </a:solidFill>
                <a:latin typeface="微软雅黑" pitchFamily="34" charset="-122"/>
                <a:ea typeface="微软雅黑" pitchFamily="34" charset="-122"/>
              </a:rPr>
              <a:t>和授时服务，其建设与发展则</a:t>
            </a:r>
            <a:r>
              <a:rPr lang="zh-CN" altLang="en-US" sz="1600" dirty="0" smtClean="0">
                <a:solidFill>
                  <a:schemeClr val="bg1"/>
                </a:solidFill>
                <a:latin typeface="微软雅黑" pitchFamily="34" charset="-122"/>
                <a:ea typeface="微软雅黑" pitchFamily="34" charset="-122"/>
              </a:rPr>
              <a:t>遵循</a:t>
            </a:r>
            <a:r>
              <a:rPr lang="zh-CN" altLang="en-US" sz="1600" dirty="0">
                <a:solidFill>
                  <a:schemeClr val="bg1"/>
                </a:solidFill>
                <a:latin typeface="微软雅黑" pitchFamily="34" charset="-122"/>
                <a:ea typeface="微软雅黑" pitchFamily="34" charset="-122"/>
              </a:rPr>
              <a:t>开放性、自主性、兼容性、</a:t>
            </a:r>
            <a:r>
              <a:rPr lang="zh-CN" altLang="en-US" sz="1600" dirty="0" smtClean="0">
                <a:solidFill>
                  <a:schemeClr val="bg1"/>
                </a:solidFill>
                <a:latin typeface="微软雅黑" pitchFamily="34" charset="-122"/>
                <a:ea typeface="微软雅黑" pitchFamily="34" charset="-122"/>
              </a:rPr>
              <a:t>渐进性的原则</a:t>
            </a:r>
            <a:r>
              <a:rPr lang="zh-CN" altLang="en-US" sz="1600" dirty="0">
                <a:solidFill>
                  <a:schemeClr val="bg1"/>
                </a:solidFill>
                <a:latin typeface="微软雅黑" pitchFamily="34" charset="-122"/>
                <a:ea typeface="微软雅黑" pitchFamily="34" charset="-122"/>
              </a:rPr>
              <a:t>。</a:t>
            </a:r>
          </a:p>
        </p:txBody>
      </p:sp>
      <p:sp>
        <p:nvSpPr>
          <p:cNvPr id="5" name="矩形 4"/>
          <p:cNvSpPr/>
          <p:nvPr/>
        </p:nvSpPr>
        <p:spPr>
          <a:xfrm>
            <a:off x="4067944" y="1162368"/>
            <a:ext cx="3449983" cy="338554"/>
          </a:xfrm>
          <a:prstGeom prst="rect">
            <a:avLst/>
          </a:prstGeom>
          <a:solidFill>
            <a:schemeClr val="accent1"/>
          </a:solidFill>
        </p:spPr>
        <p:txBody>
          <a:bodyPr wrap="none">
            <a:spAutoFit/>
          </a:bodyPr>
          <a:lstStyle/>
          <a:p>
            <a:r>
              <a:rPr lang="zh-CN" altLang="en-US" sz="1600" b="1" dirty="0">
                <a:solidFill>
                  <a:schemeClr val="bg1"/>
                </a:solidFill>
                <a:latin typeface="微软雅黑" pitchFamily="34" charset="-122"/>
                <a:ea typeface="微软雅黑" pitchFamily="34" charset="-122"/>
              </a:rPr>
              <a:t>（</a:t>
            </a:r>
            <a:r>
              <a:rPr lang="en-US" altLang="zh-CN" sz="1600" b="1" dirty="0">
                <a:solidFill>
                  <a:schemeClr val="bg1"/>
                </a:solidFill>
                <a:latin typeface="微软雅黑" pitchFamily="34" charset="-122"/>
                <a:ea typeface="微软雅黑" pitchFamily="34" charset="-122"/>
              </a:rPr>
              <a:t>1</a:t>
            </a:r>
            <a:r>
              <a:rPr lang="zh-CN" altLang="en-US" sz="1600" b="1" dirty="0">
                <a:solidFill>
                  <a:schemeClr val="bg1"/>
                </a:solidFill>
                <a:latin typeface="微软雅黑" pitchFamily="34" charset="-122"/>
                <a:ea typeface="微软雅黑" pitchFamily="34" charset="-122"/>
              </a:rPr>
              <a:t>）北斗卫星导航定位系统</a:t>
            </a:r>
            <a:r>
              <a:rPr lang="zh-CN" altLang="en-US" sz="1600" b="1" dirty="0" smtClean="0">
                <a:solidFill>
                  <a:schemeClr val="bg1"/>
                </a:solidFill>
                <a:latin typeface="微软雅黑" pitchFamily="34" charset="-122"/>
                <a:ea typeface="微软雅黑" pitchFamily="34" charset="-122"/>
              </a:rPr>
              <a:t>的组成</a:t>
            </a:r>
            <a:endParaRPr lang="zh-CN" altLang="en-US" sz="1600" b="1" dirty="0">
              <a:solidFill>
                <a:schemeClr val="bg1"/>
              </a:solidFill>
              <a:latin typeface="微软雅黑" pitchFamily="34" charset="-122"/>
              <a:ea typeface="微软雅黑" pitchFamily="34" charset="-122"/>
            </a:endParaRPr>
          </a:p>
        </p:txBody>
      </p:sp>
      <p:sp>
        <p:nvSpPr>
          <p:cNvPr id="9" name="矩形 8"/>
          <p:cNvSpPr/>
          <p:nvPr/>
        </p:nvSpPr>
        <p:spPr>
          <a:xfrm>
            <a:off x="971600" y="2654318"/>
            <a:ext cx="3240360" cy="2057358"/>
          </a:xfrm>
          <a:prstGeom prst="rect">
            <a:avLst/>
          </a:prstGeom>
          <a:solidFill>
            <a:schemeClr val="accent1"/>
          </a:solidFill>
        </p:spPr>
        <p:txBody>
          <a:bodyPr wrap="square">
            <a:spAutoFit/>
          </a:bodyPr>
          <a:lstStyle/>
          <a:p>
            <a:pPr>
              <a:lnSpc>
                <a:spcPct val="114000"/>
              </a:lnSpc>
            </a:pPr>
            <a:r>
              <a:rPr lang="zh-CN" altLang="en-US" sz="1600" dirty="0">
                <a:solidFill>
                  <a:schemeClr val="bg1"/>
                </a:solidFill>
                <a:latin typeface="微软雅黑" pitchFamily="34" charset="-122"/>
                <a:ea typeface="微软雅黑" pitchFamily="34" charset="-122"/>
              </a:rPr>
              <a:t>①空间段</a:t>
            </a:r>
            <a:r>
              <a:rPr lang="zh-CN" altLang="en-US" sz="1600" dirty="0" smtClean="0">
                <a:solidFill>
                  <a:schemeClr val="bg1"/>
                </a:solidFill>
                <a:latin typeface="微软雅黑" pitchFamily="34" charset="-122"/>
                <a:ea typeface="微软雅黑" pitchFamily="34" charset="-122"/>
              </a:rPr>
              <a:t>：包括 </a:t>
            </a:r>
            <a:r>
              <a:rPr lang="en-US" altLang="zh-CN" sz="1600" dirty="0">
                <a:solidFill>
                  <a:schemeClr val="bg1"/>
                </a:solidFill>
                <a:latin typeface="微软雅黑" pitchFamily="34" charset="-122"/>
                <a:ea typeface="微软雅黑" pitchFamily="34" charset="-122"/>
              </a:rPr>
              <a:t>5 </a:t>
            </a:r>
            <a:r>
              <a:rPr lang="zh-CN" altLang="en-US" sz="1600" dirty="0">
                <a:solidFill>
                  <a:schemeClr val="bg1"/>
                </a:solidFill>
                <a:latin typeface="微软雅黑" pitchFamily="34" charset="-122"/>
                <a:ea typeface="微软雅黑" pitchFamily="34" charset="-122"/>
              </a:rPr>
              <a:t>颗</a:t>
            </a:r>
            <a:r>
              <a:rPr lang="zh-CN" altLang="en-US" sz="1600" dirty="0" smtClean="0">
                <a:solidFill>
                  <a:schemeClr val="bg1"/>
                </a:solidFill>
                <a:latin typeface="微软雅黑" pitchFamily="34" charset="-122"/>
                <a:ea typeface="微软雅黑" pitchFamily="34" charset="-122"/>
              </a:rPr>
              <a:t>静止轨道</a:t>
            </a:r>
            <a:r>
              <a:rPr lang="zh-CN" altLang="en-US" sz="1600" dirty="0">
                <a:solidFill>
                  <a:schemeClr val="bg1"/>
                </a:solidFill>
                <a:latin typeface="微软雅黑" pitchFamily="34" charset="-122"/>
                <a:ea typeface="微软雅黑" pitchFamily="34" charset="-122"/>
              </a:rPr>
              <a:t>卫星和 </a:t>
            </a:r>
            <a:r>
              <a:rPr lang="en-US" altLang="zh-CN" sz="1600" dirty="0">
                <a:solidFill>
                  <a:schemeClr val="bg1"/>
                </a:solidFill>
                <a:latin typeface="微软雅黑" pitchFamily="34" charset="-122"/>
                <a:ea typeface="微软雅黑" pitchFamily="34" charset="-122"/>
              </a:rPr>
              <a:t>30 </a:t>
            </a:r>
            <a:r>
              <a:rPr lang="zh-CN" altLang="en-US" sz="1600" dirty="0">
                <a:solidFill>
                  <a:schemeClr val="bg1"/>
                </a:solidFill>
                <a:latin typeface="微软雅黑" pitchFamily="34" charset="-122"/>
                <a:ea typeface="微软雅黑" pitchFamily="34" charset="-122"/>
              </a:rPr>
              <a:t>颗非静止轨道卫星。 </a:t>
            </a:r>
            <a:endParaRPr lang="en-US" altLang="zh-CN" sz="1600" dirty="0" smtClean="0">
              <a:solidFill>
                <a:schemeClr val="bg1"/>
              </a:solidFill>
              <a:latin typeface="微软雅黑" pitchFamily="34" charset="-122"/>
              <a:ea typeface="微软雅黑" pitchFamily="34" charset="-122"/>
            </a:endParaRPr>
          </a:p>
          <a:p>
            <a:pPr>
              <a:lnSpc>
                <a:spcPct val="114000"/>
              </a:lnSpc>
            </a:pPr>
            <a:r>
              <a:rPr lang="zh-CN" altLang="en-US" sz="1600" dirty="0" smtClean="0">
                <a:solidFill>
                  <a:schemeClr val="bg1"/>
                </a:solidFill>
                <a:latin typeface="微软雅黑" pitchFamily="34" charset="-122"/>
                <a:ea typeface="微软雅黑" pitchFamily="34" charset="-122"/>
              </a:rPr>
              <a:t>②</a:t>
            </a:r>
            <a:r>
              <a:rPr lang="zh-CN" altLang="en-US" sz="1600" dirty="0">
                <a:solidFill>
                  <a:schemeClr val="bg1"/>
                </a:solidFill>
                <a:latin typeface="微软雅黑" pitchFamily="34" charset="-122"/>
                <a:ea typeface="微软雅黑" pitchFamily="34" charset="-122"/>
              </a:rPr>
              <a:t>地面段</a:t>
            </a:r>
            <a:r>
              <a:rPr lang="zh-CN" altLang="en-US" sz="1600" dirty="0" smtClean="0">
                <a:solidFill>
                  <a:schemeClr val="bg1"/>
                </a:solidFill>
                <a:latin typeface="微软雅黑" pitchFamily="34" charset="-122"/>
                <a:ea typeface="微软雅黑" pitchFamily="34" charset="-122"/>
              </a:rPr>
              <a:t>：包括</a:t>
            </a:r>
            <a:r>
              <a:rPr lang="zh-CN" altLang="en-US" sz="1600" dirty="0">
                <a:solidFill>
                  <a:schemeClr val="bg1"/>
                </a:solidFill>
                <a:latin typeface="微软雅黑" pitchFamily="34" charset="-122"/>
                <a:ea typeface="微软雅黑" pitchFamily="34" charset="-122"/>
              </a:rPr>
              <a:t>主控站</a:t>
            </a:r>
            <a:r>
              <a:rPr lang="zh-CN" altLang="en-US" sz="1600" dirty="0" smtClean="0">
                <a:solidFill>
                  <a:schemeClr val="bg1"/>
                </a:solidFill>
                <a:latin typeface="微软雅黑" pitchFamily="34" charset="-122"/>
                <a:ea typeface="微软雅黑" pitchFamily="34" charset="-122"/>
              </a:rPr>
              <a:t>、注入站</a:t>
            </a:r>
            <a:r>
              <a:rPr lang="zh-CN" altLang="en-US" sz="1600" dirty="0">
                <a:solidFill>
                  <a:schemeClr val="bg1"/>
                </a:solidFill>
                <a:latin typeface="微软雅黑" pitchFamily="34" charset="-122"/>
                <a:ea typeface="微软雅黑" pitchFamily="34" charset="-122"/>
              </a:rPr>
              <a:t>和监测站等若干个地面站。 </a:t>
            </a:r>
            <a:endParaRPr lang="en-US" altLang="zh-CN" sz="1600" dirty="0" smtClean="0">
              <a:solidFill>
                <a:schemeClr val="bg1"/>
              </a:solidFill>
              <a:latin typeface="微软雅黑" pitchFamily="34" charset="-122"/>
              <a:ea typeface="微软雅黑" pitchFamily="34" charset="-122"/>
            </a:endParaRPr>
          </a:p>
          <a:p>
            <a:pPr>
              <a:lnSpc>
                <a:spcPct val="114000"/>
              </a:lnSpc>
            </a:pPr>
            <a:r>
              <a:rPr lang="zh-CN" altLang="en-US" sz="1600" dirty="0" smtClean="0">
                <a:solidFill>
                  <a:schemeClr val="bg1"/>
                </a:solidFill>
                <a:latin typeface="微软雅黑" pitchFamily="34" charset="-122"/>
                <a:ea typeface="微软雅黑" pitchFamily="34" charset="-122"/>
              </a:rPr>
              <a:t>③ </a:t>
            </a:r>
            <a:r>
              <a:rPr lang="zh-CN" altLang="en-US" sz="1600" dirty="0">
                <a:solidFill>
                  <a:schemeClr val="bg1"/>
                </a:solidFill>
                <a:latin typeface="微软雅黑" pitchFamily="34" charset="-122"/>
                <a:ea typeface="微软雅黑" pitchFamily="34" charset="-122"/>
              </a:rPr>
              <a:t>用 户 段</a:t>
            </a:r>
            <a:r>
              <a:rPr lang="zh-CN" altLang="en-US" sz="1600" dirty="0" smtClean="0">
                <a:solidFill>
                  <a:schemeClr val="bg1"/>
                </a:solidFill>
                <a:latin typeface="微软雅黑" pitchFamily="34" charset="-122"/>
                <a:ea typeface="微软雅黑" pitchFamily="34" charset="-122"/>
              </a:rPr>
              <a:t>：由北斗用户终端以及与</a:t>
            </a:r>
            <a:r>
              <a:rPr lang="en-US" altLang="zh-CN" sz="1600" dirty="0" smtClean="0">
                <a:solidFill>
                  <a:schemeClr val="bg1"/>
                </a:solidFill>
                <a:latin typeface="微软雅黑" pitchFamily="34" charset="-122"/>
                <a:ea typeface="微软雅黑" pitchFamily="34" charset="-122"/>
              </a:rPr>
              <a:t>GPS</a:t>
            </a:r>
            <a:r>
              <a:rPr lang="zh-CN" altLang="en-US" sz="1600" dirty="0" smtClean="0">
                <a:solidFill>
                  <a:schemeClr val="bg1"/>
                </a:solidFill>
                <a:latin typeface="微软雅黑" pitchFamily="34" charset="-122"/>
                <a:ea typeface="微软雅黑" pitchFamily="34" charset="-122"/>
              </a:rPr>
              <a:t>等</a:t>
            </a:r>
            <a:r>
              <a:rPr lang="zh-CN" altLang="en-US" sz="1600" dirty="0">
                <a:solidFill>
                  <a:schemeClr val="bg1"/>
                </a:solidFill>
                <a:latin typeface="微软雅黑" pitchFamily="34" charset="-122"/>
                <a:ea typeface="微软雅黑" pitchFamily="34" charset="-122"/>
              </a:rPr>
              <a:t>其他</a:t>
            </a:r>
            <a:r>
              <a:rPr lang="zh-CN" altLang="en-US" sz="1600" dirty="0" smtClean="0">
                <a:solidFill>
                  <a:schemeClr val="bg1"/>
                </a:solidFill>
                <a:latin typeface="微软雅黑" pitchFamily="34" charset="-122"/>
                <a:ea typeface="微软雅黑" pitchFamily="34" charset="-122"/>
              </a:rPr>
              <a:t>卫星导航系统</a:t>
            </a:r>
            <a:r>
              <a:rPr lang="zh-CN" altLang="en-US" sz="1600" dirty="0">
                <a:solidFill>
                  <a:schemeClr val="bg1"/>
                </a:solidFill>
                <a:latin typeface="微软雅黑" pitchFamily="34" charset="-122"/>
                <a:ea typeface="微软雅黑" pitchFamily="34" charset="-122"/>
              </a:rPr>
              <a:t>兼容的终端组成。</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a:xfrm>
            <a:off x="107504" y="4840397"/>
            <a:ext cx="2133600" cy="273844"/>
          </a:xfrm>
        </p:spPr>
        <p:txBody>
          <a:bodyPr/>
          <a:lstStyle/>
          <a:p>
            <a:pPr algn="l"/>
            <a:fld id="{0C913308-F349-4B6D-A68A-DD1791B4A57B}" type="slidenum">
              <a:rPr lang="zh-CN" altLang="en-US" smtClean="0"/>
              <a:t>16</a:t>
            </a:fld>
            <a:endParaRPr lang="zh-CN" altLang="en-US" dirty="0"/>
          </a:p>
        </p:txBody>
      </p:sp>
      <p:sp>
        <p:nvSpPr>
          <p:cNvPr id="7" name="矩形 6"/>
          <p:cNvSpPr/>
          <p:nvPr/>
        </p:nvSpPr>
        <p:spPr>
          <a:xfrm>
            <a:off x="971600" y="1131590"/>
            <a:ext cx="2981907" cy="400110"/>
          </a:xfrm>
          <a:prstGeom prst="rect">
            <a:avLst/>
          </a:prstGeom>
          <a:solidFill>
            <a:schemeClr val="accent1"/>
          </a:solidFill>
        </p:spPr>
        <p:txBody>
          <a:bodyPr wrap="none">
            <a:spAutoFit/>
          </a:bodyPr>
          <a:lstStyle/>
          <a:p>
            <a:pPr algn="l" fontAlgn="ctr"/>
            <a:r>
              <a:rPr sz="2000" b="1" dirty="0" smtClean="0">
                <a:solidFill>
                  <a:schemeClr val="bg1"/>
                </a:solidFill>
                <a:latin typeface="微软雅黑" panose="020B0503020204020204" pitchFamily="34" charset="-122"/>
                <a:ea typeface="微软雅黑" panose="020B0503020204020204" pitchFamily="34" charset="-122"/>
              </a:rPr>
              <a:t>3.北斗卫星导航定位系统</a:t>
            </a:r>
          </a:p>
        </p:txBody>
      </p:sp>
      <p:sp>
        <p:nvSpPr>
          <p:cNvPr id="9" name="Text Box 8"/>
          <p:cNvSpPr>
            <a:spLocks noChangeArrowheads="1"/>
          </p:cNvSpPr>
          <p:nvPr/>
        </p:nvSpPr>
        <p:spPr bwMode="auto">
          <a:xfrm>
            <a:off x="971600" y="339502"/>
            <a:ext cx="7573236" cy="583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9pPr>
          </a:lstStyle>
          <a:p>
            <a:pPr algn="ctr" eaLnBrk="1" hangingPunct="1">
              <a:spcBef>
                <a:spcPct val="0"/>
              </a:spcBef>
              <a:buFont typeface="Arial" panose="020B0604020202020204" pitchFamily="34" charset="0"/>
              <a:buNone/>
            </a:pPr>
            <a:r>
              <a:rPr lang="zh-CN" altLang="en-US" sz="3200" b="1" dirty="0" smtClean="0">
                <a:solidFill>
                  <a:schemeClr val="accent1"/>
                </a:solidFill>
                <a:latin typeface="微软雅黑" panose="020B0503020204020204" pitchFamily="34" charset="-122"/>
                <a:sym typeface="+mn-ea"/>
              </a:rPr>
              <a:t>智能网联汽车上应用了哪些导航定位系统？</a:t>
            </a:r>
          </a:p>
        </p:txBody>
      </p:sp>
      <p:sp>
        <p:nvSpPr>
          <p:cNvPr id="10" name="矩形 9"/>
          <p:cNvSpPr/>
          <p:nvPr/>
        </p:nvSpPr>
        <p:spPr>
          <a:xfrm>
            <a:off x="4067944" y="1162368"/>
            <a:ext cx="3389069" cy="338554"/>
          </a:xfrm>
          <a:prstGeom prst="rect">
            <a:avLst/>
          </a:prstGeom>
          <a:solidFill>
            <a:schemeClr val="accent1"/>
          </a:solidFill>
        </p:spPr>
        <p:txBody>
          <a:bodyPr wrap="none">
            <a:spAutoFit/>
          </a:bodyPr>
          <a:lstStyle/>
          <a:p>
            <a:r>
              <a:rPr lang="zh-CN" altLang="en-US" sz="1600" b="1" dirty="0" smtClean="0">
                <a:solidFill>
                  <a:schemeClr val="bg1"/>
                </a:solidFill>
                <a:latin typeface="微软雅黑" pitchFamily="34" charset="-122"/>
                <a:ea typeface="微软雅黑" pitchFamily="34" charset="-122"/>
              </a:rPr>
              <a:t>（</a:t>
            </a:r>
            <a:r>
              <a:rPr lang="en-US" altLang="zh-CN" sz="1600" b="1" dirty="0" smtClean="0">
                <a:solidFill>
                  <a:schemeClr val="bg1"/>
                </a:solidFill>
                <a:latin typeface="微软雅黑" pitchFamily="34" charset="-122"/>
                <a:ea typeface="微软雅黑" pitchFamily="34" charset="-122"/>
              </a:rPr>
              <a:t>2</a:t>
            </a:r>
            <a:r>
              <a:rPr lang="zh-CN" altLang="en-US" sz="1600" b="1" dirty="0" smtClean="0">
                <a:solidFill>
                  <a:schemeClr val="bg1"/>
                </a:solidFill>
                <a:latin typeface="微软雅黑" pitchFamily="34" charset="-122"/>
                <a:ea typeface="微软雅黑" pitchFamily="34" charset="-122"/>
              </a:rPr>
              <a:t>）</a:t>
            </a:r>
            <a:r>
              <a:rPr lang="zh-CN" altLang="en-US" sz="1600" b="1" dirty="0">
                <a:solidFill>
                  <a:schemeClr val="bg1"/>
                </a:solidFill>
                <a:latin typeface="微软雅黑" pitchFamily="34" charset="-122"/>
                <a:ea typeface="微软雅黑" pitchFamily="34" charset="-122"/>
              </a:rPr>
              <a:t>北斗卫星导航定位系统</a:t>
            </a:r>
            <a:r>
              <a:rPr lang="zh-CN" altLang="en-US" sz="1600" b="1" dirty="0" smtClean="0">
                <a:solidFill>
                  <a:schemeClr val="bg1"/>
                </a:solidFill>
                <a:latin typeface="微软雅黑" pitchFamily="34" charset="-122"/>
                <a:ea typeface="微软雅黑" pitchFamily="34" charset="-122"/>
              </a:rPr>
              <a:t>的</a:t>
            </a:r>
            <a:r>
              <a:rPr lang="zh-CN" altLang="en-US" sz="1600" b="1" dirty="0">
                <a:solidFill>
                  <a:schemeClr val="bg1"/>
                </a:solidFill>
                <a:latin typeface="微软雅黑" pitchFamily="34" charset="-122"/>
                <a:ea typeface="微软雅黑" pitchFamily="34" charset="-122"/>
              </a:rPr>
              <a:t>特点</a:t>
            </a:r>
          </a:p>
        </p:txBody>
      </p:sp>
      <p:sp>
        <p:nvSpPr>
          <p:cNvPr id="2" name="矩形 1"/>
          <p:cNvSpPr/>
          <p:nvPr/>
        </p:nvSpPr>
        <p:spPr>
          <a:xfrm>
            <a:off x="971600" y="1635646"/>
            <a:ext cx="7205327" cy="1776640"/>
          </a:xfrm>
          <a:prstGeom prst="rect">
            <a:avLst/>
          </a:prstGeom>
          <a:solidFill>
            <a:schemeClr val="accent1"/>
          </a:solidFill>
        </p:spPr>
        <p:txBody>
          <a:bodyPr wrap="square">
            <a:spAutoFit/>
          </a:bodyPr>
          <a:lstStyle/>
          <a:p>
            <a:pPr>
              <a:lnSpc>
                <a:spcPct val="114000"/>
              </a:lnSpc>
            </a:pPr>
            <a:r>
              <a:rPr lang="zh-CN" altLang="en-US" sz="1600" dirty="0" smtClean="0">
                <a:solidFill>
                  <a:schemeClr val="bg1"/>
                </a:solidFill>
                <a:latin typeface="微软雅黑" pitchFamily="34" charset="-122"/>
                <a:ea typeface="微软雅黑" pitchFamily="34" charset="-122"/>
              </a:rPr>
              <a:t>①同时</a:t>
            </a:r>
            <a:r>
              <a:rPr lang="zh-CN" altLang="en-US" sz="1600" dirty="0">
                <a:solidFill>
                  <a:schemeClr val="bg1"/>
                </a:solidFill>
                <a:latin typeface="微软雅黑" pitchFamily="34" charset="-122"/>
                <a:ea typeface="微软雅黑" pitchFamily="34" charset="-122"/>
              </a:rPr>
              <a:t>具备定位与通信功能，不需要其他通信系统支持（</a:t>
            </a:r>
            <a:r>
              <a:rPr lang="en-US" altLang="zh-CN" sz="1600" dirty="0">
                <a:solidFill>
                  <a:schemeClr val="bg1"/>
                </a:solidFill>
                <a:latin typeface="微软雅黑" pitchFamily="34" charset="-122"/>
                <a:ea typeface="微软雅黑" pitchFamily="34" charset="-122"/>
              </a:rPr>
              <a:t>GPS </a:t>
            </a:r>
            <a:r>
              <a:rPr lang="zh-CN" altLang="en-US" sz="1600" dirty="0">
                <a:solidFill>
                  <a:schemeClr val="bg1"/>
                </a:solidFill>
                <a:latin typeface="微软雅黑" pitchFamily="34" charset="-122"/>
                <a:ea typeface="微软雅黑" pitchFamily="34" charset="-122"/>
              </a:rPr>
              <a:t>只能定位）。 </a:t>
            </a:r>
            <a:endParaRPr lang="en-US" altLang="zh-CN" sz="1600" dirty="0" smtClean="0">
              <a:solidFill>
                <a:schemeClr val="bg1"/>
              </a:solidFill>
              <a:latin typeface="微软雅黑" pitchFamily="34" charset="-122"/>
              <a:ea typeface="微软雅黑" pitchFamily="34" charset="-122"/>
            </a:endParaRPr>
          </a:p>
          <a:p>
            <a:pPr>
              <a:lnSpc>
                <a:spcPct val="114000"/>
              </a:lnSpc>
            </a:pPr>
            <a:r>
              <a:rPr lang="zh-CN" altLang="en-US" sz="1600" dirty="0" smtClean="0">
                <a:solidFill>
                  <a:schemeClr val="bg1"/>
                </a:solidFill>
                <a:latin typeface="微软雅黑" pitchFamily="34" charset="-122"/>
                <a:ea typeface="微软雅黑" pitchFamily="34" charset="-122"/>
              </a:rPr>
              <a:t>②</a:t>
            </a:r>
            <a:r>
              <a:rPr lang="zh-CN" altLang="en-US" sz="1600" dirty="0">
                <a:solidFill>
                  <a:schemeClr val="bg1"/>
                </a:solidFill>
                <a:latin typeface="微软雅黑" pitchFamily="34" charset="-122"/>
                <a:ea typeface="微软雅黑" pitchFamily="34" charset="-122"/>
              </a:rPr>
              <a:t>覆盖范围大，没有通信盲区。 </a:t>
            </a:r>
            <a:endParaRPr lang="en-US" altLang="zh-CN" sz="1600" dirty="0" smtClean="0">
              <a:solidFill>
                <a:schemeClr val="bg1"/>
              </a:solidFill>
              <a:latin typeface="微软雅黑" pitchFamily="34" charset="-122"/>
              <a:ea typeface="微软雅黑" pitchFamily="34" charset="-122"/>
            </a:endParaRPr>
          </a:p>
          <a:p>
            <a:pPr>
              <a:lnSpc>
                <a:spcPct val="114000"/>
              </a:lnSpc>
            </a:pPr>
            <a:r>
              <a:rPr lang="zh-CN" altLang="en-US" sz="1600" dirty="0" smtClean="0">
                <a:solidFill>
                  <a:schemeClr val="bg1"/>
                </a:solidFill>
                <a:latin typeface="微软雅黑" pitchFamily="34" charset="-122"/>
                <a:ea typeface="微软雅黑" pitchFamily="34" charset="-122"/>
              </a:rPr>
              <a:t>③</a:t>
            </a:r>
            <a:r>
              <a:rPr lang="zh-CN" altLang="en-US" sz="1600" dirty="0">
                <a:solidFill>
                  <a:schemeClr val="bg1"/>
                </a:solidFill>
                <a:latin typeface="微软雅黑" pitchFamily="34" charset="-122"/>
                <a:ea typeface="微软雅黑" pitchFamily="34" charset="-122"/>
              </a:rPr>
              <a:t>特别适合于集团用户大范围监控管理和数据采集用户的数据传输应用。 </a:t>
            </a:r>
            <a:endParaRPr lang="en-US" altLang="zh-CN" sz="1600" dirty="0" smtClean="0">
              <a:solidFill>
                <a:schemeClr val="bg1"/>
              </a:solidFill>
              <a:latin typeface="微软雅黑" pitchFamily="34" charset="-122"/>
              <a:ea typeface="微软雅黑" pitchFamily="34" charset="-122"/>
            </a:endParaRPr>
          </a:p>
          <a:p>
            <a:pPr>
              <a:lnSpc>
                <a:spcPct val="114000"/>
              </a:lnSpc>
            </a:pPr>
            <a:r>
              <a:rPr lang="zh-CN" altLang="en-US" sz="1600" dirty="0" smtClean="0">
                <a:solidFill>
                  <a:schemeClr val="bg1"/>
                </a:solidFill>
                <a:latin typeface="微软雅黑" pitchFamily="34" charset="-122"/>
                <a:ea typeface="微软雅黑" pitchFamily="34" charset="-122"/>
              </a:rPr>
              <a:t>④</a:t>
            </a:r>
            <a:r>
              <a:rPr lang="zh-CN" altLang="en-US" sz="1600" dirty="0">
                <a:solidFill>
                  <a:schemeClr val="bg1"/>
                </a:solidFill>
                <a:latin typeface="微软雅黑" pitchFamily="34" charset="-122"/>
                <a:ea typeface="微软雅黑" pitchFamily="34" charset="-122"/>
              </a:rPr>
              <a:t>融合北斗导航定位系统和卫星增强系统两大资源，因此也可利用 </a:t>
            </a:r>
            <a:r>
              <a:rPr lang="en-US" altLang="zh-CN" sz="1600" dirty="0">
                <a:solidFill>
                  <a:schemeClr val="bg1"/>
                </a:solidFill>
                <a:latin typeface="微软雅黑" pitchFamily="34" charset="-122"/>
                <a:ea typeface="微软雅黑" pitchFamily="34" charset="-122"/>
              </a:rPr>
              <a:t>GPS</a:t>
            </a:r>
            <a:r>
              <a:rPr lang="zh-CN" altLang="en-US" sz="1600" dirty="0">
                <a:solidFill>
                  <a:schemeClr val="bg1"/>
                </a:solidFill>
                <a:latin typeface="微软雅黑" pitchFamily="34" charset="-122"/>
                <a:ea typeface="微软雅黑" pitchFamily="34" charset="-122"/>
              </a:rPr>
              <a:t>，使应用</a:t>
            </a:r>
            <a:r>
              <a:rPr lang="zh-CN" altLang="en-US" sz="1600" dirty="0" smtClean="0">
                <a:solidFill>
                  <a:schemeClr val="bg1"/>
                </a:solidFill>
                <a:latin typeface="微软雅黑" pitchFamily="34" charset="-122"/>
                <a:ea typeface="微软雅黑" pitchFamily="34" charset="-122"/>
              </a:rPr>
              <a:t>更加丰富</a:t>
            </a:r>
            <a:r>
              <a:rPr lang="zh-CN" altLang="en-US" sz="1600" dirty="0">
                <a:solidFill>
                  <a:schemeClr val="bg1"/>
                </a:solidFill>
                <a:latin typeface="微软雅黑" pitchFamily="34" charset="-122"/>
                <a:ea typeface="微软雅黑" pitchFamily="34" charset="-122"/>
              </a:rPr>
              <a:t>。 </a:t>
            </a:r>
            <a:endParaRPr lang="en-US" altLang="zh-CN" sz="1600" dirty="0" smtClean="0">
              <a:solidFill>
                <a:schemeClr val="bg1"/>
              </a:solidFill>
              <a:latin typeface="微软雅黑" pitchFamily="34" charset="-122"/>
              <a:ea typeface="微软雅黑" pitchFamily="34" charset="-122"/>
            </a:endParaRPr>
          </a:p>
          <a:p>
            <a:pPr>
              <a:lnSpc>
                <a:spcPct val="114000"/>
              </a:lnSpc>
            </a:pPr>
            <a:r>
              <a:rPr lang="zh-CN" altLang="en-US" sz="1600" dirty="0" smtClean="0">
                <a:solidFill>
                  <a:schemeClr val="bg1"/>
                </a:solidFill>
                <a:latin typeface="微软雅黑" pitchFamily="34" charset="-122"/>
                <a:ea typeface="微软雅黑" pitchFamily="34" charset="-122"/>
              </a:rPr>
              <a:t>⑤</a:t>
            </a:r>
            <a:r>
              <a:rPr lang="zh-CN" altLang="en-US" sz="1600" dirty="0">
                <a:solidFill>
                  <a:schemeClr val="bg1"/>
                </a:solidFill>
                <a:latin typeface="微软雅黑" pitchFamily="34" charset="-122"/>
                <a:ea typeface="微软雅黑" pitchFamily="34" charset="-122"/>
              </a:rPr>
              <a:t>自主系统，安全、可靠、稳定，保密性强，适合关键部门应用</a:t>
            </a:r>
            <a:r>
              <a:rPr lang="zh-CN" altLang="en-US" sz="1600" dirty="0" smtClean="0">
                <a:solidFill>
                  <a:schemeClr val="bg1"/>
                </a:solidFill>
                <a:latin typeface="微软雅黑" pitchFamily="34" charset="-122"/>
                <a:ea typeface="微软雅黑" pitchFamily="34" charset="-122"/>
              </a:rPr>
              <a:t>。</a:t>
            </a:r>
            <a:endParaRPr lang="zh-CN" altLang="en-US" sz="1600" dirty="0">
              <a:solidFill>
                <a:schemeClr val="bg1"/>
              </a:solidFill>
              <a:latin typeface="微软雅黑" pitchFamily="34" charset="-122"/>
              <a:ea typeface="微软雅黑" pitchFamily="34" charset="-122"/>
            </a:endParaRPr>
          </a:p>
        </p:txBody>
      </p:sp>
      <p:sp>
        <p:nvSpPr>
          <p:cNvPr id="5" name="矩形 4"/>
          <p:cNvSpPr/>
          <p:nvPr/>
        </p:nvSpPr>
        <p:spPr>
          <a:xfrm>
            <a:off x="971600" y="3579862"/>
            <a:ext cx="7209854" cy="934487"/>
          </a:xfrm>
          <a:prstGeom prst="rect">
            <a:avLst/>
          </a:prstGeom>
          <a:solidFill>
            <a:schemeClr val="accent1"/>
          </a:solidFill>
        </p:spPr>
        <p:txBody>
          <a:bodyPr wrap="square">
            <a:spAutoFit/>
          </a:bodyPr>
          <a:lstStyle/>
          <a:p>
            <a:pPr>
              <a:lnSpc>
                <a:spcPct val="114000"/>
              </a:lnSpc>
            </a:pPr>
            <a:r>
              <a:rPr lang="zh-CN" altLang="en-US" sz="1600" dirty="0">
                <a:solidFill>
                  <a:schemeClr val="bg1"/>
                </a:solidFill>
                <a:latin typeface="微软雅黑" pitchFamily="34" charset="-122"/>
                <a:ea typeface="微软雅黑" pitchFamily="34" charset="-122"/>
              </a:rPr>
              <a:t>北斗卫星导航定位系统目前在汽车领域还没有大面积推广应用，但在国家制订的</a:t>
            </a:r>
            <a:r>
              <a:rPr lang="zh-CN" altLang="en-US" sz="1600" dirty="0" smtClean="0">
                <a:solidFill>
                  <a:schemeClr val="bg1"/>
                </a:solidFill>
                <a:latin typeface="微软雅黑" pitchFamily="34" charset="-122"/>
                <a:ea typeface="微软雅黑" pitchFamily="34" charset="-122"/>
              </a:rPr>
              <a:t>智能网</a:t>
            </a:r>
            <a:r>
              <a:rPr lang="zh-CN" altLang="en-US" sz="1600" dirty="0">
                <a:solidFill>
                  <a:schemeClr val="bg1"/>
                </a:solidFill>
                <a:latin typeface="微软雅黑" pitchFamily="34" charset="-122"/>
                <a:ea typeface="微软雅黑" pitchFamily="34" charset="-122"/>
              </a:rPr>
              <a:t>联汽车发展规划中，已明确提出要大力推广北斗卫星导航系统在智能网联汽车和自动（无 人）驾驶汽车中的应用。</a:t>
            </a:r>
            <a:endParaRPr lang="zh-CN" altLang="en-US" sz="1600" dirty="0">
              <a:solidFill>
                <a:schemeClr val="bg1"/>
              </a:solidFill>
              <a:latin typeface="微软雅黑" pitchFamily="34" charset="-122"/>
              <a:ea typeface="微软雅黑" pitchFamily="34" charset="-122"/>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a:xfrm>
            <a:off x="107504" y="4840397"/>
            <a:ext cx="2133600" cy="273844"/>
          </a:xfrm>
        </p:spPr>
        <p:txBody>
          <a:bodyPr/>
          <a:lstStyle/>
          <a:p>
            <a:pPr algn="l"/>
            <a:fld id="{0C913308-F349-4B6D-A68A-DD1791B4A57B}" type="slidenum">
              <a:rPr lang="zh-CN" altLang="en-US" smtClean="0"/>
              <a:t>17</a:t>
            </a:fld>
            <a:endParaRPr lang="zh-CN" altLang="en-US" dirty="0"/>
          </a:p>
        </p:txBody>
      </p:sp>
      <p:sp>
        <p:nvSpPr>
          <p:cNvPr id="3" name="矩形 2"/>
          <p:cNvSpPr/>
          <p:nvPr/>
        </p:nvSpPr>
        <p:spPr>
          <a:xfrm>
            <a:off x="971600" y="1163340"/>
            <a:ext cx="1955985" cy="400110"/>
          </a:xfrm>
          <a:prstGeom prst="rect">
            <a:avLst/>
          </a:prstGeom>
          <a:solidFill>
            <a:schemeClr val="accent1"/>
          </a:solidFill>
        </p:spPr>
        <p:txBody>
          <a:bodyPr wrap="none">
            <a:spAutoFit/>
          </a:bodyPr>
          <a:lstStyle/>
          <a:p>
            <a:pPr algn="l" fontAlgn="ctr"/>
            <a:r>
              <a:rPr sz="2000" b="1" dirty="0" smtClean="0">
                <a:solidFill>
                  <a:schemeClr val="bg1"/>
                </a:solidFill>
                <a:latin typeface="微软雅黑" panose="020B0503020204020204" pitchFamily="34" charset="-122"/>
                <a:ea typeface="微软雅黑" panose="020B0503020204020204" pitchFamily="34" charset="-122"/>
              </a:rPr>
              <a:t>4.惯性导航系统</a:t>
            </a:r>
          </a:p>
        </p:txBody>
      </p:sp>
      <p:sp>
        <p:nvSpPr>
          <p:cNvPr id="4" name="文本框 3"/>
          <p:cNvSpPr txBox="1"/>
          <p:nvPr/>
        </p:nvSpPr>
        <p:spPr>
          <a:xfrm>
            <a:off x="971600" y="1635646"/>
            <a:ext cx="7200800" cy="1215204"/>
          </a:xfrm>
          <a:prstGeom prst="rect">
            <a:avLst/>
          </a:prstGeom>
          <a:solidFill>
            <a:schemeClr val="accent1"/>
          </a:solidFill>
          <a:ln w="9525">
            <a:noFill/>
          </a:ln>
        </p:spPr>
        <p:txBody>
          <a:bodyPr wrap="square">
            <a:spAutoFit/>
          </a:bodyPr>
          <a:lstStyle/>
          <a:p>
            <a:pPr indent="0" fontAlgn="auto">
              <a:lnSpc>
                <a:spcPct val="114000"/>
              </a:lnSpc>
            </a:pPr>
            <a:r>
              <a:rPr lang="zh-CN" sz="1600" b="1" dirty="0">
                <a:solidFill>
                  <a:schemeClr val="bg1"/>
                </a:solidFill>
                <a:latin typeface="微软雅黑" pitchFamily="34" charset="-122"/>
                <a:ea typeface="微软雅黑" pitchFamily="34" charset="-122"/>
              </a:rPr>
              <a:t>（1）惯性导航系统的定义</a:t>
            </a:r>
          </a:p>
          <a:p>
            <a:pPr indent="0" fontAlgn="auto">
              <a:lnSpc>
                <a:spcPct val="114000"/>
              </a:lnSpc>
            </a:pPr>
            <a:r>
              <a:rPr lang="zh-CN" sz="1600" b="0" dirty="0">
                <a:solidFill>
                  <a:schemeClr val="bg1"/>
                </a:solidFill>
                <a:latin typeface="微软雅黑" pitchFamily="34" charset="-122"/>
                <a:ea typeface="微软雅黑" pitchFamily="34" charset="-122"/>
              </a:rPr>
              <a:t>惯性导航系统(Inertial Navigation System，简称INS)，也称为惯性参考系统，是一种不依赖于外部信息、也不向外部辐射能量(如无线电导航那样)的自主式导航系统。其工作环境不仅包括空中、地面，还可以在水下</a:t>
            </a:r>
            <a:r>
              <a:rPr lang="zh-CN" sz="1600" b="0" dirty="0" smtClean="0">
                <a:solidFill>
                  <a:schemeClr val="bg1"/>
                </a:solidFill>
                <a:latin typeface="微软雅黑" pitchFamily="34" charset="-122"/>
                <a:ea typeface="微软雅黑" pitchFamily="34" charset="-122"/>
              </a:rPr>
              <a:t>。</a:t>
            </a:r>
            <a:endParaRPr lang="zh-CN" sz="1600" b="0" dirty="0">
              <a:solidFill>
                <a:schemeClr val="bg1"/>
              </a:solidFill>
              <a:latin typeface="微软雅黑" pitchFamily="34" charset="-122"/>
              <a:ea typeface="微软雅黑" pitchFamily="34" charset="-122"/>
            </a:endParaRPr>
          </a:p>
        </p:txBody>
      </p:sp>
      <p:pic>
        <p:nvPicPr>
          <p:cNvPr id="29" name="图片 29" descr="图5-1-8"/>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a:xfrm>
            <a:off x="5292080" y="3003798"/>
            <a:ext cx="2880320" cy="1495922"/>
          </a:xfrm>
          <a:prstGeom prst="rect">
            <a:avLst/>
          </a:prstGeom>
          <a:noFill/>
          <a:ln>
            <a:solidFill>
              <a:schemeClr val="accent1"/>
            </a:solidFill>
          </a:ln>
        </p:spPr>
      </p:pic>
      <p:sp>
        <p:nvSpPr>
          <p:cNvPr id="7" name="Text Box 8"/>
          <p:cNvSpPr>
            <a:spLocks noChangeArrowheads="1"/>
          </p:cNvSpPr>
          <p:nvPr/>
        </p:nvSpPr>
        <p:spPr bwMode="auto">
          <a:xfrm>
            <a:off x="971600" y="339502"/>
            <a:ext cx="7573236" cy="583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9pPr>
          </a:lstStyle>
          <a:p>
            <a:pPr algn="ctr" eaLnBrk="1" hangingPunct="1">
              <a:spcBef>
                <a:spcPct val="0"/>
              </a:spcBef>
              <a:buFont typeface="Arial" panose="020B0604020202020204" pitchFamily="34" charset="0"/>
              <a:buNone/>
            </a:pPr>
            <a:r>
              <a:rPr lang="zh-CN" altLang="en-US" sz="3200" b="1" dirty="0" smtClean="0">
                <a:solidFill>
                  <a:schemeClr val="accent1"/>
                </a:solidFill>
                <a:latin typeface="微软雅黑" panose="020B0503020204020204" pitchFamily="34" charset="-122"/>
                <a:sym typeface="+mn-ea"/>
              </a:rPr>
              <a:t>智能网联汽车上应用了哪些导航定位系统？</a:t>
            </a:r>
          </a:p>
        </p:txBody>
      </p:sp>
      <p:sp>
        <p:nvSpPr>
          <p:cNvPr id="9" name="文本框 3"/>
          <p:cNvSpPr txBox="1"/>
          <p:nvPr/>
        </p:nvSpPr>
        <p:spPr>
          <a:xfrm>
            <a:off x="971600" y="3003798"/>
            <a:ext cx="4176464" cy="1495922"/>
          </a:xfrm>
          <a:prstGeom prst="rect">
            <a:avLst/>
          </a:prstGeom>
          <a:solidFill>
            <a:schemeClr val="accent1"/>
          </a:solidFill>
          <a:ln w="9525">
            <a:noFill/>
          </a:ln>
        </p:spPr>
        <p:txBody>
          <a:bodyPr wrap="square">
            <a:spAutoFit/>
          </a:bodyPr>
          <a:lstStyle/>
          <a:p>
            <a:pPr indent="0" fontAlgn="auto">
              <a:lnSpc>
                <a:spcPct val="114000"/>
              </a:lnSpc>
            </a:pPr>
            <a:r>
              <a:rPr lang="zh-CN" sz="1600" b="1" dirty="0" smtClean="0">
                <a:solidFill>
                  <a:schemeClr val="bg1"/>
                </a:solidFill>
                <a:latin typeface="微软雅黑" pitchFamily="34" charset="-122"/>
                <a:ea typeface="微软雅黑" pitchFamily="34" charset="-122"/>
              </a:rPr>
              <a:t>（</a:t>
            </a:r>
            <a:r>
              <a:rPr lang="zh-CN" sz="1600" b="1" dirty="0">
                <a:solidFill>
                  <a:schemeClr val="bg1"/>
                </a:solidFill>
                <a:latin typeface="微软雅黑" pitchFamily="34" charset="-122"/>
                <a:ea typeface="微软雅黑" pitchFamily="34" charset="-122"/>
              </a:rPr>
              <a:t>2）惯性导航系统的工作原理</a:t>
            </a:r>
          </a:p>
          <a:p>
            <a:pPr indent="0" fontAlgn="auto">
              <a:lnSpc>
                <a:spcPct val="114000"/>
              </a:lnSpc>
            </a:pPr>
            <a:r>
              <a:rPr lang="zh-CN" sz="1600" b="0" dirty="0">
                <a:solidFill>
                  <a:schemeClr val="bg1"/>
                </a:solidFill>
                <a:latin typeface="微软雅黑" pitchFamily="34" charset="-122"/>
                <a:ea typeface="微软雅黑" pitchFamily="34" charset="-122"/>
              </a:rPr>
              <a:t>惯性导航系统由陀螺仪、加速度传感器及软件构成，通过测量运动载体的角速度和加速度数据，并将这些数据对时间进行积分运算，从而得到运动载体的速度、位置和姿态角。</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图片 26" descr="说明: http://www.rion-tech.net/imageRepository/a5e62ba1-89cd-4aea-80ba-9a9c03b82671.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a:xfrm>
            <a:off x="6372200" y="3295073"/>
            <a:ext cx="1831804" cy="1468436"/>
          </a:xfrm>
          <a:prstGeom prst="rect">
            <a:avLst/>
          </a:prstGeom>
          <a:noFill/>
          <a:ln>
            <a:solidFill>
              <a:schemeClr val="accent1"/>
            </a:solidFill>
          </a:ln>
        </p:spPr>
      </p:pic>
      <p:pic>
        <p:nvPicPr>
          <p:cNvPr id="28" name="图片 28" descr="图5-1-9"/>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a:xfrm>
            <a:off x="5364088" y="1563450"/>
            <a:ext cx="2798440" cy="1579304"/>
          </a:xfrm>
          <a:prstGeom prst="rect">
            <a:avLst/>
          </a:prstGeom>
          <a:noFill/>
          <a:ln w="12700" cmpd="sng">
            <a:solidFill>
              <a:schemeClr val="accent1"/>
            </a:solidFill>
            <a:prstDash val="solid"/>
          </a:ln>
        </p:spPr>
      </p:pic>
      <p:pic>
        <p:nvPicPr>
          <p:cNvPr id="27" name="图片 27" descr="说明: http://img02.hc360.com/security/201609/201609211813185581.jp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a:xfrm>
            <a:off x="4283968" y="3295073"/>
            <a:ext cx="1944216" cy="1468436"/>
          </a:xfrm>
          <a:prstGeom prst="rect">
            <a:avLst/>
          </a:prstGeom>
          <a:noFill/>
          <a:ln w="12700" cmpd="sng">
            <a:solidFill>
              <a:schemeClr val="accent1"/>
            </a:solidFill>
            <a:prstDash val="solid"/>
          </a:ln>
        </p:spPr>
      </p:pic>
      <p:sp>
        <p:nvSpPr>
          <p:cNvPr id="13" name="矩形 12"/>
          <p:cNvSpPr/>
          <p:nvPr/>
        </p:nvSpPr>
        <p:spPr>
          <a:xfrm>
            <a:off x="971600" y="1163340"/>
            <a:ext cx="1955985" cy="400110"/>
          </a:xfrm>
          <a:prstGeom prst="rect">
            <a:avLst/>
          </a:prstGeom>
          <a:solidFill>
            <a:schemeClr val="accent1"/>
          </a:solidFill>
        </p:spPr>
        <p:txBody>
          <a:bodyPr wrap="none">
            <a:spAutoFit/>
          </a:bodyPr>
          <a:lstStyle/>
          <a:p>
            <a:pPr algn="l" fontAlgn="ctr"/>
            <a:r>
              <a:rPr sz="2000" b="1" dirty="0" smtClean="0">
                <a:solidFill>
                  <a:schemeClr val="bg1"/>
                </a:solidFill>
                <a:latin typeface="微软雅黑" panose="020B0503020204020204" pitchFamily="34" charset="-122"/>
                <a:ea typeface="微软雅黑" panose="020B0503020204020204" pitchFamily="34" charset="-122"/>
              </a:rPr>
              <a:t>4.惯性导航系统</a:t>
            </a:r>
          </a:p>
        </p:txBody>
      </p:sp>
      <p:sp>
        <p:nvSpPr>
          <p:cNvPr id="14" name="Text Box 8"/>
          <p:cNvSpPr>
            <a:spLocks noChangeArrowheads="1"/>
          </p:cNvSpPr>
          <p:nvPr/>
        </p:nvSpPr>
        <p:spPr bwMode="auto">
          <a:xfrm>
            <a:off x="971600" y="339502"/>
            <a:ext cx="7573236" cy="583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9pPr>
          </a:lstStyle>
          <a:p>
            <a:pPr algn="ctr" eaLnBrk="1" hangingPunct="1">
              <a:spcBef>
                <a:spcPct val="0"/>
              </a:spcBef>
              <a:buFont typeface="Arial" panose="020B0604020202020204" pitchFamily="34" charset="0"/>
              <a:buNone/>
            </a:pPr>
            <a:r>
              <a:rPr lang="zh-CN" altLang="en-US" sz="3200" b="1" dirty="0" smtClean="0">
                <a:solidFill>
                  <a:schemeClr val="accent1"/>
                </a:solidFill>
                <a:latin typeface="微软雅黑" panose="020B0503020204020204" pitchFamily="34" charset="-122"/>
                <a:sym typeface="+mn-ea"/>
              </a:rPr>
              <a:t>智能网联汽车上应用了哪些导航定位系统？</a:t>
            </a:r>
          </a:p>
        </p:txBody>
      </p:sp>
      <p:sp>
        <p:nvSpPr>
          <p:cNvPr id="6" name="矩形 5"/>
          <p:cNvSpPr/>
          <p:nvPr/>
        </p:nvSpPr>
        <p:spPr>
          <a:xfrm>
            <a:off x="3033077" y="1178165"/>
            <a:ext cx="2978701" cy="351763"/>
          </a:xfrm>
          <a:prstGeom prst="rect">
            <a:avLst/>
          </a:prstGeom>
          <a:solidFill>
            <a:schemeClr val="accent1"/>
          </a:solidFill>
        </p:spPr>
        <p:txBody>
          <a:bodyPr wrap="none">
            <a:spAutoFit/>
          </a:bodyPr>
          <a:lstStyle/>
          <a:p>
            <a:pPr indent="0" fontAlgn="auto">
              <a:lnSpc>
                <a:spcPct val="114000"/>
              </a:lnSpc>
            </a:pPr>
            <a:r>
              <a:rPr lang="zh-CN" altLang="zh-CN" sz="1600" b="1" dirty="0">
                <a:solidFill>
                  <a:schemeClr val="bg1"/>
                </a:solidFill>
                <a:latin typeface="微软雅黑" pitchFamily="34" charset="-122"/>
                <a:ea typeface="微软雅黑" pitchFamily="34" charset="-122"/>
              </a:rPr>
              <a:t>（2）惯性导航系统的工作原理</a:t>
            </a:r>
            <a:endParaRPr lang="zh-CN" altLang="zh-CN" sz="1600" b="1" dirty="0">
              <a:solidFill>
                <a:schemeClr val="bg1"/>
              </a:solidFill>
              <a:latin typeface="微软雅黑" pitchFamily="34" charset="-122"/>
              <a:ea typeface="微软雅黑" pitchFamily="34" charset="-122"/>
            </a:endParaRPr>
          </a:p>
        </p:txBody>
      </p:sp>
      <p:sp>
        <p:nvSpPr>
          <p:cNvPr id="9" name="矩形 8"/>
          <p:cNvSpPr/>
          <p:nvPr/>
        </p:nvSpPr>
        <p:spPr>
          <a:xfrm>
            <a:off x="940645" y="1642961"/>
            <a:ext cx="4315431" cy="1569660"/>
          </a:xfrm>
          <a:prstGeom prst="rect">
            <a:avLst/>
          </a:prstGeom>
          <a:solidFill>
            <a:schemeClr val="accent1"/>
          </a:solidFill>
        </p:spPr>
        <p:txBody>
          <a:bodyPr wrap="square">
            <a:spAutoFit/>
          </a:bodyPr>
          <a:lstStyle/>
          <a:p>
            <a:r>
              <a:rPr lang="zh-CN" altLang="en-US" sz="1600" dirty="0">
                <a:solidFill>
                  <a:schemeClr val="bg1"/>
                </a:solidFill>
                <a:latin typeface="微软雅黑" pitchFamily="34" charset="-122"/>
                <a:ea typeface="微软雅黑" pitchFamily="34" charset="-122"/>
              </a:rPr>
              <a:t>惯性导航系统属于一种推算导航方式，即从一已知点的位置根据连续测得的运动载体航向角和速度推算出</a:t>
            </a:r>
            <a:r>
              <a:rPr lang="zh-CN" altLang="en-US" sz="1600" dirty="0" smtClean="0">
                <a:solidFill>
                  <a:schemeClr val="bg1"/>
                </a:solidFill>
                <a:latin typeface="微软雅黑" pitchFamily="34" charset="-122"/>
                <a:ea typeface="微软雅黑" pitchFamily="34" charset="-122"/>
              </a:rPr>
              <a:t>其下</a:t>
            </a:r>
            <a:r>
              <a:rPr lang="zh-CN" altLang="en-US" sz="1600" dirty="0">
                <a:solidFill>
                  <a:schemeClr val="bg1"/>
                </a:solidFill>
                <a:latin typeface="微软雅黑" pitchFamily="34" charset="-122"/>
                <a:ea typeface="微软雅黑" pitchFamily="34" charset="-122"/>
              </a:rPr>
              <a:t>一点的位置，因而可连续测出运动体的当前位置</a:t>
            </a:r>
            <a:r>
              <a:rPr lang="zh-CN" altLang="en-US" sz="1600" dirty="0" smtClean="0">
                <a:solidFill>
                  <a:schemeClr val="bg1"/>
                </a:solidFill>
                <a:latin typeface="微软雅黑" pitchFamily="34" charset="-122"/>
                <a:ea typeface="微软雅黑" pitchFamily="34" charset="-122"/>
              </a:rPr>
              <a:t>。</a:t>
            </a:r>
            <a:endParaRPr lang="en-US" altLang="zh-CN" sz="1600" dirty="0" smtClean="0">
              <a:solidFill>
                <a:schemeClr val="bg1"/>
              </a:solidFill>
              <a:latin typeface="微软雅黑" pitchFamily="34" charset="-122"/>
              <a:ea typeface="微软雅黑" pitchFamily="34" charset="-122"/>
            </a:endParaRPr>
          </a:p>
          <a:p>
            <a:r>
              <a:rPr lang="zh-CN" altLang="en-US" sz="1600" dirty="0" smtClean="0">
                <a:solidFill>
                  <a:schemeClr val="bg1"/>
                </a:solidFill>
                <a:latin typeface="微软雅黑" pitchFamily="34" charset="-122"/>
                <a:ea typeface="微软雅黑" pitchFamily="34" charset="-122"/>
              </a:rPr>
              <a:t>可以</a:t>
            </a:r>
            <a:r>
              <a:rPr lang="zh-CN" altLang="en-US" sz="1600" dirty="0">
                <a:solidFill>
                  <a:schemeClr val="bg1"/>
                </a:solidFill>
                <a:latin typeface="微软雅黑" pitchFamily="34" charset="-122"/>
                <a:ea typeface="微软雅黑" pitchFamily="34" charset="-122"/>
              </a:rPr>
              <a:t>使用加速度</a:t>
            </a:r>
            <a:r>
              <a:rPr lang="zh-CN" altLang="en-US" sz="1600" dirty="0" smtClean="0">
                <a:solidFill>
                  <a:schemeClr val="bg1"/>
                </a:solidFill>
                <a:latin typeface="微软雅黑" pitchFamily="34" charset="-122"/>
                <a:ea typeface="微软雅黑" pitchFamily="34" charset="-122"/>
              </a:rPr>
              <a:t>、初始</a:t>
            </a:r>
            <a:r>
              <a:rPr lang="zh-CN" altLang="en-US" sz="1600" dirty="0">
                <a:solidFill>
                  <a:schemeClr val="bg1"/>
                </a:solidFill>
                <a:latin typeface="微软雅黑" pitchFamily="34" charset="-122"/>
                <a:ea typeface="微软雅黑" pitchFamily="34" charset="-122"/>
              </a:rPr>
              <a:t>速度和初始位置计算汽车在任何时间点的</a:t>
            </a:r>
            <a:r>
              <a:rPr lang="zh-CN" altLang="en-US" sz="1600" dirty="0" smtClean="0">
                <a:solidFill>
                  <a:schemeClr val="bg1"/>
                </a:solidFill>
                <a:latin typeface="微软雅黑" pitchFamily="34" charset="-122"/>
                <a:ea typeface="微软雅黑" pitchFamily="34" charset="-122"/>
              </a:rPr>
              <a:t>车速</a:t>
            </a:r>
            <a:r>
              <a:rPr lang="zh-CN" altLang="en-US" sz="1600" dirty="0">
                <a:solidFill>
                  <a:schemeClr val="bg1"/>
                </a:solidFill>
                <a:latin typeface="微软雅黑" pitchFamily="34" charset="-122"/>
                <a:ea typeface="微软雅黑" pitchFamily="34" charset="-122"/>
              </a:rPr>
              <a:t>和位置</a:t>
            </a:r>
            <a:r>
              <a:rPr lang="zh-CN" altLang="en-US" sz="1600" dirty="0" smtClean="0">
                <a:solidFill>
                  <a:schemeClr val="bg1"/>
                </a:solidFill>
                <a:latin typeface="微软雅黑" pitchFamily="34" charset="-122"/>
                <a:ea typeface="微软雅黑" pitchFamily="34" charset="-122"/>
              </a:rPr>
              <a:t>。</a:t>
            </a:r>
            <a:endParaRPr lang="zh-CN" altLang="en-US" sz="1600" dirty="0">
              <a:solidFill>
                <a:schemeClr val="bg1"/>
              </a:solidFill>
              <a:latin typeface="微软雅黑" pitchFamily="34" charset="-122"/>
              <a:ea typeface="微软雅黑" pitchFamily="34" charset="-122"/>
            </a:endParaRPr>
          </a:p>
        </p:txBody>
      </p:sp>
      <p:sp>
        <p:nvSpPr>
          <p:cNvPr id="10" name="矩形 9"/>
          <p:cNvSpPr/>
          <p:nvPr/>
        </p:nvSpPr>
        <p:spPr>
          <a:xfrm>
            <a:off x="940645" y="3429126"/>
            <a:ext cx="3127299" cy="1200329"/>
          </a:xfrm>
          <a:prstGeom prst="rect">
            <a:avLst/>
          </a:prstGeom>
          <a:solidFill>
            <a:schemeClr val="accent1"/>
          </a:solidFill>
        </p:spPr>
        <p:txBody>
          <a:bodyPr wrap="square">
            <a:spAutoFit/>
          </a:bodyPr>
          <a:lstStyle/>
          <a:p>
            <a:pPr>
              <a:lnSpc>
                <a:spcPct val="150000"/>
              </a:lnSpc>
            </a:pPr>
            <a:r>
              <a:rPr lang="zh-CN" altLang="en-US" sz="1600" dirty="0">
                <a:solidFill>
                  <a:schemeClr val="bg1"/>
                </a:solidFill>
                <a:latin typeface="微软雅黑" pitchFamily="34" charset="-122"/>
                <a:ea typeface="微软雅黑" pitchFamily="34" charset="-122"/>
              </a:rPr>
              <a:t>加速度传感器和陀螺仪结合就是惯性测量单元（</a:t>
            </a:r>
            <a:r>
              <a:rPr lang="en-US" altLang="zh-CN" sz="1600" dirty="0">
                <a:solidFill>
                  <a:schemeClr val="bg1"/>
                </a:solidFill>
                <a:latin typeface="微软雅黑" pitchFamily="34" charset="-122"/>
                <a:ea typeface="微软雅黑" pitchFamily="34" charset="-122"/>
              </a:rPr>
              <a:t>IMU</a:t>
            </a:r>
            <a:r>
              <a:rPr lang="zh-CN" altLang="en-US" sz="1600" dirty="0">
                <a:solidFill>
                  <a:schemeClr val="bg1"/>
                </a:solidFill>
                <a:latin typeface="微软雅黑" pitchFamily="34" charset="-122"/>
                <a:ea typeface="微软雅黑" pitchFamily="34" charset="-122"/>
              </a:rPr>
              <a:t>），一个解决速度，一个解决方向。</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 name="图片 25" descr="图5-1-1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a:xfrm>
            <a:off x="3635896" y="2067694"/>
            <a:ext cx="4517116" cy="2592288"/>
          </a:xfrm>
          <a:prstGeom prst="rect">
            <a:avLst/>
          </a:prstGeom>
          <a:noFill/>
          <a:ln w="12700" cmpd="sng">
            <a:solidFill>
              <a:schemeClr val="accent1">
                <a:shade val="50000"/>
              </a:schemeClr>
            </a:solidFill>
            <a:prstDash val="solid"/>
          </a:ln>
        </p:spPr>
      </p:pic>
      <p:sp>
        <p:nvSpPr>
          <p:cNvPr id="13" name="矩形 12"/>
          <p:cNvSpPr/>
          <p:nvPr/>
        </p:nvSpPr>
        <p:spPr>
          <a:xfrm>
            <a:off x="971600" y="1163340"/>
            <a:ext cx="1955985" cy="400110"/>
          </a:xfrm>
          <a:prstGeom prst="rect">
            <a:avLst/>
          </a:prstGeom>
          <a:solidFill>
            <a:schemeClr val="accent1"/>
          </a:solidFill>
        </p:spPr>
        <p:txBody>
          <a:bodyPr wrap="none">
            <a:spAutoFit/>
          </a:bodyPr>
          <a:lstStyle/>
          <a:p>
            <a:pPr algn="l" fontAlgn="ctr"/>
            <a:r>
              <a:rPr sz="2000" b="1" dirty="0" smtClean="0">
                <a:solidFill>
                  <a:schemeClr val="bg1"/>
                </a:solidFill>
                <a:latin typeface="微软雅黑" panose="020B0503020204020204" pitchFamily="34" charset="-122"/>
                <a:ea typeface="微软雅黑" panose="020B0503020204020204" pitchFamily="34" charset="-122"/>
              </a:rPr>
              <a:t>4.惯性导航系统</a:t>
            </a:r>
          </a:p>
        </p:txBody>
      </p:sp>
      <p:sp>
        <p:nvSpPr>
          <p:cNvPr id="14" name="Text Box 8"/>
          <p:cNvSpPr>
            <a:spLocks noChangeArrowheads="1"/>
          </p:cNvSpPr>
          <p:nvPr/>
        </p:nvSpPr>
        <p:spPr bwMode="auto">
          <a:xfrm>
            <a:off x="971600" y="339502"/>
            <a:ext cx="7573236" cy="583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9pPr>
          </a:lstStyle>
          <a:p>
            <a:pPr algn="ctr" eaLnBrk="1" hangingPunct="1">
              <a:spcBef>
                <a:spcPct val="0"/>
              </a:spcBef>
              <a:buFont typeface="Arial" panose="020B0604020202020204" pitchFamily="34" charset="0"/>
              <a:buNone/>
            </a:pPr>
            <a:r>
              <a:rPr lang="zh-CN" altLang="en-US" sz="3200" b="1" dirty="0" smtClean="0">
                <a:solidFill>
                  <a:schemeClr val="accent1"/>
                </a:solidFill>
                <a:latin typeface="微软雅黑" panose="020B0503020204020204" pitchFamily="34" charset="-122"/>
                <a:sym typeface="+mn-ea"/>
              </a:rPr>
              <a:t>智能网联汽车上应用了哪些导航定位系统？</a:t>
            </a:r>
          </a:p>
        </p:txBody>
      </p:sp>
      <p:sp>
        <p:nvSpPr>
          <p:cNvPr id="6" name="矩形 5"/>
          <p:cNvSpPr/>
          <p:nvPr/>
        </p:nvSpPr>
        <p:spPr>
          <a:xfrm>
            <a:off x="3033077" y="1178165"/>
            <a:ext cx="2978701" cy="351763"/>
          </a:xfrm>
          <a:prstGeom prst="rect">
            <a:avLst/>
          </a:prstGeom>
          <a:solidFill>
            <a:schemeClr val="accent1"/>
          </a:solidFill>
        </p:spPr>
        <p:txBody>
          <a:bodyPr wrap="none">
            <a:spAutoFit/>
          </a:bodyPr>
          <a:lstStyle/>
          <a:p>
            <a:pPr indent="0" fontAlgn="auto">
              <a:lnSpc>
                <a:spcPct val="114000"/>
              </a:lnSpc>
            </a:pPr>
            <a:r>
              <a:rPr lang="zh-CN" altLang="zh-CN" sz="1600" b="1" dirty="0">
                <a:solidFill>
                  <a:schemeClr val="bg1"/>
                </a:solidFill>
                <a:latin typeface="微软雅黑" pitchFamily="34" charset="-122"/>
                <a:ea typeface="微软雅黑" pitchFamily="34" charset="-122"/>
              </a:rPr>
              <a:t>（2）惯性导航系统的工作原理</a:t>
            </a:r>
            <a:endParaRPr lang="zh-CN" altLang="zh-CN" sz="1600" b="1" dirty="0">
              <a:solidFill>
                <a:schemeClr val="bg1"/>
              </a:solidFill>
              <a:latin typeface="微软雅黑" pitchFamily="34" charset="-122"/>
              <a:ea typeface="微软雅黑" pitchFamily="34" charset="-122"/>
            </a:endParaRPr>
          </a:p>
        </p:txBody>
      </p:sp>
      <p:sp>
        <p:nvSpPr>
          <p:cNvPr id="3" name="矩形 2"/>
          <p:cNvSpPr/>
          <p:nvPr/>
        </p:nvSpPr>
        <p:spPr>
          <a:xfrm>
            <a:off x="971600" y="1635646"/>
            <a:ext cx="7215708" cy="338554"/>
          </a:xfrm>
          <a:prstGeom prst="rect">
            <a:avLst/>
          </a:prstGeom>
          <a:solidFill>
            <a:schemeClr val="accent1"/>
          </a:solidFill>
        </p:spPr>
        <p:txBody>
          <a:bodyPr wrap="square">
            <a:spAutoFit/>
          </a:bodyPr>
          <a:lstStyle/>
          <a:p>
            <a:r>
              <a:rPr lang="zh-CN" altLang="en-US" sz="1600" dirty="0">
                <a:solidFill>
                  <a:schemeClr val="bg1"/>
                </a:solidFill>
                <a:latin typeface="微软雅黑" pitchFamily="34" charset="-122"/>
                <a:ea typeface="微软雅黑" pitchFamily="34" charset="-122"/>
              </a:rPr>
              <a:t>基于 </a:t>
            </a:r>
            <a:r>
              <a:rPr lang="en-US" altLang="zh-CN" sz="1600" dirty="0">
                <a:solidFill>
                  <a:schemeClr val="bg1"/>
                </a:solidFill>
                <a:latin typeface="微软雅黑" pitchFamily="34" charset="-122"/>
                <a:ea typeface="微软雅黑" pitchFamily="34" charset="-122"/>
              </a:rPr>
              <a:t>GPS </a:t>
            </a:r>
            <a:r>
              <a:rPr lang="zh-CN" altLang="en-US" sz="1600" dirty="0">
                <a:solidFill>
                  <a:schemeClr val="bg1"/>
                </a:solidFill>
                <a:latin typeface="微软雅黑" pitchFamily="34" charset="-122"/>
                <a:ea typeface="微软雅黑" pitchFamily="34" charset="-122"/>
              </a:rPr>
              <a:t>或 </a:t>
            </a:r>
            <a:r>
              <a:rPr lang="en-US" altLang="zh-CN" sz="1600" dirty="0">
                <a:solidFill>
                  <a:schemeClr val="bg1"/>
                </a:solidFill>
                <a:latin typeface="微软雅黑" pitchFamily="34" charset="-122"/>
                <a:ea typeface="微软雅黑" pitchFamily="34" charset="-122"/>
              </a:rPr>
              <a:t>BDS </a:t>
            </a:r>
            <a:r>
              <a:rPr lang="zh-CN" altLang="en-US" sz="1600" dirty="0">
                <a:solidFill>
                  <a:schemeClr val="bg1"/>
                </a:solidFill>
                <a:latin typeface="微软雅黑" pitchFamily="34" charset="-122"/>
                <a:ea typeface="微软雅黑" pitchFamily="34" charset="-122"/>
              </a:rPr>
              <a:t>和 </a:t>
            </a:r>
            <a:r>
              <a:rPr lang="en-US" altLang="zh-CN" sz="1600" dirty="0">
                <a:solidFill>
                  <a:schemeClr val="bg1"/>
                </a:solidFill>
                <a:latin typeface="微软雅黑" pitchFamily="34" charset="-122"/>
                <a:ea typeface="微软雅黑" pitchFamily="34" charset="-122"/>
              </a:rPr>
              <a:t>IMU </a:t>
            </a:r>
            <a:r>
              <a:rPr lang="zh-CN" altLang="en-US" sz="1600" dirty="0">
                <a:solidFill>
                  <a:schemeClr val="bg1"/>
                </a:solidFill>
                <a:latin typeface="微软雅黑" pitchFamily="34" charset="-122"/>
                <a:ea typeface="微软雅黑" pitchFamily="34" charset="-122"/>
              </a:rPr>
              <a:t>的融合是自动（</a:t>
            </a:r>
            <a:r>
              <a:rPr lang="zh-CN" altLang="en-US" sz="1600" dirty="0" smtClean="0">
                <a:solidFill>
                  <a:schemeClr val="bg1"/>
                </a:solidFill>
                <a:latin typeface="微软雅黑" pitchFamily="34" charset="-122"/>
                <a:ea typeface="微软雅黑" pitchFamily="34" charset="-122"/>
              </a:rPr>
              <a:t>无人</a:t>
            </a:r>
            <a:r>
              <a:rPr lang="zh-CN" altLang="en-US" sz="1600" dirty="0">
                <a:solidFill>
                  <a:schemeClr val="bg1"/>
                </a:solidFill>
                <a:latin typeface="微软雅黑" pitchFamily="34" charset="-122"/>
                <a:ea typeface="微软雅黑" pitchFamily="34" charset="-122"/>
              </a:rPr>
              <a:t>）驾驶</a:t>
            </a:r>
            <a:r>
              <a:rPr lang="zh-CN" altLang="en-US" sz="1600" dirty="0" smtClean="0">
                <a:solidFill>
                  <a:schemeClr val="bg1"/>
                </a:solidFill>
                <a:latin typeface="微软雅黑" pitchFamily="34" charset="-122"/>
                <a:ea typeface="微软雅黑" pitchFamily="34" charset="-122"/>
              </a:rPr>
              <a:t>汽车重要</a:t>
            </a:r>
            <a:r>
              <a:rPr lang="zh-CN" altLang="en-US" sz="1600" dirty="0">
                <a:solidFill>
                  <a:schemeClr val="bg1"/>
                </a:solidFill>
                <a:latin typeface="微软雅黑" pitchFamily="34" charset="-122"/>
                <a:ea typeface="微软雅黑" pitchFamily="34" charset="-122"/>
              </a:rPr>
              <a:t>的定位技术</a:t>
            </a:r>
            <a:r>
              <a:rPr lang="zh-CN" altLang="en-US" sz="1600" dirty="0" smtClean="0">
                <a:solidFill>
                  <a:schemeClr val="bg1"/>
                </a:solidFill>
                <a:latin typeface="微软雅黑" pitchFamily="34" charset="-122"/>
                <a:ea typeface="微软雅黑" pitchFamily="34" charset="-122"/>
              </a:rPr>
              <a:t>。</a:t>
            </a:r>
            <a:endParaRPr lang="en-US" altLang="zh-CN" sz="1600" dirty="0" smtClean="0">
              <a:solidFill>
                <a:schemeClr val="bg1"/>
              </a:solidFill>
              <a:latin typeface="微软雅黑" pitchFamily="34" charset="-122"/>
              <a:ea typeface="微软雅黑" pitchFamily="34" charset="-122"/>
            </a:endParaRPr>
          </a:p>
        </p:txBody>
      </p:sp>
      <p:sp>
        <p:nvSpPr>
          <p:cNvPr id="15" name="矩形 14"/>
          <p:cNvSpPr/>
          <p:nvPr/>
        </p:nvSpPr>
        <p:spPr>
          <a:xfrm>
            <a:off x="964167" y="2067694"/>
            <a:ext cx="2527713" cy="1569660"/>
          </a:xfrm>
          <a:prstGeom prst="rect">
            <a:avLst/>
          </a:prstGeom>
          <a:solidFill>
            <a:schemeClr val="accent1"/>
          </a:solidFill>
        </p:spPr>
        <p:txBody>
          <a:bodyPr wrap="square">
            <a:spAutoFit/>
          </a:bodyPr>
          <a:lstStyle/>
          <a:p>
            <a:r>
              <a:rPr lang="zh-CN" altLang="en-US" sz="1600" dirty="0" smtClean="0">
                <a:solidFill>
                  <a:schemeClr val="bg1"/>
                </a:solidFill>
                <a:latin typeface="微软雅黑" pitchFamily="34" charset="-122"/>
                <a:ea typeface="微软雅黑" pitchFamily="34" charset="-122"/>
              </a:rPr>
              <a:t>在</a:t>
            </a:r>
            <a:r>
              <a:rPr lang="zh-CN" altLang="en-US" sz="1600" dirty="0">
                <a:solidFill>
                  <a:schemeClr val="bg1"/>
                </a:solidFill>
                <a:latin typeface="微软雅黑" pitchFamily="34" charset="-122"/>
                <a:ea typeface="微软雅黑" pitchFamily="34" charset="-122"/>
              </a:rPr>
              <a:t>自动驾驶应用中，</a:t>
            </a:r>
            <a:r>
              <a:rPr lang="en-US" altLang="zh-CN" sz="1600" dirty="0">
                <a:solidFill>
                  <a:schemeClr val="bg1"/>
                </a:solidFill>
                <a:latin typeface="微软雅黑" pitchFamily="34" charset="-122"/>
                <a:ea typeface="微软雅黑" pitchFamily="34" charset="-122"/>
              </a:rPr>
              <a:t>GPS </a:t>
            </a:r>
            <a:r>
              <a:rPr lang="zh-CN" altLang="en-US" sz="1600" dirty="0">
                <a:solidFill>
                  <a:schemeClr val="bg1"/>
                </a:solidFill>
                <a:latin typeface="微软雅黑" pitchFamily="34" charset="-122"/>
                <a:ea typeface="微软雅黑" pitchFamily="34" charset="-122"/>
              </a:rPr>
              <a:t>的更新频率一般为 </a:t>
            </a:r>
            <a:r>
              <a:rPr lang="en-US" altLang="zh-CN" sz="1600" dirty="0">
                <a:solidFill>
                  <a:schemeClr val="bg1"/>
                </a:solidFill>
                <a:latin typeface="微软雅黑" pitchFamily="34" charset="-122"/>
                <a:ea typeface="微软雅黑" pitchFamily="34" charset="-122"/>
              </a:rPr>
              <a:t>10Hz</a:t>
            </a:r>
            <a:r>
              <a:rPr lang="zh-CN" altLang="en-US" sz="1600" dirty="0">
                <a:solidFill>
                  <a:schemeClr val="bg1"/>
                </a:solidFill>
                <a:latin typeface="微软雅黑" pitchFamily="34" charset="-122"/>
                <a:ea typeface="微软雅黑" pitchFamily="34" charset="-122"/>
              </a:rPr>
              <a:t>，</a:t>
            </a:r>
            <a:r>
              <a:rPr lang="en-US" altLang="zh-CN" sz="1600" dirty="0">
                <a:solidFill>
                  <a:schemeClr val="bg1"/>
                </a:solidFill>
                <a:latin typeface="微软雅黑" pitchFamily="34" charset="-122"/>
                <a:ea typeface="微软雅黑" pitchFamily="34" charset="-122"/>
              </a:rPr>
              <a:t>IMU </a:t>
            </a:r>
            <a:r>
              <a:rPr lang="zh-CN" altLang="en-US" sz="1600" dirty="0">
                <a:solidFill>
                  <a:schemeClr val="bg1"/>
                </a:solidFill>
                <a:latin typeface="微软雅黑" pitchFamily="34" charset="-122"/>
                <a:ea typeface="微软雅黑" pitchFamily="34" charset="-122"/>
              </a:rPr>
              <a:t>的更新频率一般为 </a:t>
            </a:r>
            <a:r>
              <a:rPr lang="en-US" altLang="zh-CN" sz="1600" dirty="0">
                <a:solidFill>
                  <a:schemeClr val="bg1"/>
                </a:solidFill>
                <a:latin typeface="微软雅黑" pitchFamily="34" charset="-122"/>
                <a:ea typeface="微软雅黑" pitchFamily="34" charset="-122"/>
              </a:rPr>
              <a:t>100Hz</a:t>
            </a:r>
            <a:r>
              <a:rPr lang="zh-CN" altLang="en-US" sz="1600" dirty="0">
                <a:solidFill>
                  <a:schemeClr val="bg1"/>
                </a:solidFill>
                <a:latin typeface="微软雅黑" pitchFamily="34" charset="-122"/>
                <a:ea typeface="微软雅黑" pitchFamily="34" charset="-122"/>
              </a:rPr>
              <a:t>。 两个传感器共同工作时，可以给出频率 </a:t>
            </a:r>
            <a:r>
              <a:rPr lang="en-US" altLang="zh-CN" sz="1600" dirty="0">
                <a:solidFill>
                  <a:schemeClr val="bg1"/>
                </a:solidFill>
                <a:latin typeface="微软雅黑" pitchFamily="34" charset="-122"/>
                <a:ea typeface="微软雅黑" pitchFamily="34" charset="-122"/>
              </a:rPr>
              <a:t>100Hz </a:t>
            </a:r>
            <a:r>
              <a:rPr lang="zh-CN" altLang="en-US" sz="1600" dirty="0">
                <a:solidFill>
                  <a:schemeClr val="bg1"/>
                </a:solidFill>
                <a:latin typeface="微软雅黑" pitchFamily="34" charset="-122"/>
                <a:ea typeface="微软雅黑" pitchFamily="34" charset="-122"/>
              </a:rPr>
              <a:t>的定位输出。</a:t>
            </a:r>
          </a:p>
        </p:txBody>
      </p:sp>
    </p:spTree>
    <p:extLst>
      <p:ext uri="{BB962C8B-B14F-4D97-AF65-F5344CB8AC3E}">
        <p14:creationId xmlns:p14="http://schemas.microsoft.com/office/powerpoint/2010/main" val="385354105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971600" y="1605266"/>
            <a:ext cx="4176464" cy="1811393"/>
          </a:xfrm>
          <a:prstGeom prst="rect">
            <a:avLst/>
          </a:prstGeom>
          <a:solidFill>
            <a:schemeClr val="accent1"/>
          </a:solidFill>
          <a:ln w="9525">
            <a:noFill/>
          </a:ln>
        </p:spPr>
        <p:txBody>
          <a:bodyPr wrap="square">
            <a:spAutoFit/>
          </a:bodyPr>
          <a:lstStyle/>
          <a:p>
            <a:pPr indent="266700">
              <a:lnSpc>
                <a:spcPct val="114000"/>
              </a:lnSpc>
            </a:pPr>
            <a:r>
              <a:rPr lang="zh-CN" sz="1400" b="0" dirty="0">
                <a:solidFill>
                  <a:schemeClr val="bg1"/>
                </a:solidFill>
                <a:latin typeface="微软雅黑" pitchFamily="34" charset="-122"/>
                <a:ea typeface="微软雅黑" pitchFamily="34" charset="-122"/>
              </a:rPr>
              <a:t>惯性导航系统具有以下主要优点：</a:t>
            </a:r>
          </a:p>
          <a:p>
            <a:pPr indent="266700">
              <a:lnSpc>
                <a:spcPct val="114000"/>
              </a:lnSpc>
            </a:pPr>
            <a:r>
              <a:rPr lang="zh-CN" sz="1400" b="0" dirty="0">
                <a:solidFill>
                  <a:schemeClr val="bg1"/>
                </a:solidFill>
                <a:latin typeface="微软雅黑" pitchFamily="34" charset="-122"/>
                <a:ea typeface="微软雅黑" pitchFamily="34" charset="-122"/>
              </a:rPr>
              <a:t>1）不依赖于任何外部信息，也不向外部辐射</a:t>
            </a:r>
            <a:r>
              <a:rPr lang="zh-CN" sz="1400" b="0" dirty="0" smtClean="0">
                <a:solidFill>
                  <a:schemeClr val="bg1"/>
                </a:solidFill>
                <a:latin typeface="微软雅黑" pitchFamily="34" charset="-122"/>
                <a:ea typeface="微软雅黑" pitchFamily="34" charset="-122"/>
              </a:rPr>
              <a:t>能量，</a:t>
            </a:r>
            <a:r>
              <a:rPr lang="zh-CN" sz="1400" b="0" dirty="0">
                <a:solidFill>
                  <a:schemeClr val="bg1"/>
                </a:solidFill>
                <a:latin typeface="微软雅黑" pitchFamily="34" charset="-122"/>
                <a:ea typeface="微软雅黑" pitchFamily="34" charset="-122"/>
              </a:rPr>
              <a:t>故隐蔽性好，也不受外界电磁干扰的影响。</a:t>
            </a:r>
          </a:p>
          <a:p>
            <a:pPr indent="266700">
              <a:lnSpc>
                <a:spcPct val="114000"/>
              </a:lnSpc>
            </a:pPr>
            <a:r>
              <a:rPr lang="zh-CN" sz="1400" b="0" dirty="0">
                <a:solidFill>
                  <a:schemeClr val="bg1"/>
                </a:solidFill>
                <a:latin typeface="微软雅黑" pitchFamily="34" charset="-122"/>
                <a:ea typeface="微软雅黑" pitchFamily="34" charset="-122"/>
              </a:rPr>
              <a:t>2）可全天候在全球任何地点工作。</a:t>
            </a:r>
          </a:p>
          <a:p>
            <a:pPr indent="266700">
              <a:lnSpc>
                <a:spcPct val="114000"/>
              </a:lnSpc>
            </a:pPr>
            <a:r>
              <a:rPr lang="zh-CN" sz="1400" b="0" dirty="0">
                <a:solidFill>
                  <a:schemeClr val="bg1"/>
                </a:solidFill>
                <a:latin typeface="微软雅黑" pitchFamily="34" charset="-122"/>
                <a:ea typeface="微软雅黑" pitchFamily="34" charset="-122"/>
              </a:rPr>
              <a:t>3）能提供位置、速度、航向和姿态角数据</a:t>
            </a:r>
            <a:r>
              <a:rPr lang="zh-CN" sz="1400" b="0" dirty="0" smtClean="0">
                <a:solidFill>
                  <a:schemeClr val="bg1"/>
                </a:solidFill>
                <a:latin typeface="微软雅黑" pitchFamily="34" charset="-122"/>
                <a:ea typeface="微软雅黑" pitchFamily="34" charset="-122"/>
              </a:rPr>
              <a:t>，导航</a:t>
            </a:r>
            <a:r>
              <a:rPr lang="zh-CN" sz="1400" b="0" dirty="0">
                <a:solidFill>
                  <a:schemeClr val="bg1"/>
                </a:solidFill>
                <a:latin typeface="微软雅黑" pitchFamily="34" charset="-122"/>
                <a:ea typeface="微软雅黑" pitchFamily="34" charset="-122"/>
              </a:rPr>
              <a:t>信息连续性好而且噪声低。</a:t>
            </a:r>
          </a:p>
          <a:p>
            <a:pPr indent="266700">
              <a:lnSpc>
                <a:spcPct val="114000"/>
              </a:lnSpc>
            </a:pPr>
            <a:r>
              <a:rPr lang="zh-CN" sz="1400" b="0" dirty="0">
                <a:solidFill>
                  <a:schemeClr val="bg1"/>
                </a:solidFill>
                <a:latin typeface="微软雅黑" pitchFamily="34" charset="-122"/>
                <a:ea typeface="微软雅黑" pitchFamily="34" charset="-122"/>
              </a:rPr>
              <a:t>4）数据更新率高，短期精度和稳定性好。</a:t>
            </a:r>
            <a:endParaRPr lang="zh-CN" altLang="en-US" sz="1400" b="0" dirty="0">
              <a:solidFill>
                <a:schemeClr val="bg1"/>
              </a:solidFill>
              <a:latin typeface="微软雅黑" pitchFamily="34" charset="-122"/>
              <a:ea typeface="微软雅黑" pitchFamily="34" charset="-122"/>
            </a:endParaRPr>
          </a:p>
        </p:txBody>
      </p:sp>
      <p:sp>
        <p:nvSpPr>
          <p:cNvPr id="9" name="文本框 8"/>
          <p:cNvSpPr txBox="1"/>
          <p:nvPr/>
        </p:nvSpPr>
        <p:spPr>
          <a:xfrm>
            <a:off x="964225" y="3455777"/>
            <a:ext cx="4183839" cy="1320233"/>
          </a:xfrm>
          <a:prstGeom prst="rect">
            <a:avLst/>
          </a:prstGeom>
          <a:solidFill>
            <a:schemeClr val="accent1"/>
          </a:solidFill>
          <a:ln w="9525">
            <a:noFill/>
          </a:ln>
        </p:spPr>
        <p:txBody>
          <a:bodyPr wrap="square">
            <a:spAutoFit/>
          </a:bodyPr>
          <a:lstStyle/>
          <a:p>
            <a:pPr indent="266700">
              <a:lnSpc>
                <a:spcPct val="114000"/>
              </a:lnSpc>
            </a:pPr>
            <a:r>
              <a:rPr lang="zh-CN" sz="1400" b="0" dirty="0">
                <a:solidFill>
                  <a:schemeClr val="bg1"/>
                </a:solidFill>
                <a:latin typeface="微软雅黑" pitchFamily="34" charset="-122"/>
                <a:ea typeface="微软雅黑" pitchFamily="34" charset="-122"/>
              </a:rPr>
              <a:t>惯性导航系统具有以下主要缺点：</a:t>
            </a:r>
          </a:p>
          <a:p>
            <a:pPr indent="266700">
              <a:lnSpc>
                <a:spcPct val="114000"/>
              </a:lnSpc>
            </a:pPr>
            <a:r>
              <a:rPr lang="zh-CN" sz="1400" b="0" dirty="0">
                <a:solidFill>
                  <a:schemeClr val="bg1"/>
                </a:solidFill>
                <a:latin typeface="微软雅黑" pitchFamily="34" charset="-122"/>
                <a:ea typeface="微软雅黑" pitchFamily="34" charset="-122"/>
              </a:rPr>
              <a:t>1</a:t>
            </a:r>
            <a:r>
              <a:rPr lang="zh-CN" sz="1400" b="0" dirty="0" smtClean="0">
                <a:solidFill>
                  <a:schemeClr val="bg1"/>
                </a:solidFill>
                <a:latin typeface="微软雅黑" pitchFamily="34" charset="-122"/>
                <a:ea typeface="微软雅黑" pitchFamily="34" charset="-122"/>
              </a:rPr>
              <a:t>）定位</a:t>
            </a:r>
            <a:r>
              <a:rPr lang="zh-CN" sz="1400" b="0" dirty="0">
                <a:solidFill>
                  <a:schemeClr val="bg1"/>
                </a:solidFill>
                <a:latin typeface="微软雅黑" pitchFamily="34" charset="-122"/>
                <a:ea typeface="微软雅黑" pitchFamily="34" charset="-122"/>
              </a:rPr>
              <a:t>误差随时间而增大，长期精度差。</a:t>
            </a:r>
          </a:p>
          <a:p>
            <a:pPr indent="266700">
              <a:lnSpc>
                <a:spcPct val="114000"/>
              </a:lnSpc>
            </a:pPr>
            <a:r>
              <a:rPr lang="zh-CN" sz="1400" b="0" dirty="0">
                <a:solidFill>
                  <a:schemeClr val="bg1"/>
                </a:solidFill>
                <a:latin typeface="微软雅黑" pitchFamily="34" charset="-122"/>
                <a:ea typeface="微软雅黑" pitchFamily="34" charset="-122"/>
              </a:rPr>
              <a:t>2）每次使用之前需要较长的初始对准时间。</a:t>
            </a:r>
          </a:p>
          <a:p>
            <a:pPr indent="266700">
              <a:lnSpc>
                <a:spcPct val="114000"/>
              </a:lnSpc>
            </a:pPr>
            <a:r>
              <a:rPr lang="zh-CN" sz="1400" b="0" dirty="0">
                <a:solidFill>
                  <a:schemeClr val="bg1"/>
                </a:solidFill>
                <a:latin typeface="微软雅黑" pitchFamily="34" charset="-122"/>
                <a:ea typeface="微软雅黑" pitchFamily="34" charset="-122"/>
              </a:rPr>
              <a:t>3）设备的价格较昂贵。</a:t>
            </a:r>
          </a:p>
          <a:p>
            <a:pPr indent="266700">
              <a:lnSpc>
                <a:spcPct val="114000"/>
              </a:lnSpc>
            </a:pPr>
            <a:r>
              <a:rPr lang="zh-CN" sz="1400" b="0" dirty="0">
                <a:solidFill>
                  <a:schemeClr val="bg1"/>
                </a:solidFill>
                <a:latin typeface="微软雅黑" pitchFamily="34" charset="-122"/>
                <a:ea typeface="微软雅黑" pitchFamily="34" charset="-122"/>
              </a:rPr>
              <a:t>4）不能给出时间信息。</a:t>
            </a:r>
            <a:endParaRPr lang="zh-CN" altLang="en-US" sz="1400" b="0" dirty="0">
              <a:solidFill>
                <a:schemeClr val="bg1"/>
              </a:solidFill>
              <a:latin typeface="微软雅黑" pitchFamily="34" charset="-122"/>
              <a:ea typeface="微软雅黑" pitchFamily="34" charset="-122"/>
            </a:endParaRPr>
          </a:p>
        </p:txBody>
      </p:sp>
      <p:sp>
        <p:nvSpPr>
          <p:cNvPr id="7" name="矩形 6"/>
          <p:cNvSpPr/>
          <p:nvPr/>
        </p:nvSpPr>
        <p:spPr>
          <a:xfrm>
            <a:off x="971600" y="1163340"/>
            <a:ext cx="1955985" cy="400110"/>
          </a:xfrm>
          <a:prstGeom prst="rect">
            <a:avLst/>
          </a:prstGeom>
          <a:solidFill>
            <a:schemeClr val="accent1"/>
          </a:solidFill>
        </p:spPr>
        <p:txBody>
          <a:bodyPr wrap="none">
            <a:spAutoFit/>
          </a:bodyPr>
          <a:lstStyle/>
          <a:p>
            <a:pPr algn="l" fontAlgn="ctr"/>
            <a:r>
              <a:rPr sz="2000" b="1" dirty="0" smtClean="0">
                <a:solidFill>
                  <a:schemeClr val="bg1"/>
                </a:solidFill>
                <a:latin typeface="微软雅黑" panose="020B0503020204020204" pitchFamily="34" charset="-122"/>
                <a:ea typeface="微软雅黑" panose="020B0503020204020204" pitchFamily="34" charset="-122"/>
              </a:rPr>
              <a:t>4.惯性导航系统</a:t>
            </a:r>
          </a:p>
        </p:txBody>
      </p:sp>
      <p:sp>
        <p:nvSpPr>
          <p:cNvPr id="10" name="Text Box 8"/>
          <p:cNvSpPr>
            <a:spLocks noChangeArrowheads="1"/>
          </p:cNvSpPr>
          <p:nvPr/>
        </p:nvSpPr>
        <p:spPr bwMode="auto">
          <a:xfrm>
            <a:off x="971600" y="339502"/>
            <a:ext cx="7573236" cy="583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9pPr>
          </a:lstStyle>
          <a:p>
            <a:pPr algn="ctr" eaLnBrk="1" hangingPunct="1">
              <a:spcBef>
                <a:spcPct val="0"/>
              </a:spcBef>
              <a:buFont typeface="Arial" panose="020B0604020202020204" pitchFamily="34" charset="0"/>
              <a:buNone/>
            </a:pPr>
            <a:r>
              <a:rPr lang="zh-CN" altLang="en-US" sz="3200" b="1" dirty="0" smtClean="0">
                <a:solidFill>
                  <a:schemeClr val="accent1"/>
                </a:solidFill>
                <a:latin typeface="微软雅黑" panose="020B0503020204020204" pitchFamily="34" charset="-122"/>
                <a:sym typeface="+mn-ea"/>
              </a:rPr>
              <a:t>智能网联汽车上应用了哪些导航定位系统？</a:t>
            </a:r>
          </a:p>
        </p:txBody>
      </p:sp>
      <p:sp>
        <p:nvSpPr>
          <p:cNvPr id="11" name="矩形 10"/>
          <p:cNvSpPr/>
          <p:nvPr/>
        </p:nvSpPr>
        <p:spPr>
          <a:xfrm>
            <a:off x="3033077" y="1178165"/>
            <a:ext cx="3183885" cy="373051"/>
          </a:xfrm>
          <a:prstGeom prst="rect">
            <a:avLst/>
          </a:prstGeom>
          <a:solidFill>
            <a:schemeClr val="accent1"/>
          </a:solidFill>
        </p:spPr>
        <p:txBody>
          <a:bodyPr wrap="none">
            <a:spAutoFit/>
          </a:bodyPr>
          <a:lstStyle/>
          <a:p>
            <a:pPr indent="0" fontAlgn="auto">
              <a:lnSpc>
                <a:spcPct val="114000"/>
              </a:lnSpc>
            </a:pPr>
            <a:r>
              <a:rPr lang="zh-CN" altLang="zh-CN" sz="1600" b="1" dirty="0" smtClean="0">
                <a:solidFill>
                  <a:schemeClr val="bg1"/>
                </a:solidFill>
                <a:latin typeface="微软雅黑" pitchFamily="34" charset="-122"/>
                <a:ea typeface="微软雅黑" pitchFamily="34" charset="-122"/>
              </a:rPr>
              <a:t>（</a:t>
            </a:r>
            <a:r>
              <a:rPr lang="en-US" altLang="zh-CN" sz="1600" b="1" dirty="0" smtClean="0">
                <a:solidFill>
                  <a:schemeClr val="bg1"/>
                </a:solidFill>
                <a:latin typeface="微软雅黑" pitchFamily="34" charset="-122"/>
                <a:ea typeface="微软雅黑" pitchFamily="34" charset="-122"/>
              </a:rPr>
              <a:t>3</a:t>
            </a:r>
            <a:r>
              <a:rPr lang="zh-CN" altLang="zh-CN" sz="1600" b="1" dirty="0" smtClean="0">
                <a:solidFill>
                  <a:schemeClr val="bg1"/>
                </a:solidFill>
                <a:latin typeface="微软雅黑" pitchFamily="34" charset="-122"/>
                <a:ea typeface="微软雅黑" pitchFamily="34" charset="-122"/>
              </a:rPr>
              <a:t>）</a:t>
            </a:r>
            <a:r>
              <a:rPr lang="zh-CN" altLang="zh-CN" sz="1600" b="1" dirty="0">
                <a:solidFill>
                  <a:schemeClr val="bg1"/>
                </a:solidFill>
                <a:latin typeface="微软雅黑" pitchFamily="34" charset="-122"/>
                <a:ea typeface="微软雅黑" pitchFamily="34" charset="-122"/>
              </a:rPr>
              <a:t>惯性导航系统</a:t>
            </a:r>
            <a:r>
              <a:rPr lang="zh-CN" altLang="zh-CN" sz="1600" b="1" dirty="0" smtClean="0">
                <a:solidFill>
                  <a:schemeClr val="bg1"/>
                </a:solidFill>
                <a:latin typeface="微软雅黑" pitchFamily="34" charset="-122"/>
                <a:ea typeface="微软雅黑" pitchFamily="34" charset="-122"/>
              </a:rPr>
              <a:t>的</a:t>
            </a:r>
            <a:r>
              <a:rPr lang="zh-CN" altLang="en-US" sz="1600" b="1" dirty="0" smtClean="0">
                <a:solidFill>
                  <a:schemeClr val="bg1"/>
                </a:solidFill>
                <a:latin typeface="微软雅黑" pitchFamily="34" charset="-122"/>
                <a:ea typeface="微软雅黑" pitchFamily="34" charset="-122"/>
              </a:rPr>
              <a:t>特点和应用</a:t>
            </a:r>
            <a:endParaRPr lang="zh-CN" altLang="zh-CN" sz="1600" b="1" dirty="0">
              <a:solidFill>
                <a:schemeClr val="bg1"/>
              </a:solidFill>
              <a:latin typeface="微软雅黑" pitchFamily="34" charset="-122"/>
              <a:ea typeface="微软雅黑" pitchFamily="34" charset="-122"/>
            </a:endParaRPr>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09727" y="1605266"/>
            <a:ext cx="2783530" cy="3170744"/>
          </a:xfrm>
          <a:prstGeom prst="rect">
            <a:avLst/>
          </a:prstGeom>
          <a:noFill/>
          <a:ln w="9525">
            <a:solidFill>
              <a:schemeClr val="accent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971600" y="1131590"/>
            <a:ext cx="1955985" cy="400110"/>
          </a:xfrm>
          <a:prstGeom prst="rect">
            <a:avLst/>
          </a:prstGeom>
          <a:solidFill>
            <a:schemeClr val="accent1"/>
          </a:solidFill>
        </p:spPr>
        <p:txBody>
          <a:bodyPr wrap="none">
            <a:spAutoFit/>
          </a:bodyPr>
          <a:lstStyle/>
          <a:p>
            <a:pPr algn="l" fontAlgn="ctr"/>
            <a:r>
              <a:rPr sz="2000" b="1" dirty="0" smtClean="0">
                <a:solidFill>
                  <a:schemeClr val="bg1"/>
                </a:solidFill>
                <a:latin typeface="微软雅黑" panose="020B0503020204020204" pitchFamily="34" charset="-122"/>
                <a:ea typeface="微软雅黑" panose="020B0503020204020204" pitchFamily="34" charset="-122"/>
              </a:rPr>
              <a:t>5.激光雷达定位</a:t>
            </a:r>
          </a:p>
        </p:txBody>
      </p:sp>
      <p:sp>
        <p:nvSpPr>
          <p:cNvPr id="100" name="文本框 99"/>
          <p:cNvSpPr txBox="1"/>
          <p:nvPr/>
        </p:nvSpPr>
        <p:spPr>
          <a:xfrm>
            <a:off x="971600" y="1635646"/>
            <a:ext cx="7218496" cy="934487"/>
          </a:xfrm>
          <a:prstGeom prst="rect">
            <a:avLst/>
          </a:prstGeom>
          <a:solidFill>
            <a:schemeClr val="accent1"/>
          </a:solidFill>
          <a:ln w="9525">
            <a:noFill/>
          </a:ln>
        </p:spPr>
        <p:txBody>
          <a:bodyPr wrap="square">
            <a:spAutoFit/>
          </a:bodyPr>
          <a:lstStyle/>
          <a:p>
            <a:pPr indent="127000">
              <a:lnSpc>
                <a:spcPct val="114000"/>
              </a:lnSpc>
            </a:pPr>
            <a:r>
              <a:rPr lang="zh-CN" sz="1600" b="0" dirty="0">
                <a:solidFill>
                  <a:schemeClr val="bg1"/>
                </a:solidFill>
                <a:latin typeface="微软雅黑" pitchFamily="34" charset="-122"/>
                <a:ea typeface="微软雅黑" pitchFamily="34" charset="-122"/>
              </a:rPr>
              <a:t>通过激光雷达的地图信息进行匹配的方法也是一种绝对位姿估计方法。该方法通过事先建立的地图信息，在自动（无人）驾驶过程中，不断将检测到的数据特征与地图信息进行对比匹配，从而得到车辆在地图中的绝对位姿。</a:t>
            </a:r>
            <a:endParaRPr lang="zh-CN" altLang="en-US" sz="1600" b="0" dirty="0">
              <a:solidFill>
                <a:schemeClr val="bg1"/>
              </a:solidFill>
              <a:latin typeface="微软雅黑" pitchFamily="34" charset="-122"/>
              <a:ea typeface="微软雅黑" pitchFamily="34" charset="-122"/>
            </a:endParaRPr>
          </a:p>
        </p:txBody>
      </p:sp>
      <p:pic>
        <p:nvPicPr>
          <p:cNvPr id="23" name="图片 23" descr="说明: http://00imgmini.eastday.com/mobile/20181105/20181105203214_57ca3b3279844fa1ba75219cdb982fb1_3.jpe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a:xfrm>
            <a:off x="5436096" y="2643758"/>
            <a:ext cx="2754000" cy="1728192"/>
          </a:xfrm>
          <a:prstGeom prst="rect">
            <a:avLst/>
          </a:prstGeom>
          <a:noFill/>
          <a:ln>
            <a:noFill/>
          </a:ln>
        </p:spPr>
      </p:pic>
      <p:sp>
        <p:nvSpPr>
          <p:cNvPr id="6" name="Text Box 8"/>
          <p:cNvSpPr>
            <a:spLocks noChangeArrowheads="1"/>
          </p:cNvSpPr>
          <p:nvPr/>
        </p:nvSpPr>
        <p:spPr bwMode="auto">
          <a:xfrm>
            <a:off x="971600" y="339502"/>
            <a:ext cx="7573236" cy="583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9pPr>
          </a:lstStyle>
          <a:p>
            <a:pPr algn="ctr" eaLnBrk="1" hangingPunct="1">
              <a:spcBef>
                <a:spcPct val="0"/>
              </a:spcBef>
              <a:buFont typeface="Arial" panose="020B0604020202020204" pitchFamily="34" charset="0"/>
              <a:buNone/>
            </a:pPr>
            <a:r>
              <a:rPr lang="zh-CN" altLang="en-US" sz="3200" b="1" dirty="0" smtClean="0">
                <a:solidFill>
                  <a:schemeClr val="accent1"/>
                </a:solidFill>
                <a:latin typeface="微软雅黑" panose="020B0503020204020204" pitchFamily="34" charset="-122"/>
                <a:sym typeface="+mn-ea"/>
              </a:rPr>
              <a:t>智能网联汽车上应用了哪些导航定位系统？</a:t>
            </a:r>
          </a:p>
        </p:txBody>
      </p:sp>
      <p:sp>
        <p:nvSpPr>
          <p:cNvPr id="2" name="矩形 1"/>
          <p:cNvSpPr/>
          <p:nvPr/>
        </p:nvSpPr>
        <p:spPr>
          <a:xfrm>
            <a:off x="971600" y="2643758"/>
            <a:ext cx="4320480" cy="1776640"/>
          </a:xfrm>
          <a:prstGeom prst="rect">
            <a:avLst/>
          </a:prstGeom>
          <a:solidFill>
            <a:schemeClr val="accent1"/>
          </a:solidFill>
        </p:spPr>
        <p:txBody>
          <a:bodyPr wrap="square">
            <a:spAutoFit/>
          </a:bodyPr>
          <a:lstStyle/>
          <a:p>
            <a:pPr>
              <a:lnSpc>
                <a:spcPct val="114000"/>
              </a:lnSpc>
            </a:pPr>
            <a:r>
              <a:rPr lang="zh-CN" altLang="en-US" sz="1600" dirty="0">
                <a:solidFill>
                  <a:schemeClr val="bg1"/>
                </a:solidFill>
                <a:latin typeface="微软雅黑" pitchFamily="34" charset="-122"/>
                <a:ea typeface="微软雅黑" pitchFamily="34" charset="-122"/>
              </a:rPr>
              <a:t>基于地图信息匹配定位方法的优点在于无累积 误差，不需要对道路进行改造，其缺点在于包含地图生成和地图匹配两个步骤，而地图生 成需要提前采集制作，在室外场景中，绘制地图的数据量十分巨大，而且对地图匹配中的 实时性带来很大挑战。</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971600" y="1131590"/>
            <a:ext cx="1955985" cy="400110"/>
          </a:xfrm>
          <a:prstGeom prst="rect">
            <a:avLst/>
          </a:prstGeom>
          <a:solidFill>
            <a:schemeClr val="accent1"/>
          </a:solidFill>
        </p:spPr>
        <p:txBody>
          <a:bodyPr wrap="none">
            <a:spAutoFit/>
          </a:bodyPr>
          <a:lstStyle/>
          <a:p>
            <a:pPr algn="l" fontAlgn="ctr"/>
            <a:r>
              <a:rPr sz="2000" b="1" dirty="0" smtClean="0">
                <a:solidFill>
                  <a:schemeClr val="bg1"/>
                </a:solidFill>
                <a:latin typeface="微软雅黑" panose="020B0503020204020204" pitchFamily="34" charset="-122"/>
                <a:ea typeface="微软雅黑" panose="020B0503020204020204" pitchFamily="34" charset="-122"/>
              </a:rPr>
              <a:t>5.激光雷达定位</a:t>
            </a:r>
          </a:p>
        </p:txBody>
      </p:sp>
      <p:sp>
        <p:nvSpPr>
          <p:cNvPr id="6" name="Text Box 8"/>
          <p:cNvSpPr>
            <a:spLocks noChangeArrowheads="1"/>
          </p:cNvSpPr>
          <p:nvPr/>
        </p:nvSpPr>
        <p:spPr bwMode="auto">
          <a:xfrm>
            <a:off x="971600" y="339502"/>
            <a:ext cx="7573236" cy="583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9pPr>
          </a:lstStyle>
          <a:p>
            <a:pPr algn="ctr" eaLnBrk="1" hangingPunct="1">
              <a:spcBef>
                <a:spcPct val="0"/>
              </a:spcBef>
              <a:buFont typeface="Arial" panose="020B0604020202020204" pitchFamily="34" charset="0"/>
              <a:buNone/>
            </a:pPr>
            <a:r>
              <a:rPr lang="zh-CN" altLang="en-US" sz="3200" b="1" dirty="0" smtClean="0">
                <a:solidFill>
                  <a:schemeClr val="accent1"/>
                </a:solidFill>
                <a:latin typeface="微软雅黑" panose="020B0503020204020204" pitchFamily="34" charset="-122"/>
                <a:sym typeface="+mn-ea"/>
              </a:rPr>
              <a:t>智能网联汽车上应用了哪些导航定位系统？</a:t>
            </a:r>
          </a:p>
        </p:txBody>
      </p:sp>
      <p:sp>
        <p:nvSpPr>
          <p:cNvPr id="4" name="矩形 3"/>
          <p:cNvSpPr/>
          <p:nvPr/>
        </p:nvSpPr>
        <p:spPr>
          <a:xfrm>
            <a:off x="975796" y="1635646"/>
            <a:ext cx="7196603" cy="1495922"/>
          </a:xfrm>
          <a:prstGeom prst="rect">
            <a:avLst/>
          </a:prstGeom>
          <a:solidFill>
            <a:schemeClr val="accent1"/>
          </a:solidFill>
        </p:spPr>
        <p:txBody>
          <a:bodyPr wrap="square">
            <a:spAutoFit/>
          </a:bodyPr>
          <a:lstStyle/>
          <a:p>
            <a:pPr>
              <a:lnSpc>
                <a:spcPct val="114000"/>
              </a:lnSpc>
            </a:pPr>
            <a:r>
              <a:rPr lang="en-US" altLang="zh-CN" sz="1600" dirty="0">
                <a:solidFill>
                  <a:schemeClr val="bg1"/>
                </a:solidFill>
                <a:latin typeface="微软雅黑" pitchFamily="34" charset="-122"/>
                <a:ea typeface="微软雅黑" pitchFamily="34" charset="-122"/>
              </a:rPr>
              <a:t>GPS+IMU</a:t>
            </a:r>
            <a:r>
              <a:rPr lang="zh-CN" altLang="en-US" sz="1600" dirty="0">
                <a:solidFill>
                  <a:schemeClr val="bg1"/>
                </a:solidFill>
                <a:latin typeface="微软雅黑" pitchFamily="34" charset="-122"/>
                <a:ea typeface="微软雅黑" pitchFamily="34" charset="-122"/>
              </a:rPr>
              <a:t>（惯性测量单元）为激光雷达的空间位置和脉冲发射姿态提供高精度定位， 建立激光雷达点云的三维坐标系。惯性导航系统可用于定位，与其他传感器融合时，也需 要统一到一个坐标系下。定位是最常用的，通过 </a:t>
            </a:r>
            <a:r>
              <a:rPr lang="en-US" altLang="zh-CN" sz="1600" dirty="0">
                <a:solidFill>
                  <a:schemeClr val="bg1"/>
                </a:solidFill>
                <a:latin typeface="微软雅黑" pitchFamily="34" charset="-122"/>
                <a:ea typeface="微软雅黑" pitchFamily="34" charset="-122"/>
              </a:rPr>
              <a:t>IMU</a:t>
            </a:r>
            <a:r>
              <a:rPr lang="zh-CN" altLang="en-US" sz="1600" dirty="0">
                <a:solidFill>
                  <a:schemeClr val="bg1"/>
                </a:solidFill>
                <a:latin typeface="微软雅黑" pitchFamily="34" charset="-122"/>
                <a:ea typeface="微软雅黑" pitchFamily="34" charset="-122"/>
              </a:rPr>
              <a:t>、惯性导航系统和 </a:t>
            </a:r>
            <a:r>
              <a:rPr lang="en-US" altLang="zh-CN" sz="1600" dirty="0">
                <a:solidFill>
                  <a:schemeClr val="bg1"/>
                </a:solidFill>
                <a:latin typeface="微软雅黑" pitchFamily="34" charset="-122"/>
                <a:ea typeface="微软雅黑" pitchFamily="34" charset="-122"/>
              </a:rPr>
              <a:t>GPS </a:t>
            </a:r>
            <a:r>
              <a:rPr lang="zh-CN" altLang="en-US" sz="1600" dirty="0">
                <a:solidFill>
                  <a:schemeClr val="bg1"/>
                </a:solidFill>
                <a:latin typeface="微软雅黑" pitchFamily="34" charset="-122"/>
                <a:ea typeface="微软雅黑" pitchFamily="34" charset="-122"/>
              </a:rPr>
              <a:t>等，得到一 个预测的全局位置。当激光雷达实时扫描单次的点云数据后，结合单次的点云数据进行匹 配，并进行特征提取</a:t>
            </a:r>
            <a:r>
              <a:rPr lang="zh-CN" altLang="en-US" sz="1600" dirty="0" smtClean="0">
                <a:solidFill>
                  <a:schemeClr val="bg1"/>
                </a:solidFill>
                <a:latin typeface="微软雅黑" pitchFamily="34" charset="-122"/>
                <a:ea typeface="微软雅黑" pitchFamily="34" charset="-122"/>
              </a:rPr>
              <a:t>。</a:t>
            </a:r>
            <a:endParaRPr lang="zh-CN" altLang="en-US" sz="1600" dirty="0">
              <a:solidFill>
                <a:schemeClr val="bg1"/>
              </a:solidFill>
              <a:latin typeface="微软雅黑" pitchFamily="34" charset="-122"/>
              <a:ea typeface="微软雅黑" pitchFamily="34" charset="-122"/>
            </a:endParaRPr>
          </a:p>
        </p:txBody>
      </p:sp>
      <p:sp>
        <p:nvSpPr>
          <p:cNvPr id="5" name="矩形 4"/>
          <p:cNvSpPr/>
          <p:nvPr/>
        </p:nvSpPr>
        <p:spPr>
          <a:xfrm>
            <a:off x="971599" y="3291830"/>
            <a:ext cx="7196603" cy="1156855"/>
          </a:xfrm>
          <a:prstGeom prst="rect">
            <a:avLst/>
          </a:prstGeom>
          <a:solidFill>
            <a:schemeClr val="accent1"/>
          </a:solidFill>
        </p:spPr>
        <p:txBody>
          <a:bodyPr wrap="square">
            <a:spAutoFit/>
          </a:bodyPr>
          <a:lstStyle/>
          <a:p>
            <a:pPr>
              <a:lnSpc>
                <a:spcPct val="150000"/>
              </a:lnSpc>
            </a:pPr>
            <a:r>
              <a:rPr lang="zh-CN" altLang="en-US" sz="1600" dirty="0">
                <a:solidFill>
                  <a:schemeClr val="bg1"/>
                </a:solidFill>
                <a:latin typeface="微软雅黑" pitchFamily="34" charset="-122"/>
                <a:ea typeface="微软雅黑" pitchFamily="34" charset="-122"/>
              </a:rPr>
              <a:t>百度公司的 </a:t>
            </a:r>
            <a:r>
              <a:rPr lang="en-US" altLang="zh-CN" sz="1600" dirty="0">
                <a:solidFill>
                  <a:schemeClr val="bg1"/>
                </a:solidFill>
                <a:latin typeface="微软雅黑" pitchFamily="34" charset="-122"/>
                <a:ea typeface="微软雅黑" pitchFamily="34" charset="-122"/>
              </a:rPr>
              <a:t>Apollo</a:t>
            </a:r>
            <a:r>
              <a:rPr lang="zh-CN" altLang="en-US" sz="1600" dirty="0">
                <a:solidFill>
                  <a:schemeClr val="bg1"/>
                </a:solidFill>
                <a:latin typeface="微软雅黑" pitchFamily="34" charset="-122"/>
                <a:ea typeface="微软雅黑" pitchFamily="34" charset="-122"/>
              </a:rPr>
              <a:t>系统使用了激光雷达、</a:t>
            </a:r>
            <a:r>
              <a:rPr lang="en-US" altLang="zh-CN" sz="1600" dirty="0">
                <a:solidFill>
                  <a:schemeClr val="bg1"/>
                </a:solidFill>
                <a:latin typeface="微软雅黑" pitchFamily="34" charset="-122"/>
                <a:ea typeface="微软雅黑" pitchFamily="34" charset="-122"/>
              </a:rPr>
              <a:t>RTK</a:t>
            </a:r>
            <a:r>
              <a:rPr lang="zh-CN" altLang="en-US" sz="1600" dirty="0">
                <a:solidFill>
                  <a:schemeClr val="bg1"/>
                </a:solidFill>
                <a:latin typeface="微软雅黑" pitchFamily="34" charset="-122"/>
                <a:ea typeface="微软雅黑" pitchFamily="34" charset="-122"/>
              </a:rPr>
              <a:t>（载波相位差分）技术与 </a:t>
            </a:r>
            <a:r>
              <a:rPr lang="en-US" altLang="zh-CN" sz="1600" dirty="0">
                <a:solidFill>
                  <a:schemeClr val="bg1"/>
                </a:solidFill>
                <a:latin typeface="微软雅黑" pitchFamily="34" charset="-122"/>
                <a:ea typeface="微软雅黑" pitchFamily="34" charset="-122"/>
              </a:rPr>
              <a:t>IMU</a:t>
            </a:r>
            <a:r>
              <a:rPr lang="zh-CN" altLang="en-US" sz="1600" dirty="0">
                <a:solidFill>
                  <a:schemeClr val="bg1"/>
                </a:solidFill>
                <a:latin typeface="微软雅黑" pitchFamily="34" charset="-122"/>
                <a:ea typeface="微软雅黑" pitchFamily="34" charset="-122"/>
              </a:rPr>
              <a:t>融合的方案</a:t>
            </a:r>
            <a:r>
              <a:rPr lang="zh-CN" altLang="en-US" sz="1600" dirty="0" smtClean="0">
                <a:solidFill>
                  <a:schemeClr val="bg1"/>
                </a:solidFill>
                <a:latin typeface="微软雅黑" pitchFamily="34" charset="-122"/>
                <a:ea typeface="微软雅黑" pitchFamily="34" charset="-122"/>
              </a:rPr>
              <a:t>，多种</a:t>
            </a:r>
            <a:r>
              <a:rPr lang="zh-CN" altLang="en-US" sz="1600" dirty="0">
                <a:solidFill>
                  <a:schemeClr val="bg1"/>
                </a:solidFill>
                <a:latin typeface="微软雅黑" pitchFamily="34" charset="-122"/>
                <a:ea typeface="微软雅黑" pitchFamily="34" charset="-122"/>
              </a:rPr>
              <a:t>传感器融合加上一个误差状态卡尔曼滤波器，使定位精度可以达到 </a:t>
            </a:r>
            <a:r>
              <a:rPr lang="en-US" altLang="zh-CN" sz="1600" dirty="0">
                <a:solidFill>
                  <a:schemeClr val="bg1"/>
                </a:solidFill>
                <a:latin typeface="微软雅黑" pitchFamily="34" charset="-122"/>
                <a:ea typeface="微软雅黑" pitchFamily="34" charset="-122"/>
              </a:rPr>
              <a:t>5~10cm</a:t>
            </a:r>
            <a:r>
              <a:rPr lang="zh-CN" altLang="en-US" sz="1600" dirty="0">
                <a:solidFill>
                  <a:schemeClr val="bg1"/>
                </a:solidFill>
                <a:latin typeface="微软雅黑" pitchFamily="34" charset="-122"/>
                <a:ea typeface="微软雅黑" pitchFamily="34" charset="-122"/>
              </a:rPr>
              <a:t>，市区</a:t>
            </a:r>
            <a:r>
              <a:rPr lang="zh-CN" altLang="en-US" sz="1600" dirty="0" smtClean="0">
                <a:solidFill>
                  <a:schemeClr val="bg1"/>
                </a:solidFill>
                <a:latin typeface="微软雅黑" pitchFamily="34" charset="-122"/>
                <a:ea typeface="微软雅黑" pitchFamily="34" charset="-122"/>
              </a:rPr>
              <a:t>允许</a:t>
            </a:r>
            <a:r>
              <a:rPr lang="zh-CN" altLang="en-US" sz="1600" dirty="0">
                <a:solidFill>
                  <a:schemeClr val="bg1"/>
                </a:solidFill>
                <a:latin typeface="微软雅黑" pitchFamily="34" charset="-122"/>
                <a:ea typeface="微软雅黑" pitchFamily="34" charset="-122"/>
              </a:rPr>
              <a:t>最高车速超过 </a:t>
            </a:r>
            <a:r>
              <a:rPr lang="en-US" altLang="zh-CN" sz="1600" dirty="0">
                <a:solidFill>
                  <a:schemeClr val="bg1"/>
                </a:solidFill>
                <a:latin typeface="微软雅黑" pitchFamily="34" charset="-122"/>
                <a:ea typeface="微软雅黑" pitchFamily="34" charset="-122"/>
              </a:rPr>
              <a:t>60km/h</a:t>
            </a:r>
            <a:r>
              <a:rPr lang="zh-CN" altLang="en-US" sz="1600" dirty="0">
                <a:solidFill>
                  <a:schemeClr val="bg1"/>
                </a:solidFill>
                <a:latin typeface="微软雅黑" pitchFamily="34" charset="-122"/>
                <a:ea typeface="微软雅黑" pitchFamily="34" charset="-122"/>
              </a:rPr>
              <a:t>，而且性能非常可靠和稳定。</a:t>
            </a:r>
          </a:p>
        </p:txBody>
      </p:sp>
    </p:spTree>
    <p:extLst>
      <p:ext uri="{BB962C8B-B14F-4D97-AF65-F5344CB8AC3E}">
        <p14:creationId xmlns:p14="http://schemas.microsoft.com/office/powerpoint/2010/main" val="204351873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2"/>
          <p:cNvSpPr>
            <a:spLocks noGrp="1" noChangeArrowheads="1"/>
          </p:cNvSpPr>
          <p:nvPr/>
        </p:nvSpPr>
        <p:spPr bwMode="auto">
          <a:xfrm>
            <a:off x="2699792" y="1698475"/>
            <a:ext cx="4074090" cy="756832"/>
          </a:xfrm>
          <a:prstGeom prst="rect">
            <a:avLst/>
          </a:prstGeom>
          <a:noFill/>
          <a:ln w="9525">
            <a:noFill/>
            <a:miter lim="800000"/>
          </a:ln>
          <a:effectLst/>
        </p:spPr>
        <p:txBody>
          <a:bodyPr anchor="ctr"/>
          <a:lstStyle/>
          <a:p>
            <a:pPr algn="ctr">
              <a:buFontTx/>
              <a:buNone/>
              <a:defRPr/>
            </a:pPr>
            <a:r>
              <a:rPr lang="en-US" altLang="zh-CN" sz="6000" b="1" dirty="0">
                <a:solidFill>
                  <a:srgbClr val="0A8029"/>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Thanks</a:t>
            </a:r>
            <a:r>
              <a:rPr lang="zh-CN" altLang="en-US" sz="6000" b="1" dirty="0">
                <a:solidFill>
                  <a:srgbClr val="0A8029"/>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a:t>
            </a:r>
          </a:p>
        </p:txBody>
      </p:sp>
      <p:sp>
        <p:nvSpPr>
          <p:cNvPr id="11" name="灯片编号占位符 5"/>
          <p:cNvSpPr txBox="1"/>
          <p:nvPr/>
        </p:nvSpPr>
        <p:spPr>
          <a:xfrm>
            <a:off x="107504" y="4840397"/>
            <a:ext cx="2133600" cy="273844"/>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C913308-F349-4B6D-A68A-DD1791B4A57B}" type="slidenum">
              <a:rPr lang="zh-CN" altLang="en-US" sz="1200" smtClean="0"/>
              <a:t>23</a:t>
            </a:fld>
            <a:endParaRPr lang="zh-CN" altLang="en-US" sz="1200"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103</TotalTime>
  <Words>2261</Words>
  <Application>Microsoft Office PowerPoint</Application>
  <PresentationFormat>全屏显示(16:9)</PresentationFormat>
  <Paragraphs>140</Paragraphs>
  <Slides>23</Slides>
  <Notes>22</Notes>
  <HiddenSlides>0</HiddenSlides>
  <MMClips>0</MMClips>
  <ScaleCrop>false</ScaleCrop>
  <HeadingPairs>
    <vt:vector size="4" baseType="variant">
      <vt:variant>
        <vt:lpstr>主题</vt:lpstr>
      </vt:variant>
      <vt:variant>
        <vt:i4>1</vt:i4>
      </vt:variant>
      <vt:variant>
        <vt:lpstr>幻灯片标题</vt:lpstr>
      </vt:variant>
      <vt:variant>
        <vt:i4>23</vt:i4>
      </vt:variant>
    </vt:vector>
  </HeadingPairs>
  <TitlesOfParts>
    <vt:vector size="24" baseType="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内训体系构架（讨论稿）</dc:title>
  <dc:creator>Administrator</dc:creator>
  <cp:lastModifiedBy>Lenovo</cp:lastModifiedBy>
  <cp:revision>1571</cp:revision>
  <dcterms:created xsi:type="dcterms:W3CDTF">2017-08-03T05:04:00Z</dcterms:created>
  <dcterms:modified xsi:type="dcterms:W3CDTF">2022-03-05T08:50:02Z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2052-11.1.0.11365</vt:lpwstr>
  </property>
  <property fmtid="{D5CDD505-2E9C-101B-9397-08002B2CF9AE}" pid="3" name="ICV">
    <vt:lpwstr>8E4C9AADA725407FBE44C9347C02DF2D</vt:lpwstr>
  </property>
</Properties>
</file>