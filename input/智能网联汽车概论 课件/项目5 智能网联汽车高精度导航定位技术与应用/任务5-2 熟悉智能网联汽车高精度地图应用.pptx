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452" r:id="rId2"/>
    <p:sldId id="575" r:id="rId3"/>
    <p:sldId id="552" r:id="rId4"/>
    <p:sldId id="656" r:id="rId5"/>
    <p:sldId id="660" r:id="rId6"/>
    <p:sldId id="657" r:id="rId7"/>
    <p:sldId id="661" r:id="rId8"/>
    <p:sldId id="642" r:id="rId9"/>
    <p:sldId id="658" r:id="rId10"/>
    <p:sldId id="643" r:id="rId11"/>
    <p:sldId id="659" r:id="rId12"/>
    <p:sldId id="662" r:id="rId13"/>
    <p:sldId id="663" r:id="rId14"/>
    <p:sldId id="664" r:id="rId15"/>
    <p:sldId id="569" r:id="rId1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735"/>
    <a:srgbClr val="E20000"/>
    <a:srgbClr val="0A8029"/>
    <a:srgbClr val="6BA42C"/>
    <a:srgbClr val="080B86"/>
    <a:srgbClr val="2A6430"/>
    <a:srgbClr val="F2DCDB"/>
    <a:srgbClr val="EECECD"/>
    <a:srgbClr val="FAC090"/>
    <a:srgbClr val="88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 autoAdjust="0"/>
    <p:restoredTop sz="83310" autoAdjust="0"/>
  </p:normalViewPr>
  <p:slideViewPr>
    <p:cSldViewPr>
      <p:cViewPr>
        <p:scale>
          <a:sx n="70" d="100"/>
          <a:sy n="70" d="100"/>
        </p:scale>
        <p:origin x="-612" y="-60"/>
      </p:cViewPr>
      <p:guideLst>
        <p:guide orient="horz" pos="1400"/>
        <p:guide pos="2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C56A5-6504-4F84-B307-892CFB3AFEA7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B046C-3A01-41E6-A822-7FA0A1965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57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C8B-5710-4407-A094-7D0381341E3B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ody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66367"/>
            <a:ext cx="6176442" cy="430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063229"/>
            <a:ext cx="8229600" cy="3394472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FFB4-D8F7-48E0-9754-FAF3066818AC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17A1-F837-41FD-8512-7BBDAF0EED8B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C002-758E-4D25-975A-AB620C087E93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E8EA-488D-4BB4-AB2B-C90BF1352AF7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22F2-C2FC-4FED-ABEC-518BAC9A44A6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4C27-18E3-4311-8A9B-EEA28C49A864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B677-D259-4E34-9A89-F6EEDF9008C9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84B-109E-4527-94FF-867BDC11262B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1F9AA-5F1F-420B-9A0D-3439B6781FDC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B00F-AA85-4C40-AA06-D9A56162892B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 userDrawn="1"/>
        </p:nvSpPr>
        <p:spPr bwMode="auto">
          <a:xfrm>
            <a:off x="5298304" y="915566"/>
            <a:ext cx="3670323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anchor="ctr"/>
          <a:lstStyle>
            <a:lvl1pPr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467544" y="3075806"/>
            <a:ext cx="4070521" cy="18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anchor="ctr"/>
          <a:lstStyle>
            <a:lvl1pPr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EA93C-689E-4CAB-A3E9-95BA7A7E3BFC}" type="datetime1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15449"/>
            <a:ext cx="7784926" cy="2246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187624" y="339502"/>
            <a:ext cx="6276305" cy="4427926"/>
            <a:chOff x="1187624" y="339502"/>
            <a:chExt cx="6276305" cy="442792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39502"/>
              <a:ext cx="6276305" cy="385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7664" y="4191233"/>
              <a:ext cx="4361109" cy="576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868403" y="434360"/>
            <a:ext cx="75732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什么是高精度地图？高精度地图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与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普通导航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地图有什么区别？ </a:t>
            </a:r>
          </a:p>
        </p:txBody>
      </p:sp>
      <p:sp>
        <p:nvSpPr>
          <p:cNvPr id="3" name="矩形 2"/>
          <p:cNvSpPr/>
          <p:nvPr/>
        </p:nvSpPr>
        <p:spPr>
          <a:xfrm>
            <a:off x="972463" y="1491630"/>
            <a:ext cx="2212465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1.高精度地图概述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60413" y="1995686"/>
            <a:ext cx="3694608" cy="226485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127000">
              <a:lnSpc>
                <a:spcPct val="150000"/>
              </a:lnSpc>
            </a:pPr>
            <a:r>
              <a:rPr lang="zh-CN" sz="16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sz="16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精度地图是指高精度、精细化定义的电子地图。高精度地图是相对于现在已经普及的普通导航电子地图（如手机上的各种APP地图）来比较的，也就是比普通的导航电子地图精度更高、数据维度更多的电子地图。</a:t>
            </a:r>
          </a:p>
        </p:txBody>
      </p:sp>
      <p:pic>
        <p:nvPicPr>
          <p:cNvPr id="10" name="图片 10" descr="说明: http://n.sinaimg.cn/front/367/w700h467/20190102/fwEl-hqzxptn324765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8023" y="1995685"/>
            <a:ext cx="3390405" cy="22648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3273072" y="1483615"/>
            <a:ext cx="2763898" cy="40812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（1）高精度地图的定义</a:t>
            </a:r>
            <a:endParaRPr lang="zh-CN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0727" y="2010202"/>
            <a:ext cx="3313241" cy="177664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sz="16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“高精度”</a:t>
            </a:r>
            <a:r>
              <a:rPr lang="zh-CN" sz="16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指两个方面：一方面是指高精度电子地图的绝对坐标精度更高。绝对坐标精度</a:t>
            </a:r>
            <a:r>
              <a:rPr lang="zh-CN" sz="16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指地图</a:t>
            </a:r>
            <a:r>
              <a:rPr lang="zh-CN" sz="16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上某个目标和真实的环境之间的精度。另一方面是指高精度地图所含有的道路交通信息元素更丰富和精细。</a:t>
            </a:r>
          </a:p>
        </p:txBody>
      </p:sp>
      <p:pic>
        <p:nvPicPr>
          <p:cNvPr id="9" name="图片 9" descr="说明: C:\Users\Lenovo\Desktop\智能网联汽车 人民交通\项目5 智能网联汽车高精度定位与导航系统应用\任务5-1 图片\1503967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5976" y="1996258"/>
            <a:ext cx="3835431" cy="2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868403" y="434360"/>
            <a:ext cx="75732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什么是高精度地图？高精度地图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与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普通导航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地图有什么区别？ </a:t>
            </a:r>
          </a:p>
        </p:txBody>
      </p:sp>
      <p:sp>
        <p:nvSpPr>
          <p:cNvPr id="10" name="矩形 9"/>
          <p:cNvSpPr/>
          <p:nvPr/>
        </p:nvSpPr>
        <p:spPr>
          <a:xfrm>
            <a:off x="972463" y="1491630"/>
            <a:ext cx="2212465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1.高精度地图概述</a:t>
            </a:r>
          </a:p>
        </p:txBody>
      </p:sp>
      <p:sp>
        <p:nvSpPr>
          <p:cNvPr id="11" name="矩形 10"/>
          <p:cNvSpPr/>
          <p:nvPr/>
        </p:nvSpPr>
        <p:spPr>
          <a:xfrm>
            <a:off x="3273072" y="1483615"/>
            <a:ext cx="3225563" cy="40812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endParaRPr lang="zh-CN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0725" y="3881050"/>
            <a:ext cx="3313243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高精度地图的信息包括：行车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辅助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信息和驾驶辅助信息。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868403" y="434360"/>
            <a:ext cx="75732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什么是高精度地图？高精度地图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与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普通导航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地图有什么区别？ </a:t>
            </a:r>
          </a:p>
        </p:txBody>
      </p:sp>
      <p:sp>
        <p:nvSpPr>
          <p:cNvPr id="10" name="矩形 9"/>
          <p:cNvSpPr/>
          <p:nvPr/>
        </p:nvSpPr>
        <p:spPr>
          <a:xfrm>
            <a:off x="972463" y="1491630"/>
            <a:ext cx="2212465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1.高精度地图概述</a:t>
            </a:r>
          </a:p>
        </p:txBody>
      </p:sp>
      <p:sp>
        <p:nvSpPr>
          <p:cNvPr id="11" name="矩形 10"/>
          <p:cNvSpPr/>
          <p:nvPr/>
        </p:nvSpPr>
        <p:spPr>
          <a:xfrm>
            <a:off x="3273072" y="1483615"/>
            <a:ext cx="3225563" cy="40812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endParaRPr lang="zh-CN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7072" y="1995686"/>
            <a:ext cx="7185328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高精度地图包含的道路交通信息很丰富，总的来说可分为基础信息层、道路信 息层、周围环境信息层和其他信息层，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72" y="2649454"/>
            <a:ext cx="7185328" cy="2154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748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868403" y="434360"/>
            <a:ext cx="75732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什么是高精度地图？高精度地图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与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普通导航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地图有什么区别？ </a:t>
            </a:r>
          </a:p>
        </p:txBody>
      </p:sp>
      <p:sp>
        <p:nvSpPr>
          <p:cNvPr id="9" name="矩形 8"/>
          <p:cNvSpPr/>
          <p:nvPr/>
        </p:nvSpPr>
        <p:spPr>
          <a:xfrm>
            <a:off x="972463" y="1491630"/>
            <a:ext cx="2212465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1.高精度地图概述</a:t>
            </a:r>
          </a:p>
        </p:txBody>
      </p:sp>
      <p:sp>
        <p:nvSpPr>
          <p:cNvPr id="10" name="矩形 9"/>
          <p:cNvSpPr/>
          <p:nvPr/>
        </p:nvSpPr>
        <p:spPr>
          <a:xfrm>
            <a:off x="3273072" y="1483615"/>
            <a:ext cx="4379725" cy="40812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与普通导航地图的区别</a:t>
            </a:r>
            <a:endParaRPr lang="zh-CN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59392" y="1995686"/>
            <a:ext cx="7140999" cy="233807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高精度地图最重要的特征是精度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导航地图是面向驾驶员，供驾驶员使用的地图数据，而高精度地图是面向机器（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自动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驾驶系统）的供自动驾驶汽车使用的地图数据。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导航地图会描绘出道路，部分道路会区分车道；高精度地图不仅会描绘道路，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对道路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上有多少条车道也会精确描绘，能够真实地反映出道路的实际样式。 ③导航地图不能把道路形状的细节完全展现；高精度地图为了让自动驾驶系统更好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地识别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交通情况，从而提前做出行驶方案，会把道路形状的细节进行详细、精确展示，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哪些地方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变宽、变窄，会和真实道路完全一致。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868403" y="434360"/>
            <a:ext cx="75732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什么是高精度地图？高精度地图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与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普通导航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地图有什么区别？ </a:t>
            </a:r>
          </a:p>
        </p:txBody>
      </p:sp>
      <p:sp>
        <p:nvSpPr>
          <p:cNvPr id="9" name="矩形 8"/>
          <p:cNvSpPr/>
          <p:nvPr/>
        </p:nvSpPr>
        <p:spPr>
          <a:xfrm>
            <a:off x="972463" y="1491630"/>
            <a:ext cx="2212465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1.高精度地图概述</a:t>
            </a:r>
          </a:p>
        </p:txBody>
      </p:sp>
      <p:sp>
        <p:nvSpPr>
          <p:cNvPr id="10" name="矩形 9"/>
          <p:cNvSpPr/>
          <p:nvPr/>
        </p:nvSpPr>
        <p:spPr>
          <a:xfrm>
            <a:off x="3273072" y="1483615"/>
            <a:ext cx="4379725" cy="40812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</a:t>
            </a:r>
            <a:r>
              <a:rPr lang="zh-CN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与普通导航地图的区别</a:t>
            </a:r>
            <a:endParaRPr lang="zh-CN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067694"/>
            <a:ext cx="5147383" cy="2635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697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857503" y="411510"/>
            <a:ext cx="75732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高精度地图是如何制作出来的？ 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1.高精度地图的采集方法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1601" y="1635646"/>
            <a:ext cx="7200800" cy="653769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sz="16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地图的信息采集是靠地图采集车上的激光雷达、高清摄像头、惯性导航系统及GPS定位系统，可以把地图数据的相对误差控制在10cm以内甚至更精确。</a:t>
            </a:r>
          </a:p>
        </p:txBody>
      </p:sp>
      <p:pic>
        <p:nvPicPr>
          <p:cNvPr id="6" name="图片 6" descr="说明: C:\Users\Lenovo\Desktop\智能网联汽车 人民交通\项目5 智能网联汽车高精度定位与导航系统应用\任务5-1 图片\7178073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9081" y="2480524"/>
            <a:ext cx="20637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2" descr="说明: C:\Users\Lenovo\Desktop\智能网联汽车 人民交通\项目5 智能网联汽车高精度定位与导航系统应用\任务5-1 图片\cea03ad1e1f86052647af04ce058d04e_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4351" y="2480524"/>
            <a:ext cx="2178050" cy="168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971601" y="2480524"/>
            <a:ext cx="2592287" cy="170540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高精度地图的采集方法主要有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实地采集、加工和后续更新。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1102971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2.高精度地图的生产过程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1600" y="1563638"/>
            <a:ext cx="2981907" cy="315894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127000">
              <a:lnSpc>
                <a:spcPct val="114000"/>
              </a:lnSpc>
            </a:pPr>
            <a:r>
              <a:rPr lang="zh-CN" sz="16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地图中，为了提高存储效率和机器可读性，地图在存储时分为矢量层和对象层。在高精度地图生产过程中，通过提取车辆上传感器采集的原始数据，获取高精度地图特征值，构成特征地图。在此基础上，进一步提取、处理和标注矢量图形，包括道路网络信息、道路属性信息，道路几何信息和道路上主要标志的抽象信息。</a:t>
            </a:r>
          </a:p>
        </p:txBody>
      </p:sp>
      <p:pic>
        <p:nvPicPr>
          <p:cNvPr id="5" name="图片 1" descr="说明: https://ss0.baidu.com/6ONWsjip0QIZ8tyhnq/it/u=2850203694,3241341748&amp;fm=173&amp;app=25&amp;f=JPEG?w=640&amp;h=483&amp;s=E102D217604F08EA30A681C60300F0B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7945" y="1563638"/>
            <a:ext cx="4104456" cy="315894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8"/>
          <p:cNvSpPr>
            <a:spLocks noChangeArrowheads="1"/>
          </p:cNvSpPr>
          <p:nvPr/>
        </p:nvSpPr>
        <p:spPr bwMode="auto">
          <a:xfrm>
            <a:off x="857503" y="411510"/>
            <a:ext cx="75732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高精度地图是如何制作出来的？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高精度地图在智能网联（自动驾驶）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汽车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有什么应用？ 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507555"/>
            <a:ext cx="2468946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1.高精度地图的作用</a:t>
            </a:r>
          </a:p>
        </p:txBody>
      </p:sp>
      <p:pic>
        <p:nvPicPr>
          <p:cNvPr id="11" name="图片 11" descr="说明: http://www.3snews.net/uploadfile/2018/0306/201803061144507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7750" y="1995686"/>
            <a:ext cx="5054650" cy="28083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971600" y="1995686"/>
            <a:ext cx="2115632" cy="258532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在智能网联汽车自动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驾驶过程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中，高精度地图起到了高精度定位、辅助环境感知、规划与决策等作用。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高精度地图在智能网联（自动驾驶）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汽车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有什么应用？ </a:t>
            </a:r>
          </a:p>
        </p:txBody>
      </p:sp>
      <p:sp>
        <p:nvSpPr>
          <p:cNvPr id="6" name="矩形 5"/>
          <p:cNvSpPr/>
          <p:nvPr/>
        </p:nvSpPr>
        <p:spPr>
          <a:xfrm>
            <a:off x="971600" y="1507555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.高精度地图的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应用现状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7724" y="2032938"/>
            <a:ext cx="7200800" cy="19389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与传统的导航电子地图相比，高精度地图由于精度更高，涵盖的信息更广，可以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为车辆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提供比传感器更详细的环境信息，成为自动驾驶汽车核心的技术之一。然而由于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高精度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地图提供的数据过于详细，涉及空间信息安全，现行的法律以及政策在数据采集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、传输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、储存、使用以及表达上都存在着很多的限制，这在一定程度上制约了高精度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地图的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高精度地图在智能网联（自动驾驶）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汽车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有什么应用？ 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2067497"/>
            <a:ext cx="4824536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现阶段高精度地图面临的难点主要有以下几个方面：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2544447"/>
            <a:ext cx="7200800" cy="58477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）数据的采集和使用以及表达受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限制：这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主要是针对汽车厂商和自动驾驶方案解决商而言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的（法规限制）。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71600" y="3291830"/>
            <a:ext cx="7200800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）国内没有专门针对自动驾驶地图的统一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标准：目前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在国际上通行的高精度地图标准基本上都是基于欧美道路设计的，跟国内场景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有很大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的区别。</a:t>
            </a:r>
          </a:p>
        </p:txBody>
      </p:sp>
      <p:sp>
        <p:nvSpPr>
          <p:cNvPr id="8" name="矩形 7"/>
          <p:cNvSpPr/>
          <p:nvPr/>
        </p:nvSpPr>
        <p:spPr>
          <a:xfrm>
            <a:off x="971600" y="4128623"/>
            <a:ext cx="7200800" cy="63248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）保密技术需要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改进：按照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现行法规，自动驾驶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公开使用前，需要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进行处理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，而自动驾驶对定位的要求又很高，这明显与法规要求相矛盾。</a:t>
            </a:r>
          </a:p>
        </p:txBody>
      </p:sp>
      <p:sp>
        <p:nvSpPr>
          <p:cNvPr id="9" name="矩形 8"/>
          <p:cNvSpPr/>
          <p:nvPr/>
        </p:nvSpPr>
        <p:spPr>
          <a:xfrm>
            <a:off x="971600" y="1507555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.高精度地图的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应用现状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124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高精度地图在智能网联（自动驾驶）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汽车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有什么应用？ </a:t>
            </a:r>
          </a:p>
        </p:txBody>
      </p:sp>
      <p:sp>
        <p:nvSpPr>
          <p:cNvPr id="2" name="矩形 1"/>
          <p:cNvSpPr/>
          <p:nvPr/>
        </p:nvSpPr>
        <p:spPr>
          <a:xfrm>
            <a:off x="956428" y="2089180"/>
            <a:ext cx="4824536" cy="33855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现阶段高精度地图面临的难点主要有以下几个方面：</a:t>
            </a:r>
          </a:p>
        </p:txBody>
      </p:sp>
      <p:sp>
        <p:nvSpPr>
          <p:cNvPr id="3" name="矩形 2"/>
          <p:cNvSpPr/>
          <p:nvPr/>
        </p:nvSpPr>
        <p:spPr>
          <a:xfrm>
            <a:off x="956428" y="2566130"/>
            <a:ext cx="7200800" cy="93448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）现行审图方式可能存在一定的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问题：目前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导航电子地图实行的是许可制，在出版和发行之前需要经过地理信息主管部门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的审核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，然而自动驾驶地图采用数字串的形式来表达相关信息，且有很高的更新频率和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周期。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0954" y="3574242"/>
            <a:ext cx="7196273" cy="35176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）没有划定专门的测试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区：国内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的自动驾驶测试场主要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集中在自动驾驶上。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56426" y="4070889"/>
            <a:ext cx="7200799" cy="65376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）缺少统一的数据管理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平台：自动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驾驶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地图包含的大量信息，需要统一的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数据管理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平台。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71600" y="1507555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.高精度地图的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应用现状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39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高精度地图在智能网联（自动驾驶）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汽车</a:t>
            </a:r>
            <a:endParaRPr lang="en-US" altLang="zh-CN" sz="28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有什么应用？ 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1995686"/>
            <a:ext cx="7200800" cy="175432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由此可见，高精度地图的产业化之路还很长。但尽管如此，近几年该领域还是吸引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了大批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企业布局。放眼市场，除了传统的地图供应商，像 </a:t>
            </a:r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BAT 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等科技巨头，以及传统车企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，都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在纷纷借助收购、投资或者合作等手段进入高精度地图领域，甚至还诞生了一大批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初创型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企业。</a:t>
            </a:r>
          </a:p>
        </p:txBody>
      </p:sp>
      <p:sp>
        <p:nvSpPr>
          <p:cNvPr id="10" name="矩形 9"/>
          <p:cNvSpPr/>
          <p:nvPr/>
        </p:nvSpPr>
        <p:spPr>
          <a:xfrm>
            <a:off x="971600" y="1507555"/>
            <a:ext cx="2981907" cy="40011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.高精度地图的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应用现状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93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/>
        </p:nvSpPr>
        <p:spPr bwMode="auto">
          <a:xfrm>
            <a:off x="2699792" y="1698475"/>
            <a:ext cx="4074090" cy="75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6000" b="1" dirty="0">
                <a:solidFill>
                  <a:srgbClr val="0A80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6000" b="1" dirty="0">
                <a:solidFill>
                  <a:srgbClr val="0A80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11" name="灯片编号占位符 5"/>
          <p:cNvSpPr txBox="1"/>
          <p:nvPr/>
        </p:nvSpPr>
        <p:spPr>
          <a:xfrm>
            <a:off x="107504" y="4840397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smtClean="0"/>
              <a:t>15</a:t>
            </a:fld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1175</Words>
  <Application>Microsoft Office PowerPoint</Application>
  <PresentationFormat>全屏显示(16:9)</PresentationFormat>
  <Paragraphs>77</Paragraphs>
  <Slides>15</Slides>
  <Notes>14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内训体系构架（讨论稿）</dc:title>
  <dc:creator>Administrator</dc:creator>
  <cp:lastModifiedBy>Lenovo</cp:lastModifiedBy>
  <cp:revision>1565</cp:revision>
  <dcterms:created xsi:type="dcterms:W3CDTF">2017-08-03T05:04:00Z</dcterms:created>
  <dcterms:modified xsi:type="dcterms:W3CDTF">2022-03-05T10:33:30Z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8E4C9AADA725407FBE44C9347C02DF2D</vt:lpwstr>
  </property>
</Properties>
</file>