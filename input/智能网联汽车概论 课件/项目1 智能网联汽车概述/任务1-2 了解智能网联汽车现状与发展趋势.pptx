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sldIdLst>
    <p:sldId id="452" r:id="rId2"/>
    <p:sldId id="575" r:id="rId3"/>
    <p:sldId id="552" r:id="rId4"/>
    <p:sldId id="611" r:id="rId5"/>
    <p:sldId id="612" r:id="rId6"/>
    <p:sldId id="613" r:id="rId7"/>
    <p:sldId id="614" r:id="rId8"/>
    <p:sldId id="615" r:id="rId9"/>
    <p:sldId id="607" r:id="rId10"/>
    <p:sldId id="616" r:id="rId11"/>
    <p:sldId id="617" r:id="rId12"/>
    <p:sldId id="592" r:id="rId13"/>
    <p:sldId id="608" r:id="rId14"/>
    <p:sldId id="618" r:id="rId15"/>
    <p:sldId id="593" r:id="rId16"/>
    <p:sldId id="619" r:id="rId17"/>
    <p:sldId id="620" r:id="rId18"/>
    <p:sldId id="621" r:id="rId19"/>
    <p:sldId id="622" r:id="rId20"/>
    <p:sldId id="623" r:id="rId21"/>
    <p:sldId id="569" r:id="rId2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3310" autoAdjust="0"/>
  </p:normalViewPr>
  <p:slideViewPr>
    <p:cSldViewPr>
      <p:cViewPr>
        <p:scale>
          <a:sx n="70" d="100"/>
          <a:sy n="70" d="100"/>
        </p:scale>
        <p:origin x="-612" y="-60"/>
      </p:cViewPr>
      <p:guideLst>
        <p:guide orient="horz" pos="1388"/>
        <p:guide pos="283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2712011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2022/3/2</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136" y="594404"/>
            <a:ext cx="7524328" cy="2371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11510"/>
            <a:ext cx="7380312" cy="4314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a:t>
            </a:fld>
            <a:endParaRPr lang="zh-CN" altLang="en-US" dirty="0"/>
          </a:p>
        </p:txBody>
      </p:sp>
      <p:sp>
        <p:nvSpPr>
          <p:cNvPr id="8"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3" name="矩形 2"/>
          <p:cNvSpPr/>
          <p:nvPr/>
        </p:nvSpPr>
        <p:spPr>
          <a:xfrm>
            <a:off x="976973" y="1442866"/>
            <a:ext cx="375134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1.国外无人驾驶汽车技术的发展</a:t>
            </a:r>
          </a:p>
        </p:txBody>
      </p:sp>
      <p:pic>
        <p:nvPicPr>
          <p:cNvPr id="51" name="图片 51" descr="图1-2-1 第一辆有证可查无人驾驶汽车"/>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76973" y="2155582"/>
            <a:ext cx="2355850" cy="1342390"/>
          </a:xfrm>
          <a:prstGeom prst="rect">
            <a:avLst/>
          </a:prstGeom>
          <a:noFill/>
          <a:ln>
            <a:noFill/>
          </a:ln>
        </p:spPr>
      </p:pic>
      <p:pic>
        <p:nvPicPr>
          <p:cNvPr id="50" name="图片 50" descr="说明: C:\Users\Lenovo\Desktop\智能网联汽车 人民交通\项目1 智能网联汽车概述\任务1-2  图\图1-2-2 通用汽车公司的无人驾驶概念车.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3449025" y="2119387"/>
            <a:ext cx="2686050" cy="1414780"/>
          </a:xfrm>
          <a:prstGeom prst="rect">
            <a:avLst/>
          </a:prstGeom>
          <a:noFill/>
          <a:ln>
            <a:noFill/>
          </a:ln>
        </p:spPr>
      </p:pic>
      <p:pic>
        <p:nvPicPr>
          <p:cNvPr id="48" name="图片 48" descr="说明: C:\Users\Lenovo\Desktop\智能网联汽车 人民交通\项目1 智能网联汽车概述\任务1-2  图\图1-2-4 英国道路研究实验室的无人驾驶汽车.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6199930" y="2141696"/>
            <a:ext cx="2324100" cy="1370162"/>
          </a:xfrm>
          <a:prstGeom prst="rect">
            <a:avLst/>
          </a:prstGeom>
          <a:noFill/>
          <a:ln>
            <a:noFill/>
          </a:ln>
        </p:spPr>
      </p:pic>
      <p:sp>
        <p:nvSpPr>
          <p:cNvPr id="2" name="矩形 1"/>
          <p:cNvSpPr/>
          <p:nvPr/>
        </p:nvSpPr>
        <p:spPr>
          <a:xfrm>
            <a:off x="979072" y="3651870"/>
            <a:ext cx="2561920" cy="338554"/>
          </a:xfrm>
          <a:prstGeom prst="rect">
            <a:avLst/>
          </a:prstGeom>
        </p:spPr>
        <p:txBody>
          <a:bodyPr wrap="none">
            <a:spAutoFit/>
          </a:bodyPr>
          <a:lstStyle/>
          <a:p>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）第一辆无人驾驶汽车</a:t>
            </a:r>
          </a:p>
        </p:txBody>
      </p:sp>
      <p:sp>
        <p:nvSpPr>
          <p:cNvPr id="5" name="矩形 4"/>
          <p:cNvSpPr/>
          <p:nvPr/>
        </p:nvSpPr>
        <p:spPr>
          <a:xfrm>
            <a:off x="3243841" y="3625095"/>
            <a:ext cx="2561920" cy="584775"/>
          </a:xfrm>
          <a:prstGeom prst="rect">
            <a:avLst/>
          </a:prstGeom>
        </p:spPr>
        <p:txBody>
          <a:bodyPr wrap="non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2</a:t>
            </a:r>
            <a:r>
              <a:rPr lang="zh-CN" altLang="en-US" sz="1600" dirty="0" smtClean="0">
                <a:latin typeface="微软雅黑" pitchFamily="34" charset="-122"/>
                <a:ea typeface="微软雅黑" pitchFamily="34" charset="-122"/>
              </a:rPr>
              <a:t>）美国通用公司</a:t>
            </a:r>
            <a:r>
              <a:rPr lang="zh-CN" altLang="en-US" sz="1600" dirty="0">
                <a:latin typeface="微软雅黑" pitchFamily="34" charset="-122"/>
                <a:ea typeface="微软雅黑" pitchFamily="34" charset="-122"/>
              </a:rPr>
              <a:t>的</a:t>
            </a:r>
            <a:r>
              <a:rPr lang="zh-CN" altLang="en-US" sz="1600" dirty="0" smtClean="0">
                <a:latin typeface="微软雅黑" pitchFamily="34" charset="-122"/>
                <a:ea typeface="微软雅黑" pitchFamily="34" charset="-122"/>
              </a:rPr>
              <a:t>无人</a:t>
            </a:r>
            <a:endParaRPr lang="en-US" altLang="zh-CN" sz="1600" dirty="0" smtClean="0">
              <a:latin typeface="微软雅黑" pitchFamily="34" charset="-122"/>
              <a:ea typeface="微软雅黑" pitchFamily="34" charset="-122"/>
            </a:endParaRPr>
          </a:p>
          <a:p>
            <a:pPr algn="ctr"/>
            <a:r>
              <a:rPr lang="zh-CN" altLang="en-US" sz="1600" dirty="0" smtClean="0">
                <a:latin typeface="微软雅黑" pitchFamily="34" charset="-122"/>
                <a:ea typeface="微软雅黑" pitchFamily="34" charset="-122"/>
              </a:rPr>
              <a:t>驾驶</a:t>
            </a:r>
            <a:r>
              <a:rPr lang="zh-CN" altLang="en-US" sz="1600" dirty="0">
                <a:latin typeface="微软雅黑" pitchFamily="34" charset="-122"/>
                <a:ea typeface="微软雅黑" pitchFamily="34" charset="-122"/>
              </a:rPr>
              <a:t>汽车</a:t>
            </a:r>
          </a:p>
        </p:txBody>
      </p:sp>
      <p:sp>
        <p:nvSpPr>
          <p:cNvPr id="7" name="矩形 6"/>
          <p:cNvSpPr/>
          <p:nvPr/>
        </p:nvSpPr>
        <p:spPr>
          <a:xfrm>
            <a:off x="5967206" y="3570738"/>
            <a:ext cx="2561920" cy="584775"/>
          </a:xfrm>
          <a:prstGeom prst="rect">
            <a:avLst/>
          </a:prstGeom>
        </p:spPr>
        <p:txBody>
          <a:bodyPr wrap="non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英国道路研究实验室</a:t>
            </a:r>
            <a:endParaRPr lang="en-US" altLang="zh-CN" sz="1600" dirty="0" smtClean="0">
              <a:latin typeface="微软雅黑" pitchFamily="34" charset="-122"/>
              <a:ea typeface="微软雅黑" pitchFamily="34" charset="-122"/>
            </a:endParaRPr>
          </a:p>
          <a:p>
            <a:pPr algn="ctr"/>
            <a:r>
              <a:rPr lang="zh-CN" altLang="en-US" sz="1600" dirty="0" smtClean="0">
                <a:latin typeface="微软雅黑" pitchFamily="34" charset="-122"/>
                <a:ea typeface="微软雅黑" pitchFamily="34" charset="-122"/>
              </a:rPr>
              <a:t>的</a:t>
            </a:r>
            <a:r>
              <a:rPr lang="zh-CN" altLang="en-US" sz="1600" dirty="0">
                <a:latin typeface="微软雅黑" pitchFamily="34" charset="-122"/>
                <a:ea typeface="微软雅黑" pitchFamily="34" charset="-122"/>
              </a:rPr>
              <a:t>无人驾驶汽车</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4</a:t>
            </a:fld>
            <a:endParaRPr lang="zh-CN" altLang="en-US" dirty="0"/>
          </a:p>
        </p:txBody>
      </p:sp>
      <p:pic>
        <p:nvPicPr>
          <p:cNvPr id="47" name="图片 47" descr="说明: C:\Users\Lenovo\Desktop\智能网联汽车 人民交通\项目1 智能网联汽车概述\任务1-2  图\图1-2-5 日本的筑波工程研究实验室的自动驾驶汽车.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952930" y="2040177"/>
            <a:ext cx="2178909" cy="1510293"/>
          </a:xfrm>
          <a:prstGeom prst="rect">
            <a:avLst/>
          </a:prstGeom>
          <a:noFill/>
          <a:ln>
            <a:noFill/>
          </a:ln>
        </p:spPr>
      </p:pic>
      <p:pic>
        <p:nvPicPr>
          <p:cNvPr id="45" name="图片 45" descr="说明: C:\Users\Lenovo\Desktop\智能网联汽车 人民交通\项目1 智能网联汽车概述\任务1-2  图\图1-2-7 美国卡内基•梅隆大学的自动驾驶汽车.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015337" y="1961514"/>
            <a:ext cx="2184141" cy="1452005"/>
          </a:xfrm>
          <a:prstGeom prst="rect">
            <a:avLst/>
          </a:prstGeom>
          <a:noFill/>
          <a:ln>
            <a:noFill/>
          </a:ln>
        </p:spPr>
      </p:pic>
      <p:sp>
        <p:nvSpPr>
          <p:cNvPr id="11"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1.国外无人驾驶汽车技术的发展</a:t>
            </a:r>
          </a:p>
        </p:txBody>
      </p:sp>
      <p:sp>
        <p:nvSpPr>
          <p:cNvPr id="2" name="矩形 1"/>
          <p:cNvSpPr/>
          <p:nvPr/>
        </p:nvSpPr>
        <p:spPr>
          <a:xfrm>
            <a:off x="935806" y="3651870"/>
            <a:ext cx="2376263"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）日本筑波工程研究实验室的无人驾驶汽车</a:t>
            </a:r>
          </a:p>
        </p:txBody>
      </p:sp>
      <p:sp>
        <p:nvSpPr>
          <p:cNvPr id="5" name="矩形 4"/>
          <p:cNvSpPr/>
          <p:nvPr/>
        </p:nvSpPr>
        <p:spPr>
          <a:xfrm>
            <a:off x="3441305" y="3630674"/>
            <a:ext cx="2574032" cy="584775"/>
          </a:xfrm>
          <a:prstGeom prst="rect">
            <a:avLst/>
          </a:prstGeom>
        </p:spPr>
        <p:txBody>
          <a:bodyPr wrap="square">
            <a:spAutoFit/>
          </a:bodyPr>
          <a:lstStyle/>
          <a:p>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）德国慕尼黑联邦国防军大学的无人驾驶汽车</a:t>
            </a:r>
          </a:p>
        </p:txBody>
      </p:sp>
      <p:sp>
        <p:nvSpPr>
          <p:cNvPr id="7" name="矩形 6"/>
          <p:cNvSpPr/>
          <p:nvPr/>
        </p:nvSpPr>
        <p:spPr>
          <a:xfrm>
            <a:off x="5972016" y="3630674"/>
            <a:ext cx="2222665"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）美国卡内基</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梅隆大学的无人驾驶汽车</a:t>
            </a:r>
          </a:p>
        </p:txBody>
      </p:sp>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51920" y="1961514"/>
            <a:ext cx="1512168" cy="1588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67130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5</a:t>
            </a:fld>
            <a:endParaRPr lang="zh-CN" altLang="en-US" dirty="0"/>
          </a:p>
        </p:txBody>
      </p:sp>
      <p:sp>
        <p:nvSpPr>
          <p:cNvPr id="11"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1.国外无人驾驶汽车技术的发展</a:t>
            </a: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520" y="2092319"/>
            <a:ext cx="2442899" cy="147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52750" y="3723878"/>
            <a:ext cx="2646930"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）意大利帕尔马大学视觉实验室的无人驾驶汽车</a:t>
            </a:r>
          </a:p>
        </p:txBody>
      </p:sp>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9680" y="2099840"/>
            <a:ext cx="2257281" cy="1463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2115574"/>
            <a:ext cx="2160240" cy="1447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3545899" y="3723876"/>
            <a:ext cx="2286000"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8</a:t>
            </a:r>
            <a:r>
              <a:rPr lang="zh-CN" altLang="en-US" sz="1600" dirty="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美国</a:t>
            </a:r>
            <a:r>
              <a:rPr lang="en-US" altLang="zh-CN" sz="1600" dirty="0" smtClean="0">
                <a:latin typeface="微软雅黑" pitchFamily="34" charset="-122"/>
                <a:ea typeface="微软雅黑" pitchFamily="34" charset="-122"/>
              </a:rPr>
              <a:t>DARPA</a:t>
            </a:r>
            <a:r>
              <a:rPr lang="zh-CN" altLang="en-US" sz="1600" dirty="0" smtClean="0">
                <a:latin typeface="微软雅黑" pitchFamily="34" charset="-122"/>
                <a:ea typeface="微软雅黑" pitchFamily="34" charset="-122"/>
              </a:rPr>
              <a:t>的</a:t>
            </a:r>
            <a:r>
              <a:rPr lang="en-US" altLang="zh-CN" sz="1600" dirty="0" smtClean="0">
                <a:latin typeface="微软雅黑" pitchFamily="34" charset="-122"/>
                <a:ea typeface="微软雅黑" pitchFamily="34" charset="-122"/>
              </a:rPr>
              <a:t>GM</a:t>
            </a:r>
            <a:r>
              <a:rPr lang="zh-CN" altLang="en-US" sz="1600" dirty="0" smtClean="0">
                <a:latin typeface="微软雅黑" pitchFamily="34" charset="-122"/>
                <a:ea typeface="微软雅黑" pitchFamily="34" charset="-122"/>
              </a:rPr>
              <a:t>无人</a:t>
            </a:r>
            <a:r>
              <a:rPr lang="zh-CN" altLang="en-US" sz="1600" dirty="0">
                <a:latin typeface="微软雅黑" pitchFamily="34" charset="-122"/>
                <a:ea typeface="微软雅黑" pitchFamily="34" charset="-122"/>
              </a:rPr>
              <a:t>驾驶汽车</a:t>
            </a:r>
          </a:p>
        </p:txBody>
      </p:sp>
      <p:sp>
        <p:nvSpPr>
          <p:cNvPr id="8" name="矩形 7"/>
          <p:cNvSpPr/>
          <p:nvPr/>
        </p:nvSpPr>
        <p:spPr>
          <a:xfrm>
            <a:off x="5920737" y="3744887"/>
            <a:ext cx="2243088"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9</a:t>
            </a:r>
            <a:r>
              <a:rPr lang="zh-CN" altLang="en-US" sz="1600" dirty="0">
                <a:latin typeface="微软雅黑" pitchFamily="34" charset="-122"/>
                <a:ea typeface="微软雅黑" pitchFamily="34" charset="-122"/>
              </a:rPr>
              <a:t>）美国斯坦福大学的无人驾驶汽车</a:t>
            </a:r>
          </a:p>
        </p:txBody>
      </p:sp>
    </p:spTree>
    <p:extLst>
      <p:ext uri="{BB962C8B-B14F-4D97-AF65-F5344CB8AC3E}">
        <p14:creationId xmlns:p14="http://schemas.microsoft.com/office/powerpoint/2010/main" val="33477366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6</a:t>
            </a:fld>
            <a:endParaRPr lang="zh-CN" altLang="en-US" dirty="0"/>
          </a:p>
        </p:txBody>
      </p:sp>
      <p:sp>
        <p:nvSpPr>
          <p:cNvPr id="11"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1.国外无人驾驶汽车技术的发展</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973" y="2139702"/>
            <a:ext cx="2421632" cy="1621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6180" y="2198569"/>
            <a:ext cx="2304281" cy="1542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2198568"/>
            <a:ext cx="2208850" cy="1542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35806" y="3950600"/>
            <a:ext cx="2462800"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10</a:t>
            </a:r>
            <a:r>
              <a:rPr lang="zh-CN" altLang="en-US" sz="1600" dirty="0">
                <a:latin typeface="微软雅黑" pitchFamily="34" charset="-122"/>
                <a:ea typeface="微软雅黑" pitchFamily="34" charset="-122"/>
              </a:rPr>
              <a:t>）谷歌公司的无人驾驶汽车</a:t>
            </a:r>
          </a:p>
        </p:txBody>
      </p:sp>
      <p:sp>
        <p:nvSpPr>
          <p:cNvPr id="5" name="矩形 4"/>
          <p:cNvSpPr/>
          <p:nvPr/>
        </p:nvSpPr>
        <p:spPr>
          <a:xfrm>
            <a:off x="3491879" y="3893735"/>
            <a:ext cx="2388581" cy="830997"/>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11</a:t>
            </a:r>
            <a:r>
              <a:rPr lang="zh-CN" altLang="en-US" sz="1600" dirty="0">
                <a:latin typeface="微软雅黑" pitchFamily="34" charset="-122"/>
                <a:ea typeface="微软雅黑" pitchFamily="34" charset="-122"/>
              </a:rPr>
              <a:t>）意大利帕尔马大学视觉实验室的太阳能</a:t>
            </a:r>
            <a:r>
              <a:rPr lang="zh-CN" altLang="en-US" sz="1600" dirty="0" smtClean="0">
                <a:latin typeface="微软雅黑" pitchFamily="34" charset="-122"/>
                <a:ea typeface="微软雅黑" pitchFamily="34" charset="-122"/>
              </a:rPr>
              <a:t>导航</a:t>
            </a:r>
            <a:r>
              <a:rPr lang="zh-CN" altLang="en-US" sz="1600" dirty="0">
                <a:latin typeface="微软雅黑" pitchFamily="34" charset="-122"/>
                <a:ea typeface="微软雅黑" pitchFamily="34" charset="-122"/>
              </a:rPr>
              <a:t>无人驾驶汽车</a:t>
            </a:r>
          </a:p>
        </p:txBody>
      </p:sp>
      <p:sp>
        <p:nvSpPr>
          <p:cNvPr id="7" name="矩形 6"/>
          <p:cNvSpPr/>
          <p:nvPr/>
        </p:nvSpPr>
        <p:spPr>
          <a:xfrm>
            <a:off x="6012160" y="3970679"/>
            <a:ext cx="2208850"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12</a:t>
            </a:r>
            <a:r>
              <a:rPr lang="zh-CN" altLang="en-US" sz="1600" dirty="0">
                <a:latin typeface="微软雅黑" pitchFamily="34" charset="-122"/>
                <a:ea typeface="微软雅黑" pitchFamily="34" charset="-122"/>
              </a:rPr>
              <a:t>）法国和英国的无人驾驶汽车</a:t>
            </a:r>
          </a:p>
        </p:txBody>
      </p:sp>
    </p:spTree>
    <p:extLst>
      <p:ext uri="{BB962C8B-B14F-4D97-AF65-F5344CB8AC3E}">
        <p14:creationId xmlns:p14="http://schemas.microsoft.com/office/powerpoint/2010/main" val="452834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7</a:t>
            </a:fld>
            <a:endParaRPr lang="zh-CN" altLang="en-US" dirty="0"/>
          </a:p>
        </p:txBody>
      </p:sp>
      <p:sp>
        <p:nvSpPr>
          <p:cNvPr id="11"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1.国外无人驾驶汽车技术的发展</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973" y="2201713"/>
            <a:ext cx="2214712" cy="154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2205344"/>
            <a:ext cx="2354277" cy="1541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2205343"/>
            <a:ext cx="2264974" cy="1541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11404" y="3939902"/>
            <a:ext cx="2280282"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13</a:t>
            </a:r>
            <a:r>
              <a:rPr lang="zh-CN" altLang="en-US" sz="1600" dirty="0">
                <a:latin typeface="微软雅黑" pitchFamily="34" charset="-122"/>
                <a:ea typeface="微软雅黑" pitchFamily="34" charset="-122"/>
              </a:rPr>
              <a:t>）谷歌公司自主研发的无人驾驶汽车</a:t>
            </a:r>
          </a:p>
        </p:txBody>
      </p:sp>
      <p:sp>
        <p:nvSpPr>
          <p:cNvPr id="4" name="矩形 3"/>
          <p:cNvSpPr/>
          <p:nvPr/>
        </p:nvSpPr>
        <p:spPr>
          <a:xfrm>
            <a:off x="3380990" y="3970367"/>
            <a:ext cx="2393160"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14</a:t>
            </a:r>
            <a:r>
              <a:rPr lang="zh-CN" altLang="en-US" sz="1600" dirty="0">
                <a:latin typeface="微软雅黑" pitchFamily="34" charset="-122"/>
                <a:ea typeface="微软雅黑" pitchFamily="34" charset="-122"/>
              </a:rPr>
              <a:t>）奔驰公司的无人驾驶汽车</a:t>
            </a:r>
          </a:p>
        </p:txBody>
      </p:sp>
      <p:sp>
        <p:nvSpPr>
          <p:cNvPr id="8" name="矩形 7"/>
          <p:cNvSpPr/>
          <p:nvPr/>
        </p:nvSpPr>
        <p:spPr>
          <a:xfrm>
            <a:off x="6012161" y="3972577"/>
            <a:ext cx="2264974" cy="584775"/>
          </a:xfrm>
          <a:prstGeom prst="rect">
            <a:avLst/>
          </a:prstGeom>
        </p:spPr>
        <p:txBody>
          <a:bodyPr wrap="square">
            <a:spAutoFit/>
          </a:bodyPr>
          <a:lstStyle/>
          <a:p>
            <a:pPr algn="ctr"/>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15</a:t>
            </a:r>
            <a:r>
              <a:rPr lang="zh-CN" altLang="en-US" sz="1600" dirty="0">
                <a:latin typeface="微软雅黑" pitchFamily="34" charset="-122"/>
                <a:ea typeface="微软雅黑" pitchFamily="34" charset="-122"/>
              </a:rPr>
              <a:t>）</a:t>
            </a:r>
            <a:r>
              <a:rPr lang="en-US" altLang="zh-CN" sz="1600" dirty="0" err="1">
                <a:latin typeface="微软雅黑" pitchFamily="34" charset="-122"/>
                <a:ea typeface="微软雅黑" pitchFamily="34" charset="-122"/>
              </a:rPr>
              <a:t>Waymo</a:t>
            </a:r>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公司的无人驾驶汽车</a:t>
            </a:r>
          </a:p>
        </p:txBody>
      </p:sp>
    </p:spTree>
    <p:extLst>
      <p:ext uri="{BB962C8B-B14F-4D97-AF65-F5344CB8AC3E}">
        <p14:creationId xmlns:p14="http://schemas.microsoft.com/office/powerpoint/2010/main" val="38700458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8</a:t>
            </a:fld>
            <a:endParaRPr lang="zh-CN" altLang="en-US" dirty="0"/>
          </a:p>
        </p:txBody>
      </p:sp>
      <p:sp>
        <p:nvSpPr>
          <p:cNvPr id="11"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1.国外无人驾驶汽车技术的发展</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606311"/>
            <a:ext cx="2419151" cy="1655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7" y="3236273"/>
            <a:ext cx="2419151" cy="1642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93162" y="1917456"/>
            <a:ext cx="3297698" cy="338554"/>
          </a:xfrm>
          <a:prstGeom prst="rect">
            <a:avLst/>
          </a:prstGeom>
        </p:spPr>
        <p:txBody>
          <a:bodyPr wrap="none">
            <a:spAutoFit/>
          </a:bodyPr>
          <a:lstStyle/>
          <a:p>
            <a:r>
              <a:rPr lang="zh-CN" altLang="en-US" sz="1600" dirty="0">
                <a:latin typeface="微软雅黑" pitchFamily="34" charset="-122"/>
                <a:ea typeface="微软雅黑" pitchFamily="34" charset="-122"/>
              </a:rPr>
              <a:t>（</a:t>
            </a:r>
            <a:r>
              <a:rPr lang="en-US" altLang="zh-CN" sz="1600" dirty="0">
                <a:latin typeface="微软雅黑" pitchFamily="34" charset="-122"/>
                <a:ea typeface="微软雅黑" pitchFamily="34" charset="-122"/>
              </a:rPr>
              <a:t>16</a:t>
            </a:r>
            <a:r>
              <a:rPr lang="zh-CN" altLang="en-US" sz="1600" dirty="0">
                <a:latin typeface="微软雅黑" pitchFamily="34" charset="-122"/>
                <a:ea typeface="微软雅黑" pitchFamily="34" charset="-122"/>
              </a:rPr>
              <a:t>）特斯拉公司的无人驾驶汽车</a:t>
            </a:r>
          </a:p>
        </p:txBody>
      </p:sp>
      <p:sp>
        <p:nvSpPr>
          <p:cNvPr id="5" name="矩形 4"/>
          <p:cNvSpPr/>
          <p:nvPr/>
        </p:nvSpPr>
        <p:spPr>
          <a:xfrm>
            <a:off x="976973" y="2266331"/>
            <a:ext cx="4068242" cy="2308324"/>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特斯拉公司作为全球无人驾驶技术的领跑者之一，在 </a:t>
            </a:r>
            <a:r>
              <a:rPr lang="en-US" altLang="zh-CN" sz="1600" dirty="0">
                <a:solidFill>
                  <a:schemeClr val="bg1"/>
                </a:solidFill>
                <a:latin typeface="微软雅黑" pitchFamily="34" charset="-122"/>
                <a:ea typeface="微软雅黑" pitchFamily="34" charset="-122"/>
              </a:rPr>
              <a:t>2015 </a:t>
            </a:r>
            <a:r>
              <a:rPr lang="zh-CN" altLang="en-US" sz="1600" dirty="0">
                <a:solidFill>
                  <a:schemeClr val="bg1"/>
                </a:solidFill>
                <a:latin typeface="微软雅黑" pitchFamily="34" charset="-122"/>
                <a:ea typeface="微软雅黑" pitchFamily="34" charset="-122"/>
              </a:rPr>
              <a:t>年底通过 </a:t>
            </a:r>
            <a:r>
              <a:rPr lang="en-US" altLang="zh-CN" sz="1600" dirty="0" smtClean="0">
                <a:solidFill>
                  <a:schemeClr val="bg1"/>
                </a:solidFill>
                <a:latin typeface="微软雅黑" pitchFamily="34" charset="-122"/>
                <a:ea typeface="微软雅黑" pitchFamily="34" charset="-122"/>
              </a:rPr>
              <a:t>OTA</a:t>
            </a:r>
            <a:r>
              <a:rPr lang="zh-CN" altLang="en-US" sz="1600" dirty="0" smtClean="0">
                <a:solidFill>
                  <a:schemeClr val="bg1"/>
                </a:solidFill>
                <a:latin typeface="微软雅黑" pitchFamily="34" charset="-122"/>
                <a:ea typeface="微软雅黑" pitchFamily="34" charset="-122"/>
              </a:rPr>
              <a:t>空中</a:t>
            </a:r>
            <a:r>
              <a:rPr lang="zh-CN" altLang="en-US" sz="1600" dirty="0">
                <a:solidFill>
                  <a:schemeClr val="bg1"/>
                </a:solidFill>
                <a:latin typeface="微软雅黑" pitchFamily="34" charset="-122"/>
                <a:ea typeface="微软雅黑" pitchFamily="34" charset="-122"/>
              </a:rPr>
              <a:t>下载</a:t>
            </a:r>
            <a:r>
              <a:rPr lang="zh-CN" altLang="en-US" sz="1600" dirty="0" smtClean="0">
                <a:solidFill>
                  <a:schemeClr val="bg1"/>
                </a:solidFill>
                <a:latin typeface="微软雅黑" pitchFamily="34" charset="-122"/>
                <a:ea typeface="微软雅黑" pitchFamily="34" charset="-122"/>
              </a:rPr>
              <a:t>技术的</a:t>
            </a:r>
            <a:r>
              <a:rPr lang="zh-CN" altLang="en-US" sz="1600" dirty="0">
                <a:solidFill>
                  <a:schemeClr val="bg1"/>
                </a:solidFill>
                <a:latin typeface="微软雅黑" pitchFamily="34" charset="-122"/>
                <a:ea typeface="微软雅黑" pitchFamily="34" charset="-122"/>
              </a:rPr>
              <a:t>方式使部分车辆升级了 </a:t>
            </a:r>
            <a:r>
              <a:rPr lang="en-US" altLang="zh-CN" sz="1600" dirty="0" err="1">
                <a:solidFill>
                  <a:schemeClr val="bg1"/>
                </a:solidFill>
                <a:latin typeface="微软雅黑" pitchFamily="34" charset="-122"/>
                <a:ea typeface="微软雅黑" pitchFamily="34" charset="-122"/>
              </a:rPr>
              <a:t>AutoPilot</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的驾驶辅助</a:t>
            </a:r>
            <a:r>
              <a:rPr lang="zh-CN" altLang="en-US" sz="1600" dirty="0" smtClean="0">
                <a:solidFill>
                  <a:schemeClr val="bg1"/>
                </a:solidFill>
                <a:latin typeface="微软雅黑" pitchFamily="34" charset="-122"/>
                <a:ea typeface="微软雅黑" pitchFamily="34" charset="-122"/>
              </a:rPr>
              <a:t>功能，</a:t>
            </a:r>
            <a:r>
              <a:rPr lang="zh-CN" altLang="en-US" sz="1600" dirty="0">
                <a:solidFill>
                  <a:schemeClr val="bg1"/>
                </a:solidFill>
                <a:latin typeface="微软雅黑" pitchFamily="34" charset="-122"/>
                <a:ea typeface="微软雅黑" pitchFamily="34" charset="-122"/>
              </a:rPr>
              <a:t>揭开了自动驾驶产业化的序幕。在 </a:t>
            </a:r>
            <a:r>
              <a:rPr lang="en-US" altLang="zh-CN" sz="1600" dirty="0">
                <a:solidFill>
                  <a:schemeClr val="bg1"/>
                </a:solidFill>
                <a:latin typeface="微软雅黑" pitchFamily="34" charset="-122"/>
                <a:ea typeface="微软雅黑" pitchFamily="34" charset="-122"/>
              </a:rPr>
              <a:t>2019 </a:t>
            </a:r>
            <a:r>
              <a:rPr lang="zh-CN" altLang="en-US" sz="1600" dirty="0">
                <a:solidFill>
                  <a:schemeClr val="bg1"/>
                </a:solidFill>
                <a:latin typeface="微软雅黑" pitchFamily="34" charset="-122"/>
                <a:ea typeface="微软雅黑" pitchFamily="34" charset="-122"/>
              </a:rPr>
              <a:t>年的特斯拉自动驾驶开放日上，马</a:t>
            </a:r>
            <a:r>
              <a:rPr lang="zh-CN" altLang="en-US" sz="1600" dirty="0" smtClean="0">
                <a:solidFill>
                  <a:schemeClr val="bg1"/>
                </a:solidFill>
                <a:latin typeface="微软雅黑" pitchFamily="34" charset="-122"/>
                <a:ea typeface="微软雅黑" pitchFamily="34" charset="-122"/>
              </a:rPr>
              <a:t>斯克</a:t>
            </a:r>
            <a:r>
              <a:rPr lang="zh-CN" altLang="en-US" sz="1600" dirty="0">
                <a:solidFill>
                  <a:schemeClr val="bg1"/>
                </a:solidFill>
                <a:latin typeface="微软雅黑" pitchFamily="34" charset="-122"/>
                <a:ea typeface="微软雅黑" pitchFamily="34" charset="-122"/>
              </a:rPr>
              <a:t>不仅公布了特斯拉自己研发的芯片，还宣布了 </a:t>
            </a:r>
            <a:r>
              <a:rPr lang="en-US" altLang="zh-CN" sz="1600" dirty="0" err="1">
                <a:solidFill>
                  <a:schemeClr val="bg1"/>
                </a:solidFill>
                <a:latin typeface="微软雅黑" pitchFamily="34" charset="-122"/>
                <a:ea typeface="微软雅黑" pitchFamily="34" charset="-122"/>
              </a:rPr>
              <a:t>RoboTaxi</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无人驾驶出租车计划。</a:t>
            </a:r>
            <a:r>
              <a:rPr lang="zh-CN" altLang="en-US" sz="1600" dirty="0" smtClean="0">
                <a:solidFill>
                  <a:schemeClr val="bg1"/>
                </a:solidFill>
                <a:latin typeface="微软雅黑" pitchFamily="34" charset="-122"/>
                <a:ea typeface="微软雅黑" pitchFamily="34" charset="-122"/>
              </a:rPr>
              <a:t>特斯拉全自动</a:t>
            </a:r>
            <a:r>
              <a:rPr lang="zh-CN" altLang="en-US" sz="1600" dirty="0">
                <a:solidFill>
                  <a:schemeClr val="bg1"/>
                </a:solidFill>
                <a:latin typeface="微软雅黑" pitchFamily="34" charset="-122"/>
                <a:ea typeface="微软雅黑" pitchFamily="34" charset="-122"/>
              </a:rPr>
              <a:t>驾驶</a:t>
            </a:r>
            <a:r>
              <a:rPr lang="zh-CN" altLang="en-US" sz="1600" dirty="0" smtClean="0">
                <a:solidFill>
                  <a:schemeClr val="bg1"/>
                </a:solidFill>
                <a:latin typeface="微软雅黑" pitchFamily="34" charset="-122"/>
                <a:ea typeface="微软雅黑" pitchFamily="34" charset="-122"/>
              </a:rPr>
              <a:t>计算技术</a:t>
            </a:r>
            <a:r>
              <a:rPr lang="en-US" altLang="zh-CN" sz="1600" dirty="0" smtClean="0">
                <a:solidFill>
                  <a:schemeClr val="bg1"/>
                </a:solidFill>
                <a:latin typeface="微软雅黑" pitchFamily="34" charset="-122"/>
                <a:ea typeface="微软雅黑" pitchFamily="34" charset="-122"/>
              </a:rPr>
              <a:t>FSD</a:t>
            </a:r>
            <a:r>
              <a:rPr lang="zh-CN" altLang="en-US" sz="1600" dirty="0" smtClean="0">
                <a:solidFill>
                  <a:schemeClr val="bg1"/>
                </a:solidFill>
                <a:latin typeface="微软雅黑" pitchFamily="34" charset="-122"/>
                <a:ea typeface="微软雅黑" pitchFamily="34" charset="-122"/>
              </a:rPr>
              <a:t> </a:t>
            </a:r>
            <a:r>
              <a:rPr lang="en-US" altLang="zh-CN" sz="1600" dirty="0" smtClean="0">
                <a:solidFill>
                  <a:schemeClr val="bg1"/>
                </a:solidFill>
                <a:latin typeface="微软雅黑" pitchFamily="34" charset="-122"/>
                <a:ea typeface="微软雅黑" pitchFamily="34" charset="-122"/>
              </a:rPr>
              <a:t>Autopilot </a:t>
            </a:r>
            <a:r>
              <a:rPr lang="en-US" altLang="zh-CN" sz="1600" dirty="0">
                <a:solidFill>
                  <a:schemeClr val="bg1"/>
                </a:solidFill>
                <a:latin typeface="微软雅黑" pitchFamily="34" charset="-122"/>
                <a:ea typeface="微软雅黑" pitchFamily="34" charset="-122"/>
              </a:rPr>
              <a:t>3.0 </a:t>
            </a:r>
            <a:r>
              <a:rPr lang="zh-CN" altLang="en-US" sz="1600" dirty="0" smtClean="0">
                <a:solidFill>
                  <a:schemeClr val="bg1"/>
                </a:solidFill>
                <a:latin typeface="微软雅黑" pitchFamily="34" charset="-122"/>
                <a:ea typeface="微软雅黑" pitchFamily="34" charset="-122"/>
              </a:rPr>
              <a:t>硬件正式</a:t>
            </a:r>
            <a:r>
              <a:rPr lang="zh-CN" altLang="en-US" sz="1600" dirty="0">
                <a:solidFill>
                  <a:schemeClr val="bg1"/>
                </a:solidFill>
                <a:latin typeface="微软雅黑" pitchFamily="34" charset="-122"/>
                <a:ea typeface="微软雅黑" pitchFamily="34" charset="-122"/>
              </a:rPr>
              <a:t>登场。</a:t>
            </a:r>
          </a:p>
        </p:txBody>
      </p:sp>
    </p:spTree>
    <p:extLst>
      <p:ext uri="{BB962C8B-B14F-4D97-AF65-F5344CB8AC3E}">
        <p14:creationId xmlns:p14="http://schemas.microsoft.com/office/powerpoint/2010/main" val="28302126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我国</a:t>
            </a:r>
            <a:r>
              <a:rPr sz="2000" b="1" dirty="0" err="1" smtClean="0">
                <a:solidFill>
                  <a:schemeClr val="bg1"/>
                </a:solidFill>
                <a:latin typeface="微软雅黑" panose="020B0503020204020204" pitchFamily="34" charset="-122"/>
                <a:ea typeface="微软雅黑" panose="020B0503020204020204" pitchFamily="34" charset="-122"/>
              </a:rPr>
              <a:t>无人驾驶汽车技术的发展</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62644" y="2017752"/>
            <a:ext cx="3302507" cy="369332"/>
          </a:xfrm>
          <a:prstGeom prst="rect">
            <a:avLst/>
          </a:prstGeom>
        </p:spPr>
        <p:txBody>
          <a:bodyPr wrap="non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）智能移动机器人项目启动</a:t>
            </a:r>
          </a:p>
        </p:txBody>
      </p:sp>
      <p:sp>
        <p:nvSpPr>
          <p:cNvPr id="6" name="矩形 5"/>
          <p:cNvSpPr/>
          <p:nvPr/>
        </p:nvSpPr>
        <p:spPr>
          <a:xfrm>
            <a:off x="962644" y="2499742"/>
            <a:ext cx="2691763" cy="369332"/>
          </a:xfrm>
          <a:prstGeom prst="rect">
            <a:avLst/>
          </a:prstGeom>
        </p:spPr>
        <p:txBody>
          <a:bodyPr wrap="non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2</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THMR </a:t>
            </a:r>
            <a:r>
              <a:rPr lang="zh-CN" altLang="en-US" dirty="0">
                <a:latin typeface="微软雅黑" pitchFamily="34" charset="-122"/>
                <a:ea typeface="微软雅黑" pitchFamily="34" charset="-122"/>
              </a:rPr>
              <a:t>系列智能车</a:t>
            </a:r>
          </a:p>
        </p:txBody>
      </p:sp>
      <p:sp>
        <p:nvSpPr>
          <p:cNvPr id="7" name="矩形 6"/>
          <p:cNvSpPr/>
          <p:nvPr/>
        </p:nvSpPr>
        <p:spPr>
          <a:xfrm>
            <a:off x="976973" y="3003798"/>
            <a:ext cx="3117905" cy="369332"/>
          </a:xfrm>
          <a:prstGeom prst="rect">
            <a:avLst/>
          </a:prstGeom>
        </p:spPr>
        <p:txBody>
          <a:bodyPr wrap="non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3</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ATB </a:t>
            </a:r>
            <a:r>
              <a:rPr lang="zh-CN" altLang="en-US" dirty="0">
                <a:latin typeface="微软雅黑" pitchFamily="34" charset="-122"/>
                <a:ea typeface="微软雅黑" pitchFamily="34" charset="-122"/>
              </a:rPr>
              <a:t>系列无人驾驶汽车</a:t>
            </a:r>
          </a:p>
        </p:txBody>
      </p:sp>
      <p:sp>
        <p:nvSpPr>
          <p:cNvPr id="13" name="矩形 12"/>
          <p:cNvSpPr/>
          <p:nvPr/>
        </p:nvSpPr>
        <p:spPr>
          <a:xfrm>
            <a:off x="976973" y="3507854"/>
            <a:ext cx="4456669" cy="369332"/>
          </a:xfrm>
          <a:prstGeom prst="rect">
            <a:avLst/>
          </a:prstGeom>
        </p:spPr>
        <p:txBody>
          <a:bodyPr wrap="non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4</a:t>
            </a:r>
            <a:r>
              <a:rPr lang="zh-CN" altLang="en-US" dirty="0">
                <a:latin typeface="微软雅黑" pitchFamily="34" charset="-122"/>
                <a:ea typeface="微软雅黑" pitchFamily="34" charset="-122"/>
              </a:rPr>
              <a:t>）国防科大与一汽的红旗无人驾驶汽车</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6542" y="1484527"/>
            <a:ext cx="2953122" cy="1519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6816" y="3098938"/>
            <a:ext cx="2212848" cy="1694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976973" y="3961203"/>
            <a:ext cx="4456669" cy="369332"/>
          </a:xfrm>
          <a:prstGeom prst="rect">
            <a:avLst/>
          </a:prstGeom>
        </p:spPr>
        <p:txBody>
          <a:bodyPr wrap="non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5</a:t>
            </a:r>
            <a:r>
              <a:rPr lang="zh-CN" altLang="en-US" dirty="0">
                <a:latin typeface="微软雅黑" pitchFamily="34" charset="-122"/>
                <a:ea typeface="微软雅黑" pitchFamily="34" charset="-122"/>
              </a:rPr>
              <a:t>）首届中国“智能车未来挑战赛”举行</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我国</a:t>
            </a:r>
            <a:r>
              <a:rPr sz="2000" b="1" dirty="0" err="1" smtClean="0">
                <a:solidFill>
                  <a:schemeClr val="bg1"/>
                </a:solidFill>
                <a:latin typeface="微软雅黑" panose="020B0503020204020204" pitchFamily="34" charset="-122"/>
                <a:ea typeface="微软雅黑" panose="020B0503020204020204" pitchFamily="34" charset="-122"/>
              </a:rPr>
              <a:t>无人驾驶汽车技术的发展</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37065" y="2017752"/>
            <a:ext cx="3533340" cy="369332"/>
          </a:xfrm>
          <a:prstGeom prst="rect">
            <a:avLst/>
          </a:prstGeom>
        </p:spPr>
        <p:txBody>
          <a:bodyPr wrap="non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6</a:t>
            </a:r>
            <a:r>
              <a:rPr lang="zh-CN" altLang="en-US" dirty="0">
                <a:latin typeface="微软雅黑" pitchFamily="34" charset="-122"/>
                <a:ea typeface="微软雅黑" pitchFamily="34" charset="-122"/>
              </a:rPr>
              <a:t>）军交猛狮</a:t>
            </a:r>
            <a:r>
              <a:rPr lang="en-US" altLang="zh-CN" dirty="0">
                <a:latin typeface="微软雅黑" pitchFamily="34" charset="-122"/>
                <a:ea typeface="微软雅黑" pitchFamily="34" charset="-122"/>
              </a:rPr>
              <a:t>Ⅲ</a:t>
            </a:r>
            <a:r>
              <a:rPr lang="zh-CN" altLang="en-US" dirty="0">
                <a:latin typeface="微软雅黑" pitchFamily="34" charset="-122"/>
                <a:ea typeface="微软雅黑" pitchFamily="34" charset="-122"/>
              </a:rPr>
              <a:t>号无人驾驶汽车</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1557086"/>
            <a:ext cx="2550724" cy="165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54093" y="2387084"/>
            <a:ext cx="4456669" cy="369332"/>
          </a:xfrm>
          <a:prstGeom prst="rect">
            <a:avLst/>
          </a:prstGeom>
        </p:spPr>
        <p:txBody>
          <a:bodyPr wrap="non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7</a:t>
            </a:r>
            <a:r>
              <a:rPr lang="zh-CN" altLang="en-US" dirty="0">
                <a:latin typeface="微软雅黑" pitchFamily="34" charset="-122"/>
                <a:ea typeface="微软雅黑" pitchFamily="34" charset="-122"/>
              </a:rPr>
              <a:t>）传统汽车制造厂研发的无人驾驶汽车</a:t>
            </a:r>
          </a:p>
        </p:txBody>
      </p:sp>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67347" y="3291830"/>
            <a:ext cx="1963489" cy="1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976973" y="2862681"/>
            <a:ext cx="4171091" cy="787523"/>
          </a:xfrm>
          <a:prstGeom prst="rect">
            <a:avLst/>
          </a:prstGeom>
          <a:solidFill>
            <a:srgbClr val="0070C0"/>
          </a:solidFill>
        </p:spPr>
        <p:txBody>
          <a:bodyPr wrap="square">
            <a:spAutoFit/>
          </a:bodyPr>
          <a:lstStyle/>
          <a:p>
            <a:pPr>
              <a:lnSpc>
                <a:spcPct val="150000"/>
              </a:lnSpc>
            </a:pPr>
            <a:r>
              <a:rPr lang="zh-CN" altLang="en-US" sz="1600" dirty="0" smtClean="0">
                <a:solidFill>
                  <a:schemeClr val="bg1"/>
                </a:solidFill>
                <a:latin typeface="微软雅黑" pitchFamily="34" charset="-122"/>
                <a:ea typeface="微软雅黑" pitchFamily="34" charset="-122"/>
              </a:rPr>
              <a:t>国内传统汽车制造厂及“造车新势力”纷纷发布合作自动（无人）驾驶车辆及相关技术。</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18324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a:spLocks noChangeArrowheads="1"/>
          </p:cNvSpPr>
          <p:nvPr/>
        </p:nvSpPr>
        <p:spPr bwMode="auto">
          <a:xfrm>
            <a:off x="935806"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智能网联汽车自动（无人）驾驶是何时产生和发展的？</a:t>
            </a:r>
          </a:p>
        </p:txBody>
      </p:sp>
      <p:sp>
        <p:nvSpPr>
          <p:cNvPr id="12" name="矩形 11"/>
          <p:cNvSpPr/>
          <p:nvPr/>
        </p:nvSpPr>
        <p:spPr>
          <a:xfrm>
            <a:off x="976973" y="1442866"/>
            <a:ext cx="375134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我国</a:t>
            </a:r>
            <a:r>
              <a:rPr sz="2000" b="1" dirty="0" err="1" smtClean="0">
                <a:solidFill>
                  <a:schemeClr val="bg1"/>
                </a:solidFill>
                <a:latin typeface="微软雅黑" panose="020B0503020204020204" pitchFamily="34" charset="-122"/>
                <a:ea typeface="微软雅黑" panose="020B0503020204020204" pitchFamily="34" charset="-122"/>
              </a:rPr>
              <a:t>无人驾驶汽车技术的发展</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67583" y="2017752"/>
            <a:ext cx="2524297" cy="646331"/>
          </a:xfrm>
          <a:prstGeom prst="rect">
            <a:avLst/>
          </a:prstGeom>
        </p:spPr>
        <p:txBody>
          <a:bodyPr wrap="square">
            <a:spAutoFit/>
          </a:bodyPr>
          <a:lstStyle/>
          <a:p>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8</a:t>
            </a:r>
            <a:r>
              <a:rPr lang="zh-CN" altLang="en-US" dirty="0">
                <a:latin typeface="微软雅黑" pitchFamily="34" charset="-122"/>
                <a:ea typeface="微软雅黑" pitchFamily="34" charset="-122"/>
              </a:rPr>
              <a:t>）高科技公司研发的无人驾驶汽车</a:t>
            </a:r>
          </a:p>
        </p:txBody>
      </p:sp>
      <p:sp>
        <p:nvSpPr>
          <p:cNvPr id="5" name="矩形 4"/>
          <p:cNvSpPr/>
          <p:nvPr/>
        </p:nvSpPr>
        <p:spPr>
          <a:xfrm>
            <a:off x="976973" y="2907689"/>
            <a:ext cx="2370891" cy="1200329"/>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以百度公司为代表的高科技</a:t>
            </a:r>
            <a:r>
              <a:rPr lang="zh-CN" altLang="en-US" sz="1600" dirty="0" smtClean="0">
                <a:solidFill>
                  <a:schemeClr val="bg1"/>
                </a:solidFill>
                <a:latin typeface="微软雅黑" pitchFamily="34" charset="-122"/>
                <a:ea typeface="微软雅黑" pitchFamily="34" charset="-122"/>
              </a:rPr>
              <a:t>公司相继</a:t>
            </a:r>
            <a:r>
              <a:rPr lang="zh-CN" altLang="en-US" sz="1600" dirty="0">
                <a:solidFill>
                  <a:schemeClr val="bg1"/>
                </a:solidFill>
                <a:latin typeface="微软雅黑" pitchFamily="34" charset="-122"/>
                <a:ea typeface="微软雅黑" pitchFamily="34" charset="-122"/>
              </a:rPr>
              <a:t>加入了无人驾驶汽车领域的研究</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904" y="1971638"/>
            <a:ext cx="4464496" cy="2832359"/>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8633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12</a:t>
            </a:fld>
            <a:endParaRPr lang="zh-CN" altLang="en-US" dirty="0"/>
          </a:p>
        </p:txBody>
      </p:sp>
      <p:sp>
        <p:nvSpPr>
          <p:cNvPr id="8"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智能网联汽车的现状与发展趋势如何</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3" name="矩形 2"/>
          <p:cNvSpPr/>
          <p:nvPr/>
        </p:nvSpPr>
        <p:spPr>
          <a:xfrm>
            <a:off x="971600" y="1131590"/>
            <a:ext cx="4341253"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1.国外智能网联汽车现状与发展趋势 </a:t>
            </a:r>
          </a:p>
        </p:txBody>
      </p:sp>
      <p:sp>
        <p:nvSpPr>
          <p:cNvPr id="2" name="矩形 1"/>
          <p:cNvSpPr/>
          <p:nvPr/>
        </p:nvSpPr>
        <p:spPr>
          <a:xfrm>
            <a:off x="971598" y="1635646"/>
            <a:ext cx="7200801" cy="969561"/>
          </a:xfrm>
          <a:prstGeom prst="rect">
            <a:avLst/>
          </a:prstGeom>
          <a:noFill/>
        </p:spPr>
        <p:txBody>
          <a:bodyPr wrap="square">
            <a:spAutoFit/>
          </a:bodyPr>
          <a:lstStyle/>
          <a:p>
            <a:pPr fontAlgn="base">
              <a:lnSpc>
                <a:spcPct val="114000"/>
              </a:lnSpc>
            </a:pPr>
            <a:r>
              <a:rPr dirty="0">
                <a:latin typeface="微软雅黑" panose="020B0503020204020204" pitchFamily="34" charset="-122"/>
                <a:ea typeface="微软雅黑" panose="020B0503020204020204" pitchFamily="34" charset="-122"/>
              </a:rPr>
              <a:t>（1）</a:t>
            </a:r>
            <a:r>
              <a:rPr dirty="0" smtClean="0">
                <a:latin typeface="微软雅黑" panose="020B0503020204020204" pitchFamily="34" charset="-122"/>
                <a:ea typeface="微软雅黑" panose="020B0503020204020204" pitchFamily="34" charset="-122"/>
              </a:rPr>
              <a:t>法律和政策方面</a:t>
            </a:r>
            <a:endParaRPr lang="en-US" dirty="0" smtClean="0">
              <a:latin typeface="微软雅黑" panose="020B0503020204020204" pitchFamily="34" charset="-122"/>
              <a:ea typeface="微软雅黑" panose="020B0503020204020204" pitchFamily="34" charset="-122"/>
            </a:endParaRPr>
          </a:p>
          <a:p>
            <a:pPr fontAlgn="base">
              <a:lnSpc>
                <a:spcPct val="114000"/>
              </a:lnSpc>
            </a:pPr>
            <a:r>
              <a:rPr lang="zh-CN" altLang="en-US" sz="1600" dirty="0">
                <a:latin typeface="微软雅黑" pitchFamily="34" charset="-122"/>
                <a:ea typeface="微软雅黑" pitchFamily="34" charset="-122"/>
              </a:rPr>
              <a:t>美国、英国、德国、日本等政府，在政策、法规和资金等方面，大力支持智能网联汽 车的研究，已经取得重大的成果。</a:t>
            </a:r>
            <a:endParaRPr lang="en-US" sz="1600" dirty="0" smtClean="0">
              <a:latin typeface="微软雅黑" panose="020B0503020204020204" pitchFamily="34" charset="-122"/>
              <a:ea typeface="微软雅黑" panose="020B0503020204020204" pitchFamily="34" charset="-122"/>
            </a:endParaRPr>
          </a:p>
        </p:txBody>
      </p:sp>
      <p:sp>
        <p:nvSpPr>
          <p:cNvPr id="7" name="矩形 6"/>
          <p:cNvSpPr/>
          <p:nvPr/>
        </p:nvSpPr>
        <p:spPr>
          <a:xfrm>
            <a:off x="973041" y="2622625"/>
            <a:ext cx="3356853" cy="2127505"/>
          </a:xfrm>
          <a:prstGeom prst="rect">
            <a:avLst/>
          </a:prstGeom>
          <a:noFill/>
        </p:spPr>
        <p:txBody>
          <a:bodyPr wrap="square">
            <a:spAutoFit/>
          </a:bodyPr>
          <a:lstStyle/>
          <a:p>
            <a:pPr fontAlgn="base">
              <a:lnSpc>
                <a:spcPct val="114000"/>
              </a:lnSpc>
            </a:pPr>
            <a:r>
              <a:rPr lang="en-US" dirty="0" smtClean="0">
                <a:latin typeface="微软雅黑" panose="020B0503020204020204" pitchFamily="34" charset="-122"/>
                <a:ea typeface="微软雅黑" panose="020B0503020204020204" pitchFamily="34" charset="-122"/>
              </a:rPr>
              <a:t>（</a:t>
            </a:r>
            <a:r>
              <a:rPr lang="en-US" dirty="0">
                <a:latin typeface="微软雅黑" panose="020B0503020204020204" pitchFamily="34" charset="-122"/>
                <a:ea typeface="微软雅黑" panose="020B0503020204020204" pitchFamily="34" charset="-122"/>
              </a:rPr>
              <a:t>2）</a:t>
            </a:r>
            <a:r>
              <a:rPr lang="en-US" dirty="0" smtClean="0">
                <a:latin typeface="微软雅黑" panose="020B0503020204020204" pitchFamily="34" charset="-122"/>
                <a:ea typeface="微软雅黑" panose="020B0503020204020204" pitchFamily="34" charset="-122"/>
              </a:rPr>
              <a:t>国外部分汽车厂商智能网联汽车发展业务规划</a:t>
            </a:r>
          </a:p>
          <a:p>
            <a:pPr fontAlgn="base">
              <a:lnSpc>
                <a:spcPct val="114000"/>
              </a:lnSpc>
            </a:pPr>
            <a:r>
              <a:rPr lang="en-US" altLang="zh-CN" sz="1600" dirty="0" smtClean="0">
                <a:latin typeface="微软雅黑" pitchFamily="34" charset="-122"/>
                <a:ea typeface="微软雅黑" pitchFamily="34" charset="-122"/>
              </a:rPr>
              <a:t>2020 </a:t>
            </a:r>
            <a:r>
              <a:rPr lang="zh-CN" altLang="en-US" sz="1600" dirty="0">
                <a:latin typeface="微软雅黑" pitchFamily="34" charset="-122"/>
                <a:ea typeface="微软雅黑" pitchFamily="34" charset="-122"/>
              </a:rPr>
              <a:t>年之前，国外大部分汽车厂商车型处于 </a:t>
            </a:r>
            <a:r>
              <a:rPr lang="en-US" altLang="zh-CN" sz="1600" dirty="0">
                <a:latin typeface="微软雅黑" pitchFamily="34" charset="-122"/>
                <a:ea typeface="微软雅黑" pitchFamily="34" charset="-122"/>
              </a:rPr>
              <a:t>L1~L2 </a:t>
            </a:r>
            <a:r>
              <a:rPr lang="zh-CN" altLang="en-US" sz="1600" dirty="0">
                <a:latin typeface="微软雅黑" pitchFamily="34" charset="-122"/>
                <a:ea typeface="微软雅黑" pitchFamily="34" charset="-122"/>
              </a:rPr>
              <a:t>级智能驾驶阶段，</a:t>
            </a:r>
            <a:r>
              <a:rPr lang="en-US" altLang="zh-CN" sz="1600" dirty="0">
                <a:latin typeface="微软雅黑" pitchFamily="34" charset="-122"/>
                <a:ea typeface="微软雅黑" pitchFamily="34" charset="-122"/>
              </a:rPr>
              <a:t>L3 </a:t>
            </a:r>
            <a:r>
              <a:rPr lang="zh-CN" altLang="en-US" sz="1600" dirty="0">
                <a:latin typeface="微软雅黑" pitchFamily="34" charset="-122"/>
                <a:ea typeface="微软雅黑" pitchFamily="34" charset="-122"/>
              </a:rPr>
              <a:t>级综合</a:t>
            </a:r>
            <a:r>
              <a:rPr lang="zh-CN" altLang="en-US" sz="1600" dirty="0" smtClean="0">
                <a:latin typeface="微软雅黑" pitchFamily="34" charset="-122"/>
                <a:ea typeface="微软雅黑" pitchFamily="34" charset="-122"/>
              </a:rPr>
              <a:t>辅助智能</a:t>
            </a:r>
            <a:r>
              <a:rPr lang="zh-CN" altLang="en-US" sz="1600" dirty="0">
                <a:latin typeface="微软雅黑" pitchFamily="34" charset="-122"/>
                <a:ea typeface="微软雅黑" pitchFamily="34" charset="-122"/>
              </a:rPr>
              <a:t>驾驶已有充分技术储备，</a:t>
            </a:r>
            <a:r>
              <a:rPr lang="en-US" altLang="zh-CN" sz="1600" dirty="0">
                <a:latin typeface="微软雅黑" pitchFamily="34" charset="-122"/>
                <a:ea typeface="微软雅黑" pitchFamily="34" charset="-122"/>
              </a:rPr>
              <a:t>2020 </a:t>
            </a:r>
            <a:r>
              <a:rPr lang="zh-CN" altLang="en-US" sz="1600" dirty="0">
                <a:latin typeface="微软雅黑" pitchFamily="34" charset="-122"/>
                <a:ea typeface="微软雅黑" pitchFamily="34" charset="-122"/>
              </a:rPr>
              <a:t>年以后传统汽车厂商迎来高级自动驾驶产业化</a:t>
            </a:r>
            <a:r>
              <a:rPr lang="zh-CN" altLang="en-US" sz="1600" dirty="0" smtClean="0">
                <a:latin typeface="微软雅黑" pitchFamily="34" charset="-122"/>
                <a:ea typeface="微软雅黑" pitchFamily="34" charset="-122"/>
              </a:rPr>
              <a:t>高潮。</a:t>
            </a:r>
            <a:endParaRPr lang="en-US" sz="1600" dirty="0">
              <a:latin typeface="微软雅黑" panose="020B0503020204020204" pitchFamily="34" charset="-122"/>
              <a:ea typeface="微软雅黑" panose="020B0503020204020204" pitchFamily="34" charset="-122"/>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8117" y="2622625"/>
            <a:ext cx="4334495" cy="2158213"/>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13</a:t>
            </a:fld>
            <a:endParaRPr lang="zh-CN" altLang="en-US" dirty="0"/>
          </a:p>
        </p:txBody>
      </p:sp>
      <p:sp>
        <p:nvSpPr>
          <p:cNvPr id="3" name="矩形 2"/>
          <p:cNvSpPr/>
          <p:nvPr/>
        </p:nvSpPr>
        <p:spPr>
          <a:xfrm>
            <a:off x="971600" y="1144005"/>
            <a:ext cx="4341253"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2.我国智能网联汽车现状与发展趋势 </a:t>
            </a:r>
          </a:p>
        </p:txBody>
      </p:sp>
      <p:sp>
        <p:nvSpPr>
          <p:cNvPr id="100" name="文本框 99"/>
          <p:cNvSpPr txBox="1"/>
          <p:nvPr/>
        </p:nvSpPr>
        <p:spPr>
          <a:xfrm>
            <a:off x="971598" y="2226783"/>
            <a:ext cx="7200801" cy="1569660"/>
          </a:xfrm>
          <a:prstGeom prst="rect">
            <a:avLst/>
          </a:prstGeom>
          <a:solidFill>
            <a:srgbClr val="0070C0"/>
          </a:solidFill>
          <a:ln w="9525">
            <a:noFill/>
          </a:ln>
        </p:spPr>
        <p:txBody>
          <a:bodyPr wrap="square">
            <a:spAutoFit/>
          </a:bodyPr>
          <a:lstStyle/>
          <a:p>
            <a:pPr indent="287020">
              <a:lnSpc>
                <a:spcPct val="150000"/>
              </a:lnSpc>
            </a:pPr>
            <a:r>
              <a:rPr lang="zh-CN" sz="1600" b="0" dirty="0">
                <a:solidFill>
                  <a:schemeClr val="bg1"/>
                </a:solidFill>
                <a:latin typeface="微软雅黑" pitchFamily="34" charset="-122"/>
                <a:ea typeface="微软雅黑" pitchFamily="34" charset="-122"/>
              </a:rPr>
              <a:t>我国高度重视智能网联汽车发展，智能网联汽车成为关联众多重点领域协同创新、构建新型交通运输体系的重要载体，并在塑造产业生态、推动国家创新、提高交通安全、实现节能减排等方面具有重大战略意义，已经上升到国家战略高度。国家有关部委出台一系列规划及政策推动我国智能网联汽车发展。</a:t>
            </a:r>
            <a:endParaRPr lang="zh-CN" altLang="en-US" sz="1600" b="0" dirty="0">
              <a:solidFill>
                <a:schemeClr val="bg1"/>
              </a:solidFill>
              <a:latin typeface="微软雅黑" pitchFamily="34" charset="-122"/>
              <a:ea typeface="微软雅黑" pitchFamily="34" charset="-122"/>
            </a:endParaRP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智能网联汽车的现状与发展趋势如何</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4" name="矩形 3"/>
          <p:cNvSpPr/>
          <p:nvPr/>
        </p:nvSpPr>
        <p:spPr>
          <a:xfrm>
            <a:off x="971599" y="1707654"/>
            <a:ext cx="4341253" cy="507831"/>
          </a:xfrm>
          <a:prstGeom prst="rect">
            <a:avLst/>
          </a:prstGeom>
        </p:spPr>
        <p:txBody>
          <a:bodyPr wrap="square">
            <a:spAutoFit/>
          </a:bodyPr>
          <a:lstStyle/>
          <a:p>
            <a:pPr lvl="0" fontAlgn="base">
              <a:lnSpc>
                <a:spcPct val="150000"/>
              </a:lnSpc>
            </a:pPr>
            <a:r>
              <a:rPr lang="zh-CN" altLang="en-US" dirty="0">
                <a:solidFill>
                  <a:prstClr val="black"/>
                </a:solidFill>
                <a:latin typeface="微软雅黑" panose="020B0503020204020204" pitchFamily="34" charset="-122"/>
                <a:ea typeface="微软雅黑" panose="020B0503020204020204" pitchFamily="34" charset="-122"/>
              </a:rPr>
              <a:t>（</a:t>
            </a:r>
            <a:r>
              <a:rPr lang="en-US" altLang="zh-CN" dirty="0">
                <a:solidFill>
                  <a:prstClr val="black"/>
                </a:solidFill>
                <a:latin typeface="微软雅黑" panose="020B0503020204020204" pitchFamily="34" charset="-122"/>
                <a:ea typeface="微软雅黑" panose="020B0503020204020204" pitchFamily="34" charset="-122"/>
              </a:rPr>
              <a:t>1</a:t>
            </a:r>
            <a:r>
              <a:rPr lang="zh-CN" altLang="en-US" dirty="0">
                <a:solidFill>
                  <a:prstClr val="black"/>
                </a:solidFill>
                <a:latin typeface="微软雅黑" panose="020B0503020204020204" pitchFamily="34" charset="-122"/>
                <a:ea typeface="微软雅黑" panose="020B0503020204020204" pitchFamily="34" charset="-122"/>
              </a:rPr>
              <a:t>）我国智能网联汽车发展的政策支持 </a:t>
            </a:r>
            <a:endParaRPr lang="zh-CN" altLang="en-US"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14</a:t>
            </a:fld>
            <a:endParaRPr lang="zh-CN" altLang="en-US" dirty="0"/>
          </a:p>
        </p:txBody>
      </p:sp>
      <p:sp>
        <p:nvSpPr>
          <p:cNvPr id="3" name="矩形 2"/>
          <p:cNvSpPr/>
          <p:nvPr/>
        </p:nvSpPr>
        <p:spPr>
          <a:xfrm>
            <a:off x="971600" y="1144005"/>
            <a:ext cx="4341253"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2.我国智能网联汽车现状与发展趋势 </a:t>
            </a:r>
          </a:p>
        </p:txBody>
      </p:sp>
      <p:sp>
        <p:nvSpPr>
          <p:cNvPr id="9"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智能网联汽车的现状与发展趋势如何</a:t>
            </a:r>
            <a:r>
              <a:rPr lang="zh-CN" altLang="en-US" sz="3200" b="1" dirty="0" smtClean="0">
                <a:solidFill>
                  <a:schemeClr val="accent1"/>
                </a:solidFill>
                <a:latin typeface="微软雅黑" panose="020B0503020204020204" pitchFamily="34" charset="-122"/>
              </a:rPr>
              <a:t>？</a:t>
            </a:r>
            <a:endParaRPr lang="zh-CN" altLang="en-US" sz="3200" b="1" dirty="0" smtClean="0">
              <a:solidFill>
                <a:schemeClr val="accent1"/>
              </a:solidFill>
              <a:latin typeface="微软雅黑" panose="020B0503020204020204" pitchFamily="34" charset="-122"/>
            </a:endParaRPr>
          </a:p>
        </p:txBody>
      </p:sp>
      <p:sp>
        <p:nvSpPr>
          <p:cNvPr id="4" name="矩形 3"/>
          <p:cNvSpPr/>
          <p:nvPr/>
        </p:nvSpPr>
        <p:spPr>
          <a:xfrm>
            <a:off x="971599" y="1707654"/>
            <a:ext cx="4341253" cy="507831"/>
          </a:xfrm>
          <a:prstGeom prst="rect">
            <a:avLst/>
          </a:prstGeom>
        </p:spPr>
        <p:txBody>
          <a:bodyPr wrap="square">
            <a:spAutoFit/>
          </a:bodyPr>
          <a:lstStyle/>
          <a:p>
            <a:pPr lvl="0" fontAlgn="base">
              <a:lnSpc>
                <a:spcPct val="150000"/>
              </a:lnSpc>
            </a:pPr>
            <a:r>
              <a:rPr lang="zh-CN" altLang="en-US" dirty="0" smtClean="0">
                <a:solidFill>
                  <a:prstClr val="black"/>
                </a:solidFill>
                <a:latin typeface="微软雅黑" panose="020B0503020204020204" pitchFamily="34" charset="-122"/>
                <a:ea typeface="微软雅黑" panose="020B0503020204020204" pitchFamily="34" charset="-122"/>
              </a:rPr>
              <a:t>（</a:t>
            </a:r>
            <a:r>
              <a:rPr lang="en-US" altLang="zh-CN" dirty="0" smtClean="0">
                <a:solidFill>
                  <a:prstClr val="black"/>
                </a:solidFill>
                <a:latin typeface="微软雅黑" panose="020B0503020204020204" pitchFamily="34" charset="-122"/>
                <a:ea typeface="微软雅黑" panose="020B0503020204020204" pitchFamily="34" charset="-122"/>
              </a:rPr>
              <a:t>2</a:t>
            </a:r>
            <a:r>
              <a:rPr lang="zh-CN" altLang="en-US" dirty="0" smtClean="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rPr>
              <a:t>我国智能网联</a:t>
            </a:r>
            <a:r>
              <a:rPr lang="zh-CN" altLang="en-US" dirty="0" smtClean="0">
                <a:solidFill>
                  <a:prstClr val="black"/>
                </a:solidFill>
                <a:latin typeface="微软雅黑" panose="020B0503020204020204" pitchFamily="34" charset="-122"/>
                <a:ea typeface="微软雅黑" panose="020B0503020204020204" pitchFamily="34" charset="-122"/>
              </a:rPr>
              <a:t>汽车的发展的目标</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2283718"/>
            <a:ext cx="3456384" cy="2338076"/>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根据规划，到“十四五”末，即 </a:t>
            </a:r>
            <a:r>
              <a:rPr lang="en-US" altLang="zh-CN" sz="1600" dirty="0">
                <a:solidFill>
                  <a:schemeClr val="bg1"/>
                </a:solidFill>
                <a:latin typeface="微软雅黑" pitchFamily="34" charset="-122"/>
                <a:ea typeface="微软雅黑" pitchFamily="34" charset="-122"/>
              </a:rPr>
              <a:t>2025 </a:t>
            </a:r>
            <a:r>
              <a:rPr lang="zh-CN" altLang="en-US" sz="1600" dirty="0">
                <a:solidFill>
                  <a:schemeClr val="bg1"/>
                </a:solidFill>
                <a:latin typeface="微软雅黑" pitchFamily="34" charset="-122"/>
                <a:ea typeface="微软雅黑" pitchFamily="34" charset="-122"/>
              </a:rPr>
              <a:t>年，我国部分自动驾驶、有条件自动驾驶智 能网联汽车销量将占当年汽车总销量的比例超过 </a:t>
            </a:r>
            <a:r>
              <a:rPr lang="en-US" altLang="zh-CN" sz="1600" dirty="0">
                <a:solidFill>
                  <a:schemeClr val="bg1"/>
                </a:solidFill>
                <a:latin typeface="微软雅黑" pitchFamily="34" charset="-122"/>
                <a:ea typeface="微软雅黑" pitchFamily="34" charset="-122"/>
              </a:rPr>
              <a:t>50%</a:t>
            </a:r>
            <a:r>
              <a:rPr lang="zh-CN" altLang="en-US" sz="1600" dirty="0">
                <a:solidFill>
                  <a:schemeClr val="bg1"/>
                </a:solidFill>
                <a:latin typeface="微软雅黑" pitchFamily="34" charset="-122"/>
                <a:ea typeface="微软雅黑" pitchFamily="34" charset="-122"/>
              </a:rPr>
              <a:t>，高度自动驾驶级智能网联汽车开 始进入市场，限定区域和特定场景商业化应用即将实现，</a:t>
            </a:r>
            <a:r>
              <a:rPr lang="en-US" altLang="zh-CN" sz="1600" dirty="0">
                <a:solidFill>
                  <a:schemeClr val="bg1"/>
                </a:solidFill>
                <a:latin typeface="微软雅黑" pitchFamily="34" charset="-122"/>
                <a:ea typeface="微软雅黑" pitchFamily="34" charset="-122"/>
              </a:rPr>
              <a:t>C-V2X </a:t>
            </a:r>
            <a:r>
              <a:rPr lang="zh-CN" altLang="en-US" sz="1600" dirty="0">
                <a:solidFill>
                  <a:schemeClr val="bg1"/>
                </a:solidFill>
                <a:latin typeface="微软雅黑" pitchFamily="34" charset="-122"/>
                <a:ea typeface="微软雅黑" pitchFamily="34" charset="-122"/>
              </a:rPr>
              <a:t>终端新车装配率将达 </a:t>
            </a:r>
            <a:r>
              <a:rPr lang="en-US" altLang="zh-CN" sz="1600" dirty="0">
                <a:solidFill>
                  <a:schemeClr val="bg1"/>
                </a:solidFill>
                <a:latin typeface="微软雅黑" pitchFamily="34" charset="-122"/>
                <a:ea typeface="微软雅黑" pitchFamily="34" charset="-122"/>
              </a:rPr>
              <a:t>50%</a:t>
            </a:r>
            <a:r>
              <a:rPr lang="zh-CN" altLang="en-US" sz="1600" dirty="0">
                <a:solidFill>
                  <a:schemeClr val="bg1"/>
                </a:solidFill>
                <a:latin typeface="微软雅黑" pitchFamily="34" charset="-122"/>
                <a:ea typeface="微软雅黑" pitchFamily="34" charset="-122"/>
              </a:rPr>
              <a:t>。</a:t>
            </a:r>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2283718"/>
            <a:ext cx="3596895" cy="2448272"/>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5631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15</a:t>
            </a:fld>
            <a:endParaRPr lang="zh-CN" altLang="en-US" dirty="0"/>
          </a:p>
        </p:txBody>
      </p:sp>
      <p:sp>
        <p:nvSpPr>
          <p:cNvPr id="8" name="Text Box 8"/>
          <p:cNvSpPr>
            <a:spLocks noChangeArrowheads="1"/>
          </p:cNvSpPr>
          <p:nvPr/>
        </p:nvSpPr>
        <p:spPr bwMode="auto">
          <a:xfrm>
            <a:off x="902350" y="411510"/>
            <a:ext cx="757323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智能网联汽车发展需要解决哪些核心技术</a:t>
            </a:r>
            <a:r>
              <a:rPr lang="zh-CN" altLang="en-US" sz="2800" b="1" dirty="0" smtClean="0">
                <a:solidFill>
                  <a:schemeClr val="accent1"/>
                </a:solidFill>
                <a:latin typeface="微软雅黑" panose="020B0503020204020204" pitchFamily="34" charset="-122"/>
              </a:rPr>
              <a:t>与</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关键</a:t>
            </a:r>
            <a:r>
              <a:rPr lang="zh-CN" altLang="en-US" sz="2800" b="1" dirty="0" smtClean="0">
                <a:solidFill>
                  <a:schemeClr val="accent1"/>
                </a:solidFill>
                <a:latin typeface="微软雅黑" panose="020B0503020204020204" pitchFamily="34" charset="-122"/>
              </a:rPr>
              <a:t>部件？</a:t>
            </a:r>
          </a:p>
        </p:txBody>
      </p:sp>
      <p:sp>
        <p:nvSpPr>
          <p:cNvPr id="3" name="矩形 2"/>
          <p:cNvSpPr/>
          <p:nvPr/>
        </p:nvSpPr>
        <p:spPr>
          <a:xfrm>
            <a:off x="971600" y="1419622"/>
            <a:ext cx="3727302"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1.智能网联汽车发展的核心技术</a:t>
            </a:r>
          </a:p>
        </p:txBody>
      </p:sp>
      <p:sp>
        <p:nvSpPr>
          <p:cNvPr id="2" name="矩形 1"/>
          <p:cNvSpPr/>
          <p:nvPr/>
        </p:nvSpPr>
        <p:spPr>
          <a:xfrm>
            <a:off x="4788024" y="1397530"/>
            <a:ext cx="2753811" cy="418191"/>
          </a:xfrm>
          <a:prstGeom prst="rect">
            <a:avLst/>
          </a:prstGeom>
          <a:noFill/>
        </p:spPr>
        <p:txBody>
          <a:bodyPr wrap="square">
            <a:spAutoFit/>
          </a:bodyPr>
          <a:lstStyle/>
          <a:p>
            <a:pPr algn="ctr" fontAlgn="base">
              <a:lnSpc>
                <a:spcPct val="150000"/>
              </a:lnSpc>
            </a:pPr>
            <a:r>
              <a:rPr sz="1600" dirty="0" smtClean="0">
                <a:solidFill>
                  <a:srgbClr val="FF0000"/>
                </a:solidFill>
                <a:latin typeface="微软雅黑" panose="020B0503020204020204" pitchFamily="34" charset="-122"/>
                <a:ea typeface="微软雅黑" panose="020B0503020204020204" pitchFamily="34" charset="-122"/>
              </a:rPr>
              <a:t>“</a:t>
            </a:r>
            <a:r>
              <a:rPr sz="1600" dirty="0" err="1">
                <a:solidFill>
                  <a:srgbClr val="FF0000"/>
                </a:solidFill>
                <a:latin typeface="微软雅黑" panose="020B0503020204020204" pitchFamily="34" charset="-122"/>
                <a:ea typeface="微软雅黑" panose="020B0503020204020204" pitchFamily="34" charset="-122"/>
              </a:rPr>
              <a:t>端”、“管”、“</a:t>
            </a:r>
            <a:r>
              <a:rPr sz="1600" dirty="0" err="1" smtClean="0">
                <a:solidFill>
                  <a:srgbClr val="FF0000"/>
                </a:solidFill>
                <a:latin typeface="微软雅黑" panose="020B0503020204020204" pitchFamily="34" charset="-122"/>
                <a:ea typeface="微软雅黑" panose="020B0503020204020204" pitchFamily="34" charset="-122"/>
              </a:rPr>
              <a:t>云</a:t>
            </a:r>
            <a:r>
              <a:rPr sz="1600" dirty="0" smtClean="0">
                <a:solidFill>
                  <a:srgbClr val="FF0000"/>
                </a:solidFill>
                <a:latin typeface="微软雅黑" panose="020B0503020204020204" pitchFamily="34" charset="-122"/>
                <a:ea typeface="微软雅黑" panose="020B0503020204020204" pitchFamily="34" charset="-122"/>
              </a:rPr>
              <a:t>”</a:t>
            </a:r>
            <a:endParaRPr sz="1600" dirty="0">
              <a:solidFill>
                <a:srgbClr val="FF0000"/>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4572000" y="1995686"/>
            <a:ext cx="3600400" cy="2302553"/>
          </a:xfrm>
          <a:prstGeom prst="rect">
            <a:avLst/>
          </a:prstGeom>
          <a:solidFill>
            <a:srgbClr val="0070C0"/>
          </a:solidFill>
          <a:ln w="9525">
            <a:noFill/>
          </a:ln>
        </p:spPr>
        <p:txBody>
          <a:bodyPr wrap="square">
            <a:spAutoFit/>
          </a:bodyPr>
          <a:lstStyle/>
          <a:p>
            <a:pPr indent="0" fontAlgn="auto">
              <a:lnSpc>
                <a:spcPct val="114000"/>
              </a:lnSpc>
            </a:pPr>
            <a:r>
              <a:rPr lang="zh-CN" sz="1400" b="1" dirty="0" smtClean="0">
                <a:solidFill>
                  <a:schemeClr val="bg1"/>
                </a:solidFill>
                <a:latin typeface="微软雅黑" pitchFamily="34" charset="-122"/>
                <a:ea typeface="微软雅黑" pitchFamily="34" charset="-122"/>
              </a:rPr>
              <a:t>（</a:t>
            </a:r>
            <a:r>
              <a:rPr lang="en-US" sz="1400" b="1" dirty="0">
                <a:solidFill>
                  <a:schemeClr val="bg1"/>
                </a:solidFill>
                <a:latin typeface="微软雅黑" pitchFamily="34" charset="-122"/>
                <a:ea typeface="微软雅黑" pitchFamily="34" charset="-122"/>
                <a:cs typeface="Times New Roman" panose="02020603050405020304" charset="0"/>
              </a:rPr>
              <a:t>2</a:t>
            </a:r>
            <a:r>
              <a:rPr lang="zh-CN" sz="1400" b="1" dirty="0">
                <a:solidFill>
                  <a:schemeClr val="bg1"/>
                </a:solidFill>
                <a:latin typeface="微软雅黑" pitchFamily="34" charset="-122"/>
                <a:ea typeface="微软雅黑" pitchFamily="34" charset="-122"/>
              </a:rPr>
              <a:t>）管（传输网络）</a:t>
            </a:r>
            <a:endParaRPr lang="zh-CN" sz="1400" b="0" dirty="0">
              <a:solidFill>
                <a:schemeClr val="bg1"/>
              </a:solidFill>
              <a:latin typeface="微软雅黑" pitchFamily="34" charset="-122"/>
              <a:ea typeface="微软雅黑" pitchFamily="34" charset="-122"/>
            </a:endParaRPr>
          </a:p>
          <a:p>
            <a:pPr indent="0" fontAlgn="auto">
              <a:lnSpc>
                <a:spcPct val="114000"/>
              </a:lnSpc>
            </a:pPr>
            <a:r>
              <a:rPr lang="zh-CN" sz="1400" b="0" dirty="0">
                <a:solidFill>
                  <a:schemeClr val="bg1"/>
                </a:solidFill>
                <a:latin typeface="微软雅黑" pitchFamily="34" charset="-122"/>
                <a:ea typeface="微软雅黑" pitchFamily="34" charset="-122"/>
              </a:rPr>
              <a:t>无线通信技术：RFID、WiFi、2G、3G、4G、5G</a:t>
            </a:r>
            <a:r>
              <a:rPr lang="zh-CN" sz="1400" b="0" dirty="0" smtClean="0">
                <a:solidFill>
                  <a:schemeClr val="bg1"/>
                </a:solidFill>
                <a:latin typeface="微软雅黑" pitchFamily="34" charset="-122"/>
                <a:ea typeface="微软雅黑" pitchFamily="34" charset="-122"/>
              </a:rPr>
              <a:t>等无线</a:t>
            </a:r>
            <a:r>
              <a:rPr lang="zh-CN" sz="1400" b="0" dirty="0">
                <a:solidFill>
                  <a:schemeClr val="bg1"/>
                </a:solidFill>
                <a:latin typeface="微软雅黑" pitchFamily="34" charset="-122"/>
                <a:ea typeface="微软雅黑" pitchFamily="34" charset="-122"/>
              </a:rPr>
              <a:t>定位技术：GPS、北斗等</a:t>
            </a:r>
            <a:endParaRPr lang="zh-CN" sz="1400" b="1" dirty="0">
              <a:solidFill>
                <a:schemeClr val="bg1"/>
              </a:solidFill>
              <a:latin typeface="微软雅黑" pitchFamily="34" charset="-122"/>
              <a:ea typeface="微软雅黑" pitchFamily="34" charset="-122"/>
            </a:endParaRPr>
          </a:p>
          <a:p>
            <a:pPr indent="0" fontAlgn="auto">
              <a:lnSpc>
                <a:spcPct val="114000"/>
              </a:lnSpc>
            </a:pPr>
            <a:r>
              <a:rPr lang="zh-CN" sz="1400" b="1" dirty="0">
                <a:solidFill>
                  <a:schemeClr val="bg1"/>
                </a:solidFill>
                <a:latin typeface="微软雅黑" pitchFamily="34" charset="-122"/>
                <a:ea typeface="微软雅黑" pitchFamily="34" charset="-122"/>
              </a:rPr>
              <a:t>（</a:t>
            </a:r>
            <a:r>
              <a:rPr lang="en-US" sz="1400" b="1" dirty="0">
                <a:solidFill>
                  <a:schemeClr val="bg1"/>
                </a:solidFill>
                <a:latin typeface="微软雅黑" pitchFamily="34" charset="-122"/>
                <a:ea typeface="微软雅黑" pitchFamily="34" charset="-122"/>
                <a:cs typeface="Times New Roman" panose="02020603050405020304" charset="0"/>
              </a:rPr>
              <a:t>3</a:t>
            </a:r>
            <a:r>
              <a:rPr lang="zh-CN" sz="1400" b="1" dirty="0">
                <a:solidFill>
                  <a:schemeClr val="bg1"/>
                </a:solidFill>
                <a:latin typeface="微软雅黑" pitchFamily="34" charset="-122"/>
                <a:ea typeface="微软雅黑" pitchFamily="34" charset="-122"/>
              </a:rPr>
              <a:t>）云（车联网云平台）</a:t>
            </a:r>
            <a:endParaRPr lang="zh-CN" sz="1400" b="0" dirty="0">
              <a:solidFill>
                <a:schemeClr val="bg1"/>
              </a:solidFill>
              <a:latin typeface="微软雅黑" pitchFamily="34" charset="-122"/>
              <a:ea typeface="微软雅黑" pitchFamily="34" charset="-122"/>
            </a:endParaRPr>
          </a:p>
          <a:p>
            <a:pPr indent="0" fontAlgn="auto">
              <a:lnSpc>
                <a:spcPct val="114000"/>
              </a:lnSpc>
            </a:pPr>
            <a:r>
              <a:rPr lang="zh-CN" sz="1400" b="0" dirty="0">
                <a:solidFill>
                  <a:schemeClr val="bg1"/>
                </a:solidFill>
                <a:latin typeface="微软雅黑" pitchFamily="34" charset="-122"/>
                <a:ea typeface="微软雅黑" pitchFamily="34" charset="-122"/>
              </a:rPr>
              <a:t>云计算：路径规划建议、智能交通调度、云搜索、远程分析诊断</a:t>
            </a:r>
          </a:p>
          <a:p>
            <a:pPr indent="0" fontAlgn="auto">
              <a:lnSpc>
                <a:spcPct val="114000"/>
              </a:lnSpc>
            </a:pPr>
            <a:r>
              <a:rPr lang="zh-CN" sz="1400" b="0" dirty="0">
                <a:solidFill>
                  <a:schemeClr val="bg1"/>
                </a:solidFill>
                <a:latin typeface="微软雅黑" pitchFamily="34" charset="-122"/>
                <a:ea typeface="微软雅黑" pitchFamily="34" charset="-122"/>
              </a:rPr>
              <a:t>分布式部署：分布式数据中心与终端接服务</a:t>
            </a:r>
            <a:endParaRPr lang="en-US" sz="1400" b="0" dirty="0">
              <a:solidFill>
                <a:schemeClr val="bg1"/>
              </a:solidFill>
              <a:latin typeface="微软雅黑" pitchFamily="34" charset="-122"/>
              <a:ea typeface="微软雅黑" pitchFamily="34" charset="-122"/>
              <a:cs typeface="Times New Roman" panose="02020603050405020304" charset="0"/>
            </a:endParaRPr>
          </a:p>
          <a:p>
            <a:pPr indent="0" fontAlgn="auto">
              <a:lnSpc>
                <a:spcPct val="114000"/>
              </a:lnSpc>
            </a:pPr>
            <a:r>
              <a:rPr lang="en-US" sz="1400" b="0" dirty="0">
                <a:solidFill>
                  <a:schemeClr val="bg1"/>
                </a:solidFill>
                <a:latin typeface="微软雅黑" pitchFamily="34" charset="-122"/>
                <a:ea typeface="微软雅黑" pitchFamily="34" charset="-122"/>
                <a:cs typeface="Times New Roman" panose="02020603050405020304" charset="0"/>
              </a:rPr>
              <a:t>M2M</a:t>
            </a:r>
            <a:r>
              <a:rPr lang="zh-CN" sz="1400" b="0" dirty="0">
                <a:solidFill>
                  <a:schemeClr val="bg1"/>
                </a:solidFill>
                <a:latin typeface="微软雅黑" pitchFamily="34" charset="-122"/>
                <a:ea typeface="微软雅黑" pitchFamily="34" charset="-122"/>
              </a:rPr>
              <a:t>开放式接入协议：统一的接入标准和协议，实现车车通信、车云通信</a:t>
            </a:r>
            <a:endParaRPr lang="zh-CN" altLang="en-US" sz="1400" b="0" dirty="0">
              <a:solidFill>
                <a:schemeClr val="bg1"/>
              </a:solidFill>
              <a:latin typeface="微软雅黑" pitchFamily="34" charset="-122"/>
              <a:ea typeface="微软雅黑" pitchFamily="34" charset="-122"/>
            </a:endParaRPr>
          </a:p>
        </p:txBody>
      </p:sp>
      <p:sp>
        <p:nvSpPr>
          <p:cNvPr id="7" name="文本框 99"/>
          <p:cNvSpPr txBox="1"/>
          <p:nvPr/>
        </p:nvSpPr>
        <p:spPr>
          <a:xfrm>
            <a:off x="971600" y="1995686"/>
            <a:ext cx="3240360" cy="2548133"/>
          </a:xfrm>
          <a:prstGeom prst="rect">
            <a:avLst/>
          </a:prstGeom>
          <a:solidFill>
            <a:srgbClr val="0070C0"/>
          </a:solidFill>
          <a:ln w="9525">
            <a:noFill/>
          </a:ln>
        </p:spPr>
        <p:txBody>
          <a:bodyPr wrap="square">
            <a:spAutoFit/>
          </a:bodyPr>
          <a:lstStyle/>
          <a:p>
            <a:pPr indent="0" fontAlgn="auto">
              <a:lnSpc>
                <a:spcPct val="114000"/>
              </a:lnSpc>
            </a:pPr>
            <a:r>
              <a:rPr lang="zh-CN" sz="1400" b="1" dirty="0">
                <a:solidFill>
                  <a:schemeClr val="bg1"/>
                </a:solidFill>
                <a:latin typeface="微软雅黑" pitchFamily="34" charset="-122"/>
                <a:ea typeface="微软雅黑" pitchFamily="34" charset="-122"/>
              </a:rPr>
              <a:t>（</a:t>
            </a:r>
            <a:r>
              <a:rPr lang="zh-CN" sz="1400" b="1" dirty="0">
                <a:solidFill>
                  <a:schemeClr val="bg1"/>
                </a:solidFill>
                <a:latin typeface="微软雅黑" pitchFamily="34" charset="-122"/>
                <a:ea typeface="微软雅黑" pitchFamily="34" charset="-122"/>
                <a:cs typeface="Times New Roman" panose="02020603050405020304" charset="0"/>
              </a:rPr>
              <a:t>1）端</a:t>
            </a:r>
            <a:r>
              <a:rPr lang="zh-CN" sz="1400" b="1" dirty="0">
                <a:solidFill>
                  <a:schemeClr val="bg1"/>
                </a:solidFill>
                <a:latin typeface="微软雅黑" pitchFamily="34" charset="-122"/>
                <a:ea typeface="微软雅黑" pitchFamily="34" charset="-122"/>
              </a:rPr>
              <a:t>（车载终端、道路基础设施）</a:t>
            </a:r>
            <a:endParaRPr lang="zh-CN" sz="1400" b="0" dirty="0">
              <a:solidFill>
                <a:schemeClr val="bg1"/>
              </a:solidFill>
              <a:latin typeface="微软雅黑" pitchFamily="34" charset="-122"/>
              <a:ea typeface="微软雅黑" pitchFamily="34" charset="-122"/>
            </a:endParaRPr>
          </a:p>
          <a:p>
            <a:pPr indent="0" fontAlgn="auto">
              <a:lnSpc>
                <a:spcPct val="114000"/>
              </a:lnSpc>
            </a:pPr>
            <a:r>
              <a:rPr lang="zh-CN" sz="1400" b="0" dirty="0">
                <a:solidFill>
                  <a:schemeClr val="bg1"/>
                </a:solidFill>
                <a:latin typeface="微软雅黑" pitchFamily="34" charset="-122"/>
                <a:ea typeface="微软雅黑" pitchFamily="34" charset="-122"/>
              </a:rPr>
              <a:t>车载终端：人机交互、车联信息采集与整合（OBD、CAN/K等）</a:t>
            </a:r>
          </a:p>
          <a:p>
            <a:pPr indent="0" fontAlgn="auto">
              <a:lnSpc>
                <a:spcPct val="114000"/>
              </a:lnSpc>
            </a:pPr>
            <a:r>
              <a:rPr lang="zh-CN" sz="1400" b="0" dirty="0">
                <a:solidFill>
                  <a:schemeClr val="bg1"/>
                </a:solidFill>
                <a:latin typeface="微软雅黑" pitchFamily="34" charset="-122"/>
                <a:ea typeface="微软雅黑" pitchFamily="34" charset="-122"/>
              </a:rPr>
              <a:t>智能嵌入式系统：Linux、Android、QNX、WinCE等</a:t>
            </a:r>
          </a:p>
          <a:p>
            <a:pPr indent="0" fontAlgn="auto">
              <a:lnSpc>
                <a:spcPct val="114000"/>
              </a:lnSpc>
            </a:pPr>
            <a:r>
              <a:rPr lang="zh-CN" sz="1400" b="0" dirty="0">
                <a:solidFill>
                  <a:schemeClr val="bg1"/>
                </a:solidFill>
                <a:latin typeface="微软雅黑" pitchFamily="34" charset="-122"/>
                <a:ea typeface="微软雅黑" pitchFamily="34" charset="-122"/>
              </a:rPr>
              <a:t>音频视频技术：视频分析与识别、语音识别、语音指令与播报等</a:t>
            </a:r>
          </a:p>
          <a:p>
            <a:pPr indent="0" fontAlgn="auto">
              <a:lnSpc>
                <a:spcPct val="114000"/>
              </a:lnSpc>
            </a:pPr>
            <a:r>
              <a:rPr lang="zh-CN" sz="1400" b="0" dirty="0">
                <a:solidFill>
                  <a:schemeClr val="bg1"/>
                </a:solidFill>
                <a:latin typeface="微软雅黑" pitchFamily="34" charset="-122"/>
                <a:ea typeface="微软雅黑" pitchFamily="34" charset="-122"/>
              </a:rPr>
              <a:t>汽车电控与总线技术：ECU、CAN等</a:t>
            </a:r>
          </a:p>
          <a:p>
            <a:pPr indent="0" fontAlgn="auto">
              <a:lnSpc>
                <a:spcPct val="114000"/>
              </a:lnSpc>
            </a:pPr>
            <a:r>
              <a:rPr lang="zh-CN" sz="1400" b="0" dirty="0">
                <a:solidFill>
                  <a:schemeClr val="bg1"/>
                </a:solidFill>
                <a:latin typeface="微软雅黑" pitchFamily="34" charset="-122"/>
                <a:ea typeface="微软雅黑" pitchFamily="34" charset="-122"/>
              </a:rPr>
              <a:t>车载检测、诊断与通信：OBD、T</a:t>
            </a:r>
            <a:r>
              <a:rPr lang="en-US" sz="1400" b="0" dirty="0">
                <a:solidFill>
                  <a:schemeClr val="bg1"/>
                </a:solidFill>
                <a:latin typeface="微软雅黑" pitchFamily="34" charset="-122"/>
                <a:ea typeface="微软雅黑" pitchFamily="34" charset="-122"/>
                <a:cs typeface="Times New Roman" panose="02020603050405020304" charset="0"/>
              </a:rPr>
              <a:t>-</a:t>
            </a:r>
            <a:r>
              <a:rPr lang="en-US" sz="1400" b="0" dirty="0">
                <a:solidFill>
                  <a:schemeClr val="bg1"/>
                </a:solidFill>
                <a:latin typeface="微软雅黑" pitchFamily="34" charset="-122"/>
                <a:ea typeface="微软雅黑" pitchFamily="34" charset="-122"/>
              </a:rPr>
              <a:t>Box</a:t>
            </a:r>
            <a:endParaRPr lang="zh-CN" sz="1400" b="0" dirty="0">
              <a:solidFill>
                <a:schemeClr val="bg1"/>
              </a:solidFill>
              <a:latin typeface="微软雅黑" pitchFamily="34" charset="-122"/>
              <a:ea typeface="微软雅黑" pitchFamily="34" charset="-122"/>
            </a:endParaRPr>
          </a:p>
          <a:p>
            <a:pPr indent="0" fontAlgn="auto">
              <a:lnSpc>
                <a:spcPct val="114000"/>
              </a:lnSpc>
            </a:pPr>
            <a:r>
              <a:rPr lang="zh-CN" sz="1400" b="0" dirty="0">
                <a:solidFill>
                  <a:schemeClr val="bg1"/>
                </a:solidFill>
                <a:latin typeface="微软雅黑" pitchFamily="34" charset="-122"/>
                <a:ea typeface="微软雅黑" pitchFamily="34" charset="-122"/>
              </a:rPr>
              <a:t>传感器与传感器信息网络：</a:t>
            </a:r>
            <a:r>
              <a:rPr lang="en-US" sz="1400" b="0" dirty="0" smtClean="0">
                <a:solidFill>
                  <a:schemeClr val="bg1"/>
                </a:solidFill>
                <a:latin typeface="微软雅黑" pitchFamily="34" charset="-122"/>
                <a:ea typeface="微软雅黑" pitchFamily="34" charset="-122"/>
              </a:rPr>
              <a:t>MENS</a:t>
            </a:r>
            <a:endParaRPr lang="zh-CN" sz="1400" b="1"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16</a:t>
            </a:fld>
            <a:endParaRPr lang="zh-CN" altLang="en-US" dirty="0"/>
          </a:p>
        </p:txBody>
      </p:sp>
      <p:sp>
        <p:nvSpPr>
          <p:cNvPr id="8" name="Text Box 8"/>
          <p:cNvSpPr>
            <a:spLocks noChangeArrowheads="1"/>
          </p:cNvSpPr>
          <p:nvPr/>
        </p:nvSpPr>
        <p:spPr bwMode="auto">
          <a:xfrm>
            <a:off x="902350" y="411510"/>
            <a:ext cx="757323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智能网联汽车发展需要解决哪些核心技术</a:t>
            </a:r>
            <a:r>
              <a:rPr lang="zh-CN" altLang="en-US" sz="2800" b="1" dirty="0" smtClean="0">
                <a:solidFill>
                  <a:schemeClr val="accent1"/>
                </a:solidFill>
                <a:latin typeface="微软雅黑" panose="020B0503020204020204" pitchFamily="34" charset="-122"/>
              </a:rPr>
              <a:t>与</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关键</a:t>
            </a:r>
            <a:r>
              <a:rPr lang="zh-CN" altLang="en-US" sz="2800" b="1" dirty="0" smtClean="0">
                <a:solidFill>
                  <a:schemeClr val="accent1"/>
                </a:solidFill>
                <a:latin typeface="微软雅黑" panose="020B0503020204020204" pitchFamily="34" charset="-122"/>
              </a:rPr>
              <a:t>部件？</a:t>
            </a:r>
          </a:p>
        </p:txBody>
      </p:sp>
      <p:sp>
        <p:nvSpPr>
          <p:cNvPr id="3" name="矩形 2"/>
          <p:cNvSpPr/>
          <p:nvPr/>
        </p:nvSpPr>
        <p:spPr>
          <a:xfrm>
            <a:off x="971600" y="1419622"/>
            <a:ext cx="3238387"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.智能网联汽车的</a:t>
            </a:r>
            <a:r>
              <a:rPr lang="zh-CN" altLang="en-US" sz="2000" b="1" dirty="0" smtClean="0">
                <a:solidFill>
                  <a:schemeClr val="bg1"/>
                </a:solidFill>
                <a:latin typeface="微软雅黑" panose="020B0503020204020204" pitchFamily="34" charset="-122"/>
                <a:ea typeface="微软雅黑" panose="020B0503020204020204" pitchFamily="34" charset="-122"/>
              </a:rPr>
              <a:t>关键部件</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56796" y="1910637"/>
            <a:ext cx="7215604" cy="584775"/>
          </a:xfrm>
          <a:prstGeom prst="rect">
            <a:avLst/>
          </a:prstGeom>
        </p:spPr>
        <p:txBody>
          <a:bodyPr wrap="square">
            <a:spAutoFit/>
          </a:bodyPr>
          <a:lstStyle/>
          <a:p>
            <a:r>
              <a:rPr lang="zh-CN" altLang="en-US" sz="1600" dirty="0" smtClean="0">
                <a:latin typeface="微软雅黑" pitchFamily="34" charset="-122"/>
                <a:ea typeface="微软雅黑" pitchFamily="34" charset="-122"/>
              </a:rPr>
              <a:t>智能网联汽车关键部件包括车载</a:t>
            </a:r>
            <a:r>
              <a:rPr lang="zh-CN" altLang="en-US" sz="1600" dirty="0">
                <a:latin typeface="微软雅黑" pitchFamily="34" charset="-122"/>
                <a:ea typeface="微软雅黑" pitchFamily="34" charset="-122"/>
              </a:rPr>
              <a:t>光学系统、车载雷达系统、高精度定位系统、车载 互联终端以及集成</a:t>
            </a:r>
            <a:r>
              <a:rPr lang="zh-CN" altLang="en-US" sz="1600" dirty="0" smtClean="0">
                <a:latin typeface="微软雅黑" pitchFamily="34" charset="-122"/>
                <a:ea typeface="微软雅黑" pitchFamily="34" charset="-122"/>
              </a:rPr>
              <a:t>控制系统等。</a:t>
            </a:r>
            <a:endParaRPr lang="zh-CN" altLang="en-US" sz="1600" dirty="0">
              <a:latin typeface="微软雅黑" pitchFamily="34" charset="-122"/>
              <a:ea typeface="微软雅黑" pitchFamily="34" charset="-122"/>
            </a:endParaRPr>
          </a:p>
        </p:txBody>
      </p:sp>
      <p:sp>
        <p:nvSpPr>
          <p:cNvPr id="9" name="矩形 8"/>
          <p:cNvSpPr/>
          <p:nvPr/>
        </p:nvSpPr>
        <p:spPr>
          <a:xfrm>
            <a:off x="975197" y="2495412"/>
            <a:ext cx="7197203" cy="2057358"/>
          </a:xfrm>
          <a:prstGeom prst="rect">
            <a:avLst/>
          </a:prstGeom>
          <a:solidFill>
            <a:srgbClr val="0070C0"/>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（1）车载光学系统</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包括光学摄像头、夜视系统等，具备图像处理和视觉增强功能。</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（2）车载雷达系统</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包括近距毫米波雷达、中远距毫米波雷达、远距超声波雷达、激光雷达等，有效目标识别精度高。</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（3）高精度定位系统</a:t>
            </a:r>
          </a:p>
          <a:p>
            <a:pPr fontAlgn="base">
              <a:lnSpc>
                <a:spcPct val="114000"/>
              </a:lnSpc>
            </a:pPr>
            <a:r>
              <a:rPr sz="1600" dirty="0" err="1">
                <a:solidFill>
                  <a:schemeClr val="bg1"/>
                </a:solidFill>
                <a:latin typeface="微软雅黑" panose="020B0503020204020204" pitchFamily="34" charset="-122"/>
                <a:ea typeface="微软雅黑" panose="020B0503020204020204" pitchFamily="34" charset="-122"/>
              </a:rPr>
              <a:t>包括GPS、北斗卫星系统，车载定位精度可达到亚米级</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635993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17</a:t>
            </a:fld>
            <a:endParaRPr lang="zh-CN" altLang="en-US" dirty="0"/>
          </a:p>
        </p:txBody>
      </p:sp>
      <p:sp>
        <p:nvSpPr>
          <p:cNvPr id="8" name="Text Box 8"/>
          <p:cNvSpPr>
            <a:spLocks noChangeArrowheads="1"/>
          </p:cNvSpPr>
          <p:nvPr/>
        </p:nvSpPr>
        <p:spPr bwMode="auto">
          <a:xfrm>
            <a:off x="902350" y="411510"/>
            <a:ext cx="757323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智能网联汽车发展需要解决哪些核心技术</a:t>
            </a:r>
            <a:r>
              <a:rPr lang="zh-CN" altLang="en-US" sz="2800" b="1" dirty="0" smtClean="0">
                <a:solidFill>
                  <a:schemeClr val="accent1"/>
                </a:solidFill>
                <a:latin typeface="微软雅黑" panose="020B0503020204020204" pitchFamily="34" charset="-122"/>
              </a:rPr>
              <a:t>与</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关键</a:t>
            </a:r>
            <a:r>
              <a:rPr lang="zh-CN" altLang="en-US" sz="2800" b="1" dirty="0" smtClean="0">
                <a:solidFill>
                  <a:schemeClr val="accent1"/>
                </a:solidFill>
                <a:latin typeface="微软雅黑" panose="020B0503020204020204" pitchFamily="34" charset="-122"/>
              </a:rPr>
              <a:t>部件？</a:t>
            </a:r>
          </a:p>
        </p:txBody>
      </p:sp>
      <p:sp>
        <p:nvSpPr>
          <p:cNvPr id="3" name="矩形 2"/>
          <p:cNvSpPr/>
          <p:nvPr/>
        </p:nvSpPr>
        <p:spPr>
          <a:xfrm>
            <a:off x="971600" y="1419622"/>
            <a:ext cx="3238387"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.智能网联汽车的</a:t>
            </a:r>
            <a:r>
              <a:rPr lang="zh-CN" altLang="en-US" sz="2000" b="1" dirty="0" smtClean="0">
                <a:solidFill>
                  <a:schemeClr val="bg1"/>
                </a:solidFill>
                <a:latin typeface="微软雅黑" panose="020B0503020204020204" pitchFamily="34" charset="-122"/>
                <a:ea typeface="微软雅黑" panose="020B0503020204020204" pitchFamily="34" charset="-122"/>
              </a:rPr>
              <a:t>关键部件</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56796" y="1910637"/>
            <a:ext cx="7215604" cy="584775"/>
          </a:xfrm>
          <a:prstGeom prst="rect">
            <a:avLst/>
          </a:prstGeom>
        </p:spPr>
        <p:txBody>
          <a:bodyPr wrap="square">
            <a:spAutoFit/>
          </a:bodyPr>
          <a:lstStyle/>
          <a:p>
            <a:r>
              <a:rPr lang="zh-CN" altLang="en-US" sz="1600" dirty="0" smtClean="0">
                <a:latin typeface="微软雅黑" pitchFamily="34" charset="-122"/>
                <a:ea typeface="微软雅黑" pitchFamily="34" charset="-122"/>
              </a:rPr>
              <a:t>智能网联汽车关键部件包括车载</a:t>
            </a:r>
            <a:r>
              <a:rPr lang="zh-CN" altLang="en-US" sz="1600" dirty="0">
                <a:latin typeface="微软雅黑" pitchFamily="34" charset="-122"/>
                <a:ea typeface="微软雅黑" pitchFamily="34" charset="-122"/>
              </a:rPr>
              <a:t>光学系统、车载雷达系统、高精度定位系统、车载 互联终端以及集成</a:t>
            </a:r>
            <a:r>
              <a:rPr lang="zh-CN" altLang="en-US" sz="1600" dirty="0" smtClean="0">
                <a:latin typeface="微软雅黑" pitchFamily="34" charset="-122"/>
                <a:ea typeface="微软雅黑" pitchFamily="34" charset="-122"/>
              </a:rPr>
              <a:t>控制系统等。</a:t>
            </a:r>
            <a:endParaRPr lang="zh-CN" altLang="en-US" sz="1600" dirty="0">
              <a:latin typeface="微软雅黑" pitchFamily="34" charset="-122"/>
              <a:ea typeface="微软雅黑" pitchFamily="34" charset="-122"/>
            </a:endParaRPr>
          </a:p>
        </p:txBody>
      </p:sp>
      <p:sp>
        <p:nvSpPr>
          <p:cNvPr id="9" name="矩形 8"/>
          <p:cNvSpPr/>
          <p:nvPr/>
        </p:nvSpPr>
        <p:spPr>
          <a:xfrm>
            <a:off x="975197" y="2495412"/>
            <a:ext cx="7197203" cy="1495922"/>
          </a:xfrm>
          <a:prstGeom prst="rect">
            <a:avLst/>
          </a:prstGeom>
          <a:solidFill>
            <a:srgbClr val="0070C0"/>
          </a:solidFill>
        </p:spPr>
        <p:txBody>
          <a:bodyPr wrap="square">
            <a:spAutoFit/>
          </a:bodyPr>
          <a:lstStyle/>
          <a:p>
            <a:pPr fontAlgn="base">
              <a:lnSpc>
                <a:spcPct val="114000"/>
              </a:lnSpc>
            </a:pPr>
            <a:r>
              <a:rPr sz="1600" dirty="0" smtClean="0">
                <a:solidFill>
                  <a:schemeClr val="bg1"/>
                </a:solidFill>
                <a:latin typeface="微软雅黑" panose="020B0503020204020204" pitchFamily="34" charset="-122"/>
                <a:ea typeface="微软雅黑" panose="020B0503020204020204" pitchFamily="34" charset="-122"/>
              </a:rPr>
              <a:t>（</a:t>
            </a:r>
            <a:r>
              <a:rPr sz="1600" dirty="0">
                <a:solidFill>
                  <a:schemeClr val="bg1"/>
                </a:solidFill>
                <a:latin typeface="微软雅黑" panose="020B0503020204020204" pitchFamily="34" charset="-122"/>
                <a:ea typeface="微软雅黑" panose="020B0503020204020204" pitchFamily="34" charset="-122"/>
              </a:rPr>
              <a:t>4）车载互联终端</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包括近距通信模块、远程通信模块、车载娱乐系统。</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（5）集成控制系统</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控制器对各子系统精确控制及协调。</a:t>
            </a:r>
          </a:p>
          <a:p>
            <a:pPr fontAlgn="base">
              <a:lnSpc>
                <a:spcPct val="114000"/>
              </a:lnSpc>
            </a:pPr>
            <a:r>
              <a:rPr sz="1600" dirty="0" err="1" smtClean="0">
                <a:solidFill>
                  <a:schemeClr val="bg1"/>
                </a:solidFill>
                <a:latin typeface="微软雅黑" panose="020B0503020204020204" pitchFamily="34" charset="-122"/>
                <a:ea typeface="微软雅黑" panose="020B0503020204020204" pitchFamily="34" charset="-122"/>
              </a:rPr>
              <a:t>关键系统和零部件</a:t>
            </a:r>
            <a:r>
              <a:rPr sz="1600" dirty="0" err="1">
                <a:solidFill>
                  <a:schemeClr val="bg1"/>
                </a:solidFill>
                <a:latin typeface="微软雅黑" panose="020B0503020204020204" pitchFamily="34" charset="-122"/>
                <a:ea typeface="微软雅黑" panose="020B0503020204020204" pitchFamily="34" charset="-122"/>
              </a:rPr>
              <a:t>，应具备技术领先，并具有成本优势及大的自主份额比例</a:t>
            </a:r>
            <a:r>
              <a:rPr sz="1600"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572907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18</a:t>
            </a:fld>
            <a:endParaRPr lang="zh-CN" altLang="en-US" dirty="0"/>
          </a:p>
        </p:txBody>
      </p:sp>
      <p:sp>
        <p:nvSpPr>
          <p:cNvPr id="8" name="Text Box 8"/>
          <p:cNvSpPr>
            <a:spLocks noChangeArrowheads="1"/>
          </p:cNvSpPr>
          <p:nvPr/>
        </p:nvSpPr>
        <p:spPr bwMode="auto">
          <a:xfrm>
            <a:off x="902350" y="411510"/>
            <a:ext cx="757323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智能网联汽车发展需要解决哪些核心技术</a:t>
            </a:r>
            <a:r>
              <a:rPr lang="zh-CN" altLang="en-US" sz="2800" b="1" dirty="0" smtClean="0">
                <a:solidFill>
                  <a:schemeClr val="accent1"/>
                </a:solidFill>
                <a:latin typeface="微软雅黑" panose="020B0503020204020204" pitchFamily="34" charset="-122"/>
              </a:rPr>
              <a:t>与</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关键</a:t>
            </a:r>
            <a:r>
              <a:rPr lang="zh-CN" altLang="en-US" sz="2800" b="1" dirty="0" smtClean="0">
                <a:solidFill>
                  <a:schemeClr val="accent1"/>
                </a:solidFill>
                <a:latin typeface="微软雅黑" panose="020B0503020204020204" pitchFamily="34" charset="-122"/>
              </a:rPr>
              <a:t>部件？</a:t>
            </a:r>
          </a:p>
        </p:txBody>
      </p:sp>
      <p:sp>
        <p:nvSpPr>
          <p:cNvPr id="3" name="矩形 2"/>
          <p:cNvSpPr/>
          <p:nvPr/>
        </p:nvSpPr>
        <p:spPr>
          <a:xfrm>
            <a:off x="971600" y="1419622"/>
            <a:ext cx="375134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.智能网联汽车</a:t>
            </a:r>
            <a:r>
              <a:rPr lang="zh-CN" altLang="en-US" sz="2000" b="1" dirty="0" smtClean="0">
                <a:solidFill>
                  <a:schemeClr val="bg1"/>
                </a:solidFill>
                <a:latin typeface="微软雅黑" panose="020B0503020204020204" pitchFamily="34" charset="-122"/>
                <a:ea typeface="微软雅黑" panose="020B0503020204020204" pitchFamily="34" charset="-122"/>
              </a:rPr>
              <a:t>技术</a:t>
            </a:r>
            <a:r>
              <a:rPr sz="2000" b="1" dirty="0" smtClean="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发展趋势</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79574" y="1923678"/>
            <a:ext cx="7192825" cy="653769"/>
          </a:xfrm>
          <a:prstGeom prst="rect">
            <a:avLst/>
          </a:prstGeom>
        </p:spPr>
        <p:txBody>
          <a:bodyPr wrap="square">
            <a:spAutoFit/>
          </a:bodyPr>
          <a:lstStyle/>
          <a:p>
            <a:pPr>
              <a:lnSpc>
                <a:spcPct val="114000"/>
              </a:lnSpc>
            </a:pPr>
            <a:r>
              <a:rPr lang="zh-CN" altLang="en-US" sz="1600" dirty="0">
                <a:latin typeface="微软雅黑" pitchFamily="34" charset="-122"/>
                <a:ea typeface="微软雅黑" pitchFamily="34" charset="-122"/>
              </a:rPr>
              <a:t>从技术角度，智能网联汽车技术将向着人工智能化、尺寸小型化、成本低廉化和高</a:t>
            </a:r>
            <a:r>
              <a:rPr lang="zh-CN" altLang="en-US" sz="1600" dirty="0" smtClean="0">
                <a:latin typeface="微软雅黑" pitchFamily="34" charset="-122"/>
                <a:ea typeface="微软雅黑" pitchFamily="34" charset="-122"/>
              </a:rPr>
              <a:t>可靠性</a:t>
            </a:r>
            <a:r>
              <a:rPr lang="zh-CN" altLang="en-US" sz="1600" dirty="0">
                <a:latin typeface="微软雅黑" pitchFamily="34" charset="-122"/>
                <a:ea typeface="微软雅黑" pitchFamily="34" charset="-122"/>
              </a:rPr>
              <a:t>方向发展。</a:t>
            </a:r>
          </a:p>
        </p:txBody>
      </p:sp>
      <p:sp>
        <p:nvSpPr>
          <p:cNvPr id="10" name="矩形 9"/>
          <p:cNvSpPr/>
          <p:nvPr/>
        </p:nvSpPr>
        <p:spPr>
          <a:xfrm>
            <a:off x="958349" y="2577447"/>
            <a:ext cx="7214050" cy="1495922"/>
          </a:xfrm>
          <a:prstGeom prst="rect">
            <a:avLst/>
          </a:prstGeom>
          <a:solidFill>
            <a:srgbClr val="0070C0"/>
          </a:solidFill>
        </p:spPr>
        <p:txBody>
          <a:bodyPr wrap="square">
            <a:spAutoFit/>
          </a:bodyPr>
          <a:lstStyle/>
          <a:p>
            <a:pPr fontAlgn="base">
              <a:lnSpc>
                <a:spcPct val="114000"/>
              </a:lnSpc>
            </a:pPr>
            <a:r>
              <a:rPr sz="1600" b="1" dirty="0">
                <a:solidFill>
                  <a:schemeClr val="bg1"/>
                </a:solidFill>
                <a:latin typeface="微软雅黑" panose="020B0503020204020204" pitchFamily="34" charset="-122"/>
                <a:ea typeface="微软雅黑" panose="020B0503020204020204" pitchFamily="34" charset="-122"/>
              </a:rPr>
              <a:t>（1）环境感知技术</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79GHz毫米波雷达将取代24GHz雷达，天线尺寸更小、角分辨率更高、芯片材料将向着互补金属氧化物材料发展；激光雷达将向着固态激光雷达、更高的探测距离和分辨率、更小的尺寸和更低的成本发展；摄像头方面，将沿着深度学习的技术路线，向模块化、可扩展、全天候方向发展</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29764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19</a:t>
            </a:fld>
            <a:endParaRPr lang="zh-CN" altLang="en-US" dirty="0"/>
          </a:p>
        </p:txBody>
      </p:sp>
      <p:sp>
        <p:nvSpPr>
          <p:cNvPr id="8" name="Text Box 8"/>
          <p:cNvSpPr>
            <a:spLocks noChangeArrowheads="1"/>
          </p:cNvSpPr>
          <p:nvPr/>
        </p:nvSpPr>
        <p:spPr bwMode="auto">
          <a:xfrm>
            <a:off x="902350" y="411510"/>
            <a:ext cx="757323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智能网联汽车发展需要解决哪些核心技术</a:t>
            </a:r>
            <a:r>
              <a:rPr lang="zh-CN" altLang="en-US" sz="2800" b="1" dirty="0" smtClean="0">
                <a:solidFill>
                  <a:schemeClr val="accent1"/>
                </a:solidFill>
                <a:latin typeface="微软雅黑" panose="020B0503020204020204" pitchFamily="34" charset="-122"/>
              </a:rPr>
              <a:t>与</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关键</a:t>
            </a:r>
            <a:r>
              <a:rPr lang="zh-CN" altLang="en-US" sz="2800" b="1" dirty="0" smtClean="0">
                <a:solidFill>
                  <a:schemeClr val="accent1"/>
                </a:solidFill>
                <a:latin typeface="微软雅黑" panose="020B0503020204020204" pitchFamily="34" charset="-122"/>
              </a:rPr>
              <a:t>部件？</a:t>
            </a:r>
          </a:p>
        </p:txBody>
      </p:sp>
      <p:sp>
        <p:nvSpPr>
          <p:cNvPr id="3" name="矩形 2"/>
          <p:cNvSpPr/>
          <p:nvPr/>
        </p:nvSpPr>
        <p:spPr>
          <a:xfrm>
            <a:off x="971600" y="1419622"/>
            <a:ext cx="375134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.智能网联汽车</a:t>
            </a:r>
            <a:r>
              <a:rPr lang="zh-CN" altLang="en-US" sz="2000" b="1" dirty="0" smtClean="0">
                <a:solidFill>
                  <a:schemeClr val="bg1"/>
                </a:solidFill>
                <a:latin typeface="微软雅黑" panose="020B0503020204020204" pitchFamily="34" charset="-122"/>
                <a:ea typeface="微软雅黑" panose="020B0503020204020204" pitchFamily="34" charset="-122"/>
              </a:rPr>
              <a:t>技术</a:t>
            </a:r>
            <a:r>
              <a:rPr sz="2000" b="1" dirty="0" smtClean="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发展趋势</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966924" y="1995686"/>
            <a:ext cx="7205476" cy="2618794"/>
          </a:xfrm>
          <a:prstGeom prst="rect">
            <a:avLst/>
          </a:prstGeom>
          <a:solidFill>
            <a:srgbClr val="0070C0"/>
          </a:solidFill>
        </p:spPr>
        <p:txBody>
          <a:bodyPr wrap="square">
            <a:spAutoFit/>
          </a:bodyPr>
          <a:lstStyle/>
          <a:p>
            <a:pPr fontAlgn="base">
              <a:lnSpc>
                <a:spcPct val="114000"/>
              </a:lnSpc>
            </a:pPr>
            <a:r>
              <a:rPr sz="1600" b="1" dirty="0" smtClean="0">
                <a:solidFill>
                  <a:schemeClr val="bg1"/>
                </a:solidFill>
                <a:latin typeface="微软雅黑" panose="020B0503020204020204" pitchFamily="34" charset="-122"/>
                <a:ea typeface="微软雅黑" panose="020B0503020204020204" pitchFamily="34" charset="-122"/>
              </a:rPr>
              <a:t>（</a:t>
            </a:r>
            <a:r>
              <a:rPr sz="1600" b="1" dirty="0">
                <a:solidFill>
                  <a:schemeClr val="bg1"/>
                </a:solidFill>
                <a:latin typeface="微软雅黑" panose="020B0503020204020204" pitchFamily="34" charset="-122"/>
                <a:ea typeface="微软雅黑" panose="020B0503020204020204" pitchFamily="34" charset="-122"/>
              </a:rPr>
              <a:t>2）决策规划技术</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人工智能技术将由机器学习、深度学习阶段向着自主学习方向发展；人工智能算法芯片，将会对软硬件进行深度整合使其拥有超强的计算能力、更小的体积、更低功耗，算法处理速率将会大幅提升。</a:t>
            </a:r>
          </a:p>
          <a:p>
            <a:pPr fontAlgn="base">
              <a:lnSpc>
                <a:spcPct val="114000"/>
              </a:lnSpc>
            </a:pPr>
            <a:r>
              <a:rPr sz="1600" b="1" dirty="0">
                <a:solidFill>
                  <a:schemeClr val="bg1"/>
                </a:solidFill>
                <a:latin typeface="微软雅黑" panose="020B0503020204020204" pitchFamily="34" charset="-122"/>
                <a:ea typeface="微软雅黑" panose="020B0503020204020204" pitchFamily="34" charset="-122"/>
              </a:rPr>
              <a:t>（3）</a:t>
            </a:r>
            <a:r>
              <a:rPr sz="1600" b="1" dirty="0" smtClean="0">
                <a:solidFill>
                  <a:schemeClr val="bg1"/>
                </a:solidFill>
                <a:latin typeface="微软雅黑" panose="020B0503020204020204" pitchFamily="34" charset="-122"/>
                <a:ea typeface="微软雅黑" panose="020B0503020204020204" pitchFamily="34" charset="-122"/>
              </a:rPr>
              <a:t>车辆控制技术</a:t>
            </a:r>
            <a:endParaRPr lang="en-US" sz="1600" b="1" dirty="0" smtClean="0">
              <a:solidFill>
                <a:schemeClr val="bg1"/>
              </a:solidFill>
              <a:latin typeface="微软雅黑" panose="020B0503020204020204" pitchFamily="34" charset="-122"/>
              <a:ea typeface="微软雅黑" panose="020B0503020204020204" pitchFamily="34" charset="-122"/>
            </a:endParaRPr>
          </a:p>
          <a:p>
            <a:pPr fontAlgn="base">
              <a:lnSpc>
                <a:spcPct val="114000"/>
              </a:lnSpc>
            </a:pPr>
            <a:r>
              <a:rPr lang="zh-CN" altLang="en-US" sz="1600" dirty="0">
                <a:solidFill>
                  <a:schemeClr val="bg1"/>
                </a:solidFill>
                <a:latin typeface="微软雅黑" pitchFamily="34" charset="-122"/>
                <a:ea typeface="微软雅黑" pitchFamily="34" charset="-122"/>
              </a:rPr>
              <a:t>整车电子电气架构将向着跨域集中式电子架构和车辆集中式电子架构发展，分散的控 制单元将减少，取而代之的是应用先进算法的集中控制单元；车辆控制算法也由传统控制 方法向基于模型预测控制、最优控制、神经网络控制和深度学习等智能控制方法转变。</a:t>
            </a:r>
            <a:endParaRPr sz="16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1302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20</a:t>
            </a:fld>
            <a:endParaRPr lang="zh-CN" altLang="en-US" dirty="0"/>
          </a:p>
        </p:txBody>
      </p:sp>
      <p:sp>
        <p:nvSpPr>
          <p:cNvPr id="8" name="Text Box 8"/>
          <p:cNvSpPr>
            <a:spLocks noChangeArrowheads="1"/>
          </p:cNvSpPr>
          <p:nvPr/>
        </p:nvSpPr>
        <p:spPr bwMode="auto">
          <a:xfrm>
            <a:off x="902350" y="411510"/>
            <a:ext cx="757323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智能网联汽车发展需要解决哪些核心技术</a:t>
            </a:r>
            <a:r>
              <a:rPr lang="zh-CN" altLang="en-US" sz="2800" b="1" dirty="0" smtClean="0">
                <a:solidFill>
                  <a:schemeClr val="accent1"/>
                </a:solidFill>
                <a:latin typeface="微软雅黑" panose="020B0503020204020204" pitchFamily="34" charset="-122"/>
              </a:rPr>
              <a:t>与</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关键</a:t>
            </a:r>
            <a:r>
              <a:rPr lang="zh-CN" altLang="en-US" sz="2800" b="1" dirty="0" smtClean="0">
                <a:solidFill>
                  <a:schemeClr val="accent1"/>
                </a:solidFill>
                <a:latin typeface="微软雅黑" panose="020B0503020204020204" pitchFamily="34" charset="-122"/>
              </a:rPr>
              <a:t>部件？</a:t>
            </a:r>
          </a:p>
        </p:txBody>
      </p:sp>
      <p:sp>
        <p:nvSpPr>
          <p:cNvPr id="3" name="矩形 2"/>
          <p:cNvSpPr/>
          <p:nvPr/>
        </p:nvSpPr>
        <p:spPr>
          <a:xfrm>
            <a:off x="971600" y="1419622"/>
            <a:ext cx="3751348" cy="400110"/>
          </a:xfrm>
          <a:prstGeom prst="rect">
            <a:avLst/>
          </a:prstGeom>
          <a:solidFill>
            <a:srgbClr val="0070C0"/>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.智能网联汽车</a:t>
            </a:r>
            <a:r>
              <a:rPr lang="zh-CN" altLang="en-US" sz="2000" b="1" dirty="0" smtClean="0">
                <a:solidFill>
                  <a:schemeClr val="bg1"/>
                </a:solidFill>
                <a:latin typeface="微软雅黑" panose="020B0503020204020204" pitchFamily="34" charset="-122"/>
                <a:ea typeface="微软雅黑" panose="020B0503020204020204" pitchFamily="34" charset="-122"/>
              </a:rPr>
              <a:t>技术</a:t>
            </a:r>
            <a:r>
              <a:rPr sz="2000" b="1" dirty="0" smtClean="0">
                <a:solidFill>
                  <a:schemeClr val="bg1"/>
                </a:solidFill>
                <a:latin typeface="微软雅黑" panose="020B0503020204020204" pitchFamily="34" charset="-122"/>
                <a:ea typeface="微软雅黑" panose="020B0503020204020204" pitchFamily="34" charset="-122"/>
              </a:rPr>
              <a:t>的</a:t>
            </a:r>
            <a:r>
              <a:rPr lang="zh-CN" altLang="en-US" sz="2000" b="1" dirty="0" smtClean="0">
                <a:solidFill>
                  <a:schemeClr val="bg1"/>
                </a:solidFill>
                <a:latin typeface="微软雅黑" panose="020B0503020204020204" pitchFamily="34" charset="-122"/>
                <a:ea typeface="微软雅黑" panose="020B0503020204020204" pitchFamily="34" charset="-122"/>
              </a:rPr>
              <a:t>发展趋势</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1963396"/>
            <a:ext cx="7200800" cy="1320233"/>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综上所述，随着计算机、卫星导航、传感器、无线通信等技术的发展，加上能源危机</a:t>
            </a:r>
            <a:r>
              <a:rPr lang="zh-CN" altLang="en-US" sz="1400" dirty="0" smtClean="0">
                <a:solidFill>
                  <a:schemeClr val="bg1"/>
                </a:solidFill>
                <a:latin typeface="微软雅黑" pitchFamily="34" charset="-122"/>
                <a:ea typeface="微软雅黑" pitchFamily="34" charset="-122"/>
              </a:rPr>
              <a:t>、环境污染</a:t>
            </a:r>
            <a:r>
              <a:rPr lang="zh-CN" altLang="en-US" sz="1400" dirty="0">
                <a:solidFill>
                  <a:schemeClr val="bg1"/>
                </a:solidFill>
                <a:latin typeface="微软雅黑" pitchFamily="34" charset="-122"/>
                <a:ea typeface="微软雅黑" pitchFamily="34" charset="-122"/>
              </a:rPr>
              <a:t>、气候变暖等因素已经促进纯电动汽车技术的成熟并快速走向市场，实现汽车</a:t>
            </a:r>
            <a:r>
              <a:rPr lang="zh-CN" altLang="en-US" sz="1400" dirty="0" smtClean="0">
                <a:solidFill>
                  <a:schemeClr val="bg1"/>
                </a:solidFill>
                <a:latin typeface="微软雅黑" pitchFamily="34" charset="-122"/>
                <a:ea typeface="微软雅黑" pitchFamily="34" charset="-122"/>
              </a:rPr>
              <a:t>智能化</a:t>
            </a:r>
            <a:r>
              <a:rPr lang="zh-CN" altLang="en-US" sz="1400" dirty="0">
                <a:solidFill>
                  <a:schemeClr val="bg1"/>
                </a:solidFill>
                <a:latin typeface="微软雅黑" pitchFamily="34" charset="-122"/>
                <a:ea typeface="微软雅黑" pitchFamily="34" charset="-122"/>
              </a:rPr>
              <a:t>和网联化是未来汽车工业的发展趋势。从宏观的角度看，智能网联汽车是一个非常重 要的移动终端，既能满足人们出行的需求，又能提供各种可能需要的交互场景；从微观的 角度看，智能网联汽车是一个具备高度集成化的智能移动空间</a:t>
            </a:r>
            <a:r>
              <a:rPr lang="zh-CN" altLang="en-US" sz="1400" dirty="0" smtClean="0">
                <a:solidFill>
                  <a:schemeClr val="bg1"/>
                </a:solidFill>
                <a:latin typeface="微软雅黑" pitchFamily="34" charset="-122"/>
                <a:ea typeface="微软雅黑" pitchFamily="34" charset="-122"/>
              </a:rPr>
              <a:t>。</a:t>
            </a:r>
            <a:endParaRPr lang="zh-CN" altLang="en-US" sz="1400" dirty="0">
              <a:solidFill>
                <a:schemeClr val="bg1"/>
              </a:solidFill>
              <a:latin typeface="微软雅黑" pitchFamily="34" charset="-122"/>
              <a:ea typeface="微软雅黑" pitchFamily="34" charset="-122"/>
            </a:endParaRPr>
          </a:p>
        </p:txBody>
      </p:sp>
      <p:sp>
        <p:nvSpPr>
          <p:cNvPr id="9" name="矩形 8"/>
          <p:cNvSpPr/>
          <p:nvPr/>
        </p:nvSpPr>
        <p:spPr>
          <a:xfrm>
            <a:off x="971600" y="3435846"/>
            <a:ext cx="7200800" cy="1320233"/>
          </a:xfrm>
          <a:prstGeom prst="rect">
            <a:avLst/>
          </a:prstGeom>
          <a:solidFill>
            <a:srgbClr val="0070C0"/>
          </a:solidFill>
        </p:spPr>
        <p:txBody>
          <a:bodyPr wrap="square">
            <a:spAutoFit/>
          </a:bodyPr>
          <a:lstStyle/>
          <a:p>
            <a:pPr>
              <a:lnSpc>
                <a:spcPct val="114000"/>
              </a:lnSpc>
            </a:pPr>
            <a:r>
              <a:rPr lang="zh-CN" altLang="en-US" sz="1400" dirty="0" smtClean="0">
                <a:solidFill>
                  <a:schemeClr val="bg1"/>
                </a:solidFill>
                <a:latin typeface="微软雅黑" pitchFamily="34" charset="-122"/>
                <a:ea typeface="微软雅黑" pitchFamily="34" charset="-122"/>
              </a:rPr>
              <a:t>从</a:t>
            </a:r>
            <a:r>
              <a:rPr lang="zh-CN" altLang="en-US" sz="1400" dirty="0">
                <a:solidFill>
                  <a:schemeClr val="bg1"/>
                </a:solidFill>
                <a:latin typeface="微软雅黑" pitchFamily="34" charset="-122"/>
                <a:ea typeface="微软雅黑" pitchFamily="34" charset="-122"/>
              </a:rPr>
              <a:t>目前的发展来看，智能网联汽车的发展还处于初级阶段，这也是辅助驾驶、半自动 驾驶和全自动驾驶智能网联汽车逐渐成熟到广泛应用所必经的阶段。智能网联汽车的智能 化和网联化的特性，能够进行及时预警、合理的路径规划和主动控制避免交通事故，降低 能源消耗，减轻交通拥堵的压力，随着技术的进步，满足车主更多安全、节能、舒适等功 能的需求。 </a:t>
            </a:r>
          </a:p>
        </p:txBody>
      </p:sp>
    </p:spTree>
    <p:extLst>
      <p:ext uri="{BB962C8B-B14F-4D97-AF65-F5344CB8AC3E}">
        <p14:creationId xmlns:p14="http://schemas.microsoft.com/office/powerpoint/2010/main" val="27868842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21</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TotalTime>
  <Words>1589</Words>
  <Application>Microsoft Office PowerPoint</Application>
  <PresentationFormat>全屏显示(16:9)</PresentationFormat>
  <Paragraphs>152</Paragraphs>
  <Slides>21</Slides>
  <Notes>20</Notes>
  <HiddenSlides>0</HiddenSlides>
  <MMClips>0</MMClips>
  <ScaleCrop>false</ScaleCrop>
  <HeadingPairs>
    <vt:vector size="4" baseType="variant">
      <vt:variant>
        <vt:lpstr>主题</vt:lpstr>
      </vt:variant>
      <vt:variant>
        <vt:i4>1</vt:i4>
      </vt:variant>
      <vt:variant>
        <vt:lpstr>幻灯片标题</vt:lpstr>
      </vt:variant>
      <vt:variant>
        <vt:i4>21</vt:i4>
      </vt:variant>
    </vt:vector>
  </HeadingPairs>
  <TitlesOfParts>
    <vt:vector size="22"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1578</cp:revision>
  <dcterms:created xsi:type="dcterms:W3CDTF">2017-08-03T05:04:00Z</dcterms:created>
  <dcterms:modified xsi:type="dcterms:W3CDTF">2022-03-02T09:30:22Z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