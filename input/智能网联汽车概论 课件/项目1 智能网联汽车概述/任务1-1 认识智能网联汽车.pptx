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sldIdLst>
    <p:sldId id="627" r:id="rId2"/>
    <p:sldId id="628" r:id="rId3"/>
    <p:sldId id="591" r:id="rId4"/>
    <p:sldId id="629" r:id="rId5"/>
    <p:sldId id="552" r:id="rId6"/>
    <p:sldId id="630" r:id="rId7"/>
    <p:sldId id="631" r:id="rId8"/>
    <p:sldId id="632" r:id="rId9"/>
    <p:sldId id="633" r:id="rId10"/>
    <p:sldId id="634" r:id="rId11"/>
    <p:sldId id="635" r:id="rId12"/>
    <p:sldId id="636" r:id="rId13"/>
    <p:sldId id="637" r:id="rId14"/>
    <p:sldId id="638" r:id="rId15"/>
    <p:sldId id="639" r:id="rId16"/>
    <p:sldId id="640" r:id="rId17"/>
    <p:sldId id="641" r:id="rId18"/>
    <p:sldId id="642" r:id="rId19"/>
    <p:sldId id="643" r:id="rId20"/>
    <p:sldId id="644" r:id="rId21"/>
    <p:sldId id="645" r:id="rId22"/>
    <p:sldId id="646" r:id="rId23"/>
    <p:sldId id="647" r:id="rId24"/>
    <p:sldId id="648" r:id="rId25"/>
    <p:sldId id="649" r:id="rId26"/>
    <p:sldId id="650" r:id="rId27"/>
    <p:sldId id="651" r:id="rId28"/>
    <p:sldId id="652" r:id="rId29"/>
    <p:sldId id="653" r:id="rId30"/>
    <p:sldId id="654" r:id="rId31"/>
    <p:sldId id="569" r:id="rId3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91794" autoAdjust="0"/>
  </p:normalViewPr>
  <p:slideViewPr>
    <p:cSldViewPr>
      <p:cViewPr>
        <p:scale>
          <a:sx n="70" d="100"/>
          <a:sy n="70" d="100"/>
        </p:scale>
        <p:origin x="-612" y="-184"/>
      </p:cViewPr>
      <p:guideLst>
        <p:guide orient="horz" pos="1400"/>
        <p:guide pos="28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391774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ctr"/>
            <a:endParaRPr lang="zh-CN"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2022/3/1</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483518"/>
            <a:ext cx="7596708" cy="372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74384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284" y="843558"/>
            <a:ext cx="7981950"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0412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1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
          <p:cNvGrpSpPr/>
          <p:nvPr/>
        </p:nvGrpSpPr>
        <p:grpSpPr>
          <a:xfrm>
            <a:off x="1733590" y="208416"/>
            <a:ext cx="5950445" cy="4590625"/>
            <a:chOff x="1733590" y="208416"/>
            <a:chExt cx="5950445" cy="4590625"/>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3590" y="208416"/>
              <a:ext cx="5950445" cy="395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4124712"/>
              <a:ext cx="4320479" cy="674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4</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智能网联汽车的定义</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666" y="2283717"/>
            <a:ext cx="4303632" cy="1894743"/>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94234" y="1560525"/>
            <a:ext cx="7179064" cy="632481"/>
          </a:xfrm>
          <a:prstGeom prst="rect">
            <a:avLst/>
          </a:prstGeom>
        </p:spPr>
        <p:txBody>
          <a:bodyPr wrap="square">
            <a:spAutoFit/>
          </a:bodyPr>
          <a:lstStyle/>
          <a:p>
            <a:pPr>
              <a:lnSpc>
                <a:spcPct val="114000"/>
              </a:lnSpc>
            </a:pPr>
            <a:r>
              <a:rPr lang="zh-CN" altLang="en-US" sz="1600" dirty="0">
                <a:latin typeface="微软雅黑" pitchFamily="34" charset="-122"/>
                <a:ea typeface="微软雅黑" pitchFamily="34" charset="-122"/>
              </a:rPr>
              <a:t>智能网联汽车（</a:t>
            </a:r>
            <a:r>
              <a:rPr lang="en-US" altLang="zh-CN" sz="1600" dirty="0" smtClean="0">
                <a:latin typeface="微软雅黑" pitchFamily="34" charset="-122"/>
                <a:ea typeface="微软雅黑" pitchFamily="34" charset="-122"/>
              </a:rPr>
              <a:t>Intelligent Connected Vehicle</a:t>
            </a: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ICV</a:t>
            </a:r>
            <a:r>
              <a:rPr lang="zh-CN" altLang="en-US" sz="1600" dirty="0">
                <a:latin typeface="微软雅黑" pitchFamily="34" charset="-122"/>
                <a:ea typeface="微软雅黑" pitchFamily="34" charset="-122"/>
              </a:rPr>
              <a:t>）是车联网与智能汽车驾驶技术相 结合的产物</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10" name="矩形 9"/>
          <p:cNvSpPr/>
          <p:nvPr/>
        </p:nvSpPr>
        <p:spPr>
          <a:xfrm>
            <a:off x="957303" y="2283718"/>
            <a:ext cx="2881967" cy="2462213"/>
          </a:xfrm>
          <a:prstGeom prst="rect">
            <a:avLst/>
          </a:prstGeom>
          <a:solidFill>
            <a:srgbClr val="0070C0"/>
          </a:solidFill>
        </p:spPr>
        <p:txBody>
          <a:bodyPr wrap="square">
            <a:spAutoFit/>
          </a:bodyPr>
          <a:lstStyle/>
          <a:p>
            <a:r>
              <a:rPr lang="zh-CN" altLang="en-US" sz="1400" dirty="0" smtClean="0">
                <a:solidFill>
                  <a:schemeClr val="bg1"/>
                </a:solidFill>
                <a:latin typeface="微软雅黑" pitchFamily="34" charset="-122"/>
                <a:ea typeface="微软雅黑" pitchFamily="34" charset="-122"/>
              </a:rPr>
              <a:t>车</a:t>
            </a:r>
            <a:r>
              <a:rPr lang="zh-CN" altLang="en-US" sz="1400" dirty="0">
                <a:solidFill>
                  <a:schemeClr val="bg1"/>
                </a:solidFill>
                <a:latin typeface="微软雅黑" pitchFamily="34" charset="-122"/>
                <a:ea typeface="微软雅黑" pitchFamily="34" charset="-122"/>
              </a:rPr>
              <a:t>联网（</a:t>
            </a:r>
            <a:r>
              <a:rPr lang="en-US" altLang="zh-CN" sz="1400" dirty="0" smtClean="0">
                <a:solidFill>
                  <a:schemeClr val="bg1"/>
                </a:solidFill>
                <a:latin typeface="微软雅黑" pitchFamily="34" charset="-122"/>
                <a:ea typeface="微软雅黑" pitchFamily="34" charset="-122"/>
              </a:rPr>
              <a:t>Connected Vehicles</a:t>
            </a:r>
            <a:r>
              <a:rPr lang="zh-CN" altLang="en-US" sz="1400" dirty="0">
                <a:solidFill>
                  <a:schemeClr val="bg1"/>
                </a:solidFill>
                <a:latin typeface="微软雅黑" pitchFamily="34" charset="-122"/>
                <a:ea typeface="微软雅黑" pitchFamily="34" charset="-122"/>
              </a:rPr>
              <a:t>）概念来自物联网（</a:t>
            </a:r>
            <a:r>
              <a:rPr lang="en-US" altLang="zh-CN" sz="1400" dirty="0" smtClean="0">
                <a:solidFill>
                  <a:schemeClr val="bg1"/>
                </a:solidFill>
                <a:latin typeface="微软雅黑" pitchFamily="34" charset="-122"/>
                <a:ea typeface="微软雅黑" pitchFamily="34" charset="-122"/>
              </a:rPr>
              <a:t>Internet of Things</a:t>
            </a:r>
            <a:r>
              <a:rPr lang="zh-CN" altLang="en-US" sz="1400" dirty="0">
                <a:solidFill>
                  <a:schemeClr val="bg1"/>
                </a:solidFill>
                <a:latin typeface="微软雅黑" pitchFamily="34" charset="-122"/>
                <a:ea typeface="微软雅黑" pitchFamily="34" charset="-122"/>
              </a:rPr>
              <a:t>），是以车内网、 车际网和车云网为基础，按照约定的体系架构及其通信协议和数据交互标准，在车内、车 与车、车与路、车与人、车与服务平台之间，进行通信和信息交换的信息物理系统。车联 网的主要功能包括智能动态信息服务、车辆智能化控制和智能化交通管理</a:t>
            </a:r>
            <a:r>
              <a:rPr lang="zh-CN" altLang="en-US" sz="1400" dirty="0" smtClean="0">
                <a:solidFill>
                  <a:schemeClr val="bg1"/>
                </a:solidFill>
                <a:latin typeface="微软雅黑" pitchFamily="34" charset="-122"/>
                <a:ea typeface="微软雅黑" pitchFamily="34" charset="-122"/>
              </a:rPr>
              <a:t>等。</a:t>
            </a:r>
            <a:endParaRPr lang="zh-CN" altLang="en-US" sz="14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658138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5</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智能网联汽车的定义</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971600" y="1593421"/>
            <a:ext cx="7200800" cy="2264851"/>
          </a:xfrm>
          <a:prstGeom prst="rect">
            <a:avLst/>
          </a:prstGeom>
        </p:spPr>
        <p:txBody>
          <a:bodyPr wrap="square">
            <a:spAutoFit/>
          </a:bodyPr>
          <a:lstStyle/>
          <a:p>
            <a:pPr>
              <a:lnSpc>
                <a:spcPct val="150000"/>
              </a:lnSpc>
            </a:pPr>
            <a:r>
              <a:rPr lang="zh-CN" altLang="en-US" sz="1600" dirty="0">
                <a:latin typeface="微软雅黑" pitchFamily="34" charset="-122"/>
                <a:ea typeface="微软雅黑" pitchFamily="34" charset="-122"/>
              </a:rPr>
              <a:t>工信部、国家标准委于 </a:t>
            </a:r>
            <a:r>
              <a:rPr lang="en-US" altLang="zh-CN" sz="1600" dirty="0">
                <a:latin typeface="微软雅黑" pitchFamily="34" charset="-122"/>
                <a:ea typeface="微软雅黑" pitchFamily="34" charset="-122"/>
              </a:rPr>
              <a:t>2017 </a:t>
            </a:r>
            <a:r>
              <a:rPr lang="zh-CN" altLang="en-US" sz="1600" dirty="0">
                <a:latin typeface="微软雅黑" pitchFamily="34" charset="-122"/>
                <a:ea typeface="微软雅黑" pitchFamily="34" charset="-122"/>
              </a:rPr>
              <a:t>年 </a:t>
            </a:r>
            <a:r>
              <a:rPr lang="en-US" altLang="zh-CN" sz="1600" dirty="0">
                <a:latin typeface="微软雅黑" pitchFamily="34" charset="-122"/>
                <a:ea typeface="微软雅黑" pitchFamily="34" charset="-122"/>
              </a:rPr>
              <a:t>12 </a:t>
            </a:r>
            <a:r>
              <a:rPr lang="zh-CN" altLang="en-US" sz="1600" dirty="0">
                <a:latin typeface="微软雅黑" pitchFamily="34" charset="-122"/>
                <a:ea typeface="微软雅黑" pitchFamily="34" charset="-122"/>
              </a:rPr>
              <a:t>月共同制定的</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国家车联网产业标准体系建设指南 （智能网联汽车）</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明确了智能网联汽车的定义，即：智能网联汽车是指搭载先进的车载 传感器、控制器、执行器等装置，并融合现代通信与网络技术，实现车与 </a:t>
            </a:r>
            <a:r>
              <a:rPr lang="en-US" altLang="zh-CN" sz="1600" dirty="0">
                <a:latin typeface="微软雅黑" pitchFamily="34" charset="-122"/>
                <a:ea typeface="微软雅黑" pitchFamily="34" charset="-122"/>
              </a:rPr>
              <a:t>X</a:t>
            </a:r>
            <a:r>
              <a:rPr lang="zh-CN" altLang="en-US" sz="1600" dirty="0">
                <a:latin typeface="微软雅黑" pitchFamily="34" charset="-122"/>
                <a:ea typeface="微软雅黑" pitchFamily="34" charset="-122"/>
              </a:rPr>
              <a:t>（人、车、路、 云端等）智能信息交换、共享，具有复杂环境感知、智能决策、协同控制等功能，可实现 安全、高效、舒适、节能行驶，并最终可实现替代人来操作的新一代汽车。</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6</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智能网联汽车的定义</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800" y="2413132"/>
            <a:ext cx="480060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01879" y="2418442"/>
            <a:ext cx="2304256" cy="1938992"/>
          </a:xfrm>
          <a:prstGeom prst="rect">
            <a:avLst/>
          </a:prstGeom>
          <a:solidFill>
            <a:srgbClr val="0070C0"/>
          </a:solidFill>
        </p:spPr>
        <p:txBody>
          <a:bodyPr wrap="square">
            <a:spAutoFit/>
          </a:bodyPr>
          <a:lstStyle/>
          <a:p>
            <a:pPr>
              <a:lnSpc>
                <a:spcPct val="150000"/>
              </a:lnSpc>
            </a:pPr>
            <a:r>
              <a:rPr lang="zh-CN" altLang="en-US" sz="1600" dirty="0" smtClean="0">
                <a:solidFill>
                  <a:schemeClr val="bg1"/>
                </a:solidFill>
                <a:latin typeface="微软雅黑" pitchFamily="34" charset="-122"/>
                <a:ea typeface="微软雅黑" pitchFamily="34" charset="-122"/>
              </a:rPr>
              <a:t>车</a:t>
            </a:r>
            <a:r>
              <a:rPr lang="zh-CN" altLang="en-US" sz="1600" dirty="0">
                <a:solidFill>
                  <a:schemeClr val="bg1"/>
                </a:solidFill>
                <a:latin typeface="微软雅黑" pitchFamily="34" charset="-122"/>
                <a:ea typeface="微软雅黑" pitchFamily="34" charset="-122"/>
              </a:rPr>
              <a:t>联网还能够为驾乘人员提供丰富的车载信息服务，并服务于汽车智能制造、 电商、后市场和保险等各个环节。</a:t>
            </a:r>
          </a:p>
        </p:txBody>
      </p:sp>
      <p:sp>
        <p:nvSpPr>
          <p:cNvPr id="10" name="矩形 9"/>
          <p:cNvSpPr/>
          <p:nvPr/>
        </p:nvSpPr>
        <p:spPr>
          <a:xfrm>
            <a:off x="971600" y="1587445"/>
            <a:ext cx="7200800" cy="830997"/>
          </a:xfrm>
          <a:prstGeom prst="rect">
            <a:avLst/>
          </a:prstGeom>
        </p:spPr>
        <p:txBody>
          <a:bodyPr wrap="square">
            <a:spAutoFit/>
          </a:bodyPr>
          <a:lstStyle/>
          <a:p>
            <a:pPr>
              <a:lnSpc>
                <a:spcPct val="150000"/>
              </a:lnSpc>
            </a:pPr>
            <a:r>
              <a:rPr lang="zh-CN" altLang="en-US" sz="1600" dirty="0" smtClean="0">
                <a:latin typeface="微软雅黑" pitchFamily="34" charset="-122"/>
                <a:ea typeface="微软雅黑" pitchFamily="34" charset="-122"/>
              </a:rPr>
              <a:t>智能网</a:t>
            </a:r>
            <a:r>
              <a:rPr lang="zh-CN" altLang="en-US" sz="1600" dirty="0">
                <a:latin typeface="微软雅黑" pitchFamily="34" charset="-122"/>
                <a:ea typeface="微软雅黑" pitchFamily="34" charset="-122"/>
              </a:rPr>
              <a:t>联汽车是车联网 与智能汽车、智能交通系统、高级驾驶辅助系统（</a:t>
            </a:r>
            <a:r>
              <a:rPr lang="en-US" altLang="zh-CN" sz="1600" dirty="0">
                <a:latin typeface="微软雅黑" pitchFamily="34" charset="-122"/>
                <a:ea typeface="微软雅黑" pitchFamily="34" charset="-122"/>
              </a:rPr>
              <a:t>ADAS</a:t>
            </a:r>
            <a:r>
              <a:rPr lang="zh-CN" altLang="en-US" sz="1600" dirty="0">
                <a:latin typeface="微软雅黑" pitchFamily="34" charset="-122"/>
                <a:ea typeface="微软雅黑" pitchFamily="34" charset="-122"/>
              </a:rPr>
              <a:t>）的交集</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1116809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7</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智能网联汽车的分级</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国外对自动驾驶的分级</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971600" y="1560525"/>
            <a:ext cx="4255516" cy="338554"/>
          </a:xfrm>
          <a:prstGeom prst="rect">
            <a:avLst/>
          </a:prstGeom>
          <a:noFill/>
        </p:spPr>
        <p:txBody>
          <a:bodyPr wrap="square">
            <a:spAutoFit/>
          </a:bodyPr>
          <a:lstStyle/>
          <a:p>
            <a:r>
              <a:rPr lang="zh-CN" altLang="en-US" sz="1600" dirty="0" smtClean="0">
                <a:latin typeface="微软雅黑" pitchFamily="34" charset="-122"/>
                <a:ea typeface="微软雅黑" pitchFamily="34" charset="-122"/>
              </a:rPr>
              <a:t>智能网</a:t>
            </a:r>
            <a:r>
              <a:rPr lang="zh-CN" altLang="en-US" sz="1600" dirty="0">
                <a:latin typeface="微软雅黑" pitchFamily="34" charset="-122"/>
                <a:ea typeface="微软雅黑" pitchFamily="34" charset="-122"/>
              </a:rPr>
              <a:t>联汽车主要从自动驾驶的角度进行</a:t>
            </a:r>
            <a:r>
              <a:rPr lang="zh-CN" altLang="en-US" sz="1600" dirty="0" smtClean="0">
                <a:latin typeface="微软雅黑" pitchFamily="34" charset="-122"/>
                <a:ea typeface="微软雅黑" pitchFamily="34" charset="-122"/>
              </a:rPr>
              <a:t>分级。</a:t>
            </a:r>
            <a:endParaRPr lang="zh-CN" altLang="en-US" sz="1600" dirty="0">
              <a:latin typeface="微软雅黑" pitchFamily="34" charset="-122"/>
              <a:ea typeface="微软雅黑" pitchFamily="34" charset="-122"/>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1992055"/>
            <a:ext cx="5184576" cy="2831747"/>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53014" y="1992055"/>
            <a:ext cx="1902365" cy="2677656"/>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美国国家高速公路交通安全管理局（</a:t>
            </a:r>
            <a:r>
              <a:rPr lang="en-US" altLang="zh-CN" sz="1600" dirty="0">
                <a:solidFill>
                  <a:schemeClr val="bg1"/>
                </a:solidFill>
                <a:latin typeface="微软雅黑" pitchFamily="34" charset="-122"/>
                <a:ea typeface="微软雅黑" pitchFamily="34" charset="-122"/>
              </a:rPr>
              <a:t>NHTSA</a:t>
            </a:r>
            <a:r>
              <a:rPr lang="zh-CN" altLang="en-US" sz="1600" dirty="0">
                <a:solidFill>
                  <a:schemeClr val="bg1"/>
                </a:solidFill>
                <a:latin typeface="微软雅黑" pitchFamily="34" charset="-122"/>
                <a:ea typeface="微软雅黑" pitchFamily="34" charset="-122"/>
              </a:rPr>
              <a:t>）和美国汽 车工程师协会（</a:t>
            </a:r>
            <a:r>
              <a:rPr lang="en-US" altLang="zh-CN" sz="1600" dirty="0">
                <a:solidFill>
                  <a:schemeClr val="bg1"/>
                </a:solidFill>
                <a:latin typeface="微软雅黑" pitchFamily="34" charset="-122"/>
                <a:ea typeface="微软雅黑" pitchFamily="34" charset="-122"/>
              </a:rPr>
              <a:t>SAE</a:t>
            </a:r>
            <a:r>
              <a:rPr lang="zh-CN" altLang="en-US" sz="1600" dirty="0">
                <a:solidFill>
                  <a:schemeClr val="bg1"/>
                </a:solidFill>
                <a:latin typeface="微软雅黑" pitchFamily="34" charset="-122"/>
                <a:ea typeface="微软雅黑" pitchFamily="34" charset="-122"/>
              </a:rPr>
              <a:t>）对汽车自动驾驶进行等级</a:t>
            </a:r>
            <a:r>
              <a:rPr lang="zh-CN" altLang="en-US" sz="1600" dirty="0" smtClean="0">
                <a:solidFill>
                  <a:schemeClr val="bg1"/>
                </a:solidFill>
                <a:latin typeface="微软雅黑" pitchFamily="34" charset="-122"/>
                <a:ea typeface="微软雅黑" pitchFamily="34" charset="-122"/>
              </a:rPr>
              <a:t>划分。</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94684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8</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智能网联汽车的分级</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国外对自动驾驶的分级</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9725" y="2032540"/>
            <a:ext cx="5207750" cy="2302553"/>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71600" y="1602254"/>
            <a:ext cx="4572000" cy="338554"/>
          </a:xfrm>
          <a:prstGeom prst="rect">
            <a:avLst/>
          </a:prstGeom>
        </p:spPr>
        <p:txBody>
          <a:bodyPr>
            <a:spAutoFit/>
          </a:bodyPr>
          <a:lstStyle/>
          <a:p>
            <a:r>
              <a:rPr lang="zh-CN" altLang="en-US" sz="1600" dirty="0">
                <a:latin typeface="微软雅黑" pitchFamily="34" charset="-122"/>
                <a:ea typeface="微软雅黑" pitchFamily="34" charset="-122"/>
              </a:rPr>
              <a:t>德国博世（</a:t>
            </a:r>
            <a:r>
              <a:rPr lang="en-US" altLang="zh-CN" sz="1600" dirty="0">
                <a:latin typeface="微软雅黑" pitchFamily="34" charset="-122"/>
                <a:ea typeface="微软雅黑" pitchFamily="34" charset="-122"/>
              </a:rPr>
              <a:t>Bosch</a:t>
            </a:r>
            <a:r>
              <a:rPr lang="zh-CN" altLang="en-US" sz="1600" dirty="0">
                <a:latin typeface="微软雅黑" pitchFamily="34" charset="-122"/>
                <a:ea typeface="微软雅黑" pitchFamily="34" charset="-122"/>
              </a:rPr>
              <a:t>）公司对自动驾驶的分级</a:t>
            </a:r>
            <a:r>
              <a:rPr lang="zh-CN" altLang="en-US" sz="1600" dirty="0" smtClean="0">
                <a:latin typeface="微软雅黑" pitchFamily="34" charset="-122"/>
                <a:ea typeface="微软雅黑" pitchFamily="34" charset="-122"/>
              </a:rPr>
              <a:t>方法。</a:t>
            </a:r>
            <a:endParaRPr lang="zh-CN" altLang="en-US" sz="1600" dirty="0">
              <a:latin typeface="微软雅黑" pitchFamily="34" charset="-122"/>
              <a:ea typeface="微软雅黑" pitchFamily="34" charset="-122"/>
            </a:endParaRPr>
          </a:p>
        </p:txBody>
      </p:sp>
      <p:sp>
        <p:nvSpPr>
          <p:cNvPr id="7" name="矩形 6"/>
          <p:cNvSpPr/>
          <p:nvPr/>
        </p:nvSpPr>
        <p:spPr>
          <a:xfrm>
            <a:off x="971600" y="2032541"/>
            <a:ext cx="1800200" cy="230255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从技术</a:t>
            </a:r>
            <a:r>
              <a:rPr lang="zh-CN" altLang="en-US" sz="1400" dirty="0" smtClean="0">
                <a:solidFill>
                  <a:schemeClr val="bg1"/>
                </a:solidFill>
                <a:latin typeface="微软雅黑" pitchFamily="34" charset="-122"/>
                <a:ea typeface="微软雅黑" pitchFamily="34" charset="-122"/>
              </a:rPr>
              <a:t>角度，</a:t>
            </a:r>
            <a:r>
              <a:rPr lang="zh-CN" altLang="en-US" sz="1400" dirty="0">
                <a:solidFill>
                  <a:schemeClr val="bg1"/>
                </a:solidFill>
                <a:latin typeface="微软雅黑" pitchFamily="34" charset="-122"/>
                <a:ea typeface="微软雅黑" pitchFamily="34" charset="-122"/>
              </a:rPr>
              <a:t>博世公司的自动驾驶分级方式也将车辆在出现事故时的责任主体</a:t>
            </a:r>
            <a:r>
              <a:rPr lang="zh-CN" altLang="en-US" sz="1400" dirty="0" smtClean="0">
                <a:solidFill>
                  <a:schemeClr val="bg1"/>
                </a:solidFill>
                <a:latin typeface="微软雅黑" pitchFamily="34" charset="-122"/>
                <a:ea typeface="微软雅黑" pitchFamily="34" charset="-122"/>
              </a:rPr>
              <a:t>划分清楚： </a:t>
            </a:r>
            <a:r>
              <a:rPr lang="en-US" altLang="zh-CN" sz="1400" dirty="0">
                <a:solidFill>
                  <a:schemeClr val="bg1"/>
                </a:solidFill>
                <a:latin typeface="微软雅黑" pitchFamily="34" charset="-122"/>
                <a:ea typeface="微软雅黑" pitchFamily="34" charset="-122"/>
              </a:rPr>
              <a:t>L0~L2 </a:t>
            </a:r>
            <a:r>
              <a:rPr lang="zh-CN" altLang="en-US" sz="1400" dirty="0">
                <a:solidFill>
                  <a:schemeClr val="bg1"/>
                </a:solidFill>
                <a:latin typeface="微软雅黑" pitchFamily="34" charset="-122"/>
                <a:ea typeface="微软雅黑" pitchFamily="34" charset="-122"/>
              </a:rPr>
              <a:t>级别</a:t>
            </a:r>
            <a:r>
              <a:rPr lang="zh-CN" altLang="en-US" sz="1400" dirty="0" smtClean="0">
                <a:solidFill>
                  <a:schemeClr val="bg1"/>
                </a:solidFill>
                <a:latin typeface="微软雅黑" pitchFamily="34" charset="-122"/>
                <a:ea typeface="微软雅黑" pitchFamily="34" charset="-122"/>
              </a:rPr>
              <a:t>，事故</a:t>
            </a:r>
            <a:r>
              <a:rPr lang="zh-CN" altLang="en-US" sz="1400" dirty="0">
                <a:solidFill>
                  <a:schemeClr val="bg1"/>
                </a:solidFill>
                <a:latin typeface="微软雅黑" pitchFamily="34" charset="-122"/>
                <a:ea typeface="微软雅黑" pitchFamily="34" charset="-122"/>
              </a:rPr>
              <a:t>责任主体为驾驶员；而 </a:t>
            </a:r>
            <a:r>
              <a:rPr lang="en-US" altLang="zh-CN" sz="1400" dirty="0">
                <a:solidFill>
                  <a:schemeClr val="bg1"/>
                </a:solidFill>
                <a:latin typeface="微软雅黑" pitchFamily="34" charset="-122"/>
                <a:ea typeface="微软雅黑" pitchFamily="34" charset="-122"/>
              </a:rPr>
              <a:t>L3 </a:t>
            </a:r>
            <a:r>
              <a:rPr lang="zh-CN" altLang="en-US" sz="1400" dirty="0">
                <a:solidFill>
                  <a:schemeClr val="bg1"/>
                </a:solidFill>
                <a:latin typeface="微软雅黑" pitchFamily="34" charset="-122"/>
                <a:ea typeface="微软雅黑" pitchFamily="34" charset="-122"/>
              </a:rPr>
              <a:t>级别往上</a:t>
            </a:r>
            <a:r>
              <a:rPr lang="zh-CN" altLang="en-US" sz="1400" dirty="0" smtClean="0">
                <a:solidFill>
                  <a:schemeClr val="bg1"/>
                </a:solidFill>
                <a:latin typeface="微软雅黑" pitchFamily="34" charset="-122"/>
                <a:ea typeface="微软雅黑" pitchFamily="34" charset="-122"/>
              </a:rPr>
              <a:t>，事故</a:t>
            </a:r>
            <a:r>
              <a:rPr lang="zh-CN" altLang="en-US" sz="1400" dirty="0">
                <a:solidFill>
                  <a:schemeClr val="bg1"/>
                </a:solidFill>
                <a:latin typeface="微软雅黑" pitchFamily="34" charset="-122"/>
                <a:ea typeface="微软雅黑" pitchFamily="34" charset="-122"/>
              </a:rPr>
              <a:t>责任的主体就变成了自动驾驶系统</a:t>
            </a:r>
            <a:r>
              <a:rPr lang="zh-CN" altLang="en-US" sz="1400" dirty="0" smtClean="0">
                <a:solidFill>
                  <a:schemeClr val="bg1"/>
                </a:solidFill>
                <a:latin typeface="微软雅黑" pitchFamily="34" charset="-122"/>
                <a:ea typeface="微软雅黑" pitchFamily="34" charset="-122"/>
              </a:rPr>
              <a:t>。</a:t>
            </a:r>
            <a:endParaRPr lang="zh-CN" altLang="en-US" sz="14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772230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9</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智能网联汽车的分级</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我国对智能网联汽车的分级</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971600" y="1686096"/>
            <a:ext cx="7200800" cy="2120902"/>
          </a:xfrm>
          <a:prstGeom prst="rect">
            <a:avLst/>
          </a:prstGeom>
        </p:spPr>
        <p:txBody>
          <a:bodyPr wrap="square">
            <a:spAutoFit/>
          </a:bodyPr>
          <a:lstStyle/>
          <a:p>
            <a:pPr>
              <a:lnSpc>
                <a:spcPct val="150000"/>
              </a:lnSpc>
            </a:pPr>
            <a:r>
              <a:rPr lang="zh-CN" altLang="en-US" dirty="0">
                <a:latin typeface="微软雅黑" pitchFamily="34" charset="-122"/>
                <a:ea typeface="微软雅黑" pitchFamily="34" charset="-122"/>
              </a:rPr>
              <a:t>根据中国汽车工程学会发布的</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节能与新能源汽车技术路线图 </a:t>
            </a:r>
            <a:r>
              <a:rPr lang="en-US" altLang="zh-CN" dirty="0">
                <a:latin typeface="微软雅黑" pitchFamily="34" charset="-122"/>
                <a:ea typeface="微软雅黑" pitchFamily="34" charset="-122"/>
              </a:rPr>
              <a:t>2.0》</a:t>
            </a:r>
            <a:r>
              <a:rPr lang="zh-CN" altLang="en-US" dirty="0">
                <a:latin typeface="微软雅黑" pitchFamily="34" charset="-122"/>
                <a:ea typeface="微软雅黑" pitchFamily="34" charset="-122"/>
              </a:rPr>
              <a:t>的说明，我国</a:t>
            </a:r>
            <a:r>
              <a:rPr lang="zh-CN" altLang="en-US" dirty="0" smtClean="0">
                <a:latin typeface="微软雅黑" pitchFamily="34" charset="-122"/>
                <a:ea typeface="微软雅黑" pitchFamily="34" charset="-122"/>
              </a:rPr>
              <a:t>将智能网</a:t>
            </a:r>
            <a:r>
              <a:rPr lang="zh-CN" altLang="en-US" dirty="0">
                <a:latin typeface="微软雅黑" pitchFamily="34" charset="-122"/>
                <a:ea typeface="微软雅黑" pitchFamily="34" charset="-122"/>
              </a:rPr>
              <a:t>联汽车分为智能化和网联化两个技术层面。智能化主要指汽车自主获取信息，自主 决策和自动控制能力。网联化是指汽车与人、车、路、云端（后台）等之间通过通信和</a:t>
            </a:r>
            <a:r>
              <a:rPr lang="zh-CN" altLang="en-US" dirty="0" smtClean="0">
                <a:latin typeface="微软雅黑" pitchFamily="34" charset="-122"/>
                <a:ea typeface="微软雅黑" pitchFamily="34" charset="-122"/>
              </a:rPr>
              <a:t>网络技术</a:t>
            </a:r>
            <a:r>
              <a:rPr lang="zh-CN" altLang="en-US" dirty="0">
                <a:latin typeface="微软雅黑" pitchFamily="34" charset="-122"/>
                <a:ea typeface="微软雅黑" pitchFamily="34" charset="-122"/>
              </a:rPr>
              <a:t>进行信息交换。智能网联汽车要实现的最终目标是高度自动化 </a:t>
            </a:r>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无人驾驶</a:t>
            </a:r>
            <a:r>
              <a:rPr lang="zh-CN" altLang="en-US"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5" name="矩形 4"/>
          <p:cNvSpPr/>
          <p:nvPr/>
        </p:nvSpPr>
        <p:spPr>
          <a:xfrm>
            <a:off x="971600" y="3826750"/>
            <a:ext cx="7128792" cy="458908"/>
          </a:xfrm>
          <a:prstGeom prst="rect">
            <a:avLst/>
          </a:prstGeom>
          <a:solidFill>
            <a:srgbClr val="0070C0"/>
          </a:solidFill>
        </p:spPr>
        <p:txBody>
          <a:bodyPr wrap="square">
            <a:spAutoFit/>
          </a:bodyPr>
          <a:lstStyle/>
          <a:p>
            <a:pPr>
              <a:lnSpc>
                <a:spcPct val="150000"/>
              </a:lnSpc>
            </a:pPr>
            <a:r>
              <a:rPr lang="zh-CN" altLang="en-US" dirty="0" smtClean="0">
                <a:solidFill>
                  <a:schemeClr val="bg1"/>
                </a:solidFill>
                <a:latin typeface="微软雅黑" pitchFamily="34" charset="-122"/>
                <a:ea typeface="微软雅黑" pitchFamily="34" charset="-122"/>
              </a:rPr>
              <a:t>我国智能网</a:t>
            </a:r>
            <a:r>
              <a:rPr lang="zh-CN" altLang="en-US" dirty="0">
                <a:solidFill>
                  <a:schemeClr val="bg1"/>
                </a:solidFill>
                <a:latin typeface="微软雅黑" pitchFamily="34" charset="-122"/>
                <a:ea typeface="微软雅黑" pitchFamily="34" charset="-122"/>
              </a:rPr>
              <a:t>联汽车的分级</a:t>
            </a:r>
            <a:r>
              <a:rPr lang="zh-CN" altLang="en-US" dirty="0" smtClean="0">
                <a:solidFill>
                  <a:schemeClr val="bg1"/>
                </a:solidFill>
                <a:latin typeface="微软雅黑" pitchFamily="34" charset="-122"/>
                <a:ea typeface="微软雅黑" pitchFamily="34" charset="-122"/>
              </a:rPr>
              <a:t>方法：从</a:t>
            </a:r>
            <a:r>
              <a:rPr lang="zh-CN" altLang="en-US" dirty="0">
                <a:solidFill>
                  <a:schemeClr val="bg1"/>
                </a:solidFill>
                <a:latin typeface="微软雅黑" pitchFamily="34" charset="-122"/>
                <a:ea typeface="微软雅黑" pitchFamily="34" charset="-122"/>
              </a:rPr>
              <a:t>智能化和网联化的</a:t>
            </a:r>
            <a:r>
              <a:rPr lang="zh-CN" altLang="en-US" dirty="0" smtClean="0">
                <a:solidFill>
                  <a:schemeClr val="bg1"/>
                </a:solidFill>
                <a:latin typeface="微软雅黑" pitchFamily="34" charset="-122"/>
                <a:ea typeface="微软雅黑" pitchFamily="34" charset="-122"/>
              </a:rPr>
              <a:t>角度划分。</a:t>
            </a:r>
            <a:endParaRPr lang="zh-CN" altLang="en-US"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645722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10</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智能网联汽车的分级</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我国对智能网联汽车的分级</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787" y="1597206"/>
            <a:ext cx="4571613" cy="321577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71600" y="1612136"/>
            <a:ext cx="2520280" cy="2878224"/>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智能化</a:t>
            </a:r>
            <a:r>
              <a:rPr lang="zh-CN" altLang="en-US" sz="1600" b="1" dirty="0" smtClean="0">
                <a:solidFill>
                  <a:schemeClr val="bg1"/>
                </a:solidFill>
                <a:latin typeface="微软雅黑" pitchFamily="34" charset="-122"/>
                <a:ea typeface="微软雅黑" pitchFamily="34" charset="-122"/>
              </a:rPr>
              <a:t>分级</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与 </a:t>
            </a:r>
            <a:r>
              <a:rPr lang="en-US" altLang="zh-CN" sz="1600" dirty="0">
                <a:solidFill>
                  <a:schemeClr val="bg1"/>
                </a:solidFill>
                <a:latin typeface="微软雅黑" pitchFamily="34" charset="-122"/>
                <a:ea typeface="微软雅黑" pitchFamily="34" charset="-122"/>
              </a:rPr>
              <a:t>SAE </a:t>
            </a:r>
            <a:r>
              <a:rPr lang="zh-CN" altLang="en-US" sz="1600" dirty="0">
                <a:solidFill>
                  <a:schemeClr val="bg1"/>
                </a:solidFill>
                <a:latin typeface="微软雅黑" pitchFamily="34" charset="-122"/>
                <a:ea typeface="微软雅黑" pitchFamily="34" charset="-122"/>
              </a:rPr>
              <a:t>的自动驾驶分法类似，我国把智能网联汽车智能化划分为 </a:t>
            </a:r>
            <a:r>
              <a:rPr lang="en-US" altLang="zh-CN" sz="1600" dirty="0">
                <a:solidFill>
                  <a:schemeClr val="bg1"/>
                </a:solidFill>
                <a:latin typeface="微软雅黑" pitchFamily="34" charset="-122"/>
                <a:ea typeface="微软雅黑" pitchFamily="34" charset="-122"/>
              </a:rPr>
              <a:t>5 </a:t>
            </a:r>
            <a:r>
              <a:rPr lang="zh-CN" altLang="en-US" sz="1600" dirty="0">
                <a:solidFill>
                  <a:schemeClr val="bg1"/>
                </a:solidFill>
                <a:latin typeface="微软雅黑" pitchFamily="34" charset="-122"/>
                <a:ea typeface="微软雅黑" pitchFamily="34" charset="-122"/>
              </a:rPr>
              <a:t>个等级。 </a:t>
            </a:r>
            <a:r>
              <a:rPr lang="en-US" altLang="zh-CN" sz="1600" dirty="0">
                <a:solidFill>
                  <a:schemeClr val="bg1"/>
                </a:solidFill>
                <a:latin typeface="微软雅黑" pitchFamily="34" charset="-122"/>
                <a:ea typeface="微软雅黑" pitchFamily="34" charset="-122"/>
              </a:rPr>
              <a:t>1 </a:t>
            </a:r>
            <a:r>
              <a:rPr lang="zh-CN" altLang="en-US" sz="1600" dirty="0">
                <a:solidFill>
                  <a:schemeClr val="bg1"/>
                </a:solidFill>
                <a:latin typeface="微软雅黑" pitchFamily="34" charset="-122"/>
                <a:ea typeface="微软雅黑" pitchFamily="34" charset="-122"/>
              </a:rPr>
              <a:t>级为驾驶辅助（</a:t>
            </a:r>
            <a:r>
              <a:rPr lang="en-US" altLang="zh-CN" sz="1600" dirty="0">
                <a:solidFill>
                  <a:schemeClr val="bg1"/>
                </a:solidFill>
                <a:latin typeface="微软雅黑" pitchFamily="34" charset="-122"/>
                <a:ea typeface="微软雅黑" pitchFamily="34" charset="-122"/>
              </a:rPr>
              <a:t>DA</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 </a:t>
            </a:r>
            <a:r>
              <a:rPr lang="zh-CN" altLang="en-US" sz="1600" dirty="0">
                <a:solidFill>
                  <a:schemeClr val="bg1"/>
                </a:solidFill>
                <a:latin typeface="微软雅黑" pitchFamily="34" charset="-122"/>
                <a:ea typeface="微软雅黑" pitchFamily="34" charset="-122"/>
              </a:rPr>
              <a:t>级为部分自动驾驶（</a:t>
            </a:r>
            <a:r>
              <a:rPr lang="en-US" altLang="zh-CN" sz="1600" dirty="0">
                <a:solidFill>
                  <a:schemeClr val="bg1"/>
                </a:solidFill>
                <a:latin typeface="微软雅黑" pitchFamily="34" charset="-122"/>
                <a:ea typeface="微软雅黑" pitchFamily="34" charset="-122"/>
              </a:rPr>
              <a:t>PA</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 </a:t>
            </a:r>
            <a:r>
              <a:rPr lang="zh-CN" altLang="en-US" sz="1600" dirty="0">
                <a:solidFill>
                  <a:schemeClr val="bg1"/>
                </a:solidFill>
                <a:latin typeface="微软雅黑" pitchFamily="34" charset="-122"/>
                <a:ea typeface="微软雅黑" pitchFamily="34" charset="-122"/>
              </a:rPr>
              <a:t>级为有条件自动驾驶（</a:t>
            </a:r>
            <a:r>
              <a:rPr lang="en-US" altLang="zh-CN" sz="1600" dirty="0">
                <a:solidFill>
                  <a:schemeClr val="bg1"/>
                </a:solidFill>
                <a:latin typeface="微软雅黑" pitchFamily="34" charset="-122"/>
                <a:ea typeface="微软雅黑" pitchFamily="34" charset="-122"/>
              </a:rPr>
              <a:t>CA</a:t>
            </a:r>
            <a:r>
              <a:rPr lang="zh-CN" altLang="en-US" sz="1600" dirty="0">
                <a:solidFill>
                  <a:schemeClr val="bg1"/>
                </a:solidFill>
                <a:latin typeface="微软雅黑" pitchFamily="34" charset="-122"/>
                <a:ea typeface="微软雅黑" pitchFamily="34" charset="-122"/>
              </a:rPr>
              <a:t>）， </a:t>
            </a:r>
            <a:r>
              <a:rPr lang="en-US" altLang="zh-CN" sz="1600" dirty="0">
                <a:solidFill>
                  <a:schemeClr val="bg1"/>
                </a:solidFill>
                <a:latin typeface="微软雅黑" pitchFamily="34" charset="-122"/>
                <a:ea typeface="微软雅黑" pitchFamily="34" charset="-122"/>
              </a:rPr>
              <a:t>4 </a:t>
            </a:r>
            <a:r>
              <a:rPr lang="zh-CN" altLang="en-US" sz="1600" dirty="0">
                <a:solidFill>
                  <a:schemeClr val="bg1"/>
                </a:solidFill>
                <a:latin typeface="微软雅黑" pitchFamily="34" charset="-122"/>
                <a:ea typeface="微软雅黑" pitchFamily="34" charset="-122"/>
              </a:rPr>
              <a:t>级为高度自动驾驶（</a:t>
            </a:r>
            <a:r>
              <a:rPr lang="en-US" altLang="zh-CN" sz="1600" dirty="0">
                <a:solidFill>
                  <a:schemeClr val="bg1"/>
                </a:solidFill>
                <a:latin typeface="微软雅黑" pitchFamily="34" charset="-122"/>
                <a:ea typeface="微软雅黑" pitchFamily="34" charset="-122"/>
              </a:rPr>
              <a:t>HA</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5 </a:t>
            </a:r>
            <a:r>
              <a:rPr lang="zh-CN" altLang="en-US" sz="1600" dirty="0">
                <a:solidFill>
                  <a:schemeClr val="bg1"/>
                </a:solidFill>
                <a:latin typeface="微软雅黑" pitchFamily="34" charset="-122"/>
                <a:ea typeface="微软雅黑" pitchFamily="34" charset="-122"/>
              </a:rPr>
              <a:t>级为完全自动驾驶（</a:t>
            </a:r>
            <a:r>
              <a:rPr lang="en-US" altLang="zh-CN" sz="1600" dirty="0">
                <a:solidFill>
                  <a:schemeClr val="bg1"/>
                </a:solidFill>
                <a:latin typeface="微软雅黑" pitchFamily="34" charset="-122"/>
                <a:ea typeface="微软雅黑" pitchFamily="34" charset="-122"/>
              </a:rPr>
              <a:t>FA</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7292501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11</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智能网联汽车的分级</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我国对智能网联汽车的分级</a:t>
            </a: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612136"/>
            <a:ext cx="1872208" cy="2057358"/>
          </a:xfrm>
          <a:prstGeom prst="rect">
            <a:avLst/>
          </a:prstGeom>
          <a:solidFill>
            <a:srgbClr val="0070C0"/>
          </a:solidFill>
        </p:spPr>
        <p:txBody>
          <a:bodyPr wrap="square">
            <a:spAutoFit/>
          </a:bodyPr>
          <a:lstStyle/>
          <a:p>
            <a:pPr>
              <a:lnSpc>
                <a:spcPct val="114000"/>
              </a:lnSpc>
            </a:pPr>
            <a:r>
              <a:rPr lang="zh-CN" altLang="en-US" sz="1600" b="1" dirty="0" smtClean="0">
                <a:solidFill>
                  <a:schemeClr val="bg1"/>
                </a:solidFill>
                <a:latin typeface="微软雅黑" pitchFamily="34" charset="-122"/>
                <a:ea typeface="微软雅黑" pitchFamily="34" charset="-122"/>
              </a:rPr>
              <a:t>网联化分级</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在</a:t>
            </a:r>
            <a:r>
              <a:rPr lang="zh-CN" altLang="en-US" sz="1600" dirty="0">
                <a:solidFill>
                  <a:schemeClr val="bg1"/>
                </a:solidFill>
                <a:latin typeface="微软雅黑" pitchFamily="34" charset="-122"/>
                <a:ea typeface="微软雅黑" pitchFamily="34" charset="-122"/>
              </a:rPr>
              <a:t>智能网联汽车网联化方面，分为网联辅助信息交互、网联协同感知、 网联协同决策与控制 </a:t>
            </a:r>
            <a:r>
              <a:rPr lang="en-US" altLang="zh-CN" sz="1600" dirty="0">
                <a:solidFill>
                  <a:schemeClr val="bg1"/>
                </a:solidFill>
                <a:latin typeface="微软雅黑" pitchFamily="34" charset="-122"/>
                <a:ea typeface="微软雅黑" pitchFamily="34" charset="-122"/>
              </a:rPr>
              <a:t>3 </a:t>
            </a:r>
            <a:r>
              <a:rPr lang="zh-CN" altLang="en-US" sz="1600" dirty="0">
                <a:solidFill>
                  <a:schemeClr val="bg1"/>
                </a:solidFill>
                <a:latin typeface="微软雅黑" pitchFamily="34" charset="-122"/>
                <a:ea typeface="微软雅黑" pitchFamily="34" charset="-122"/>
              </a:rPr>
              <a:t>个等级，</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612136"/>
            <a:ext cx="5256584" cy="290383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7489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3.</a:t>
            </a:r>
            <a:r>
              <a:rPr lang="zh-CN" altLang="en-US" b="1" dirty="0" smtClean="0">
                <a:latin typeface="微软雅黑" panose="020B0503020204020204" pitchFamily="34" charset="-122"/>
              </a:rPr>
              <a:t>智能网联汽车自动驾驶的发展进程</a:t>
            </a:r>
            <a:endParaRPr lang="zh-CN" altLang="en-US" dirty="0" smtClean="0">
              <a:latin typeface="微软雅黑" panose="020B0503020204020204" pitchFamily="34" charset="-122"/>
            </a:endParaRPr>
          </a:p>
        </p:txBody>
      </p:sp>
      <p:sp>
        <p:nvSpPr>
          <p:cNvPr id="4" name="矩形 3"/>
          <p:cNvSpPr/>
          <p:nvPr/>
        </p:nvSpPr>
        <p:spPr>
          <a:xfrm>
            <a:off x="665087" y="411510"/>
            <a:ext cx="7717073" cy="581057"/>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什么是</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如何划分等级</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2378333"/>
            <a:ext cx="5256584" cy="2417587"/>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67345" y="2499742"/>
            <a:ext cx="1804455" cy="230255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根据全球各大汽车制造厂进程规划来看，大部分汽车制造厂已经在 </a:t>
            </a:r>
            <a:r>
              <a:rPr lang="en-US" altLang="zh-CN" sz="1400" dirty="0">
                <a:solidFill>
                  <a:schemeClr val="bg1"/>
                </a:solidFill>
                <a:latin typeface="微软雅黑" pitchFamily="34" charset="-122"/>
                <a:ea typeface="微软雅黑" pitchFamily="34" charset="-122"/>
              </a:rPr>
              <a:t>2019—2020 </a:t>
            </a:r>
            <a:r>
              <a:rPr lang="zh-CN" altLang="en-US" sz="1400" dirty="0">
                <a:solidFill>
                  <a:schemeClr val="bg1"/>
                </a:solidFill>
                <a:latin typeface="微软雅黑" pitchFamily="34" charset="-122"/>
                <a:ea typeface="微软雅黑" pitchFamily="34" charset="-122"/>
              </a:rPr>
              <a:t>年量 产 </a:t>
            </a:r>
            <a:r>
              <a:rPr lang="en-US" altLang="zh-CN" sz="1400" dirty="0">
                <a:solidFill>
                  <a:schemeClr val="bg1"/>
                </a:solidFill>
                <a:latin typeface="微软雅黑" pitchFamily="34" charset="-122"/>
                <a:ea typeface="微软雅黑" pitchFamily="34" charset="-122"/>
              </a:rPr>
              <a:t>L3 </a:t>
            </a:r>
            <a:r>
              <a:rPr lang="zh-CN" altLang="en-US" sz="1400" dirty="0">
                <a:solidFill>
                  <a:schemeClr val="bg1"/>
                </a:solidFill>
                <a:latin typeface="微软雅黑" pitchFamily="34" charset="-122"/>
                <a:ea typeface="微软雅黑" pitchFamily="34" charset="-122"/>
              </a:rPr>
              <a:t>级自动驾驶车型，少部分汽车制造厂则选择跳过 </a:t>
            </a:r>
            <a:r>
              <a:rPr lang="en-US" altLang="zh-CN" sz="1400" dirty="0">
                <a:solidFill>
                  <a:schemeClr val="bg1"/>
                </a:solidFill>
                <a:latin typeface="微软雅黑" pitchFamily="34" charset="-122"/>
                <a:ea typeface="微软雅黑" pitchFamily="34" charset="-122"/>
              </a:rPr>
              <a:t>L3 </a:t>
            </a:r>
            <a:r>
              <a:rPr lang="zh-CN" altLang="en-US" sz="1400" dirty="0">
                <a:solidFill>
                  <a:schemeClr val="bg1"/>
                </a:solidFill>
                <a:latin typeface="微软雅黑" pitchFamily="34" charset="-122"/>
                <a:ea typeface="微软雅黑" pitchFamily="34" charset="-122"/>
              </a:rPr>
              <a:t>级，直接进入 </a:t>
            </a:r>
            <a:r>
              <a:rPr lang="en-US" altLang="zh-CN" sz="1400" dirty="0">
                <a:solidFill>
                  <a:schemeClr val="bg1"/>
                </a:solidFill>
                <a:latin typeface="微软雅黑" pitchFamily="34" charset="-122"/>
                <a:ea typeface="微软雅黑" pitchFamily="34" charset="-122"/>
              </a:rPr>
              <a:t>L4 </a:t>
            </a:r>
            <a:r>
              <a:rPr lang="zh-CN" altLang="en-US" sz="1400" dirty="0">
                <a:solidFill>
                  <a:schemeClr val="bg1"/>
                </a:solidFill>
                <a:latin typeface="微软雅黑" pitchFamily="34" charset="-122"/>
                <a:ea typeface="微软雅黑" pitchFamily="34" charset="-122"/>
              </a:rPr>
              <a:t>级自动</a:t>
            </a:r>
            <a:r>
              <a:rPr lang="zh-CN" altLang="en-US" sz="1400" dirty="0" smtClean="0">
                <a:solidFill>
                  <a:schemeClr val="bg1"/>
                </a:solidFill>
                <a:latin typeface="微软雅黑" pitchFamily="34" charset="-122"/>
                <a:ea typeface="微软雅黑" pitchFamily="34" charset="-122"/>
              </a:rPr>
              <a:t>驾驶。</a:t>
            </a:r>
            <a:endParaRPr lang="zh-CN" altLang="en-US" sz="1400" dirty="0">
              <a:solidFill>
                <a:schemeClr val="bg1"/>
              </a:solidFill>
              <a:latin typeface="微软雅黑" pitchFamily="34" charset="-122"/>
              <a:ea typeface="微软雅黑" pitchFamily="34" charset="-122"/>
            </a:endParaRPr>
          </a:p>
        </p:txBody>
      </p:sp>
      <p:sp>
        <p:nvSpPr>
          <p:cNvPr id="5" name="矩形 4"/>
          <p:cNvSpPr/>
          <p:nvPr/>
        </p:nvSpPr>
        <p:spPr>
          <a:xfrm>
            <a:off x="939046" y="1547336"/>
            <a:ext cx="7233354" cy="830997"/>
          </a:xfrm>
          <a:prstGeom prst="rect">
            <a:avLst/>
          </a:prstGeom>
        </p:spPr>
        <p:txBody>
          <a:bodyPr wrap="square">
            <a:spAutoFit/>
          </a:bodyPr>
          <a:lstStyle/>
          <a:p>
            <a:r>
              <a:rPr lang="zh-CN" altLang="en-US" sz="1600" dirty="0">
                <a:latin typeface="微软雅黑" pitchFamily="34" charset="-122"/>
                <a:ea typeface="微软雅黑" pitchFamily="34" charset="-122"/>
              </a:rPr>
              <a:t>从驾驶员</a:t>
            </a:r>
            <a:r>
              <a:rPr lang="zh-CN" altLang="en-US" sz="1600" dirty="0" smtClean="0">
                <a:latin typeface="微软雅黑" pitchFamily="34" charset="-122"/>
                <a:ea typeface="微软雅黑" pitchFamily="34" charset="-122"/>
              </a:rPr>
              <a:t>对车辆</a:t>
            </a:r>
            <a:r>
              <a:rPr lang="zh-CN" altLang="en-US" sz="1600" dirty="0">
                <a:latin typeface="微软雅黑" pitchFamily="34" charset="-122"/>
                <a:ea typeface="微软雅黑" pitchFamily="34" charset="-122"/>
              </a:rPr>
              <a:t>的控制角度来看</a:t>
            </a:r>
            <a:r>
              <a:rPr lang="zh-CN" altLang="en-US" sz="1600" dirty="0" smtClean="0">
                <a:latin typeface="微软雅黑" pitchFamily="34" charset="-122"/>
                <a:ea typeface="微软雅黑" pitchFamily="34" charset="-122"/>
              </a:rPr>
              <a:t>，驾驶员</a:t>
            </a:r>
            <a:r>
              <a:rPr lang="zh-CN" altLang="en-US" sz="1600" dirty="0">
                <a:latin typeface="微软雅黑" pitchFamily="34" charset="-122"/>
                <a:ea typeface="微软雅黑" pitchFamily="34" charset="-122"/>
              </a:rPr>
              <a:t>对车辆具有完全控制权、只有部分车辆控制权、无</a:t>
            </a:r>
            <a:r>
              <a:rPr lang="zh-CN" altLang="en-US" sz="1600" dirty="0" smtClean="0">
                <a:latin typeface="微软雅黑" pitchFamily="34" charset="-122"/>
                <a:ea typeface="微软雅黑" pitchFamily="34" charset="-122"/>
              </a:rPr>
              <a:t>车辆控制权</a:t>
            </a:r>
            <a:r>
              <a:rPr lang="zh-CN" altLang="en-US" sz="1600" dirty="0">
                <a:latin typeface="微软雅黑" pitchFamily="34" charset="-122"/>
                <a:ea typeface="微软雅黑" pitchFamily="34" charset="-122"/>
              </a:rPr>
              <a:t>三种形式。当驾驶员拥有车辆控制权时，车辆的智能网联等级越高，驾驶员对</a:t>
            </a:r>
            <a:r>
              <a:rPr lang="zh-CN" altLang="en-US" sz="1600" dirty="0" smtClean="0">
                <a:latin typeface="微软雅黑" pitchFamily="34" charset="-122"/>
                <a:ea typeface="微软雅黑" pitchFamily="34" charset="-122"/>
              </a:rPr>
              <a:t>车辆的</a:t>
            </a:r>
            <a:r>
              <a:rPr lang="zh-CN" altLang="en-US" sz="1600" dirty="0">
                <a:latin typeface="微软雅黑" pitchFamily="34" charset="-122"/>
                <a:ea typeface="微软雅黑" pitchFamily="34" charset="-122"/>
              </a:rPr>
              <a:t>控制越少，即车辆的自动驾驶程度越高</a:t>
            </a:r>
          </a:p>
        </p:txBody>
      </p:sp>
    </p:spTree>
    <p:extLst>
      <p:ext uri="{BB962C8B-B14F-4D97-AF65-F5344CB8AC3E}">
        <p14:creationId xmlns:p14="http://schemas.microsoft.com/office/powerpoint/2010/main" val="1970884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4" name="矩形 3"/>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由哪些结构组成</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131590"/>
            <a:ext cx="7200800" cy="2120902"/>
          </a:xfrm>
          <a:prstGeom prst="rect">
            <a:avLst/>
          </a:prstGeom>
        </p:spPr>
        <p:txBody>
          <a:bodyPr wrap="square">
            <a:spAutoFit/>
          </a:bodyPr>
          <a:lstStyle/>
          <a:p>
            <a:pPr>
              <a:lnSpc>
                <a:spcPct val="150000"/>
              </a:lnSpc>
            </a:pPr>
            <a:r>
              <a:rPr lang="zh-CN" altLang="en-US" dirty="0">
                <a:latin typeface="微软雅黑" pitchFamily="34" charset="-122"/>
                <a:ea typeface="微软雅黑" pitchFamily="34" charset="-122"/>
              </a:rPr>
              <a:t>智能网联汽车是智能交通系统的核心组成部分，是车联网体系的一个结点。智能网联 汽车具备自主的环境感知能力，通过车载信息终端实现与人、车、路、互联网等之间的无 线通信和信息交换。智能网联汽车涉及汽车、信息、网络、通信、控制、交通等多个</a:t>
            </a:r>
            <a:r>
              <a:rPr lang="zh-CN" altLang="en-US" dirty="0" smtClean="0">
                <a:latin typeface="微软雅黑" pitchFamily="34" charset="-122"/>
                <a:ea typeface="微软雅黑" pitchFamily="34" charset="-122"/>
              </a:rPr>
              <a:t>领域的</a:t>
            </a:r>
            <a:r>
              <a:rPr lang="zh-CN" altLang="en-US" dirty="0">
                <a:latin typeface="微软雅黑" pitchFamily="34" charset="-122"/>
                <a:ea typeface="微软雅黑" pitchFamily="34" charset="-122"/>
              </a:rPr>
              <a:t>技术，因此其结构比较复杂。 </a:t>
            </a:r>
            <a:endParaRPr lang="en-US" altLang="zh-CN" dirty="0" smtClean="0">
              <a:latin typeface="微软雅黑" pitchFamily="34" charset="-122"/>
              <a:ea typeface="微软雅黑" pitchFamily="34" charset="-122"/>
            </a:endParaRPr>
          </a:p>
        </p:txBody>
      </p:sp>
      <p:sp>
        <p:nvSpPr>
          <p:cNvPr id="7" name="矩形 6"/>
          <p:cNvSpPr/>
          <p:nvPr/>
        </p:nvSpPr>
        <p:spPr>
          <a:xfrm>
            <a:off x="1002958" y="3363838"/>
            <a:ext cx="7169442" cy="458908"/>
          </a:xfrm>
          <a:prstGeom prst="rect">
            <a:avLst/>
          </a:prstGeom>
          <a:solidFill>
            <a:srgbClr val="0070C0"/>
          </a:solidFill>
        </p:spPr>
        <p:txBody>
          <a:bodyPr wrap="square">
            <a:spAutoFit/>
          </a:bodyPr>
          <a:lstStyle/>
          <a:p>
            <a:pPr>
              <a:lnSpc>
                <a:spcPct val="150000"/>
              </a:lnSpc>
            </a:pPr>
            <a:r>
              <a:rPr lang="zh-CN" altLang="en-US" dirty="0" smtClean="0">
                <a:solidFill>
                  <a:schemeClr val="bg1"/>
                </a:solidFill>
                <a:latin typeface="微软雅黑" pitchFamily="34" charset="-122"/>
                <a:ea typeface="微软雅黑" pitchFamily="34" charset="-122"/>
              </a:rPr>
              <a:t>从</a:t>
            </a:r>
            <a:r>
              <a:rPr lang="zh-CN" altLang="en-US" dirty="0">
                <a:solidFill>
                  <a:schemeClr val="bg1"/>
                </a:solidFill>
                <a:latin typeface="微软雅黑" pitchFamily="34" charset="-122"/>
                <a:ea typeface="微软雅黑" pitchFamily="34" charset="-122"/>
              </a:rPr>
              <a:t>层次结构、技术结构</a:t>
            </a:r>
            <a:r>
              <a:rPr lang="zh-CN" altLang="en-US" dirty="0" smtClean="0">
                <a:solidFill>
                  <a:schemeClr val="bg1"/>
                </a:solidFill>
                <a:latin typeface="微软雅黑" pitchFamily="34" charset="-122"/>
                <a:ea typeface="微软雅黑" pitchFamily="34" charset="-122"/>
              </a:rPr>
              <a:t>角度认识智能网</a:t>
            </a:r>
            <a:r>
              <a:rPr lang="zh-CN" altLang="en-US" dirty="0">
                <a:solidFill>
                  <a:schemeClr val="bg1"/>
                </a:solidFill>
                <a:latin typeface="微软雅黑" pitchFamily="34" charset="-122"/>
                <a:ea typeface="微软雅黑" pitchFamily="34" charset="-122"/>
              </a:rPr>
              <a:t>联汽车的结构。</a:t>
            </a:r>
          </a:p>
        </p:txBody>
      </p:sp>
    </p:spTree>
    <p:extLst>
      <p:ext uri="{BB962C8B-B14F-4D97-AF65-F5344CB8AC3E}">
        <p14:creationId xmlns:p14="http://schemas.microsoft.com/office/powerpoint/2010/main" val="20797088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智能网联汽车的层次结构</a:t>
            </a:r>
            <a:endParaRPr lang="zh-CN" altLang="en-US" dirty="0" smtClean="0">
              <a:latin typeface="微软雅黑" panose="020B0503020204020204" pitchFamily="34" charset="-122"/>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995686"/>
            <a:ext cx="6299470" cy="2835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403648" y="1614031"/>
            <a:ext cx="1656184" cy="369332"/>
          </a:xfrm>
          <a:prstGeom prst="rect">
            <a:avLst/>
          </a:prstGeom>
          <a:solidFill>
            <a:srgbClr val="0070C0"/>
          </a:solidFill>
        </p:spPr>
        <p:txBody>
          <a:bodyPr wrap="square">
            <a:spAutoFit/>
          </a:bodyPr>
          <a:lstStyle/>
          <a:p>
            <a:pPr algn="ctr"/>
            <a:r>
              <a:rPr lang="zh-CN" altLang="en-US" b="1" dirty="0" smtClean="0">
                <a:solidFill>
                  <a:schemeClr val="bg1"/>
                </a:solidFill>
                <a:latin typeface="微软雅黑" pitchFamily="34" charset="-122"/>
                <a:ea typeface="微软雅黑" pitchFamily="34" charset="-122"/>
              </a:rPr>
              <a:t>环境感知层</a:t>
            </a:r>
            <a:endParaRPr lang="zh-CN" altLang="en-US" b="1" dirty="0">
              <a:solidFill>
                <a:schemeClr val="bg1"/>
              </a:solidFill>
              <a:latin typeface="微软雅黑" pitchFamily="34" charset="-122"/>
              <a:ea typeface="微软雅黑" pitchFamily="34" charset="-122"/>
            </a:endParaRPr>
          </a:p>
        </p:txBody>
      </p:sp>
      <p:sp>
        <p:nvSpPr>
          <p:cNvPr id="10" name="矩形 9"/>
          <p:cNvSpPr/>
          <p:nvPr/>
        </p:nvSpPr>
        <p:spPr>
          <a:xfrm>
            <a:off x="5534664" y="1626354"/>
            <a:ext cx="1765426" cy="369332"/>
          </a:xfrm>
          <a:prstGeom prst="rect">
            <a:avLst/>
          </a:prstGeom>
          <a:solidFill>
            <a:srgbClr val="0070C0"/>
          </a:solidFill>
        </p:spPr>
        <p:txBody>
          <a:bodyPr wrap="square">
            <a:spAutoFit/>
          </a:bodyPr>
          <a:lstStyle/>
          <a:p>
            <a:pPr algn="ctr"/>
            <a:r>
              <a:rPr lang="zh-CN" altLang="en-US" b="1" dirty="0" smtClean="0">
                <a:solidFill>
                  <a:schemeClr val="bg1"/>
                </a:solidFill>
                <a:latin typeface="微软雅黑" pitchFamily="34" charset="-122"/>
                <a:ea typeface="微软雅黑" pitchFamily="34" charset="-122"/>
              </a:rPr>
              <a:t>控制和执行层</a:t>
            </a:r>
            <a:endParaRPr lang="zh-CN" altLang="en-US" b="1" dirty="0">
              <a:solidFill>
                <a:schemeClr val="bg1"/>
              </a:solidFill>
              <a:latin typeface="微软雅黑" pitchFamily="34" charset="-122"/>
              <a:ea typeface="微软雅黑" pitchFamily="34" charset="-122"/>
            </a:endParaRPr>
          </a:p>
        </p:txBody>
      </p:sp>
      <p:sp>
        <p:nvSpPr>
          <p:cNvPr id="11" name="矩形 10"/>
          <p:cNvSpPr/>
          <p:nvPr/>
        </p:nvSpPr>
        <p:spPr>
          <a:xfrm>
            <a:off x="3419872" y="1626354"/>
            <a:ext cx="1719949" cy="369332"/>
          </a:xfrm>
          <a:prstGeom prst="rect">
            <a:avLst/>
          </a:prstGeom>
          <a:solidFill>
            <a:srgbClr val="0070C0"/>
          </a:solidFill>
        </p:spPr>
        <p:txBody>
          <a:bodyPr wrap="square">
            <a:spAutoFit/>
          </a:bodyPr>
          <a:lstStyle/>
          <a:p>
            <a:pPr algn="ctr"/>
            <a:r>
              <a:rPr lang="zh-CN" altLang="en-US" b="1" dirty="0" smtClean="0">
                <a:solidFill>
                  <a:schemeClr val="bg1"/>
                </a:solidFill>
                <a:latin typeface="微软雅黑" pitchFamily="34" charset="-122"/>
                <a:ea typeface="微软雅黑" pitchFamily="34" charset="-122"/>
              </a:rPr>
              <a:t>智能决策层</a:t>
            </a:r>
            <a:endParaRPr lang="zh-CN" altLang="en-US" b="1" dirty="0">
              <a:solidFill>
                <a:schemeClr val="bg1"/>
              </a:solidFill>
              <a:latin typeface="微软雅黑" pitchFamily="34" charset="-122"/>
              <a:ea typeface="微软雅黑" pitchFamily="34" charset="-122"/>
            </a:endParaRPr>
          </a:p>
        </p:txBody>
      </p:sp>
      <p:sp>
        <p:nvSpPr>
          <p:cNvPr id="12" name="矩形 11"/>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由哪些结构组成</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1960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智能网联汽车的层次结构</a:t>
            </a:r>
            <a:r>
              <a:rPr lang="en-US" altLang="zh-CN" b="1" dirty="0" smtClean="0">
                <a:latin typeface="微软雅黑" panose="020B0503020204020204" pitchFamily="34" charset="-122"/>
              </a:rPr>
              <a:t>-</a:t>
            </a:r>
            <a:r>
              <a:rPr lang="en-US" altLang="zh-CN" dirty="0" smtClean="0">
                <a:latin typeface="微软雅黑" panose="020B0503020204020204" pitchFamily="34" charset="-122"/>
              </a:rPr>
              <a:t>BMW X3 FCW </a:t>
            </a:r>
            <a:r>
              <a:rPr lang="zh-CN" altLang="en-US" dirty="0" smtClean="0">
                <a:latin typeface="微软雅黑" panose="020B0503020204020204" pitchFamily="34" charset="-122"/>
              </a:rPr>
              <a:t>工作示例</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362344"/>
            <a:ext cx="5688632" cy="1356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71600" y="1565757"/>
            <a:ext cx="7200800" cy="1708160"/>
          </a:xfrm>
          <a:prstGeom prst="rect">
            <a:avLst/>
          </a:prstGeom>
          <a:solidFill>
            <a:srgbClr val="0070C0"/>
          </a:solidFill>
        </p:spPr>
        <p:txBody>
          <a:bodyPr wrap="square">
            <a:spAutoFit/>
          </a:bodyPr>
          <a:lstStyle/>
          <a:p>
            <a:pPr>
              <a:lnSpc>
                <a:spcPct val="150000"/>
              </a:lnSpc>
            </a:pPr>
            <a:r>
              <a:rPr lang="zh-CN" altLang="en-US" sz="1400" dirty="0">
                <a:solidFill>
                  <a:schemeClr val="bg1"/>
                </a:solidFill>
                <a:latin typeface="微软雅黑" pitchFamily="34" charset="-122"/>
                <a:ea typeface="微软雅黑" pitchFamily="34" charset="-122"/>
              </a:rPr>
              <a:t>前方防碰撞预警系统（</a:t>
            </a:r>
            <a:r>
              <a:rPr lang="en-US" altLang="zh-CN" sz="1400" dirty="0">
                <a:solidFill>
                  <a:schemeClr val="bg1"/>
                </a:solidFill>
                <a:latin typeface="微软雅黑" pitchFamily="34" charset="-122"/>
                <a:ea typeface="微软雅黑" pitchFamily="34" charset="-122"/>
              </a:rPr>
              <a:t>FCW</a:t>
            </a:r>
            <a:r>
              <a:rPr lang="zh-CN" altLang="en-US" sz="1400" dirty="0" smtClean="0">
                <a:solidFill>
                  <a:schemeClr val="bg1"/>
                </a:solidFill>
                <a:latin typeface="微软雅黑" pitchFamily="34" charset="-122"/>
                <a:ea typeface="微软雅黑" pitchFamily="34" charset="-122"/>
              </a:rPr>
              <a:t>）的毫米波</a:t>
            </a:r>
            <a:r>
              <a:rPr lang="zh-CN" altLang="en-US" sz="1400" dirty="0">
                <a:solidFill>
                  <a:schemeClr val="bg1"/>
                </a:solidFill>
                <a:latin typeface="微软雅黑" pitchFamily="34" charset="-122"/>
                <a:ea typeface="微软雅黑" pitchFamily="34" charset="-122"/>
              </a:rPr>
              <a:t>雷达（</a:t>
            </a:r>
            <a:r>
              <a:rPr lang="en-US" altLang="zh-CN" sz="1400" dirty="0">
                <a:solidFill>
                  <a:schemeClr val="bg1"/>
                </a:solidFill>
                <a:latin typeface="微软雅黑" pitchFamily="34" charset="-122"/>
                <a:ea typeface="微软雅黑" pitchFamily="34" charset="-122"/>
              </a:rPr>
              <a:t>77GHz</a:t>
            </a:r>
            <a:r>
              <a:rPr lang="zh-CN" altLang="en-US" sz="1400" dirty="0" smtClean="0">
                <a:solidFill>
                  <a:schemeClr val="bg1"/>
                </a:solidFill>
                <a:latin typeface="微软雅黑" pitchFamily="34" charset="-122"/>
                <a:ea typeface="微软雅黑" pitchFamily="34" charset="-122"/>
              </a:rPr>
              <a:t>）探测</a:t>
            </a:r>
            <a:r>
              <a:rPr lang="zh-CN" altLang="en-US" sz="1400" dirty="0">
                <a:solidFill>
                  <a:schemeClr val="bg1"/>
                </a:solidFill>
                <a:latin typeface="微软雅黑" pitchFamily="34" charset="-122"/>
                <a:ea typeface="微软雅黑" pitchFamily="34" charset="-122"/>
              </a:rPr>
              <a:t>到前方</a:t>
            </a:r>
            <a:r>
              <a:rPr lang="zh-CN" altLang="en-US" sz="1400" dirty="0" smtClean="0">
                <a:solidFill>
                  <a:schemeClr val="bg1"/>
                </a:solidFill>
                <a:latin typeface="微软雅黑" pitchFamily="34" charset="-122"/>
                <a:ea typeface="微软雅黑" pitchFamily="34" charset="-122"/>
              </a:rPr>
              <a:t>车辆的</a:t>
            </a:r>
            <a:r>
              <a:rPr lang="zh-CN" altLang="en-US" sz="1400" dirty="0">
                <a:solidFill>
                  <a:schemeClr val="bg1"/>
                </a:solidFill>
                <a:latin typeface="微软雅黑" pitchFamily="34" charset="-122"/>
                <a:ea typeface="微软雅黑" pitchFamily="34" charset="-122"/>
              </a:rPr>
              <a:t>信息（距离、车速等）和道路信息（车道线等），并把这些信息传输给智能决策层，判 断车辆是否处于安全车距，再把判断结果传输到控制和执行层，发出预警信息，保障车辆 安全行驶。控制和执行层主要依赖于车辆的基本结构，如底盘（驱动、转向、制动）、</a:t>
            </a:r>
            <a:r>
              <a:rPr lang="zh-CN" altLang="en-US" sz="1400" dirty="0" smtClean="0">
                <a:solidFill>
                  <a:schemeClr val="bg1"/>
                </a:solidFill>
                <a:latin typeface="微软雅黑" pitchFamily="34" charset="-122"/>
                <a:ea typeface="微软雅黑" pitchFamily="34" charset="-122"/>
              </a:rPr>
              <a:t>车身</a:t>
            </a:r>
            <a:r>
              <a:rPr lang="zh-CN" altLang="en-US" sz="1400" dirty="0">
                <a:solidFill>
                  <a:schemeClr val="bg1"/>
                </a:solidFill>
                <a:latin typeface="微软雅黑" pitchFamily="34" charset="-122"/>
                <a:ea typeface="微软雅黑" pitchFamily="34" charset="-122"/>
              </a:rPr>
              <a:t>电气（车门、灯光、仪表、导航、影音）等系统实现车辆的自动控制，以及驾乘人员与 车辆的</a:t>
            </a:r>
            <a:r>
              <a:rPr lang="zh-CN" altLang="en-US" sz="1400" dirty="0" smtClean="0">
                <a:solidFill>
                  <a:schemeClr val="bg1"/>
                </a:solidFill>
                <a:latin typeface="微软雅黑" pitchFamily="34" charset="-122"/>
                <a:ea typeface="微软雅黑" pitchFamily="34" charset="-122"/>
              </a:rPr>
              <a:t>交互。</a:t>
            </a:r>
            <a:endParaRPr lang="zh-CN" altLang="en-US" sz="1400" dirty="0">
              <a:solidFill>
                <a:schemeClr val="bg1"/>
              </a:solidFill>
              <a:latin typeface="微软雅黑" pitchFamily="34" charset="-122"/>
              <a:ea typeface="微软雅黑" pitchFamily="34" charset="-122"/>
            </a:endParaRPr>
          </a:p>
        </p:txBody>
      </p:sp>
      <p:sp>
        <p:nvSpPr>
          <p:cNvPr id="12" name="矩形 11"/>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由哪些结构组成</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30172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智能网联汽车的技术结构</a:t>
            </a:r>
            <a:endParaRPr lang="zh-CN" altLang="en-US" dirty="0" smtClean="0">
              <a:latin typeface="微软雅黑" panose="020B0503020204020204" pitchFamily="34" charset="-122"/>
            </a:endParaRP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1416830"/>
            <a:ext cx="3816424" cy="331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54693" y="1679514"/>
            <a:ext cx="3329275" cy="2585323"/>
          </a:xfrm>
          <a:prstGeom prst="rect">
            <a:avLst/>
          </a:prstGeom>
          <a:solidFill>
            <a:srgbClr val="0070C0"/>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从技术结构的角度，智能网 联汽车涉及车辆 </a:t>
            </a:r>
            <a:r>
              <a:rPr lang="en-US" altLang="zh-CN" dirty="0">
                <a:solidFill>
                  <a:schemeClr val="bg1"/>
                </a:solidFill>
                <a:latin typeface="微软雅黑" pitchFamily="34" charset="-122"/>
                <a:ea typeface="微软雅黑" pitchFamily="34" charset="-122"/>
              </a:rPr>
              <a:t>/ </a:t>
            </a:r>
            <a:r>
              <a:rPr lang="zh-CN" altLang="en-US" dirty="0">
                <a:solidFill>
                  <a:schemeClr val="bg1"/>
                </a:solidFill>
                <a:latin typeface="微软雅黑" pitchFamily="34" charset="-122"/>
                <a:ea typeface="微软雅黑" pitchFamily="34" charset="-122"/>
              </a:rPr>
              <a:t>设施技术、信息交互技术与基础 支撑技术三大领域的技术，以及支撑智能网联汽车 发展的车载平台及基础设施两大</a:t>
            </a:r>
            <a:r>
              <a:rPr lang="zh-CN" altLang="en-US" dirty="0" smtClean="0">
                <a:solidFill>
                  <a:schemeClr val="bg1"/>
                </a:solidFill>
                <a:latin typeface="微软雅黑" pitchFamily="34" charset="-122"/>
                <a:ea typeface="微软雅黑" pitchFamily="34" charset="-122"/>
              </a:rPr>
              <a:t>条件。</a:t>
            </a:r>
            <a:endParaRPr lang="zh-CN" altLang="en-US" dirty="0">
              <a:solidFill>
                <a:schemeClr val="bg1"/>
              </a:solidFill>
              <a:latin typeface="微软雅黑" pitchFamily="34" charset="-122"/>
              <a:ea typeface="微软雅黑" pitchFamily="34" charset="-122"/>
            </a:endParaRP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由哪些结构组成</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56568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17</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endParaRPr lang="zh-CN" altLang="en-US" dirty="0" smtClean="0">
              <a:latin typeface="微软雅黑" panose="020B0503020204020204" pitchFamily="34" charset="-122"/>
            </a:endParaRP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981913" y="1566547"/>
            <a:ext cx="7200800" cy="1338828"/>
          </a:xfrm>
          <a:prstGeom prst="rect">
            <a:avLst/>
          </a:prstGeom>
          <a:solidFill>
            <a:srgbClr val="0070C0"/>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智能网联汽车的关键技术包含环境感知技术、无线通信技术、智能互联技术、车载</a:t>
            </a:r>
            <a:r>
              <a:rPr lang="zh-CN" altLang="en-US" dirty="0" smtClean="0">
                <a:solidFill>
                  <a:schemeClr val="bg1"/>
                </a:solidFill>
                <a:latin typeface="微软雅黑" pitchFamily="34" charset="-122"/>
                <a:ea typeface="微软雅黑" pitchFamily="34" charset="-122"/>
              </a:rPr>
              <a:t>网络技术</a:t>
            </a:r>
            <a:r>
              <a:rPr lang="zh-CN" altLang="en-US" dirty="0">
                <a:solidFill>
                  <a:schemeClr val="bg1"/>
                </a:solidFill>
                <a:latin typeface="微软雅黑" pitchFamily="34" charset="-122"/>
                <a:ea typeface="微软雅黑" pitchFamily="34" charset="-122"/>
              </a:rPr>
              <a:t>、高级驾驶辅助技术、信息融合技术、信息安全与隐私保护技术、人机界面（</a:t>
            </a:r>
            <a:r>
              <a:rPr lang="en-US" altLang="zh-CN" dirty="0">
                <a:solidFill>
                  <a:schemeClr val="bg1"/>
                </a:solidFill>
                <a:latin typeface="微软雅黑" pitchFamily="34" charset="-122"/>
                <a:ea typeface="微软雅黑" pitchFamily="34" charset="-122"/>
              </a:rPr>
              <a:t>HMI</a:t>
            </a:r>
            <a:r>
              <a:rPr lang="zh-CN" altLang="en-US" dirty="0">
                <a:solidFill>
                  <a:schemeClr val="bg1"/>
                </a:solidFill>
                <a:latin typeface="微软雅黑" pitchFamily="34" charset="-122"/>
                <a:ea typeface="微软雅黑" pitchFamily="34" charset="-122"/>
              </a:rPr>
              <a:t>） 技术</a:t>
            </a:r>
            <a:r>
              <a:rPr lang="zh-CN" altLang="en-US" dirty="0" smtClean="0">
                <a:solidFill>
                  <a:schemeClr val="bg1"/>
                </a:solidFill>
                <a:latin typeface="微软雅黑" pitchFamily="34" charset="-122"/>
                <a:ea typeface="微软雅黑" pitchFamily="34" charset="-122"/>
              </a:rPr>
              <a:t>等。</a:t>
            </a:r>
            <a:endParaRPr lang="zh-CN" altLang="en-US"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7800558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18</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环境感知技术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1676255"/>
            <a:ext cx="2448272" cy="19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978316" y="1661477"/>
            <a:ext cx="4680520" cy="205697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①车辆本身状态感知</a:t>
            </a:r>
            <a:r>
              <a:rPr lang="zh-CN" altLang="en-US" sz="1400" dirty="0" smtClean="0">
                <a:solidFill>
                  <a:schemeClr val="bg1"/>
                </a:solidFill>
                <a:latin typeface="微软雅黑" pitchFamily="34" charset="-122"/>
                <a:ea typeface="微软雅黑" pitchFamily="34" charset="-122"/>
              </a:rPr>
              <a:t>：车速</a:t>
            </a:r>
            <a:r>
              <a:rPr lang="zh-CN" altLang="en-US" sz="1400" dirty="0">
                <a:solidFill>
                  <a:schemeClr val="bg1"/>
                </a:solidFill>
                <a:latin typeface="微软雅黑" pitchFamily="34" charset="-122"/>
                <a:ea typeface="微软雅黑" pitchFamily="34" charset="-122"/>
              </a:rPr>
              <a:t>、</a:t>
            </a:r>
            <a:r>
              <a:rPr lang="zh-CN" altLang="en-US" sz="1400" dirty="0" smtClean="0">
                <a:solidFill>
                  <a:schemeClr val="bg1"/>
                </a:solidFill>
                <a:latin typeface="微软雅黑" pitchFamily="34" charset="-122"/>
                <a:ea typeface="微软雅黑" pitchFamily="34" charset="-122"/>
              </a:rPr>
              <a:t>方向、行驶</a:t>
            </a:r>
            <a:r>
              <a:rPr lang="zh-CN" altLang="en-US" sz="1400" dirty="0">
                <a:solidFill>
                  <a:schemeClr val="bg1"/>
                </a:solidFill>
                <a:latin typeface="微软雅黑" pitchFamily="34" charset="-122"/>
                <a:ea typeface="微软雅黑" pitchFamily="34" charset="-122"/>
              </a:rPr>
              <a:t>状态、车辆</a:t>
            </a:r>
            <a:r>
              <a:rPr lang="zh-CN" altLang="en-US" sz="1400" dirty="0" smtClean="0">
                <a:solidFill>
                  <a:schemeClr val="bg1"/>
                </a:solidFill>
                <a:latin typeface="微软雅黑" pitchFamily="34" charset="-122"/>
                <a:ea typeface="微软雅黑" pitchFamily="34" charset="-122"/>
              </a:rPr>
              <a:t>位置。 </a:t>
            </a:r>
            <a:endParaRPr lang="en-US" altLang="zh-CN" sz="1400" dirty="0" smtClean="0">
              <a:solidFill>
                <a:schemeClr val="bg1"/>
              </a:solidFill>
              <a:latin typeface="微软雅黑" pitchFamily="34" charset="-122"/>
              <a:ea typeface="微软雅黑" pitchFamily="34" charset="-122"/>
            </a:endParaRPr>
          </a:p>
          <a:p>
            <a:pPr>
              <a:lnSpc>
                <a:spcPct val="114000"/>
              </a:lnSpc>
            </a:pPr>
            <a:r>
              <a:rPr lang="zh-CN" altLang="en-US" sz="1400" dirty="0" smtClean="0">
                <a:solidFill>
                  <a:schemeClr val="bg1"/>
                </a:solidFill>
                <a:latin typeface="微软雅黑" pitchFamily="34" charset="-122"/>
                <a:ea typeface="微软雅黑" pitchFamily="34" charset="-122"/>
              </a:rPr>
              <a:t>②</a:t>
            </a:r>
            <a:r>
              <a:rPr lang="zh-CN" altLang="en-US" sz="1400" dirty="0">
                <a:solidFill>
                  <a:schemeClr val="bg1"/>
                </a:solidFill>
                <a:latin typeface="微软雅黑" pitchFamily="34" charset="-122"/>
                <a:ea typeface="微软雅黑" pitchFamily="34" charset="-122"/>
              </a:rPr>
              <a:t>道路感知</a:t>
            </a:r>
            <a:r>
              <a:rPr lang="zh-CN" altLang="en-US" sz="1400" dirty="0" smtClean="0">
                <a:solidFill>
                  <a:schemeClr val="bg1"/>
                </a:solidFill>
                <a:latin typeface="微软雅黑" pitchFamily="34" charset="-122"/>
                <a:ea typeface="微软雅黑" pitchFamily="34" charset="-122"/>
              </a:rPr>
              <a:t>：道路</a:t>
            </a:r>
            <a:r>
              <a:rPr lang="zh-CN" altLang="en-US" sz="1400" dirty="0">
                <a:solidFill>
                  <a:schemeClr val="bg1"/>
                </a:solidFill>
                <a:latin typeface="微软雅黑" pitchFamily="34" charset="-122"/>
                <a:ea typeface="微软雅黑" pitchFamily="34" charset="-122"/>
              </a:rPr>
              <a:t>类型检测、</a:t>
            </a:r>
            <a:r>
              <a:rPr lang="zh-CN" altLang="en-US" sz="1400" dirty="0" smtClean="0">
                <a:solidFill>
                  <a:schemeClr val="bg1"/>
                </a:solidFill>
                <a:latin typeface="微软雅黑" pitchFamily="34" charset="-122"/>
                <a:ea typeface="微软雅黑" pitchFamily="34" charset="-122"/>
              </a:rPr>
              <a:t>道路标线</a:t>
            </a:r>
            <a:r>
              <a:rPr lang="zh-CN" altLang="en-US" sz="1400" dirty="0">
                <a:solidFill>
                  <a:schemeClr val="bg1"/>
                </a:solidFill>
                <a:latin typeface="微软雅黑" pitchFamily="34" charset="-122"/>
                <a:ea typeface="微软雅黑" pitchFamily="34" charset="-122"/>
              </a:rPr>
              <a:t>识别、道路</a:t>
            </a:r>
            <a:r>
              <a:rPr lang="zh-CN" altLang="en-US" sz="1400" dirty="0" smtClean="0">
                <a:solidFill>
                  <a:schemeClr val="bg1"/>
                </a:solidFill>
                <a:latin typeface="微软雅黑" pitchFamily="34" charset="-122"/>
                <a:ea typeface="微软雅黑" pitchFamily="34" charset="-122"/>
              </a:rPr>
              <a:t>状况。 </a:t>
            </a:r>
            <a:endParaRPr lang="en-US" altLang="zh-CN" sz="1400" dirty="0" smtClean="0">
              <a:solidFill>
                <a:schemeClr val="bg1"/>
              </a:solidFill>
              <a:latin typeface="微软雅黑" pitchFamily="34" charset="-122"/>
              <a:ea typeface="微软雅黑" pitchFamily="34" charset="-122"/>
            </a:endParaRPr>
          </a:p>
          <a:p>
            <a:pPr>
              <a:lnSpc>
                <a:spcPct val="114000"/>
              </a:lnSpc>
            </a:pPr>
            <a:r>
              <a:rPr lang="zh-CN" altLang="en-US" sz="1400" dirty="0" smtClean="0">
                <a:solidFill>
                  <a:schemeClr val="bg1"/>
                </a:solidFill>
                <a:latin typeface="微软雅黑" pitchFamily="34" charset="-122"/>
                <a:ea typeface="微软雅黑" pitchFamily="34" charset="-122"/>
              </a:rPr>
              <a:t>③</a:t>
            </a:r>
            <a:r>
              <a:rPr lang="zh-CN" altLang="en-US" sz="1400" dirty="0">
                <a:solidFill>
                  <a:schemeClr val="bg1"/>
                </a:solidFill>
                <a:latin typeface="微软雅黑" pitchFamily="34" charset="-122"/>
                <a:ea typeface="微软雅黑" pitchFamily="34" charset="-122"/>
              </a:rPr>
              <a:t>行人感知：判断车辆行驶前方是否</a:t>
            </a:r>
            <a:r>
              <a:rPr lang="zh-CN" altLang="en-US" sz="1400" dirty="0" smtClean="0">
                <a:solidFill>
                  <a:schemeClr val="bg1"/>
                </a:solidFill>
                <a:latin typeface="微软雅黑" pitchFamily="34" charset="-122"/>
                <a:ea typeface="微软雅黑" pitchFamily="34" charset="-122"/>
              </a:rPr>
              <a:t>有行人。 </a:t>
            </a:r>
            <a:endParaRPr lang="en-US" altLang="zh-CN" sz="1400" dirty="0" smtClean="0">
              <a:solidFill>
                <a:schemeClr val="bg1"/>
              </a:solidFill>
              <a:latin typeface="微软雅黑" pitchFamily="34" charset="-122"/>
              <a:ea typeface="微软雅黑" pitchFamily="34" charset="-122"/>
            </a:endParaRPr>
          </a:p>
          <a:p>
            <a:pPr>
              <a:lnSpc>
                <a:spcPct val="114000"/>
              </a:lnSpc>
            </a:pPr>
            <a:r>
              <a:rPr lang="zh-CN" altLang="en-US" sz="1400" dirty="0" smtClean="0">
                <a:solidFill>
                  <a:schemeClr val="bg1"/>
                </a:solidFill>
                <a:latin typeface="微软雅黑" pitchFamily="34" charset="-122"/>
                <a:ea typeface="微软雅黑" pitchFamily="34" charset="-122"/>
              </a:rPr>
              <a:t>④</a:t>
            </a:r>
            <a:r>
              <a:rPr lang="zh-CN" altLang="en-US" sz="1400" dirty="0">
                <a:solidFill>
                  <a:schemeClr val="bg1"/>
                </a:solidFill>
                <a:latin typeface="微软雅黑" pitchFamily="34" charset="-122"/>
                <a:ea typeface="微软雅黑" pitchFamily="34" charset="-122"/>
              </a:rPr>
              <a:t>交通信号感知：自动识别交叉路口</a:t>
            </a:r>
            <a:r>
              <a:rPr lang="zh-CN" altLang="en-US" sz="1400" dirty="0" smtClean="0">
                <a:solidFill>
                  <a:schemeClr val="bg1"/>
                </a:solidFill>
                <a:latin typeface="微软雅黑" pitchFamily="34" charset="-122"/>
                <a:ea typeface="微软雅黑" pitchFamily="34" charset="-122"/>
              </a:rPr>
              <a:t>的信号灯。 </a:t>
            </a:r>
            <a:endParaRPr lang="en-US" altLang="zh-CN" sz="1400" dirty="0" smtClean="0">
              <a:solidFill>
                <a:schemeClr val="bg1"/>
              </a:solidFill>
              <a:latin typeface="微软雅黑" pitchFamily="34" charset="-122"/>
              <a:ea typeface="微软雅黑" pitchFamily="34" charset="-122"/>
            </a:endParaRPr>
          </a:p>
          <a:p>
            <a:pPr>
              <a:lnSpc>
                <a:spcPct val="114000"/>
              </a:lnSpc>
            </a:pPr>
            <a:r>
              <a:rPr lang="zh-CN" altLang="en-US" sz="1400" dirty="0" smtClean="0">
                <a:solidFill>
                  <a:schemeClr val="bg1"/>
                </a:solidFill>
                <a:latin typeface="微软雅黑" pitchFamily="34" charset="-122"/>
                <a:ea typeface="微软雅黑" pitchFamily="34" charset="-122"/>
              </a:rPr>
              <a:t>⑤</a:t>
            </a:r>
            <a:r>
              <a:rPr lang="zh-CN" altLang="en-US" sz="1400" dirty="0">
                <a:solidFill>
                  <a:schemeClr val="bg1"/>
                </a:solidFill>
                <a:latin typeface="微软雅黑" pitchFamily="34" charset="-122"/>
                <a:ea typeface="微软雅黑" pitchFamily="34" charset="-122"/>
              </a:rPr>
              <a:t>交通标识</a:t>
            </a:r>
            <a:r>
              <a:rPr lang="zh-CN" altLang="en-US" sz="1400" dirty="0" smtClean="0">
                <a:solidFill>
                  <a:schemeClr val="bg1"/>
                </a:solidFill>
                <a:latin typeface="微软雅黑" pitchFamily="34" charset="-122"/>
                <a:ea typeface="微软雅黑" pitchFamily="34" charset="-122"/>
              </a:rPr>
              <a:t>感知识别</a:t>
            </a:r>
            <a:r>
              <a:rPr lang="zh-CN" altLang="en-US" sz="1400" dirty="0">
                <a:solidFill>
                  <a:schemeClr val="bg1"/>
                </a:solidFill>
                <a:latin typeface="微软雅黑" pitchFamily="34" charset="-122"/>
                <a:ea typeface="微软雅黑" pitchFamily="34" charset="-122"/>
              </a:rPr>
              <a:t>道路两侧的各种</a:t>
            </a:r>
            <a:r>
              <a:rPr lang="zh-CN" altLang="en-US" sz="1400" dirty="0" smtClean="0">
                <a:solidFill>
                  <a:schemeClr val="bg1"/>
                </a:solidFill>
                <a:latin typeface="微软雅黑" pitchFamily="34" charset="-122"/>
                <a:ea typeface="微软雅黑" pitchFamily="34" charset="-122"/>
              </a:rPr>
              <a:t>交通标志。</a:t>
            </a:r>
            <a:endParaRPr lang="en-US" altLang="zh-CN" sz="1400" dirty="0" smtClean="0">
              <a:solidFill>
                <a:schemeClr val="bg1"/>
              </a:solidFill>
              <a:latin typeface="微软雅黑" pitchFamily="34" charset="-122"/>
              <a:ea typeface="微软雅黑" pitchFamily="34" charset="-122"/>
            </a:endParaRPr>
          </a:p>
          <a:p>
            <a:pPr>
              <a:lnSpc>
                <a:spcPct val="114000"/>
              </a:lnSpc>
            </a:pPr>
            <a:r>
              <a:rPr lang="zh-CN" altLang="en-US" sz="1400" dirty="0" smtClean="0">
                <a:solidFill>
                  <a:schemeClr val="bg1"/>
                </a:solidFill>
                <a:latin typeface="微软雅黑" pitchFamily="34" charset="-122"/>
                <a:ea typeface="微软雅黑" pitchFamily="34" charset="-122"/>
              </a:rPr>
              <a:t>⑥</a:t>
            </a:r>
            <a:r>
              <a:rPr lang="zh-CN" altLang="en-US" sz="1400" dirty="0">
                <a:solidFill>
                  <a:schemeClr val="bg1"/>
                </a:solidFill>
                <a:latin typeface="微软雅黑" pitchFamily="34" charset="-122"/>
                <a:ea typeface="微软雅黑" pitchFamily="34" charset="-122"/>
              </a:rPr>
              <a:t>交通状况感知：检测道路交通的拥堵情况、是否发生</a:t>
            </a:r>
            <a:r>
              <a:rPr lang="zh-CN" altLang="en-US" sz="1400" dirty="0" smtClean="0">
                <a:solidFill>
                  <a:schemeClr val="bg1"/>
                </a:solidFill>
                <a:latin typeface="微软雅黑" pitchFamily="34" charset="-122"/>
                <a:ea typeface="微软雅黑" pitchFamily="34" charset="-122"/>
              </a:rPr>
              <a:t>交通事故。</a:t>
            </a:r>
            <a:endParaRPr lang="en-US" altLang="zh-CN" sz="1400" dirty="0" smtClean="0">
              <a:solidFill>
                <a:schemeClr val="bg1"/>
              </a:solidFill>
              <a:latin typeface="微软雅黑" pitchFamily="34" charset="-122"/>
              <a:ea typeface="微软雅黑" pitchFamily="34" charset="-122"/>
            </a:endParaRPr>
          </a:p>
          <a:p>
            <a:pPr>
              <a:lnSpc>
                <a:spcPct val="114000"/>
              </a:lnSpc>
            </a:pPr>
            <a:r>
              <a:rPr lang="zh-CN" altLang="en-US" sz="1400" dirty="0" smtClean="0">
                <a:solidFill>
                  <a:schemeClr val="bg1"/>
                </a:solidFill>
                <a:latin typeface="微软雅黑" pitchFamily="34" charset="-122"/>
                <a:ea typeface="微软雅黑" pitchFamily="34" charset="-122"/>
              </a:rPr>
              <a:t> </a:t>
            </a:r>
            <a:r>
              <a:rPr lang="zh-CN" altLang="en-US" sz="1400" dirty="0">
                <a:solidFill>
                  <a:schemeClr val="bg1"/>
                </a:solidFill>
                <a:latin typeface="微软雅黑" pitchFamily="34" charset="-122"/>
                <a:ea typeface="微软雅黑" pitchFamily="34" charset="-122"/>
              </a:rPr>
              <a:t>⑦周围车辆感知：检测车辆前方、后方、侧方的车辆</a:t>
            </a:r>
            <a:r>
              <a:rPr lang="zh-CN" altLang="en-US" sz="1400" dirty="0" smtClean="0">
                <a:solidFill>
                  <a:schemeClr val="bg1"/>
                </a:solidFill>
                <a:latin typeface="微软雅黑" pitchFamily="34" charset="-122"/>
                <a:ea typeface="微软雅黑" pitchFamily="34" charset="-122"/>
              </a:rPr>
              <a:t>情况。</a:t>
            </a:r>
            <a:endParaRPr lang="zh-CN" altLang="en-US" sz="1400" dirty="0">
              <a:solidFill>
                <a:schemeClr val="bg1"/>
              </a:solidFill>
              <a:latin typeface="微软雅黑" pitchFamily="34" charset="-122"/>
              <a:ea typeface="微软雅黑" pitchFamily="34" charset="-122"/>
            </a:endParaRPr>
          </a:p>
        </p:txBody>
      </p:sp>
      <p:sp>
        <p:nvSpPr>
          <p:cNvPr id="5" name="矩形 4"/>
          <p:cNvSpPr/>
          <p:nvPr/>
        </p:nvSpPr>
        <p:spPr>
          <a:xfrm>
            <a:off x="971600" y="3856829"/>
            <a:ext cx="7200800" cy="830997"/>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在复杂的道路交通环境下，单一的传感器无法完成环境感知的全部，必须整合各种</a:t>
            </a:r>
            <a:r>
              <a:rPr lang="zh-CN" altLang="en-US" sz="1600" dirty="0" smtClean="0">
                <a:solidFill>
                  <a:schemeClr val="bg1"/>
                </a:solidFill>
                <a:latin typeface="微软雅黑" pitchFamily="34" charset="-122"/>
                <a:ea typeface="微软雅黑" pitchFamily="34" charset="-122"/>
              </a:rPr>
              <a:t>类型</a:t>
            </a:r>
            <a:r>
              <a:rPr lang="zh-CN" altLang="en-US" sz="1600" dirty="0">
                <a:solidFill>
                  <a:schemeClr val="bg1"/>
                </a:solidFill>
                <a:latin typeface="微软雅黑" pitchFamily="34" charset="-122"/>
                <a:ea typeface="微软雅黑" pitchFamily="34" charset="-122"/>
              </a:rPr>
              <a:t>的传感器，利用多传感器融合技术，使其为智能网联汽车提供更加真实可靠的路况</a:t>
            </a:r>
            <a:r>
              <a:rPr lang="zh-CN" altLang="en-US" sz="1600" dirty="0" smtClean="0">
                <a:solidFill>
                  <a:schemeClr val="bg1"/>
                </a:solidFill>
                <a:latin typeface="微软雅黑" pitchFamily="34" charset="-122"/>
                <a:ea typeface="微软雅黑" pitchFamily="34" charset="-122"/>
              </a:rPr>
              <a:t>环境信息。</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90561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19</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无线通信技术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560525"/>
            <a:ext cx="7200800"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①长距离无线通信技术：用于提供即时的互联网接入，主要采用 </a:t>
            </a:r>
            <a:r>
              <a:rPr lang="en-US" altLang="zh-CN" sz="1600" dirty="0">
                <a:solidFill>
                  <a:schemeClr val="bg1"/>
                </a:solidFill>
                <a:latin typeface="微软雅黑" pitchFamily="34" charset="-122"/>
                <a:ea typeface="微软雅黑" pitchFamily="34" charset="-122"/>
              </a:rPr>
              <a:t>4G/5G </a:t>
            </a:r>
            <a:r>
              <a:rPr lang="zh-CN" altLang="en-US" sz="1600" dirty="0" smtClean="0">
                <a:solidFill>
                  <a:schemeClr val="bg1"/>
                </a:solidFill>
                <a:latin typeface="微软雅黑" pitchFamily="34" charset="-122"/>
                <a:ea typeface="微软雅黑" pitchFamily="34" charset="-122"/>
              </a:rPr>
              <a:t>技术。</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短距离无线通信技术：包括专用短程通信技术（</a:t>
            </a:r>
            <a:r>
              <a:rPr lang="en-US" altLang="zh-CN" sz="1600" dirty="0">
                <a:solidFill>
                  <a:schemeClr val="bg1"/>
                </a:solidFill>
                <a:latin typeface="微软雅黑" pitchFamily="34" charset="-122"/>
                <a:ea typeface="微软雅黑" pitchFamily="34" charset="-122"/>
              </a:rPr>
              <a:t>DSRC</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LTE-V</a:t>
            </a:r>
            <a:r>
              <a:rPr lang="zh-CN" altLang="en-US" sz="1600" dirty="0">
                <a:solidFill>
                  <a:schemeClr val="bg1"/>
                </a:solidFill>
                <a:latin typeface="微软雅黑" pitchFamily="34" charset="-122"/>
                <a:ea typeface="微软雅黑" pitchFamily="34" charset="-122"/>
              </a:rPr>
              <a:t>、蓝牙、</a:t>
            </a:r>
            <a:r>
              <a:rPr lang="en-US" altLang="zh-CN" sz="1600" dirty="0">
                <a:solidFill>
                  <a:schemeClr val="bg1"/>
                </a:solidFill>
                <a:latin typeface="微软雅黑" pitchFamily="34" charset="-122"/>
                <a:ea typeface="微软雅黑" pitchFamily="34" charset="-122"/>
              </a:rPr>
              <a:t>Wi-Fi </a:t>
            </a:r>
            <a:r>
              <a:rPr lang="zh-CN" altLang="en-US" sz="1600" dirty="0">
                <a:solidFill>
                  <a:schemeClr val="bg1"/>
                </a:solidFill>
                <a:latin typeface="微软雅黑" pitchFamily="34" charset="-122"/>
                <a:ea typeface="微软雅黑" pitchFamily="34" charset="-122"/>
              </a:rPr>
              <a:t>等， </a:t>
            </a:r>
            <a:r>
              <a:rPr lang="zh-CN" altLang="en-US" sz="1600" dirty="0" smtClean="0">
                <a:solidFill>
                  <a:schemeClr val="bg1"/>
                </a:solidFill>
                <a:latin typeface="微软雅黑" pitchFamily="34" charset="-122"/>
                <a:ea typeface="微软雅黑" pitchFamily="34" charset="-122"/>
              </a:rPr>
              <a:t> </a:t>
            </a:r>
            <a:r>
              <a:rPr lang="en-US" altLang="zh-CN" sz="1600" dirty="0">
                <a:solidFill>
                  <a:schemeClr val="bg1"/>
                </a:solidFill>
                <a:latin typeface="微软雅黑" pitchFamily="34" charset="-122"/>
                <a:ea typeface="微软雅黑" pitchFamily="34" charset="-122"/>
              </a:rPr>
              <a:t>DSRC </a:t>
            </a:r>
            <a:r>
              <a:rPr lang="zh-CN" altLang="en-US" sz="1600" dirty="0">
                <a:solidFill>
                  <a:schemeClr val="bg1"/>
                </a:solidFill>
                <a:latin typeface="微软雅黑" pitchFamily="34" charset="-122"/>
                <a:ea typeface="微软雅黑" pitchFamily="34" charset="-122"/>
              </a:rPr>
              <a:t>和 </a:t>
            </a:r>
            <a:r>
              <a:rPr lang="en-US" altLang="zh-CN" sz="1600" dirty="0">
                <a:solidFill>
                  <a:schemeClr val="bg1"/>
                </a:solidFill>
                <a:latin typeface="微软雅黑" pitchFamily="34" charset="-122"/>
                <a:ea typeface="微软雅黑" pitchFamily="34" charset="-122"/>
              </a:rPr>
              <a:t>LTE-V </a:t>
            </a:r>
            <a:r>
              <a:rPr lang="zh-CN" altLang="en-US" sz="1600" dirty="0">
                <a:solidFill>
                  <a:schemeClr val="bg1"/>
                </a:solidFill>
                <a:latin typeface="微软雅黑" pitchFamily="34" charset="-122"/>
                <a:ea typeface="微软雅黑" pitchFamily="34" charset="-122"/>
              </a:rPr>
              <a:t>可以实现在特定区域内对高速运动下移动目标的识别和双向通信</a:t>
            </a:r>
            <a:r>
              <a:rPr lang="zh-CN" altLang="en-US" sz="1600" dirty="0" smtClean="0">
                <a:solidFill>
                  <a:schemeClr val="bg1"/>
                </a:solidFill>
                <a:latin typeface="微软雅黑" pitchFamily="34" charset="-122"/>
                <a:ea typeface="微软雅黑" pitchFamily="34" charset="-122"/>
              </a:rPr>
              <a:t>，如 </a:t>
            </a:r>
            <a:r>
              <a:rPr lang="en-US" altLang="zh-CN" sz="1600" dirty="0">
                <a:solidFill>
                  <a:schemeClr val="bg1"/>
                </a:solidFill>
                <a:latin typeface="微软雅黑" pitchFamily="34" charset="-122"/>
                <a:ea typeface="微软雅黑" pitchFamily="34" charset="-122"/>
              </a:rPr>
              <a:t>V2V</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V2I </a:t>
            </a:r>
            <a:r>
              <a:rPr lang="zh-CN" altLang="en-US" sz="1600" dirty="0">
                <a:solidFill>
                  <a:schemeClr val="bg1"/>
                </a:solidFill>
                <a:latin typeface="微软雅黑" pitchFamily="34" charset="-122"/>
                <a:ea typeface="微软雅黑" pitchFamily="34" charset="-122"/>
              </a:rPr>
              <a:t>双向通信，实时传输图像、语音和数据信息等</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931790"/>
            <a:ext cx="2677307" cy="1874642"/>
          </a:xfrm>
          <a:prstGeom prst="rect">
            <a:avLst/>
          </a:prstGeom>
          <a:solidFill>
            <a:srgbClr val="0070C0"/>
          </a:solidFill>
          <a:ln>
            <a:solidFill>
              <a:schemeClr val="accent1"/>
            </a:solidFill>
          </a:ln>
          <a:effec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2931790"/>
            <a:ext cx="2842756" cy="1874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7498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20</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智能互联技术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4328" y="2502034"/>
            <a:ext cx="3018072" cy="2031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71600" y="1567547"/>
            <a:ext cx="7200800" cy="934487"/>
          </a:xfrm>
          <a:prstGeom prst="rect">
            <a:avLst/>
          </a:prstGeom>
        </p:spPr>
        <p:txBody>
          <a:bodyPr wrap="square">
            <a:spAutoFit/>
          </a:bodyPr>
          <a:lstStyle/>
          <a:p>
            <a:pPr>
              <a:lnSpc>
                <a:spcPct val="114000"/>
              </a:lnSpc>
            </a:pPr>
            <a:r>
              <a:rPr lang="zh-CN" altLang="en-US" sz="1600" dirty="0">
                <a:latin typeface="微软雅黑" pitchFamily="34" charset="-122"/>
                <a:ea typeface="微软雅黑" pitchFamily="34" charset="-122"/>
              </a:rPr>
              <a:t>当两辆汽车距离较远或被障碍物遮挡，</a:t>
            </a:r>
            <a:r>
              <a:rPr lang="zh-CN" altLang="en-US" sz="1600" dirty="0" smtClean="0">
                <a:latin typeface="微软雅黑" pitchFamily="34" charset="-122"/>
                <a:ea typeface="微软雅黑" pitchFamily="34" charset="-122"/>
              </a:rPr>
              <a:t>直接</a:t>
            </a:r>
            <a:r>
              <a:rPr lang="zh-CN" altLang="en-US" sz="1600" dirty="0">
                <a:latin typeface="微软雅黑" pitchFamily="34" charset="-122"/>
                <a:ea typeface="微软雅黑" pitchFamily="34" charset="-122"/>
              </a:rPr>
              <a:t>通信无法完成时，两者之间的通信可以</a:t>
            </a:r>
            <a:r>
              <a:rPr lang="zh-CN" altLang="en-US" sz="1600" dirty="0" smtClean="0">
                <a:latin typeface="微软雅黑" pitchFamily="34" charset="-122"/>
                <a:ea typeface="微软雅黑" pitchFamily="34" charset="-122"/>
              </a:rPr>
              <a:t>通过路</a:t>
            </a:r>
            <a:r>
              <a:rPr lang="zh-CN" altLang="en-US" sz="1600" dirty="0">
                <a:latin typeface="微软雅黑" pitchFamily="34" charset="-122"/>
                <a:ea typeface="微软雅黑" pitchFamily="34" charset="-122"/>
              </a:rPr>
              <a:t>侧控制单元进行信息传递，构成一个无中心</a:t>
            </a:r>
            <a:r>
              <a:rPr lang="zh-CN" altLang="en-US" sz="1600" dirty="0" smtClean="0">
                <a:latin typeface="微软雅黑" pitchFamily="34" charset="-122"/>
                <a:ea typeface="微软雅黑" pitchFamily="34" charset="-122"/>
              </a:rPr>
              <a:t>、完全</a:t>
            </a:r>
            <a:r>
              <a:rPr lang="zh-CN" altLang="en-US" sz="1600" dirty="0">
                <a:latin typeface="微软雅黑" pitchFamily="34" charset="-122"/>
                <a:ea typeface="微软雅黑" pitchFamily="34" charset="-122"/>
              </a:rPr>
              <a:t>自组织的车载自组织网络</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10" name="矩形 9"/>
          <p:cNvSpPr/>
          <p:nvPr/>
        </p:nvSpPr>
        <p:spPr>
          <a:xfrm>
            <a:off x="971600" y="2502034"/>
            <a:ext cx="4104456" cy="2338076"/>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车载</a:t>
            </a:r>
            <a:r>
              <a:rPr lang="zh-CN" altLang="en-US" sz="1600" dirty="0">
                <a:solidFill>
                  <a:schemeClr val="bg1"/>
                </a:solidFill>
                <a:latin typeface="微软雅黑" pitchFamily="34" charset="-122"/>
                <a:ea typeface="微软雅黑" pitchFamily="34" charset="-122"/>
              </a:rPr>
              <a:t>自组织</a:t>
            </a:r>
            <a:r>
              <a:rPr lang="zh-CN" altLang="en-US" sz="1600" dirty="0" smtClean="0">
                <a:solidFill>
                  <a:schemeClr val="bg1"/>
                </a:solidFill>
                <a:latin typeface="微软雅黑" pitchFamily="34" charset="-122"/>
                <a:ea typeface="微软雅黑" pitchFamily="34" charset="-122"/>
              </a:rPr>
              <a:t>网络</a:t>
            </a:r>
            <a:r>
              <a:rPr lang="zh-CN" altLang="en-US" sz="1600" dirty="0">
                <a:solidFill>
                  <a:schemeClr val="bg1"/>
                </a:solidFill>
                <a:latin typeface="微软雅黑" pitchFamily="34" charset="-122"/>
                <a:ea typeface="微软雅黑" pitchFamily="34" charset="-122"/>
              </a:rPr>
              <a:t>依靠短距离通信技术实现车辆之间、车辆</a:t>
            </a:r>
            <a:r>
              <a:rPr lang="zh-CN" altLang="en-US" sz="1600" dirty="0" smtClean="0">
                <a:solidFill>
                  <a:schemeClr val="bg1"/>
                </a:solidFill>
                <a:latin typeface="微软雅黑" pitchFamily="34" charset="-122"/>
                <a:ea typeface="微软雅黑" pitchFamily="34" charset="-122"/>
              </a:rPr>
              <a:t>与路</a:t>
            </a:r>
            <a:r>
              <a:rPr lang="zh-CN" altLang="en-US" sz="1600" dirty="0">
                <a:solidFill>
                  <a:schemeClr val="bg1"/>
                </a:solidFill>
                <a:latin typeface="微软雅黑" pitchFamily="34" charset="-122"/>
                <a:ea typeface="微软雅黑" pitchFamily="34" charset="-122"/>
              </a:rPr>
              <a:t>侧控制单元等相关系统的通信，在一定的通 信范围内的车辆可以交换各自的车速、位置</a:t>
            </a:r>
            <a:r>
              <a:rPr lang="zh-CN" altLang="en-US" sz="1600" dirty="0" smtClean="0">
                <a:solidFill>
                  <a:schemeClr val="bg1"/>
                </a:solidFill>
                <a:latin typeface="微软雅黑" pitchFamily="34" charset="-122"/>
                <a:ea typeface="微软雅黑" pitchFamily="34" charset="-122"/>
              </a:rPr>
              <a:t>及车载</a:t>
            </a:r>
            <a:r>
              <a:rPr lang="zh-CN" altLang="en-US" sz="1600" dirty="0">
                <a:solidFill>
                  <a:schemeClr val="bg1"/>
                </a:solidFill>
                <a:latin typeface="微软雅黑" pitchFamily="34" charset="-122"/>
                <a:ea typeface="微软雅黑" pitchFamily="34" charset="-122"/>
              </a:rPr>
              <a:t>传感器感知的数据，并自动连接建立一</a:t>
            </a:r>
            <a:r>
              <a:rPr lang="zh-CN" altLang="en-US" sz="1600" dirty="0" smtClean="0">
                <a:solidFill>
                  <a:schemeClr val="bg1"/>
                </a:solidFill>
                <a:latin typeface="微软雅黑" pitchFamily="34" charset="-122"/>
                <a:ea typeface="微软雅黑" pitchFamily="34" charset="-122"/>
              </a:rPr>
              <a:t>个移动</a:t>
            </a:r>
            <a:r>
              <a:rPr lang="zh-CN" altLang="en-US" sz="1600" dirty="0">
                <a:solidFill>
                  <a:schemeClr val="bg1"/>
                </a:solidFill>
                <a:latin typeface="微软雅黑" pitchFamily="34" charset="-122"/>
                <a:ea typeface="微软雅黑" pitchFamily="34" charset="-122"/>
              </a:rPr>
              <a:t>的网络。智能互联技术典型的应用包括</a:t>
            </a:r>
            <a:r>
              <a:rPr lang="zh-CN" altLang="en-US" sz="1600" dirty="0" smtClean="0">
                <a:solidFill>
                  <a:schemeClr val="bg1"/>
                </a:solidFill>
                <a:latin typeface="微软雅黑" pitchFamily="34" charset="-122"/>
                <a:ea typeface="微软雅黑" pitchFamily="34" charset="-122"/>
              </a:rPr>
              <a:t>行驶</a:t>
            </a:r>
            <a:r>
              <a:rPr lang="zh-CN" altLang="en-US" sz="1600" dirty="0">
                <a:solidFill>
                  <a:schemeClr val="bg1"/>
                </a:solidFill>
                <a:latin typeface="微软雅黑" pitchFamily="34" charset="-122"/>
                <a:ea typeface="微软雅黑" pitchFamily="34" charset="-122"/>
              </a:rPr>
              <a:t>安全预警、交叉路口协助驾驶、交通信息</a:t>
            </a:r>
            <a:r>
              <a:rPr lang="zh-CN" altLang="en-US" sz="1600" dirty="0" smtClean="0">
                <a:solidFill>
                  <a:schemeClr val="bg1"/>
                </a:solidFill>
                <a:latin typeface="微软雅黑" pitchFamily="34" charset="-122"/>
                <a:ea typeface="微软雅黑" pitchFamily="34" charset="-122"/>
              </a:rPr>
              <a:t>发布</a:t>
            </a:r>
            <a:r>
              <a:rPr lang="zh-CN" altLang="en-US" sz="1600" dirty="0">
                <a:solidFill>
                  <a:schemeClr val="bg1"/>
                </a:solidFill>
                <a:latin typeface="微软雅黑" pitchFamily="34" charset="-122"/>
                <a:ea typeface="微软雅黑" pitchFamily="34" charset="-122"/>
              </a:rPr>
              <a:t>以及基于通信的纵向车辆控制等。</a:t>
            </a:r>
          </a:p>
        </p:txBody>
      </p:sp>
    </p:spTree>
    <p:extLst>
      <p:ext uri="{BB962C8B-B14F-4D97-AF65-F5344CB8AC3E}">
        <p14:creationId xmlns:p14="http://schemas.microsoft.com/office/powerpoint/2010/main" val="4160882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21</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车载网络技术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6992" y="2366718"/>
            <a:ext cx="3054281" cy="1860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974718" y="1560525"/>
            <a:ext cx="7200800" cy="830997"/>
          </a:xfrm>
          <a:prstGeom prst="rect">
            <a:avLst/>
          </a:prstGeom>
        </p:spPr>
        <p:txBody>
          <a:bodyPr wrap="square">
            <a:spAutoFit/>
          </a:bodyPr>
          <a:lstStyle/>
          <a:p>
            <a:r>
              <a:rPr lang="zh-CN" altLang="en-US" sz="1600" dirty="0">
                <a:latin typeface="微软雅黑" pitchFamily="34" charset="-122"/>
                <a:ea typeface="微软雅黑" pitchFamily="34" charset="-122"/>
              </a:rPr>
              <a:t>车载网络形式多种多样，目前应用最为广泛的是控制器</a:t>
            </a:r>
            <a:r>
              <a:rPr lang="zh-CN" altLang="en-US" sz="1600" dirty="0" smtClean="0">
                <a:latin typeface="微软雅黑" pitchFamily="34" charset="-122"/>
                <a:ea typeface="微软雅黑" pitchFamily="34" charset="-122"/>
              </a:rPr>
              <a:t>局域网络</a:t>
            </a: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Controller Area Network</a:t>
            </a:r>
            <a:r>
              <a:rPr lang="zh-CN" altLang="en-US" sz="1600" dirty="0">
                <a:latin typeface="微软雅黑" pitchFamily="34" charset="-122"/>
                <a:ea typeface="微软雅黑" pitchFamily="34" charset="-122"/>
              </a:rPr>
              <a:t>），即所谓的 </a:t>
            </a:r>
            <a:r>
              <a:rPr lang="en-US" altLang="zh-CN" sz="1600" dirty="0">
                <a:latin typeface="微软雅黑" pitchFamily="34" charset="-122"/>
                <a:ea typeface="微软雅黑" pitchFamily="34" charset="-122"/>
              </a:rPr>
              <a:t>CAN BUS </a:t>
            </a:r>
            <a:r>
              <a:rPr lang="zh-CN" altLang="en-US" sz="1600" dirty="0">
                <a:latin typeface="微软雅黑" pitchFamily="34" charset="-122"/>
                <a:ea typeface="微软雅黑" pitchFamily="34" charset="-122"/>
              </a:rPr>
              <a:t>系统，以及 </a:t>
            </a:r>
            <a:r>
              <a:rPr lang="en-US" altLang="zh-CN" sz="1600" dirty="0">
                <a:latin typeface="微软雅黑" pitchFamily="34" charset="-122"/>
                <a:ea typeface="微软雅黑" pitchFamily="34" charset="-122"/>
              </a:rPr>
              <a:t>LIN</a:t>
            </a: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Flex Ray </a:t>
            </a:r>
            <a:r>
              <a:rPr lang="zh-CN" altLang="en-US" sz="1600" dirty="0">
                <a:latin typeface="微软雅黑" pitchFamily="34" charset="-122"/>
                <a:ea typeface="微软雅黑" pitchFamily="34" charset="-122"/>
              </a:rPr>
              <a:t>和 </a:t>
            </a:r>
            <a:r>
              <a:rPr lang="en-US" altLang="zh-CN" sz="1600" dirty="0">
                <a:latin typeface="微软雅黑" pitchFamily="34" charset="-122"/>
                <a:ea typeface="微软雅黑" pitchFamily="34" charset="-122"/>
              </a:rPr>
              <a:t>MOST</a:t>
            </a:r>
            <a:r>
              <a:rPr lang="zh-CN" altLang="en-US" sz="1600" dirty="0">
                <a:latin typeface="微软雅黑" pitchFamily="34" charset="-122"/>
                <a:ea typeface="微软雅黑" pitchFamily="34" charset="-122"/>
              </a:rPr>
              <a:t>（光纤）总线等。</a:t>
            </a:r>
          </a:p>
        </p:txBody>
      </p:sp>
      <p:sp>
        <p:nvSpPr>
          <p:cNvPr id="5" name="矩形 4"/>
          <p:cNvSpPr/>
          <p:nvPr/>
        </p:nvSpPr>
        <p:spPr>
          <a:xfrm>
            <a:off x="1064657" y="2399189"/>
            <a:ext cx="4155415" cy="205697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随着越来越多的高清 视频应用进入汽车，如 </a:t>
            </a:r>
            <a:r>
              <a:rPr lang="en-US" altLang="zh-CN" sz="1400" dirty="0">
                <a:solidFill>
                  <a:schemeClr val="bg1"/>
                </a:solidFill>
                <a:latin typeface="微软雅黑" pitchFamily="34" charset="-122"/>
                <a:ea typeface="微软雅黑" pitchFamily="34" charset="-122"/>
              </a:rPr>
              <a:t>ADAS</a:t>
            </a:r>
            <a:r>
              <a:rPr lang="zh-CN" altLang="en-US" sz="1400" dirty="0">
                <a:solidFill>
                  <a:schemeClr val="bg1"/>
                </a:solidFill>
                <a:latin typeface="微软雅黑" pitchFamily="34" charset="-122"/>
                <a:ea typeface="微软雅黑" pitchFamily="34" charset="-122"/>
              </a:rPr>
              <a:t>、全景泊车</a:t>
            </a:r>
            <a:r>
              <a:rPr lang="zh-CN" altLang="en-US" sz="1400" dirty="0" smtClean="0">
                <a:solidFill>
                  <a:schemeClr val="bg1"/>
                </a:solidFill>
                <a:latin typeface="微软雅黑" pitchFamily="34" charset="-122"/>
                <a:ea typeface="微软雅黑" pitchFamily="34" charset="-122"/>
              </a:rPr>
              <a:t>系统和 </a:t>
            </a:r>
            <a:r>
              <a:rPr lang="en-US" altLang="zh-CN" sz="1400" dirty="0">
                <a:solidFill>
                  <a:schemeClr val="bg1"/>
                </a:solidFill>
                <a:latin typeface="微软雅黑" pitchFamily="34" charset="-122"/>
                <a:ea typeface="微软雅黑" pitchFamily="34" charset="-122"/>
              </a:rPr>
              <a:t>DVD </a:t>
            </a:r>
            <a:r>
              <a:rPr lang="zh-CN" altLang="en-US" sz="1400" dirty="0">
                <a:solidFill>
                  <a:schemeClr val="bg1"/>
                </a:solidFill>
                <a:latin typeface="微软雅黑" pitchFamily="34" charset="-122"/>
                <a:ea typeface="微软雅黑" pitchFamily="34" charset="-122"/>
              </a:rPr>
              <a:t>影音播放等，这些车载网络系统 的传输速率和带宽已经满足不了需要。</a:t>
            </a:r>
            <a:r>
              <a:rPr lang="zh-CN" altLang="en-US" sz="1400" dirty="0" smtClean="0">
                <a:solidFill>
                  <a:schemeClr val="bg1"/>
                </a:solidFill>
                <a:latin typeface="微软雅黑" pitchFamily="34" charset="-122"/>
                <a:ea typeface="微软雅黑" pitchFamily="34" charset="-122"/>
              </a:rPr>
              <a:t>以太网</a:t>
            </a:r>
            <a:r>
              <a:rPr lang="zh-CN" altLang="en-US" sz="1400" dirty="0">
                <a:solidFill>
                  <a:schemeClr val="bg1"/>
                </a:solidFill>
                <a:latin typeface="微软雅黑" pitchFamily="34" charset="-122"/>
                <a:ea typeface="微软雅黑" pitchFamily="34" charset="-122"/>
              </a:rPr>
              <a:t>最有可能在智能网联汽车中应用，它采用 星形连接架构，每一个设备或每一条链路可 以专享 </a:t>
            </a:r>
            <a:r>
              <a:rPr lang="en-US" altLang="zh-CN" sz="1400" dirty="0">
                <a:solidFill>
                  <a:schemeClr val="bg1"/>
                </a:solidFill>
                <a:latin typeface="微软雅黑" pitchFamily="34" charset="-122"/>
                <a:ea typeface="微软雅黑" pitchFamily="34" charset="-122"/>
              </a:rPr>
              <a:t>100MB </a:t>
            </a:r>
            <a:r>
              <a:rPr lang="zh-CN" altLang="en-US" sz="1400" dirty="0">
                <a:solidFill>
                  <a:schemeClr val="bg1"/>
                </a:solidFill>
                <a:latin typeface="微软雅黑" pitchFamily="34" charset="-122"/>
                <a:ea typeface="微软雅黑" pitchFamily="34" charset="-122"/>
              </a:rPr>
              <a:t>的带宽，传输速率达到万兆级。 以太网的开放性、兼容性更适应未来汽车行 业的发展趋势，更容易将现有的应用嵌入到 新的系统中。</a:t>
            </a:r>
          </a:p>
        </p:txBody>
      </p:sp>
    </p:spTree>
    <p:extLst>
      <p:ext uri="{BB962C8B-B14F-4D97-AF65-F5344CB8AC3E}">
        <p14:creationId xmlns:p14="http://schemas.microsoft.com/office/powerpoint/2010/main" val="8051762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22</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高级驾驶辅助技术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5876" y="2283719"/>
            <a:ext cx="3316524" cy="20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71600" y="1560525"/>
            <a:ext cx="7200800" cy="830997"/>
          </a:xfrm>
          <a:prstGeom prst="rect">
            <a:avLst/>
          </a:prstGeom>
        </p:spPr>
        <p:txBody>
          <a:bodyPr wrap="square">
            <a:spAutoFit/>
          </a:bodyPr>
          <a:lstStyle/>
          <a:p>
            <a:r>
              <a:rPr lang="zh-CN" altLang="en-US" sz="1600" dirty="0">
                <a:latin typeface="微软雅黑" pitchFamily="34" charset="-122"/>
                <a:ea typeface="微软雅黑" pitchFamily="34" charset="-122"/>
              </a:rPr>
              <a:t>高级驾驶辅助技术通过车辆环境感知技 术和自组织网络对道路、车辆、行人、交通 标志、交通信号进行检测和识别，并对识别 信号进行分析处理，传输给执行机构，保障 车辆安全行驶。</a:t>
            </a:r>
          </a:p>
        </p:txBody>
      </p:sp>
      <p:sp>
        <p:nvSpPr>
          <p:cNvPr id="3" name="矩形 2"/>
          <p:cNvSpPr/>
          <p:nvPr/>
        </p:nvSpPr>
        <p:spPr>
          <a:xfrm>
            <a:off x="971600" y="2391522"/>
            <a:ext cx="3658828" cy="2283895"/>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高级驾驶辅助技术是智能网 联汽车重点发展的技术，其成熟程度和使用 多少代表了智能网联汽车的技术水平，是其 他关键技术的具体应用体现。高级驾驶辅助 技术包括 </a:t>
            </a:r>
            <a:r>
              <a:rPr lang="en-US" altLang="zh-CN" sz="1400" dirty="0">
                <a:solidFill>
                  <a:schemeClr val="bg1"/>
                </a:solidFill>
                <a:latin typeface="微软雅黑" pitchFamily="34" charset="-122"/>
                <a:ea typeface="微软雅黑" pitchFamily="34" charset="-122"/>
              </a:rPr>
              <a:t>3D </a:t>
            </a:r>
            <a:r>
              <a:rPr lang="zh-CN" altLang="en-US" sz="1400" dirty="0">
                <a:solidFill>
                  <a:schemeClr val="bg1"/>
                </a:solidFill>
                <a:latin typeface="微软雅黑" pitchFamily="34" charset="-122"/>
                <a:ea typeface="微软雅黑" pitchFamily="34" charset="-122"/>
              </a:rPr>
              <a:t>环视、后视摄像头、后视交通 警示系统、盲点检测、车道偏离警告、智能 前照灯控制、交通标志识别、前方碰撞警告、智能车速控制和行人检测等，已经在宝马、 奥迪等高端品牌车型广泛应用。</a:t>
            </a:r>
          </a:p>
        </p:txBody>
      </p:sp>
    </p:spTree>
    <p:extLst>
      <p:ext uri="{BB962C8B-B14F-4D97-AF65-F5344CB8AC3E}">
        <p14:creationId xmlns:p14="http://schemas.microsoft.com/office/powerpoint/2010/main" val="21749628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23</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信息融合技术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3359" y="2358087"/>
            <a:ext cx="3826917" cy="1476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982093" y="1560525"/>
            <a:ext cx="7200800" cy="787523"/>
          </a:xfrm>
          <a:prstGeom prst="rect">
            <a:avLst/>
          </a:prstGeom>
        </p:spPr>
        <p:txBody>
          <a:bodyPr wrap="square">
            <a:spAutoFit/>
          </a:bodyPr>
          <a:lstStyle/>
          <a:p>
            <a:pPr>
              <a:lnSpc>
                <a:spcPct val="150000"/>
              </a:lnSpc>
            </a:pPr>
            <a:r>
              <a:rPr lang="zh-CN" altLang="en-US" sz="1600" dirty="0">
                <a:latin typeface="微软雅黑" pitchFamily="34" charset="-122"/>
                <a:ea typeface="微软雅黑" pitchFamily="34" charset="-122"/>
              </a:rPr>
              <a:t>信息融合技术是指在一定准则下，利用计算机技术对多源信息进行分析和综合，以实 现不同应用的分类任务而进行的处理过程。</a:t>
            </a:r>
          </a:p>
        </p:txBody>
      </p:sp>
      <p:sp>
        <p:nvSpPr>
          <p:cNvPr id="5" name="矩形 4"/>
          <p:cNvSpPr/>
          <p:nvPr/>
        </p:nvSpPr>
        <p:spPr>
          <a:xfrm>
            <a:off x="967343" y="2358087"/>
            <a:ext cx="3356015" cy="2308324"/>
          </a:xfrm>
          <a:prstGeom prst="rect">
            <a:avLst/>
          </a:prstGeom>
          <a:solidFill>
            <a:srgbClr val="0070C0"/>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信息融合技术</a:t>
            </a:r>
            <a:r>
              <a:rPr lang="zh-CN" altLang="en-US" sz="1600" dirty="0">
                <a:solidFill>
                  <a:schemeClr val="bg1"/>
                </a:solidFill>
                <a:latin typeface="微软雅黑" pitchFamily="34" charset="-122"/>
                <a:ea typeface="微软雅黑" pitchFamily="34" charset="-122"/>
              </a:rPr>
              <a:t>主要用于对多源信息进行采集、传输</a:t>
            </a:r>
            <a:r>
              <a:rPr lang="zh-CN" altLang="en-US" sz="1600" dirty="0" smtClean="0">
                <a:solidFill>
                  <a:schemeClr val="bg1"/>
                </a:solidFill>
                <a:latin typeface="微软雅黑" pitchFamily="34" charset="-122"/>
                <a:ea typeface="微软雅黑" pitchFamily="34" charset="-122"/>
              </a:rPr>
              <a:t>、分析</a:t>
            </a:r>
            <a:r>
              <a:rPr lang="zh-CN" altLang="en-US" sz="1600" dirty="0">
                <a:solidFill>
                  <a:schemeClr val="bg1"/>
                </a:solidFill>
                <a:latin typeface="微软雅黑" pitchFamily="34" charset="-122"/>
                <a:ea typeface="微软雅黑" pitchFamily="34" charset="-122"/>
              </a:rPr>
              <a:t>和综合，将不同数据源在时间和空间上冗余或互补信息依据某种准则进行组合，产生 完整、准确、及时、有效的综合信息。智能网联汽车采集和传输的信息种类多、数量大</a:t>
            </a:r>
            <a:r>
              <a:rPr lang="zh-CN" altLang="en-US" sz="1600" dirty="0" smtClean="0">
                <a:solidFill>
                  <a:schemeClr val="bg1"/>
                </a:solidFill>
                <a:latin typeface="微软雅黑" pitchFamily="34" charset="-122"/>
                <a:ea typeface="微软雅黑" pitchFamily="34" charset="-122"/>
              </a:rPr>
              <a:t>，必须</a:t>
            </a:r>
            <a:r>
              <a:rPr lang="zh-CN" altLang="en-US" sz="1600" dirty="0">
                <a:solidFill>
                  <a:schemeClr val="bg1"/>
                </a:solidFill>
                <a:latin typeface="微软雅黑" pitchFamily="34" charset="-122"/>
                <a:ea typeface="微软雅黑" pitchFamily="34" charset="-122"/>
              </a:rPr>
              <a:t>采用信息融合技术才能保障实时性和准确性。</a:t>
            </a:r>
          </a:p>
        </p:txBody>
      </p:sp>
    </p:spTree>
    <p:extLst>
      <p:ext uri="{BB962C8B-B14F-4D97-AF65-F5344CB8AC3E}">
        <p14:creationId xmlns:p14="http://schemas.microsoft.com/office/powerpoint/2010/main" val="13787376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24</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信息安全与隐私保护技术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8742" y="1707655"/>
            <a:ext cx="3063657"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71600" y="1605006"/>
            <a:ext cx="4104456" cy="3046988"/>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智能网联汽车接入网络的同时，也带 来了信息安全的问题。在智能网联汽车</a:t>
            </a:r>
            <a:r>
              <a:rPr lang="zh-CN" altLang="en-US" sz="1600" dirty="0" smtClean="0">
                <a:solidFill>
                  <a:schemeClr val="bg1"/>
                </a:solidFill>
                <a:latin typeface="微软雅黑" pitchFamily="34" charset="-122"/>
                <a:ea typeface="微软雅黑" pitchFamily="34" charset="-122"/>
              </a:rPr>
              <a:t>的应用</a:t>
            </a:r>
            <a:r>
              <a:rPr lang="zh-CN" altLang="en-US" sz="1600" dirty="0">
                <a:solidFill>
                  <a:schemeClr val="bg1"/>
                </a:solidFill>
                <a:latin typeface="微软雅黑" pitchFamily="34" charset="-122"/>
                <a:ea typeface="微软雅黑" pitchFamily="34" charset="-122"/>
              </a:rPr>
              <a:t>中，每辆汽车及车主的信息都将</a:t>
            </a:r>
            <a:r>
              <a:rPr lang="zh-CN" altLang="en-US" sz="1600" dirty="0" smtClean="0">
                <a:solidFill>
                  <a:schemeClr val="bg1"/>
                </a:solidFill>
                <a:latin typeface="微软雅黑" pitchFamily="34" charset="-122"/>
                <a:ea typeface="微软雅黑" pitchFamily="34" charset="-122"/>
              </a:rPr>
              <a:t>随时随地</a:t>
            </a:r>
            <a:r>
              <a:rPr lang="zh-CN" altLang="en-US" sz="1600" dirty="0">
                <a:solidFill>
                  <a:schemeClr val="bg1"/>
                </a:solidFill>
                <a:latin typeface="微软雅黑" pitchFamily="34" charset="-122"/>
                <a:ea typeface="微软雅黑" pitchFamily="34" charset="-122"/>
              </a:rPr>
              <a:t>被传输到网络中并被感知，这种</a:t>
            </a:r>
            <a:r>
              <a:rPr lang="zh-CN" altLang="en-US" sz="1600" dirty="0" smtClean="0">
                <a:solidFill>
                  <a:schemeClr val="bg1"/>
                </a:solidFill>
                <a:latin typeface="微软雅黑" pitchFamily="34" charset="-122"/>
                <a:ea typeface="微软雅黑" pitchFamily="34" charset="-122"/>
              </a:rPr>
              <a:t>暴露在</a:t>
            </a:r>
            <a:r>
              <a:rPr lang="zh-CN" altLang="en-US" sz="1600" dirty="0">
                <a:solidFill>
                  <a:schemeClr val="bg1"/>
                </a:solidFill>
                <a:latin typeface="微软雅黑" pitchFamily="34" charset="-122"/>
                <a:ea typeface="微软雅黑" pitchFamily="34" charset="-122"/>
              </a:rPr>
              <a:t>网络中的信息很容易被窃取，直接</a:t>
            </a:r>
            <a:r>
              <a:rPr lang="zh-CN" altLang="en-US" sz="1600" dirty="0" smtClean="0">
                <a:solidFill>
                  <a:schemeClr val="bg1"/>
                </a:solidFill>
                <a:latin typeface="微软雅黑" pitchFamily="34" charset="-122"/>
                <a:ea typeface="微软雅黑" pitchFamily="34" charset="-122"/>
              </a:rPr>
              <a:t>影响到</a:t>
            </a:r>
            <a:r>
              <a:rPr lang="zh-CN" altLang="en-US" sz="1600" dirty="0">
                <a:solidFill>
                  <a:schemeClr val="bg1"/>
                </a:solidFill>
                <a:latin typeface="微软雅黑" pitchFamily="34" charset="-122"/>
                <a:ea typeface="微软雅黑" pitchFamily="34" charset="-122"/>
              </a:rPr>
              <a:t>智能网联汽车体系的安全，甚至影响</a:t>
            </a:r>
            <a:r>
              <a:rPr lang="zh-CN" altLang="en-US" sz="1600" dirty="0" smtClean="0">
                <a:solidFill>
                  <a:schemeClr val="bg1"/>
                </a:solidFill>
                <a:latin typeface="微软雅黑" pitchFamily="34" charset="-122"/>
                <a:ea typeface="微软雅黑" pitchFamily="34" charset="-122"/>
              </a:rPr>
              <a:t>驾驶员</a:t>
            </a:r>
            <a:r>
              <a:rPr lang="zh-CN" altLang="en-US" sz="1600" dirty="0">
                <a:solidFill>
                  <a:schemeClr val="bg1"/>
                </a:solidFill>
                <a:latin typeface="微软雅黑" pitchFamily="34" charset="-122"/>
                <a:ea typeface="微软雅黑" pitchFamily="34" charset="-122"/>
              </a:rPr>
              <a:t>的生活及其他安全。因此，在</a:t>
            </a:r>
            <a:r>
              <a:rPr lang="zh-CN" altLang="en-US" sz="1600" dirty="0" smtClean="0">
                <a:solidFill>
                  <a:schemeClr val="bg1"/>
                </a:solidFill>
                <a:latin typeface="微软雅黑" pitchFamily="34" charset="-122"/>
                <a:ea typeface="微软雅黑" pitchFamily="34" charset="-122"/>
              </a:rPr>
              <a:t>智能网联</a:t>
            </a:r>
            <a:r>
              <a:rPr lang="zh-CN" altLang="en-US" sz="1600" dirty="0">
                <a:solidFill>
                  <a:schemeClr val="bg1"/>
                </a:solidFill>
                <a:latin typeface="微软雅黑" pitchFamily="34" charset="-122"/>
                <a:ea typeface="微软雅黑" pitchFamily="34" charset="-122"/>
              </a:rPr>
              <a:t>汽车中，必须重视信息安全与</a:t>
            </a:r>
            <a:r>
              <a:rPr lang="zh-CN" altLang="en-US" sz="1600" dirty="0" smtClean="0">
                <a:solidFill>
                  <a:schemeClr val="bg1"/>
                </a:solidFill>
                <a:latin typeface="微软雅黑" pitchFamily="34" charset="-122"/>
                <a:ea typeface="微软雅黑" pitchFamily="34" charset="-122"/>
              </a:rPr>
              <a:t>隐私保护技术</a:t>
            </a:r>
            <a:r>
              <a:rPr lang="zh-CN" altLang="en-US" sz="1600" dirty="0">
                <a:solidFill>
                  <a:schemeClr val="bg1"/>
                </a:solidFill>
                <a:latin typeface="微软雅黑" pitchFamily="34" charset="-122"/>
                <a:ea typeface="微软雅黑" pitchFamily="34" charset="-122"/>
              </a:rPr>
              <a:t>的研究。</a:t>
            </a:r>
          </a:p>
        </p:txBody>
      </p:sp>
    </p:spTree>
    <p:extLst>
      <p:ext uri="{BB962C8B-B14F-4D97-AF65-F5344CB8AC3E}">
        <p14:creationId xmlns:p14="http://schemas.microsoft.com/office/powerpoint/2010/main" val="25762326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25</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智能网联汽车的关键技术</a:t>
            </a:r>
            <a:r>
              <a:rPr lang="en-US" altLang="zh-CN" b="1" dirty="0" smtClean="0">
                <a:latin typeface="微软雅黑" panose="020B0503020204020204" pitchFamily="34" charset="-122"/>
              </a:rPr>
              <a:t>-</a:t>
            </a:r>
            <a:r>
              <a:rPr lang="zh-CN" altLang="en-US" dirty="0" smtClean="0">
                <a:latin typeface="微软雅黑" panose="020B0503020204020204" pitchFamily="34" charset="-122"/>
              </a:rPr>
              <a:t>人机界面技术</a:t>
            </a: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1560525"/>
            <a:ext cx="2304256" cy="164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195" y="3291830"/>
            <a:ext cx="2276197"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81014" y="1667989"/>
            <a:ext cx="4572000" cy="3003515"/>
          </a:xfrm>
          <a:prstGeom prst="rect">
            <a:avLst/>
          </a:prstGeom>
          <a:solidFill>
            <a:srgbClr val="0070C0"/>
          </a:solidFill>
        </p:spPr>
        <p:txBody>
          <a:bodyPr>
            <a:spAutoFit/>
          </a:bodyPr>
          <a:lstStyle/>
          <a:p>
            <a:pPr>
              <a:lnSpc>
                <a:spcPct val="150000"/>
              </a:lnSpc>
            </a:pPr>
            <a:r>
              <a:rPr lang="zh-CN" altLang="en-US" sz="1600" dirty="0">
                <a:solidFill>
                  <a:schemeClr val="bg1"/>
                </a:solidFill>
                <a:latin typeface="微软雅黑" pitchFamily="34" charset="-122"/>
                <a:ea typeface="微软雅黑" pitchFamily="34" charset="-122"/>
              </a:rPr>
              <a:t>人机界面技术，尤其是语音、手势识别和触屏技术，在未来汽车市场上将被大量应用</a:t>
            </a:r>
            <a:r>
              <a:rPr lang="zh-CN" altLang="en-US" sz="1600" dirty="0" smtClean="0">
                <a:solidFill>
                  <a:schemeClr val="bg1"/>
                </a:solidFill>
                <a:latin typeface="微软雅黑" pitchFamily="34" charset="-122"/>
                <a:ea typeface="微软雅黑" pitchFamily="34" charset="-122"/>
              </a:rPr>
              <a:t>。智能网</a:t>
            </a:r>
            <a:r>
              <a:rPr lang="zh-CN" altLang="en-US" sz="1600" dirty="0">
                <a:solidFill>
                  <a:schemeClr val="bg1"/>
                </a:solidFill>
                <a:latin typeface="微软雅黑" pitchFamily="34" charset="-122"/>
                <a:ea typeface="微软雅黑" pitchFamily="34" charset="-122"/>
              </a:rPr>
              <a:t>联汽车人机界面的设计，最终目的在于提供良好的用户体验，增强用户的驾驶</a:t>
            </a:r>
            <a:r>
              <a:rPr lang="zh-CN" altLang="en-US" sz="1600" dirty="0" smtClean="0">
                <a:solidFill>
                  <a:schemeClr val="bg1"/>
                </a:solidFill>
                <a:latin typeface="微软雅黑" pitchFamily="34" charset="-122"/>
                <a:ea typeface="微软雅黑" pitchFamily="34" charset="-122"/>
              </a:rPr>
              <a:t>乐趣或</a:t>
            </a:r>
            <a:r>
              <a:rPr lang="zh-CN" altLang="en-US" sz="1600" dirty="0">
                <a:solidFill>
                  <a:schemeClr val="bg1"/>
                </a:solidFill>
                <a:latin typeface="微软雅黑" pitchFamily="34" charset="-122"/>
                <a:ea typeface="微软雅黑" pitchFamily="34" charset="-122"/>
              </a:rPr>
              <a:t>驾驶过程中的操作体验，并在用户体验和驾驶安全性方面做平衡。未来的车载</a:t>
            </a:r>
            <a:r>
              <a:rPr lang="zh-CN" altLang="en-US" sz="1600" dirty="0" smtClean="0">
                <a:solidFill>
                  <a:schemeClr val="bg1"/>
                </a:solidFill>
                <a:latin typeface="微软雅黑" pitchFamily="34" charset="-122"/>
                <a:ea typeface="微软雅黑" pitchFamily="34" charset="-122"/>
              </a:rPr>
              <a:t>信息显示系统</a:t>
            </a:r>
            <a:r>
              <a:rPr lang="zh-CN" altLang="en-US" sz="1600" dirty="0">
                <a:solidFill>
                  <a:schemeClr val="bg1"/>
                </a:solidFill>
                <a:latin typeface="微软雅黑" pitchFamily="34" charset="-122"/>
                <a:ea typeface="微软雅黑" pitchFamily="34" charset="-122"/>
              </a:rPr>
              <a:t>将与智能手机无缝对接，人机交互方面将有更多的选择，并根据个人喜好自由切换。</a:t>
            </a:r>
          </a:p>
        </p:txBody>
      </p:sp>
    </p:spTree>
    <p:extLst>
      <p:ext uri="{BB962C8B-B14F-4D97-AF65-F5344CB8AC3E}">
        <p14:creationId xmlns:p14="http://schemas.microsoft.com/office/powerpoint/2010/main" val="1734600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26</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智能网联汽车与传统汽车的区别</a:t>
            </a:r>
            <a:endParaRPr lang="zh-CN" altLang="en-US" dirty="0" smtClean="0">
              <a:latin typeface="微软雅黑" panose="020B0503020204020204" pitchFamily="34" charset="-122"/>
            </a:endParaRP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1043608" y="1566128"/>
            <a:ext cx="7200800" cy="787523"/>
          </a:xfrm>
          <a:prstGeom prst="rect">
            <a:avLst/>
          </a:prstGeom>
        </p:spPr>
        <p:txBody>
          <a:bodyPr wrap="square">
            <a:spAutoFit/>
          </a:bodyPr>
          <a:lstStyle/>
          <a:p>
            <a:pPr>
              <a:lnSpc>
                <a:spcPct val="150000"/>
              </a:lnSpc>
            </a:pPr>
            <a:r>
              <a:rPr lang="zh-CN" altLang="en-US" sz="1600" dirty="0">
                <a:latin typeface="微软雅黑" pitchFamily="34" charset="-122"/>
                <a:ea typeface="微软雅黑" pitchFamily="34" charset="-122"/>
              </a:rPr>
              <a:t>智能网联汽车也是汽车</a:t>
            </a:r>
            <a:r>
              <a:rPr lang="zh-CN" altLang="en-US" sz="1600" dirty="0" smtClean="0">
                <a:latin typeface="微软雅黑" pitchFamily="34" charset="-122"/>
                <a:ea typeface="微软雅黑" pitchFamily="34" charset="-122"/>
              </a:rPr>
              <a:t>，总体</a:t>
            </a:r>
            <a:r>
              <a:rPr lang="zh-CN" altLang="en-US" sz="1600" dirty="0">
                <a:latin typeface="微软雅黑" pitchFamily="34" charset="-122"/>
                <a:ea typeface="微软雅黑" pitchFamily="34" charset="-122"/>
              </a:rPr>
              <a:t>结构与传统汽车基本一致，但智能网联汽车是一</a:t>
            </a:r>
            <a:r>
              <a:rPr lang="zh-CN" altLang="en-US" sz="1600" dirty="0" smtClean="0">
                <a:latin typeface="微软雅黑" pitchFamily="34" charset="-122"/>
                <a:ea typeface="微软雅黑" pitchFamily="34" charset="-122"/>
              </a:rPr>
              <a:t>个网络</a:t>
            </a:r>
            <a:r>
              <a:rPr lang="zh-CN" altLang="en-US" sz="1600" dirty="0">
                <a:latin typeface="微软雅黑" pitchFamily="34" charset="-122"/>
                <a:ea typeface="微软雅黑" pitchFamily="34" charset="-122"/>
              </a:rPr>
              <a:t>互联并兼具智能化的系统，从其使用功能的角度，与传统汽车有所</a:t>
            </a:r>
            <a:r>
              <a:rPr lang="zh-CN" altLang="en-US" sz="1600" dirty="0" smtClean="0">
                <a:latin typeface="微软雅黑" pitchFamily="34" charset="-122"/>
                <a:ea typeface="微软雅黑" pitchFamily="34" charset="-122"/>
              </a:rPr>
              <a:t>区别。</a:t>
            </a:r>
            <a:endParaRPr lang="zh-CN" altLang="en-US" sz="1600" dirty="0">
              <a:latin typeface="微软雅黑" pitchFamily="34" charset="-122"/>
              <a:ea typeface="微软雅黑" pitchFamily="34" charset="-122"/>
            </a:endParaRPr>
          </a:p>
        </p:txBody>
      </p:sp>
      <p:sp>
        <p:nvSpPr>
          <p:cNvPr id="4" name="矩形 3"/>
          <p:cNvSpPr/>
          <p:nvPr/>
        </p:nvSpPr>
        <p:spPr>
          <a:xfrm>
            <a:off x="972799" y="2392925"/>
            <a:ext cx="7128792"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系统升级：智能网</a:t>
            </a:r>
            <a:r>
              <a:rPr lang="zh-CN" altLang="en-US" sz="1600" dirty="0">
                <a:solidFill>
                  <a:schemeClr val="bg1"/>
                </a:solidFill>
                <a:latin typeface="微软雅黑" pitchFamily="34" charset="-122"/>
                <a:ea typeface="微软雅黑" pitchFamily="34" charset="-122"/>
              </a:rPr>
              <a:t>联汽车可以方便地从云端接收 </a:t>
            </a:r>
            <a:r>
              <a:rPr lang="en-US" altLang="zh-CN" sz="1600" dirty="0">
                <a:solidFill>
                  <a:schemeClr val="bg1"/>
                </a:solidFill>
                <a:latin typeface="微软雅黑" pitchFamily="34" charset="-122"/>
                <a:ea typeface="微软雅黑" pitchFamily="34" charset="-122"/>
              </a:rPr>
              <a:t>OTA</a:t>
            </a:r>
            <a:r>
              <a:rPr lang="zh-CN" altLang="en-US" sz="1600" dirty="0" smtClean="0">
                <a:solidFill>
                  <a:schemeClr val="bg1"/>
                </a:solidFill>
                <a:latin typeface="微软雅黑" pitchFamily="34" charset="-122"/>
                <a:ea typeface="微软雅黑" pitchFamily="34" charset="-122"/>
              </a:rPr>
              <a:t>（空中</a:t>
            </a:r>
            <a:r>
              <a:rPr lang="zh-CN" altLang="en-US" sz="1600" dirty="0">
                <a:solidFill>
                  <a:schemeClr val="bg1"/>
                </a:solidFill>
                <a:latin typeface="微软雅黑" pitchFamily="34" charset="-122"/>
                <a:ea typeface="微软雅黑" pitchFamily="34" charset="-122"/>
              </a:rPr>
              <a:t>下载技术） 更新数据</a:t>
            </a:r>
            <a:r>
              <a:rPr lang="zh-CN" altLang="en-US" sz="1600" dirty="0" smtClean="0">
                <a:solidFill>
                  <a:schemeClr val="bg1"/>
                </a:solidFill>
                <a:latin typeface="微软雅黑" pitchFamily="34" charset="-122"/>
                <a:ea typeface="微软雅黑" pitchFamily="34" charset="-122"/>
              </a:rPr>
              <a:t>，或定制</a:t>
            </a:r>
            <a:r>
              <a:rPr lang="zh-CN" altLang="en-US" sz="1600" dirty="0">
                <a:solidFill>
                  <a:schemeClr val="bg1"/>
                </a:solidFill>
                <a:latin typeface="微软雅黑" pitchFamily="34" charset="-122"/>
                <a:ea typeface="微软雅黑" pitchFamily="34" charset="-122"/>
              </a:rPr>
              <a:t>新的个性化服务。</a:t>
            </a:r>
          </a:p>
        </p:txBody>
      </p:sp>
      <p:sp>
        <p:nvSpPr>
          <p:cNvPr id="5" name="矩形 4"/>
          <p:cNvSpPr/>
          <p:nvPr/>
        </p:nvSpPr>
        <p:spPr>
          <a:xfrm>
            <a:off x="972799" y="3164919"/>
            <a:ext cx="7148217" cy="373051"/>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）辅助 </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自动</a:t>
            </a:r>
            <a:r>
              <a:rPr lang="zh-CN" altLang="en-US" sz="1600" dirty="0" smtClean="0">
                <a:solidFill>
                  <a:schemeClr val="bg1"/>
                </a:solidFill>
                <a:latin typeface="微软雅黑" pitchFamily="34" charset="-122"/>
                <a:ea typeface="微软雅黑" pitchFamily="34" charset="-122"/>
              </a:rPr>
              <a:t>驾驶：智能网</a:t>
            </a:r>
            <a:r>
              <a:rPr lang="zh-CN" altLang="en-US" sz="1600" dirty="0">
                <a:solidFill>
                  <a:schemeClr val="bg1"/>
                </a:solidFill>
                <a:latin typeface="微软雅黑" pitchFamily="34" charset="-122"/>
                <a:ea typeface="微软雅黑" pitchFamily="34" charset="-122"/>
              </a:rPr>
              <a:t>联汽车可以自动避免危险来提高驾驶的</a:t>
            </a:r>
            <a:r>
              <a:rPr lang="zh-CN" altLang="en-US" sz="1600" dirty="0" smtClean="0">
                <a:solidFill>
                  <a:schemeClr val="bg1"/>
                </a:solidFill>
                <a:latin typeface="微软雅黑" pitchFamily="34" charset="-122"/>
                <a:ea typeface="微软雅黑" pitchFamily="34" charset="-122"/>
              </a:rPr>
              <a:t>安全性。</a:t>
            </a:r>
            <a:endParaRPr lang="zh-CN" altLang="en-US" sz="1600" dirty="0">
              <a:solidFill>
                <a:schemeClr val="bg1"/>
              </a:solidFill>
              <a:latin typeface="微软雅黑" pitchFamily="34" charset="-122"/>
              <a:ea typeface="微软雅黑" pitchFamily="34" charset="-122"/>
            </a:endParaRPr>
          </a:p>
        </p:txBody>
      </p:sp>
      <p:sp>
        <p:nvSpPr>
          <p:cNvPr id="7" name="矩形 6"/>
          <p:cNvSpPr/>
          <p:nvPr/>
        </p:nvSpPr>
        <p:spPr>
          <a:xfrm>
            <a:off x="972800" y="3651870"/>
            <a:ext cx="7128792"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）车辆保养</a:t>
            </a:r>
            <a:r>
              <a:rPr lang="zh-CN" altLang="en-US" sz="1600" dirty="0" smtClean="0">
                <a:solidFill>
                  <a:schemeClr val="bg1"/>
                </a:solidFill>
                <a:latin typeface="微软雅黑" pitchFamily="34" charset="-122"/>
                <a:ea typeface="微软雅黑" pitchFamily="34" charset="-122"/>
              </a:rPr>
              <a:t>维修：智能网</a:t>
            </a:r>
            <a:r>
              <a:rPr lang="zh-CN" altLang="en-US" sz="1600" dirty="0">
                <a:solidFill>
                  <a:schemeClr val="bg1"/>
                </a:solidFill>
                <a:latin typeface="微软雅黑" pitchFamily="34" charset="-122"/>
                <a:ea typeface="微软雅黑" pitchFamily="34" charset="-122"/>
              </a:rPr>
              <a:t>联汽车在</a:t>
            </a:r>
            <a:r>
              <a:rPr lang="zh-CN" altLang="en-US" sz="1600" dirty="0" smtClean="0">
                <a:solidFill>
                  <a:schemeClr val="bg1"/>
                </a:solidFill>
                <a:latin typeface="微软雅黑" pitchFamily="34" charset="-122"/>
                <a:ea typeface="微软雅黑" pitchFamily="34" charset="-122"/>
              </a:rPr>
              <a:t>使用</a:t>
            </a:r>
            <a:r>
              <a:rPr lang="zh-CN" altLang="en-US" sz="1600" dirty="0">
                <a:solidFill>
                  <a:schemeClr val="bg1"/>
                </a:solidFill>
                <a:latin typeface="微软雅黑" pitchFamily="34" charset="-122"/>
                <a:ea typeface="微软雅黑" pitchFamily="34" charset="-122"/>
              </a:rPr>
              <a:t>过程中，通过监控车辆零件的磨损和使用里程 </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时间信息，结合用户的驾驶习惯预测</a:t>
            </a:r>
            <a:r>
              <a:rPr lang="zh-CN" altLang="en-US" sz="1600" dirty="0" smtClean="0">
                <a:solidFill>
                  <a:schemeClr val="bg1"/>
                </a:solidFill>
                <a:latin typeface="微软雅黑" pitchFamily="34" charset="-122"/>
                <a:ea typeface="微软雅黑" pitchFamily="34" charset="-122"/>
              </a:rPr>
              <a:t>车辆</a:t>
            </a:r>
            <a:r>
              <a:rPr lang="zh-CN" altLang="en-US" sz="1600" dirty="0">
                <a:solidFill>
                  <a:schemeClr val="bg1"/>
                </a:solidFill>
                <a:latin typeface="微软雅黑" pitchFamily="34" charset="-122"/>
                <a:ea typeface="微软雅黑" pitchFamily="34" charset="-122"/>
              </a:rPr>
              <a:t>需要的保养维修需求。智能网联汽车还可以根据特定的车辆状况，例如控制系统监控</a:t>
            </a:r>
            <a:r>
              <a:rPr lang="zh-CN" altLang="en-US" sz="1600" dirty="0" smtClean="0">
                <a:solidFill>
                  <a:schemeClr val="bg1"/>
                </a:solidFill>
                <a:latin typeface="微软雅黑" pitchFamily="34" charset="-122"/>
                <a:ea typeface="微软雅黑" pitchFamily="34" charset="-122"/>
              </a:rPr>
              <a:t>到故障</a:t>
            </a:r>
            <a:r>
              <a:rPr lang="zh-CN" altLang="en-US" sz="1600" dirty="0">
                <a:solidFill>
                  <a:schemeClr val="bg1"/>
                </a:solidFill>
                <a:latin typeface="微软雅黑" pitchFamily="34" charset="-122"/>
                <a:ea typeface="微软雅黑" pitchFamily="34" charset="-122"/>
              </a:rPr>
              <a:t>，发送需要保养维修的信息和故障诊断</a:t>
            </a:r>
            <a:r>
              <a:rPr lang="zh-CN" altLang="en-US" sz="1600" dirty="0" smtClean="0">
                <a:solidFill>
                  <a:schemeClr val="bg1"/>
                </a:solidFill>
                <a:latin typeface="微软雅黑" pitchFamily="34" charset="-122"/>
                <a:ea typeface="微软雅黑" pitchFamily="34" charset="-122"/>
              </a:rPr>
              <a:t>报告。</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05520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27</a:t>
            </a:fld>
            <a:endParaRPr lang="zh-CN" altLang="en-US" dirty="0"/>
          </a:p>
        </p:txBody>
      </p:sp>
      <p:sp>
        <p:nvSpPr>
          <p:cNvPr id="8"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智能网联汽车与传统汽车的区别</a:t>
            </a:r>
            <a:endParaRPr lang="zh-CN" altLang="en-US" dirty="0" smtClean="0">
              <a:latin typeface="微软雅黑" panose="020B0503020204020204" pitchFamily="34" charset="-122"/>
            </a:endParaRPr>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有哪些关键技术</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965064" y="1571167"/>
            <a:ext cx="7207335"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4</a:t>
            </a:r>
            <a:r>
              <a:rPr lang="zh-CN" altLang="en-US" sz="1600" dirty="0">
                <a:solidFill>
                  <a:schemeClr val="bg1"/>
                </a:solidFill>
                <a:latin typeface="微软雅黑" pitchFamily="34" charset="-122"/>
                <a:ea typeface="微软雅黑" pitchFamily="34" charset="-122"/>
              </a:rPr>
              <a:t>）紧急救援</a:t>
            </a:r>
            <a:r>
              <a:rPr lang="zh-CN" altLang="en-US" sz="1600" dirty="0" smtClean="0">
                <a:solidFill>
                  <a:schemeClr val="bg1"/>
                </a:solidFill>
                <a:latin typeface="微软雅黑" pitchFamily="34" charset="-122"/>
                <a:ea typeface="微软雅黑" pitchFamily="34" charset="-122"/>
              </a:rPr>
              <a:t>求助：当</a:t>
            </a:r>
            <a:r>
              <a:rPr lang="zh-CN" altLang="en-US" sz="1600" dirty="0">
                <a:solidFill>
                  <a:schemeClr val="bg1"/>
                </a:solidFill>
                <a:latin typeface="微软雅黑" pitchFamily="34" charset="-122"/>
                <a:ea typeface="微软雅黑" pitchFamily="34" charset="-122"/>
              </a:rPr>
              <a:t>车辆发生交通事故、盗抢、防盗系统意外触发等需要求助的情境时，智能网联汽 车可以通过紧急救援功能，自动向交管监控中心或维修中心发送紧急救援服务信息</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10" name="矩形 9"/>
          <p:cNvSpPr/>
          <p:nvPr/>
        </p:nvSpPr>
        <p:spPr>
          <a:xfrm>
            <a:off x="963145" y="2643758"/>
            <a:ext cx="3176807" cy="1776640"/>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5</a:t>
            </a:r>
            <a:r>
              <a:rPr lang="zh-CN" altLang="en-US" sz="1600" dirty="0">
                <a:solidFill>
                  <a:schemeClr val="bg1"/>
                </a:solidFill>
                <a:latin typeface="微软雅黑" pitchFamily="34" charset="-122"/>
                <a:ea typeface="微软雅黑" pitchFamily="34" charset="-122"/>
              </a:rPr>
              <a:t>）个性化</a:t>
            </a:r>
            <a:r>
              <a:rPr lang="zh-CN" altLang="en-US" sz="1600" dirty="0" smtClean="0">
                <a:solidFill>
                  <a:schemeClr val="bg1"/>
                </a:solidFill>
                <a:latin typeface="微软雅黑" pitchFamily="34" charset="-122"/>
                <a:ea typeface="微软雅黑" pitchFamily="34" charset="-122"/>
              </a:rPr>
              <a:t>定制：智能网</a:t>
            </a:r>
            <a:r>
              <a:rPr lang="zh-CN" altLang="en-US" sz="1600" dirty="0">
                <a:solidFill>
                  <a:schemeClr val="bg1"/>
                </a:solidFill>
                <a:latin typeface="微软雅黑" pitchFamily="34" charset="-122"/>
                <a:ea typeface="微软雅黑" pitchFamily="34" charset="-122"/>
              </a:rPr>
              <a:t>联汽车将向用户提供更智能、更丰富的定制化服务方案，在保证安全驾驶的</a:t>
            </a:r>
            <a:r>
              <a:rPr lang="zh-CN" altLang="en-US" sz="1600" dirty="0" smtClean="0">
                <a:solidFill>
                  <a:schemeClr val="bg1"/>
                </a:solidFill>
                <a:latin typeface="微软雅黑" pitchFamily="34" charset="-122"/>
                <a:ea typeface="微软雅黑" pitchFamily="34" charset="-122"/>
              </a:rPr>
              <a:t>前提</a:t>
            </a:r>
            <a:r>
              <a:rPr lang="zh-CN" altLang="en-US" sz="1600" dirty="0">
                <a:solidFill>
                  <a:schemeClr val="bg1"/>
                </a:solidFill>
                <a:latin typeface="微软雅黑" pitchFamily="34" charset="-122"/>
                <a:ea typeface="微软雅黑" pitchFamily="34" charset="-122"/>
              </a:rPr>
              <a:t>下定制开发用户对车辆的特殊扩展功能，以满足各种个性化的需求。</a:t>
            </a:r>
          </a:p>
        </p:txBody>
      </p:sp>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4471" y="2628975"/>
            <a:ext cx="3817929" cy="172819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4700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28</a:t>
            </a:fld>
            <a:endParaRPr lang="zh-CN" altLang="en-US" dirty="0"/>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有哪些标准体系</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131590"/>
            <a:ext cx="7200800" cy="1215204"/>
          </a:xfrm>
          <a:prstGeom prst="rect">
            <a:avLst/>
          </a:prstGeom>
        </p:spPr>
        <p:txBody>
          <a:bodyPr wrap="square">
            <a:spAutoFit/>
          </a:bodyPr>
          <a:lstStyle/>
          <a:p>
            <a:pPr>
              <a:lnSpc>
                <a:spcPct val="114000"/>
              </a:lnSpc>
            </a:pPr>
            <a:r>
              <a:rPr lang="zh-CN" altLang="en-US" sz="1600" dirty="0">
                <a:latin typeface="微软雅黑" pitchFamily="34" charset="-122"/>
                <a:ea typeface="微软雅黑" pitchFamily="34" charset="-122"/>
              </a:rPr>
              <a:t>近年来，我国加快制定智能网联汽车的相关标准、法规体系，引导汽车行业规范化、 健康稳定发展，先后制定了</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节能汽车与新能源汽车技术路线图</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国家车联网产业标准 体系建设指南（智能网联汽车）</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智能网联汽车自动驾驶功能测试规程（试行）</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等</a:t>
            </a:r>
            <a:r>
              <a:rPr lang="zh-CN" altLang="en-US" sz="1600" dirty="0" smtClean="0">
                <a:latin typeface="微软雅黑" pitchFamily="34" charset="-122"/>
                <a:ea typeface="微软雅黑" pitchFamily="34" charset="-122"/>
              </a:rPr>
              <a:t>指导</a:t>
            </a:r>
            <a:r>
              <a:rPr lang="zh-CN" altLang="en-US" sz="1600" dirty="0">
                <a:latin typeface="微软雅黑" pitchFamily="34" charset="-122"/>
                <a:ea typeface="微软雅黑" pitchFamily="34" charset="-122"/>
              </a:rPr>
              <a:t>文件。</a:t>
            </a:r>
          </a:p>
        </p:txBody>
      </p:sp>
      <p:sp>
        <p:nvSpPr>
          <p:cNvPr id="4" name="矩形 3"/>
          <p:cNvSpPr/>
          <p:nvPr/>
        </p:nvSpPr>
        <p:spPr>
          <a:xfrm>
            <a:off x="971600" y="2380636"/>
            <a:ext cx="7200800"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我国智能网联</a:t>
            </a:r>
            <a:r>
              <a:rPr lang="zh-CN" altLang="en-US" sz="1600" dirty="0" smtClean="0">
                <a:solidFill>
                  <a:schemeClr val="bg1"/>
                </a:solidFill>
                <a:latin typeface="微软雅黑" pitchFamily="34" charset="-122"/>
                <a:ea typeface="微软雅黑" pitchFamily="34" charset="-122"/>
              </a:rPr>
              <a:t>汽车分</a:t>
            </a:r>
            <a:r>
              <a:rPr lang="zh-CN" altLang="en-US" sz="1600" dirty="0">
                <a:solidFill>
                  <a:schemeClr val="bg1"/>
                </a:solidFill>
                <a:latin typeface="微软雅黑" pitchFamily="34" charset="-122"/>
                <a:ea typeface="微软雅黑" pitchFamily="34" charset="-122"/>
              </a:rPr>
              <a:t>标委下设立了高级驾驶</a:t>
            </a:r>
            <a:r>
              <a:rPr lang="zh-CN" altLang="en-US" sz="1600" dirty="0" smtClean="0">
                <a:solidFill>
                  <a:schemeClr val="bg1"/>
                </a:solidFill>
                <a:latin typeface="微软雅黑" pitchFamily="34" charset="-122"/>
                <a:ea typeface="微软雅黑" pitchFamily="34" charset="-122"/>
              </a:rPr>
              <a:t>辅助系统</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ADAS</a:t>
            </a:r>
            <a:r>
              <a:rPr lang="zh-CN" altLang="en-US" sz="1600" dirty="0">
                <a:solidFill>
                  <a:schemeClr val="bg1"/>
                </a:solidFill>
                <a:latin typeface="微软雅黑" pitchFamily="34" charset="-122"/>
                <a:ea typeface="微软雅黑" pitchFamily="34" charset="-122"/>
              </a:rPr>
              <a:t>）标准工作组、自动驾驶（</a:t>
            </a:r>
            <a:r>
              <a:rPr lang="en-US" altLang="zh-CN" sz="1600" dirty="0">
                <a:solidFill>
                  <a:schemeClr val="bg1"/>
                </a:solidFill>
                <a:latin typeface="微软雅黑" pitchFamily="34" charset="-122"/>
                <a:ea typeface="微软雅黑" pitchFamily="34" charset="-122"/>
              </a:rPr>
              <a:t>AD</a:t>
            </a:r>
            <a:r>
              <a:rPr lang="zh-CN" altLang="en-US" sz="1600" dirty="0">
                <a:solidFill>
                  <a:schemeClr val="bg1"/>
                </a:solidFill>
                <a:latin typeface="微软雅黑" pitchFamily="34" charset="-122"/>
                <a:ea typeface="微软雅黑" pitchFamily="34" charset="-122"/>
              </a:rPr>
              <a:t>）工作组、汽车信息安全标准工作组、汽车功能 安全标准工作组和网联功能及应用工作组，开展各细分领域标准的研究制定</a:t>
            </a:r>
            <a:r>
              <a:rPr lang="zh-CN" altLang="en-US" sz="1600" dirty="0" smtClean="0">
                <a:solidFill>
                  <a:schemeClr val="bg1"/>
                </a:solidFill>
                <a:latin typeface="微软雅黑" pitchFamily="34" charset="-122"/>
                <a:ea typeface="微软雅黑" pitchFamily="34" charset="-122"/>
              </a:rPr>
              <a:t>工作。</a:t>
            </a:r>
            <a:endParaRPr lang="zh-CN" altLang="en-US" sz="1600" dirty="0">
              <a:solidFill>
                <a:schemeClr val="bg1"/>
              </a:solidFill>
              <a:latin typeface="微软雅黑" pitchFamily="34" charset="-122"/>
              <a:ea typeface="微软雅黑" pitchFamily="34" charset="-122"/>
            </a:endParaRPr>
          </a:p>
        </p:txBody>
      </p:sp>
      <p:sp>
        <p:nvSpPr>
          <p:cNvPr id="11" name="矩形 10"/>
          <p:cNvSpPr/>
          <p:nvPr/>
        </p:nvSpPr>
        <p:spPr>
          <a:xfrm>
            <a:off x="971600" y="3435846"/>
            <a:ext cx="7200800" cy="913199"/>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智能网</a:t>
            </a:r>
            <a:r>
              <a:rPr lang="zh-CN" altLang="en-US" sz="1600" dirty="0">
                <a:solidFill>
                  <a:schemeClr val="bg1"/>
                </a:solidFill>
                <a:latin typeface="微软雅黑" pitchFamily="34" charset="-122"/>
                <a:ea typeface="微软雅黑" pitchFamily="34" charset="-122"/>
              </a:rPr>
              <a:t>联汽车标准制定的大致流程是</a:t>
            </a:r>
            <a:r>
              <a:rPr lang="zh-CN" altLang="en-US" sz="1600" dirty="0" smtClean="0">
                <a:solidFill>
                  <a:schemeClr val="bg1"/>
                </a:solidFill>
                <a:latin typeface="微软雅黑" pitchFamily="34" charset="-122"/>
                <a:ea typeface="微软雅黑" pitchFamily="34" charset="-122"/>
              </a:rPr>
              <a:t>：预</a:t>
            </a:r>
            <a:r>
              <a:rPr lang="zh-CN" altLang="en-US" sz="1600" dirty="0">
                <a:solidFill>
                  <a:schemeClr val="bg1"/>
                </a:solidFill>
                <a:latin typeface="微软雅黑" pitchFamily="34" charset="-122"/>
                <a:ea typeface="微软雅黑" pitchFamily="34" charset="-122"/>
              </a:rPr>
              <a:t>研</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立项</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起草制定</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审查</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报批</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发布。 </a:t>
            </a:r>
            <a:r>
              <a:rPr lang="zh-CN" altLang="en-US" sz="1600" dirty="0" smtClean="0">
                <a:solidFill>
                  <a:schemeClr val="bg1"/>
                </a:solidFill>
                <a:latin typeface="微软雅黑" pitchFamily="34" charset="-122"/>
                <a:ea typeface="微软雅黑" pitchFamily="34" charset="-122"/>
              </a:rPr>
              <a:t>标准</a:t>
            </a:r>
            <a:r>
              <a:rPr lang="zh-CN" altLang="en-US" sz="1600" dirty="0">
                <a:solidFill>
                  <a:schemeClr val="bg1"/>
                </a:solidFill>
                <a:latin typeface="微软雅黑" pitchFamily="34" charset="-122"/>
                <a:ea typeface="微软雅黑" pitchFamily="34" charset="-122"/>
              </a:rPr>
              <a:t>的制定周期相对较长，因此大部分智能网联汽车的国标目前仍处于“预研”</a:t>
            </a:r>
            <a:r>
              <a:rPr lang="zh-CN" altLang="en-US" sz="1600" dirty="0" smtClean="0">
                <a:solidFill>
                  <a:schemeClr val="bg1"/>
                </a:solidFill>
                <a:latin typeface="微软雅黑" pitchFamily="34" charset="-122"/>
                <a:ea typeface="微软雅黑" pitchFamily="34" charset="-122"/>
              </a:rPr>
              <a:t>状态。</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73454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29</a:t>
            </a:fld>
            <a:endParaRPr lang="zh-CN" altLang="en-US" dirty="0"/>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有哪些标准体系</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7"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1.</a:t>
            </a:r>
            <a:r>
              <a:rPr lang="zh-CN" altLang="en-US" b="1" dirty="0" smtClean="0">
                <a:latin typeface="微软雅黑" panose="020B0503020204020204" pitchFamily="34" charset="-122"/>
              </a:rPr>
              <a:t>智能网联汽车标准体系</a:t>
            </a:r>
            <a:endParaRPr lang="zh-CN" altLang="en-US" dirty="0" smtClean="0">
              <a:latin typeface="微软雅黑" panose="020B0503020204020204" pitchFamily="34" charset="-122"/>
            </a:endParaRP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594367"/>
            <a:ext cx="5328592" cy="3196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367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30</a:t>
            </a:fld>
            <a:endParaRPr lang="zh-CN" altLang="en-US" dirty="0"/>
          </a:p>
        </p:txBody>
      </p:sp>
      <p:sp>
        <p:nvSpPr>
          <p:cNvPr id="9" name="矩形 8"/>
          <p:cNvSpPr/>
          <p:nvPr/>
        </p:nvSpPr>
        <p:spPr>
          <a:xfrm>
            <a:off x="665087" y="411510"/>
            <a:ext cx="7717073" cy="646331"/>
          </a:xfrm>
          <a:prstGeom prst="rect">
            <a:avLst/>
          </a:prstGeom>
        </p:spPr>
        <p:txBody>
          <a:bodyPr wrap="square">
            <a:spAutoFit/>
          </a:bodyPr>
          <a:lstStyle/>
          <a:p>
            <a:pPr indent="406400" algn="ctr" fontAlgn="auto">
              <a:lnSpc>
                <a:spcPct val="150000"/>
              </a:lnSpc>
              <a:extLst>
                <a:ext uri="{35155182-B16C-46BC-9424-99874614C6A1}">
                  <wpsdc:indentchars xmlns:wpsdc="http://www.wps.cn/officeDocument/2017/drawingmlCustomData" xmlns="" xmlns:lc="http://schemas.openxmlformats.org/drawingml/2006/lockedCanvas" val="200" checksum="1740828767"/>
                </a:ext>
              </a:extLst>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智能网联</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汽车</a:t>
            </a: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有哪些标准体系</a:t>
            </a:r>
            <a:r>
              <a:rPr lang="zh-CN" altLang="zh-CN" sz="2400" b="1" dirty="0" smtClean="0">
                <a:solidFill>
                  <a:schemeClr val="accent1">
                    <a:lumMod val="75000"/>
                  </a:schemeClr>
                </a:solidFill>
                <a:latin typeface="微软雅黑" panose="020B0503020204020204" pitchFamily="34" charset="-122"/>
                <a:ea typeface="微软雅黑" panose="020B0503020204020204" pitchFamily="34" charset="-122"/>
              </a:rPr>
              <a:t>？</a:t>
            </a:r>
            <a:endParaRPr lang="zh-CN"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7" name="Text Box 8"/>
          <p:cNvSpPr>
            <a:spLocks noChangeArrowheads="1"/>
          </p:cNvSpPr>
          <p:nvPr/>
        </p:nvSpPr>
        <p:spPr bwMode="auto">
          <a:xfrm>
            <a:off x="971600" y="1160415"/>
            <a:ext cx="72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smtClean="0">
                <a:latin typeface="微软雅黑" panose="020B0503020204020204" pitchFamily="34" charset="-122"/>
              </a:rPr>
              <a:t>2.</a:t>
            </a:r>
            <a:r>
              <a:rPr lang="zh-CN" altLang="en-US" b="1" dirty="0" smtClean="0">
                <a:latin typeface="微软雅黑" panose="020B0503020204020204" pitchFamily="34" charset="-122"/>
              </a:rPr>
              <a:t>智能网联汽车标准建设计划</a:t>
            </a:r>
            <a:endParaRPr lang="zh-CN" altLang="en-US" dirty="0" smtClean="0">
              <a:latin typeface="微软雅黑" panose="020B0503020204020204" pitchFamily="34" charset="-122"/>
            </a:endParaRPr>
          </a:p>
        </p:txBody>
      </p:sp>
      <p:sp>
        <p:nvSpPr>
          <p:cNvPr id="2" name="矩形 1"/>
          <p:cNvSpPr/>
          <p:nvPr/>
        </p:nvSpPr>
        <p:spPr>
          <a:xfrm>
            <a:off x="971600" y="1635646"/>
            <a:ext cx="7200800" cy="934487"/>
          </a:xfrm>
          <a:prstGeom prst="rect">
            <a:avLst/>
          </a:prstGeom>
        </p:spPr>
        <p:txBody>
          <a:bodyPr wrap="square">
            <a:spAutoFit/>
          </a:bodyPr>
          <a:lstStyle/>
          <a:p>
            <a:pPr>
              <a:lnSpc>
                <a:spcPct val="114000"/>
              </a:lnSpc>
            </a:pPr>
            <a:r>
              <a:rPr lang="en-US" altLang="zh-CN" sz="1600" dirty="0">
                <a:latin typeface="微软雅黑" pitchFamily="34" charset="-122"/>
                <a:ea typeface="微软雅黑" pitchFamily="34" charset="-122"/>
              </a:rPr>
              <a:t>2020 </a:t>
            </a:r>
            <a:r>
              <a:rPr lang="zh-CN" altLang="en-US" sz="1600" dirty="0">
                <a:latin typeface="微软雅黑" pitchFamily="34" charset="-122"/>
                <a:ea typeface="微软雅黑" pitchFamily="34" charset="-122"/>
              </a:rPr>
              <a:t>年 </a:t>
            </a:r>
            <a:r>
              <a:rPr lang="en-US" altLang="zh-CN" sz="1600" dirty="0">
                <a:latin typeface="微软雅黑" pitchFamily="34" charset="-122"/>
                <a:ea typeface="微软雅黑" pitchFamily="34" charset="-122"/>
              </a:rPr>
              <a:t>9 </a:t>
            </a:r>
            <a:r>
              <a:rPr lang="zh-CN" altLang="en-US" sz="1600" dirty="0">
                <a:latin typeface="微软雅黑" pitchFamily="34" charset="-122"/>
                <a:ea typeface="微软雅黑" pitchFamily="34" charset="-122"/>
              </a:rPr>
              <a:t>月 </a:t>
            </a:r>
            <a:r>
              <a:rPr lang="en-US" altLang="zh-CN" sz="1600" dirty="0">
                <a:latin typeface="微软雅黑" pitchFamily="34" charset="-122"/>
                <a:ea typeface="微软雅黑" pitchFamily="34" charset="-122"/>
              </a:rPr>
              <a:t>15 </a:t>
            </a:r>
            <a:r>
              <a:rPr lang="zh-CN" altLang="en-US" sz="1600" dirty="0">
                <a:latin typeface="微软雅黑" pitchFamily="34" charset="-122"/>
                <a:ea typeface="微软雅黑" pitchFamily="34" charset="-122"/>
              </a:rPr>
              <a:t>日，第六届智能网联汽车技术及标准法规国际交流会（</a:t>
            </a:r>
            <a:r>
              <a:rPr lang="en-US" altLang="zh-CN" sz="1600" dirty="0">
                <a:latin typeface="微软雅黑" pitchFamily="34" charset="-122"/>
                <a:ea typeface="微软雅黑" pitchFamily="34" charset="-122"/>
              </a:rPr>
              <a:t>ICV2020</a:t>
            </a:r>
            <a:r>
              <a:rPr lang="zh-CN" altLang="en-US" sz="1600" dirty="0">
                <a:latin typeface="微软雅黑" pitchFamily="34" charset="-122"/>
                <a:ea typeface="微软雅黑" pitchFamily="34" charset="-122"/>
              </a:rPr>
              <a:t>）期间</a:t>
            </a:r>
            <a:r>
              <a:rPr lang="zh-CN" altLang="en-US" sz="1600" dirty="0" smtClean="0">
                <a:latin typeface="微软雅黑" pitchFamily="34" charset="-122"/>
                <a:ea typeface="微软雅黑" pitchFamily="34" charset="-122"/>
              </a:rPr>
              <a:t>，中国</a:t>
            </a:r>
            <a:r>
              <a:rPr lang="zh-CN" altLang="en-US" sz="1600" dirty="0">
                <a:latin typeface="微软雅黑" pitchFamily="34" charset="-122"/>
                <a:ea typeface="微软雅黑" pitchFamily="34" charset="-122"/>
              </a:rPr>
              <a:t>智能网联汽车产业创新联盟（</a:t>
            </a:r>
            <a:r>
              <a:rPr lang="en-US" altLang="zh-CN" sz="1600" dirty="0" smtClean="0">
                <a:latin typeface="微软雅黑" pitchFamily="34" charset="-122"/>
                <a:ea typeface="微软雅黑" pitchFamily="34" charset="-122"/>
              </a:rPr>
              <a:t>CAICV</a:t>
            </a:r>
            <a:r>
              <a:rPr lang="zh-CN" altLang="en-US" sz="1600" dirty="0" smtClean="0">
                <a:latin typeface="微软雅黑" pitchFamily="34" charset="-122"/>
                <a:ea typeface="微软雅黑" pitchFamily="34" charset="-122"/>
              </a:rPr>
              <a:t>）</a:t>
            </a:r>
            <a:r>
              <a:rPr lang="zh-CN" altLang="en-US" sz="1600" dirty="0">
                <a:latin typeface="微软雅黑" pitchFamily="34" charset="-122"/>
                <a:ea typeface="微软雅黑" pitchFamily="34" charset="-122"/>
              </a:rPr>
              <a:t>正式发布</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智能网联汽车 团体标准体系建设指南</a:t>
            </a:r>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3" name="矩形 2"/>
          <p:cNvSpPr/>
          <p:nvPr/>
        </p:nvSpPr>
        <p:spPr>
          <a:xfrm>
            <a:off x="923223" y="2597020"/>
            <a:ext cx="7200800" cy="1776640"/>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按照建设指南，联盟将根据智能网联汽车技术现状、产业需求及未来发展趋势，分阶 段建立智能网联汽车团体标准体系：到 </a:t>
            </a:r>
            <a:r>
              <a:rPr lang="en-US" altLang="zh-CN" sz="1600" dirty="0">
                <a:solidFill>
                  <a:schemeClr val="bg1"/>
                </a:solidFill>
                <a:latin typeface="微软雅黑" pitchFamily="34" charset="-122"/>
                <a:ea typeface="微软雅黑" pitchFamily="34" charset="-122"/>
              </a:rPr>
              <a:t>2022 </a:t>
            </a:r>
            <a:r>
              <a:rPr lang="zh-CN" altLang="en-US" sz="1600" dirty="0">
                <a:solidFill>
                  <a:schemeClr val="bg1"/>
                </a:solidFill>
                <a:latin typeface="微软雅黑" pitchFamily="34" charset="-122"/>
                <a:ea typeface="微软雅黑" pitchFamily="34" charset="-122"/>
              </a:rPr>
              <a:t>年，累计制定 </a:t>
            </a:r>
            <a:r>
              <a:rPr lang="en-US" altLang="zh-CN" sz="1600" dirty="0">
                <a:solidFill>
                  <a:schemeClr val="bg1"/>
                </a:solidFill>
                <a:latin typeface="微软雅黑" pitchFamily="34" charset="-122"/>
                <a:ea typeface="微软雅黑" pitchFamily="34" charset="-122"/>
              </a:rPr>
              <a:t>25 </a:t>
            </a:r>
            <a:r>
              <a:rPr lang="zh-CN" altLang="en-US" sz="1600" dirty="0">
                <a:solidFill>
                  <a:schemeClr val="bg1"/>
                </a:solidFill>
                <a:latin typeface="微软雅黑" pitchFamily="34" charset="-122"/>
                <a:ea typeface="微软雅黑" pitchFamily="34" charset="-122"/>
              </a:rPr>
              <a:t>项智能网联汽车相关急需重 点团体标准，促进智能化产品的初步普及与网联化技术的逐步应用；到 </a:t>
            </a:r>
            <a:r>
              <a:rPr lang="en-US" altLang="zh-CN" sz="1600" dirty="0">
                <a:solidFill>
                  <a:schemeClr val="bg1"/>
                </a:solidFill>
                <a:latin typeface="微软雅黑" pitchFamily="34" charset="-122"/>
                <a:ea typeface="微软雅黑" pitchFamily="34" charset="-122"/>
              </a:rPr>
              <a:t>2025 </a:t>
            </a:r>
            <a:r>
              <a:rPr lang="zh-CN" altLang="en-US" sz="1600" dirty="0">
                <a:solidFill>
                  <a:schemeClr val="bg1"/>
                </a:solidFill>
                <a:latin typeface="微软雅黑" pitchFamily="34" charset="-122"/>
                <a:ea typeface="微软雅黑" pitchFamily="34" charset="-122"/>
              </a:rPr>
              <a:t>年，系统形 成能够支撑高级别自动驾驶的智能网联汽车系列团标，支持建设国标、行标、团标协同配 套新型标准体系，促进智能化与网联化深度融合发展，加速技术和产品的全面推广</a:t>
            </a:r>
            <a:r>
              <a:rPr lang="zh-CN" altLang="en-US" sz="1600" dirty="0" smtClean="0">
                <a:solidFill>
                  <a:schemeClr val="bg1"/>
                </a:solidFill>
                <a:latin typeface="微软雅黑" pitchFamily="34" charset="-122"/>
                <a:ea typeface="微软雅黑" pitchFamily="34" charset="-122"/>
              </a:rPr>
              <a:t>普及。</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3441684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995686"/>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31</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3115</Words>
  <Application>Microsoft Office PowerPoint</Application>
  <PresentationFormat>全屏显示(16:9)</PresentationFormat>
  <Paragraphs>166</Paragraphs>
  <Slides>31</Slides>
  <Notes>29</Notes>
  <HiddenSlides>0</HiddenSlides>
  <MMClips>0</MMClips>
  <ScaleCrop>false</ScaleCrop>
  <HeadingPairs>
    <vt:vector size="4" baseType="variant">
      <vt:variant>
        <vt:lpstr>主题</vt:lpstr>
      </vt:variant>
      <vt:variant>
        <vt:i4>1</vt:i4>
      </vt:variant>
      <vt:variant>
        <vt:lpstr>幻灯片标题</vt:lpstr>
      </vt:variant>
      <vt:variant>
        <vt:i4>31</vt:i4>
      </vt:variant>
    </vt:vector>
  </HeadingPairs>
  <TitlesOfParts>
    <vt:vector size="32"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1605</cp:revision>
  <dcterms:created xsi:type="dcterms:W3CDTF">2017-08-03T05:04:00Z</dcterms:created>
  <dcterms:modified xsi:type="dcterms:W3CDTF">2022-03-01T14:09:39Z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265393999F23435DBC83432231CB0081</vt:lpwstr>
  </property>
</Properties>
</file>