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5"/>
  </p:notesMasterIdLst>
  <p:sldIdLst>
    <p:sldId id="452" r:id="rId2"/>
    <p:sldId id="575" r:id="rId3"/>
    <p:sldId id="552" r:id="rId4"/>
    <p:sldId id="631" r:id="rId5"/>
    <p:sldId id="632" r:id="rId6"/>
    <p:sldId id="607" r:id="rId7"/>
    <p:sldId id="608" r:id="rId8"/>
    <p:sldId id="633" r:id="rId9"/>
    <p:sldId id="609" r:id="rId10"/>
    <p:sldId id="623" r:id="rId11"/>
    <p:sldId id="592" r:id="rId12"/>
    <p:sldId id="624" r:id="rId13"/>
    <p:sldId id="625" r:id="rId14"/>
    <p:sldId id="626" r:id="rId15"/>
    <p:sldId id="610" r:id="rId16"/>
    <p:sldId id="627" r:id="rId17"/>
    <p:sldId id="628" r:id="rId18"/>
    <p:sldId id="634" r:id="rId19"/>
    <p:sldId id="611" r:id="rId20"/>
    <p:sldId id="629" r:id="rId21"/>
    <p:sldId id="630" r:id="rId22"/>
    <p:sldId id="635" r:id="rId23"/>
    <p:sldId id="569" r:id="rId24"/>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A735"/>
    <a:srgbClr val="E20000"/>
    <a:srgbClr val="0A8029"/>
    <a:srgbClr val="6BA42C"/>
    <a:srgbClr val="080B86"/>
    <a:srgbClr val="2A6430"/>
    <a:srgbClr val="F2DCDB"/>
    <a:srgbClr val="EECECD"/>
    <a:srgbClr val="FAC090"/>
    <a:srgbClr val="88B0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62" autoAdjust="0"/>
    <p:restoredTop sz="83310" autoAdjust="0"/>
  </p:normalViewPr>
  <p:slideViewPr>
    <p:cSldViewPr>
      <p:cViewPr>
        <p:scale>
          <a:sx n="70" d="100"/>
          <a:sy n="70" d="100"/>
        </p:scale>
        <p:origin x="-612" y="-60"/>
      </p:cViewPr>
      <p:guideLst>
        <p:guide orient="horz" pos="1400"/>
        <p:guide pos="28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DBC56A5-6504-4F84-B307-892CFB3AFEA7}" type="datetimeFigureOut">
              <a:rPr lang="zh-CN" altLang="en-US" smtClean="0"/>
              <a:t>2022/3/2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B046C-3A01-41E6-A822-7FA0A1965D87}" type="slidenum">
              <a:rPr lang="zh-CN" altLang="en-US" smtClean="0"/>
              <a:t>‹#›</a:t>
            </a:fld>
            <a:endParaRPr lang="zh-CN" altLang="en-US"/>
          </a:p>
        </p:txBody>
      </p:sp>
    </p:spTree>
    <p:extLst>
      <p:ext uri="{BB962C8B-B14F-4D97-AF65-F5344CB8AC3E}">
        <p14:creationId xmlns:p14="http://schemas.microsoft.com/office/powerpoint/2010/main" val="111669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A16A2C8B-5710-4407-A094-7D0381341E3B}" type="datetime1">
              <a:rPr lang="zh-CN" altLang="en-US" smtClean="0"/>
              <a:t>2022/3/2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Picture 2" descr="body"/>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87624" y="466367"/>
            <a:ext cx="6176442" cy="4300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755576" y="1063229"/>
            <a:ext cx="8229600" cy="3394472"/>
          </a:xfr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BFE8FFB4-D8F7-48E0-9754-FAF3066818AC}" type="datetime1">
              <a:rPr lang="zh-CN" altLang="en-US" smtClean="0"/>
              <a:t>2022/3/2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3D4017A1-F837-41FD-8512-7BBDAF0EED8B}" type="datetime1">
              <a:rPr lang="zh-CN" altLang="en-US" smtClean="0"/>
              <a:t>2022/3/2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8E7C002-758E-4D25-975A-AB620C087E93}" type="datetime1">
              <a:rPr lang="zh-CN" altLang="en-US" smtClean="0"/>
              <a:t>2022/3/2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2F3E8EA-488D-4BB4-AB2B-C90BF1352AF7}" type="datetime1">
              <a:rPr lang="zh-CN" altLang="en-US" smtClean="0"/>
              <a:t>2022/3/2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E3622F2-C2FC-4FED-ABEC-518BAC9A44A6}" type="datetime1">
              <a:rPr lang="zh-CN" altLang="en-US" smtClean="0"/>
              <a:t>2022/3/2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6DA4C27-18E3-4311-8A9B-EEA28C49A864}" type="datetime1">
              <a:rPr lang="zh-CN" altLang="en-US" smtClean="0"/>
              <a:t>2022/3/2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38DB677-D259-4E34-9A89-F6EEDF9008C9}" type="datetime1">
              <a:rPr lang="zh-CN" altLang="en-US" smtClean="0"/>
              <a:t>2022/3/2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0DAD84B-109E-4527-94FF-867BDC11262B}" type="datetime1">
              <a:rPr lang="zh-CN" altLang="en-US" smtClean="0"/>
              <a:t>2022/3/2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EF1F9AA-5F1F-420B-9A0D-3439B6781FDC}" type="datetime1">
              <a:rPr lang="zh-CN" altLang="en-US" smtClean="0"/>
              <a:t>2022/3/2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2"/>
            <a:ext cx="2057400" cy="32908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2"/>
            <a:ext cx="6019800" cy="329088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AD0B00F-AA85-4C40-AA06-D9A56162892B}" type="datetime1">
              <a:rPr lang="zh-CN" altLang="en-US" smtClean="0"/>
              <a:t>2022/3/2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标题幻灯片">
    <p:spTree>
      <p:nvGrpSpPr>
        <p:cNvPr id="1" name=""/>
        <p:cNvGrpSpPr/>
        <p:nvPr/>
      </p:nvGrpSpPr>
      <p:grpSpPr>
        <a:xfrm>
          <a:off x="0" y="0"/>
          <a:ext cx="0" cy="0"/>
          <a:chOff x="0" y="0"/>
          <a:chExt cx="0" cy="0"/>
        </a:xfrm>
      </p:grpSpPr>
      <p:sp>
        <p:nvSpPr>
          <p:cNvPr id="3" name="Rectangle 3"/>
          <p:cNvSpPr>
            <a:spLocks noChangeArrowheads="1"/>
          </p:cNvSpPr>
          <p:nvPr userDrawn="1"/>
        </p:nvSpPr>
        <p:spPr bwMode="auto">
          <a:xfrm>
            <a:off x="5298304" y="915566"/>
            <a:ext cx="3670323" cy="342900"/>
          </a:xfrm>
          <a:prstGeom prst="rect">
            <a:avLst/>
          </a:prstGeom>
          <a:solidFill>
            <a:schemeClr val="bg1"/>
          </a:solidFill>
          <a:ln w="9525">
            <a:solidFill>
              <a:schemeClr val="bg1"/>
            </a:solidFill>
            <a:miter lim="800000"/>
          </a:ln>
        </p:spPr>
        <p:txBody>
          <a:bodyPr anchor="ctr"/>
          <a:lstStyle>
            <a:lvl1pPr eaLnBrk="0" hangingPunct="0">
              <a:defRPr sz="4400">
                <a:solidFill>
                  <a:schemeClr val="tx1"/>
                </a:solidFill>
                <a:latin typeface="Arial" panose="020B0604020202020204" pitchFamily="34" charset="0"/>
                <a:ea typeface="宋体" panose="02010600030101010101" pitchFamily="2" charset="-122"/>
              </a:defRPr>
            </a:lvl1pPr>
            <a:lvl2pPr marL="742950" indent="-285750" eaLnBrk="0" hangingPunct="0">
              <a:defRPr sz="4400">
                <a:solidFill>
                  <a:schemeClr val="tx1"/>
                </a:solidFill>
                <a:latin typeface="Arial" panose="020B0604020202020204" pitchFamily="34" charset="0"/>
                <a:ea typeface="宋体" panose="02010600030101010101" pitchFamily="2" charset="-122"/>
              </a:defRPr>
            </a:lvl2pPr>
            <a:lvl3pPr marL="1143000" indent="-228600" eaLnBrk="0" hangingPunct="0">
              <a:defRPr sz="4400">
                <a:solidFill>
                  <a:schemeClr val="tx1"/>
                </a:solidFill>
                <a:latin typeface="Arial" panose="020B0604020202020204" pitchFamily="34" charset="0"/>
                <a:ea typeface="宋体" panose="02010600030101010101" pitchFamily="2" charset="-122"/>
              </a:defRPr>
            </a:lvl3pPr>
            <a:lvl4pPr marL="1600200" indent="-228600" eaLnBrk="0" hangingPunct="0">
              <a:defRPr sz="4400">
                <a:solidFill>
                  <a:schemeClr val="tx1"/>
                </a:solidFill>
                <a:latin typeface="Arial" panose="020B0604020202020204" pitchFamily="34" charset="0"/>
                <a:ea typeface="宋体" panose="02010600030101010101" pitchFamily="2" charset="-122"/>
              </a:defRPr>
            </a:lvl4pPr>
            <a:lvl5pPr marL="2057400" indent="-228600" eaLnBrk="0" hangingPunct="0">
              <a:defRPr sz="4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Rectangle 3"/>
          <p:cNvSpPr>
            <a:spLocks noChangeArrowheads="1"/>
          </p:cNvSpPr>
          <p:nvPr userDrawn="1"/>
        </p:nvSpPr>
        <p:spPr bwMode="auto">
          <a:xfrm>
            <a:off x="467544" y="3075806"/>
            <a:ext cx="4070521" cy="1800200"/>
          </a:xfrm>
          <a:prstGeom prst="rect">
            <a:avLst/>
          </a:prstGeom>
          <a:solidFill>
            <a:schemeClr val="bg1"/>
          </a:solidFill>
          <a:ln w="9525">
            <a:solidFill>
              <a:schemeClr val="bg1"/>
            </a:solidFill>
            <a:miter lim="800000"/>
          </a:ln>
        </p:spPr>
        <p:txBody>
          <a:bodyPr anchor="ctr"/>
          <a:lstStyle>
            <a:lvl1pPr eaLnBrk="0" hangingPunct="0">
              <a:defRPr sz="4400">
                <a:solidFill>
                  <a:schemeClr val="tx1"/>
                </a:solidFill>
                <a:latin typeface="Arial" panose="020B0604020202020204" pitchFamily="34" charset="0"/>
                <a:ea typeface="宋体" panose="02010600030101010101" pitchFamily="2" charset="-122"/>
              </a:defRPr>
            </a:lvl1pPr>
            <a:lvl2pPr marL="742950" indent="-285750" eaLnBrk="0" hangingPunct="0">
              <a:defRPr sz="4400">
                <a:solidFill>
                  <a:schemeClr val="tx1"/>
                </a:solidFill>
                <a:latin typeface="Arial" panose="020B0604020202020204" pitchFamily="34" charset="0"/>
                <a:ea typeface="宋体" panose="02010600030101010101" pitchFamily="2" charset="-122"/>
              </a:defRPr>
            </a:lvl2pPr>
            <a:lvl3pPr marL="1143000" indent="-228600" eaLnBrk="0" hangingPunct="0">
              <a:defRPr sz="4400">
                <a:solidFill>
                  <a:schemeClr val="tx1"/>
                </a:solidFill>
                <a:latin typeface="Arial" panose="020B0604020202020204" pitchFamily="34" charset="0"/>
                <a:ea typeface="宋体" panose="02010600030101010101" pitchFamily="2" charset="-122"/>
              </a:defRPr>
            </a:lvl3pPr>
            <a:lvl4pPr marL="1600200" indent="-228600" eaLnBrk="0" hangingPunct="0">
              <a:defRPr sz="4400">
                <a:solidFill>
                  <a:schemeClr val="tx1"/>
                </a:solidFill>
                <a:latin typeface="Arial" panose="020B0604020202020204" pitchFamily="34" charset="0"/>
                <a:ea typeface="宋体" panose="02010600030101010101" pitchFamily="2" charset="-122"/>
              </a:defRPr>
            </a:lvl4pPr>
            <a:lvl5pPr marL="2057400" indent="-228600" eaLnBrk="0" hangingPunct="0">
              <a:defRPr sz="4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F7EA93C-689E-4CAB-A3E9-95BA7A7E3BFC}" type="datetime1">
              <a:rPr lang="zh-CN" altLang="en-US" smtClean="0"/>
              <a:t>2022/3/2</a:t>
            </a:fld>
            <a:endParaRPr lang="zh-CN" altLang="en-US"/>
          </a:p>
        </p:txBody>
      </p:sp>
      <p:sp>
        <p:nvSpPr>
          <p:cNvPr id="5" name="页脚占位符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412" y="987574"/>
            <a:ext cx="7380312" cy="2149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483517"/>
            <a:ext cx="6724104" cy="4250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3</a:t>
            </a:fld>
            <a:endParaRPr lang="zh-CN" altLang="en-US" dirty="0"/>
          </a:p>
        </p:txBody>
      </p:sp>
      <p:sp>
        <p:nvSpPr>
          <p:cNvPr id="8" name="Text Box 8"/>
          <p:cNvSpPr>
            <a:spLocks noChangeArrowheads="1"/>
          </p:cNvSpPr>
          <p:nvPr/>
        </p:nvSpPr>
        <p:spPr bwMode="auto">
          <a:xfrm>
            <a:off x="98527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智能网联汽车如何识别道路</a:t>
            </a:r>
            <a:r>
              <a:rPr lang="zh-CN" altLang="en-US" sz="3200" b="1" dirty="0" smtClean="0">
                <a:solidFill>
                  <a:schemeClr val="accent1"/>
                </a:solidFill>
                <a:latin typeface="微软雅黑" panose="020B0503020204020204" pitchFamily="34" charset="-122"/>
              </a:rPr>
              <a:t>？</a:t>
            </a:r>
            <a:endParaRPr lang="zh-CN" altLang="en-US" sz="3200" b="1" dirty="0" smtClean="0">
              <a:solidFill>
                <a:schemeClr val="accent1"/>
              </a:solidFill>
              <a:latin typeface="微软雅黑" panose="020B0503020204020204" pitchFamily="34" charset="-122"/>
            </a:endParaRPr>
          </a:p>
        </p:txBody>
      </p:sp>
      <p:sp>
        <p:nvSpPr>
          <p:cNvPr id="3" name="矩形 2"/>
          <p:cNvSpPr/>
          <p:nvPr/>
        </p:nvSpPr>
        <p:spPr>
          <a:xfrm>
            <a:off x="985270" y="1131590"/>
            <a:ext cx="2289409"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a:t>
            </a:r>
            <a:r>
              <a:rPr sz="2000" b="1" dirty="0" smtClean="0">
                <a:solidFill>
                  <a:schemeClr val="bg1"/>
                </a:solidFill>
                <a:latin typeface="微软雅黑" panose="020B0503020204020204" pitchFamily="34" charset="-122"/>
                <a:ea typeface="微软雅黑" panose="020B0503020204020204" pitchFamily="34" charset="-122"/>
              </a:rPr>
              <a:t>. </a:t>
            </a:r>
            <a:r>
              <a:rPr sz="2000" b="1" dirty="0" err="1" smtClean="0">
                <a:solidFill>
                  <a:schemeClr val="bg1"/>
                </a:solidFill>
                <a:latin typeface="微软雅黑" panose="020B0503020204020204" pitchFamily="34" charset="-122"/>
                <a:ea typeface="微软雅黑" panose="020B0503020204020204" pitchFamily="34" charset="-122"/>
              </a:rPr>
              <a:t>道路</a:t>
            </a:r>
            <a:r>
              <a:rPr lang="zh-CN" altLang="en-US" sz="2000" b="1" dirty="0" smtClean="0">
                <a:solidFill>
                  <a:schemeClr val="bg1"/>
                </a:solidFill>
                <a:latin typeface="微软雅黑" panose="020B0503020204020204" pitchFamily="34" charset="-122"/>
                <a:ea typeface="微软雅黑" panose="020B0503020204020204" pitchFamily="34" charset="-122"/>
              </a:rPr>
              <a:t>识别的定义</a:t>
            </a:r>
            <a:endParaRPr sz="2000" b="1" dirty="0" smtClean="0">
              <a:solidFill>
                <a:schemeClr val="bg1"/>
              </a:solidFill>
              <a:latin typeface="微软雅黑" panose="020B0503020204020204" pitchFamily="34" charset="-122"/>
              <a:ea typeface="微软雅黑" panose="020B0503020204020204" pitchFamily="34" charset="-122"/>
            </a:endParaRPr>
          </a:p>
        </p:txBody>
      </p:sp>
      <p:pic>
        <p:nvPicPr>
          <p:cNvPr id="71" name="图片 71" descr="图2-2-1 自动驾驶汽车识别的道路（特斯拉）"/>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6588224" y="1131590"/>
            <a:ext cx="1581150" cy="1755775"/>
          </a:xfrm>
          <a:prstGeom prst="rect">
            <a:avLst/>
          </a:prstGeom>
          <a:noFill/>
          <a:ln>
            <a:noFill/>
          </a:ln>
        </p:spPr>
      </p:pic>
      <p:pic>
        <p:nvPicPr>
          <p:cNvPr id="70" name="图片 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5292080" y="3219822"/>
            <a:ext cx="2863443" cy="1534284"/>
          </a:xfrm>
          <a:prstGeom prst="rect">
            <a:avLst/>
          </a:prstGeom>
          <a:noFill/>
          <a:ln>
            <a:noFill/>
          </a:ln>
        </p:spPr>
      </p:pic>
      <p:sp>
        <p:nvSpPr>
          <p:cNvPr id="4" name="矩形 3"/>
          <p:cNvSpPr/>
          <p:nvPr/>
        </p:nvSpPr>
        <p:spPr>
          <a:xfrm>
            <a:off x="978314" y="1650603"/>
            <a:ext cx="5393885" cy="1215204"/>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道路识别就是把真实的道路通过环境感知传感器转换成汽车能认识的道路，供</a:t>
            </a:r>
            <a:r>
              <a:rPr lang="zh-CN" altLang="en-US" sz="1600" dirty="0" smtClean="0">
                <a:solidFill>
                  <a:schemeClr val="bg1"/>
                </a:solidFill>
                <a:latin typeface="微软雅黑" pitchFamily="34" charset="-122"/>
                <a:ea typeface="微软雅黑" pitchFamily="34" charset="-122"/>
              </a:rPr>
              <a:t>智能网联</a:t>
            </a:r>
            <a:r>
              <a:rPr lang="zh-CN" altLang="en-US" sz="1600" dirty="0">
                <a:solidFill>
                  <a:schemeClr val="bg1"/>
                </a:solidFill>
                <a:latin typeface="微软雅黑" pitchFamily="34" charset="-122"/>
                <a:ea typeface="微软雅黑" pitchFamily="34" charset="-122"/>
              </a:rPr>
              <a:t>（自动驾驶）汽车行驶；或通过视觉传感器识别出车道线，提供车辆在当前车道中的</a:t>
            </a:r>
            <a:r>
              <a:rPr lang="zh-CN" altLang="en-US" sz="1600" dirty="0" smtClean="0">
                <a:solidFill>
                  <a:schemeClr val="bg1"/>
                </a:solidFill>
                <a:latin typeface="微软雅黑" pitchFamily="34" charset="-122"/>
                <a:ea typeface="微软雅黑" pitchFamily="34" charset="-122"/>
              </a:rPr>
              <a:t>位置</a:t>
            </a:r>
            <a:r>
              <a:rPr lang="zh-CN" altLang="en-US" sz="1600" dirty="0">
                <a:solidFill>
                  <a:schemeClr val="bg1"/>
                </a:solidFill>
                <a:latin typeface="微软雅黑" pitchFamily="34" charset="-122"/>
                <a:ea typeface="微软雅黑" pitchFamily="34" charset="-122"/>
              </a:rPr>
              <a:t>，帮助智能网联汽车提高行驶的</a:t>
            </a:r>
            <a:r>
              <a:rPr lang="zh-CN" altLang="en-US" sz="1600" dirty="0" smtClean="0">
                <a:solidFill>
                  <a:schemeClr val="bg1"/>
                </a:solidFill>
                <a:latin typeface="微软雅黑" pitchFamily="34" charset="-122"/>
                <a:ea typeface="微软雅黑" pitchFamily="34" charset="-122"/>
              </a:rPr>
              <a:t>安全性。</a:t>
            </a:r>
            <a:endParaRPr lang="zh-CN" altLang="en-US" sz="1600" dirty="0">
              <a:solidFill>
                <a:schemeClr val="bg1"/>
              </a:solidFill>
              <a:latin typeface="微软雅黑" pitchFamily="34" charset="-122"/>
              <a:ea typeface="微软雅黑" pitchFamily="34" charset="-122"/>
            </a:endParaRPr>
          </a:p>
        </p:txBody>
      </p:sp>
      <p:sp>
        <p:nvSpPr>
          <p:cNvPr id="11" name="矩形 10"/>
          <p:cNvSpPr/>
          <p:nvPr/>
        </p:nvSpPr>
        <p:spPr>
          <a:xfrm>
            <a:off x="978314" y="3003798"/>
            <a:ext cx="4097742" cy="1495922"/>
          </a:xfrm>
          <a:prstGeom prst="rect">
            <a:avLst/>
          </a:prstGeom>
          <a:solidFill>
            <a:srgbClr val="0070C0"/>
          </a:solidFill>
        </p:spPr>
        <p:txBody>
          <a:bodyPr wrap="square">
            <a:spAutoFit/>
          </a:bodyPr>
          <a:lstStyle/>
          <a:p>
            <a:pPr>
              <a:lnSpc>
                <a:spcPct val="114000"/>
              </a:lnSpc>
            </a:pPr>
            <a:r>
              <a:rPr lang="zh-CN" altLang="en-US" sz="1600" dirty="0" smtClean="0">
                <a:solidFill>
                  <a:schemeClr val="bg1"/>
                </a:solidFill>
                <a:latin typeface="微软雅黑" pitchFamily="34" charset="-122"/>
                <a:ea typeface="微软雅黑" pitchFamily="34" charset="-122"/>
              </a:rPr>
              <a:t>智能网</a:t>
            </a:r>
            <a:r>
              <a:rPr lang="zh-CN" altLang="en-US" sz="1600" dirty="0">
                <a:solidFill>
                  <a:schemeClr val="bg1"/>
                </a:solidFill>
                <a:latin typeface="微软雅黑" pitchFamily="34" charset="-122"/>
                <a:ea typeface="微软雅黑" pitchFamily="34" charset="-122"/>
              </a:rPr>
              <a:t>联汽车道路识别的作用如下：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①</a:t>
            </a:r>
            <a:r>
              <a:rPr lang="zh-CN" altLang="en-US" sz="1600" dirty="0">
                <a:solidFill>
                  <a:schemeClr val="bg1"/>
                </a:solidFill>
                <a:latin typeface="微软雅黑" pitchFamily="34" charset="-122"/>
                <a:ea typeface="微软雅黑" pitchFamily="34" charset="-122"/>
              </a:rPr>
              <a:t>提取车道的几何结构，如车道的宽度、车道线的曲率等。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②</a:t>
            </a:r>
            <a:r>
              <a:rPr lang="zh-CN" altLang="en-US" sz="1600" dirty="0">
                <a:solidFill>
                  <a:schemeClr val="bg1"/>
                </a:solidFill>
                <a:latin typeface="微软雅黑" pitchFamily="34" charset="-122"/>
                <a:ea typeface="微软雅黑" pitchFamily="34" charset="-122"/>
              </a:rPr>
              <a:t>确定车辆在车道中的位置和方向。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③</a:t>
            </a:r>
            <a:r>
              <a:rPr lang="zh-CN" altLang="en-US" sz="1600" dirty="0">
                <a:solidFill>
                  <a:schemeClr val="bg1"/>
                </a:solidFill>
                <a:latin typeface="微软雅黑" pitchFamily="34" charset="-122"/>
                <a:ea typeface="微软雅黑" pitchFamily="34" charset="-122"/>
              </a:rPr>
              <a:t>提取车辆可行驶的区域。</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4</a:t>
            </a:fld>
            <a:endParaRPr lang="zh-CN" altLang="en-US" dirty="0"/>
          </a:p>
        </p:txBody>
      </p:sp>
      <p:sp>
        <p:nvSpPr>
          <p:cNvPr id="8" name="Text Box 8"/>
          <p:cNvSpPr>
            <a:spLocks noChangeArrowheads="1"/>
          </p:cNvSpPr>
          <p:nvPr/>
        </p:nvSpPr>
        <p:spPr bwMode="auto">
          <a:xfrm>
            <a:off x="98527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智能网联汽车如何识别道路</a:t>
            </a:r>
            <a:r>
              <a:rPr lang="zh-CN" altLang="en-US" sz="3200" b="1" dirty="0" smtClean="0">
                <a:solidFill>
                  <a:schemeClr val="accent1"/>
                </a:solidFill>
                <a:latin typeface="微软雅黑" panose="020B0503020204020204" pitchFamily="34" charset="-122"/>
              </a:rPr>
              <a:t>？</a:t>
            </a:r>
            <a:endParaRPr lang="zh-CN" altLang="en-US" sz="3200" b="1" dirty="0" smtClean="0">
              <a:solidFill>
                <a:schemeClr val="accent1"/>
              </a:solidFill>
              <a:latin typeface="微软雅黑" panose="020B0503020204020204" pitchFamily="34" charset="-122"/>
            </a:endParaRPr>
          </a:p>
        </p:txBody>
      </p:sp>
      <p:sp>
        <p:nvSpPr>
          <p:cNvPr id="3" name="矩形 2"/>
          <p:cNvSpPr/>
          <p:nvPr/>
        </p:nvSpPr>
        <p:spPr>
          <a:xfrm>
            <a:off x="985270" y="1131590"/>
            <a:ext cx="2289409"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 </a:t>
            </a:r>
            <a:r>
              <a:rPr sz="2000" b="1" dirty="0" err="1" smtClean="0">
                <a:solidFill>
                  <a:schemeClr val="bg1"/>
                </a:solidFill>
                <a:latin typeface="微软雅黑" panose="020B0503020204020204" pitchFamily="34" charset="-122"/>
                <a:ea typeface="微软雅黑" panose="020B0503020204020204" pitchFamily="34" charset="-122"/>
              </a:rPr>
              <a:t>道路</a:t>
            </a:r>
            <a:r>
              <a:rPr lang="zh-CN" altLang="en-US" sz="2000" b="1" dirty="0" smtClean="0">
                <a:solidFill>
                  <a:schemeClr val="bg1"/>
                </a:solidFill>
                <a:latin typeface="微软雅黑" panose="020B0503020204020204" pitchFamily="34" charset="-122"/>
                <a:ea typeface="微软雅黑" panose="020B0503020204020204" pitchFamily="34" charset="-122"/>
              </a:rPr>
              <a:t>识别的分类</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988679" y="1648420"/>
            <a:ext cx="6175610" cy="653769"/>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1</a:t>
            </a:r>
            <a:r>
              <a:rPr lang="zh-CN" altLang="en-US" sz="1600" dirty="0">
                <a:solidFill>
                  <a:schemeClr val="bg1"/>
                </a:solidFill>
                <a:latin typeface="微软雅黑" pitchFamily="34" charset="-122"/>
                <a:ea typeface="微软雅黑" pitchFamily="34" charset="-122"/>
              </a:rPr>
              <a:t>）根据道路构成特点</a:t>
            </a:r>
            <a:r>
              <a:rPr lang="zh-CN" altLang="en-US" sz="1600" dirty="0" smtClean="0">
                <a:solidFill>
                  <a:schemeClr val="bg1"/>
                </a:solidFill>
                <a:latin typeface="微软雅黑" pitchFamily="34" charset="-122"/>
                <a:ea typeface="微软雅黑" pitchFamily="34" charset="-122"/>
              </a:rPr>
              <a:t>分类</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根据</a:t>
            </a:r>
            <a:r>
              <a:rPr lang="zh-CN" altLang="en-US" sz="1600" dirty="0">
                <a:solidFill>
                  <a:schemeClr val="bg1"/>
                </a:solidFill>
                <a:latin typeface="微软雅黑" pitchFamily="34" charset="-122"/>
                <a:ea typeface="微软雅黑" pitchFamily="34" charset="-122"/>
              </a:rPr>
              <a:t>道路构成特点的不同，道路分为结构化道路和非结构化</a:t>
            </a:r>
            <a:r>
              <a:rPr lang="zh-CN" altLang="en-US" sz="1600" dirty="0" smtClean="0">
                <a:solidFill>
                  <a:schemeClr val="bg1"/>
                </a:solidFill>
                <a:latin typeface="微软雅黑" pitchFamily="34" charset="-122"/>
                <a:ea typeface="微软雅黑" pitchFamily="34" charset="-122"/>
              </a:rPr>
              <a:t>道路。</a:t>
            </a:r>
            <a:endParaRPr lang="zh-CN" altLang="en-US" sz="1600" dirty="0">
              <a:solidFill>
                <a:schemeClr val="bg1"/>
              </a:solidFill>
              <a:latin typeface="微软雅黑" pitchFamily="34" charset="-122"/>
              <a:ea typeface="微软雅黑" pitchFamily="34" charset="-122"/>
            </a:endParaRP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2355726"/>
            <a:ext cx="6912768" cy="1156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7216" y="3631394"/>
            <a:ext cx="1872208" cy="1100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4088" y="3605627"/>
            <a:ext cx="1896211" cy="115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36947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5</a:t>
            </a:fld>
            <a:endParaRPr lang="zh-CN" altLang="en-US" dirty="0"/>
          </a:p>
        </p:txBody>
      </p:sp>
      <p:sp>
        <p:nvSpPr>
          <p:cNvPr id="8" name="Text Box 8"/>
          <p:cNvSpPr>
            <a:spLocks noChangeArrowheads="1"/>
          </p:cNvSpPr>
          <p:nvPr/>
        </p:nvSpPr>
        <p:spPr bwMode="auto">
          <a:xfrm>
            <a:off x="98527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智能网联汽车如何识别道路</a:t>
            </a:r>
            <a:r>
              <a:rPr lang="zh-CN" altLang="en-US" sz="3200" b="1" dirty="0" smtClean="0">
                <a:solidFill>
                  <a:schemeClr val="accent1"/>
                </a:solidFill>
                <a:latin typeface="微软雅黑" panose="020B0503020204020204" pitchFamily="34" charset="-122"/>
              </a:rPr>
              <a:t>？</a:t>
            </a:r>
            <a:endParaRPr lang="zh-CN" altLang="en-US" sz="3200" b="1" dirty="0" smtClean="0">
              <a:solidFill>
                <a:schemeClr val="accent1"/>
              </a:solidFill>
              <a:latin typeface="微软雅黑" panose="020B0503020204020204" pitchFamily="34" charset="-122"/>
            </a:endParaRPr>
          </a:p>
        </p:txBody>
      </p:sp>
      <p:sp>
        <p:nvSpPr>
          <p:cNvPr id="3" name="矩形 2"/>
          <p:cNvSpPr/>
          <p:nvPr/>
        </p:nvSpPr>
        <p:spPr>
          <a:xfrm>
            <a:off x="985270" y="1131590"/>
            <a:ext cx="2289409"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 </a:t>
            </a:r>
            <a:r>
              <a:rPr sz="2000" b="1" dirty="0" err="1" smtClean="0">
                <a:solidFill>
                  <a:schemeClr val="bg1"/>
                </a:solidFill>
                <a:latin typeface="微软雅黑" panose="020B0503020204020204" pitchFamily="34" charset="-122"/>
                <a:ea typeface="微软雅黑" panose="020B0503020204020204" pitchFamily="34" charset="-122"/>
              </a:rPr>
              <a:t>道路</a:t>
            </a:r>
            <a:r>
              <a:rPr lang="zh-CN" altLang="en-US" sz="2000" b="1" dirty="0" smtClean="0">
                <a:solidFill>
                  <a:schemeClr val="bg1"/>
                </a:solidFill>
                <a:latin typeface="微软雅黑" panose="020B0503020204020204" pitchFamily="34" charset="-122"/>
                <a:ea typeface="微软雅黑" panose="020B0503020204020204" pitchFamily="34" charset="-122"/>
              </a:rPr>
              <a:t>识别的分类</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61886" y="1635646"/>
            <a:ext cx="7210513" cy="2036070"/>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2</a:t>
            </a:r>
            <a:r>
              <a:rPr lang="zh-CN" altLang="en-US" sz="1600" dirty="0">
                <a:solidFill>
                  <a:schemeClr val="bg1"/>
                </a:solidFill>
                <a:latin typeface="微软雅黑" pitchFamily="34" charset="-122"/>
                <a:ea typeface="微软雅黑" pitchFamily="34" charset="-122"/>
              </a:rPr>
              <a:t>）根据所用传感器类型</a:t>
            </a:r>
            <a:r>
              <a:rPr lang="zh-CN" altLang="en-US" sz="1600" dirty="0" smtClean="0">
                <a:solidFill>
                  <a:schemeClr val="bg1"/>
                </a:solidFill>
                <a:latin typeface="微软雅黑" pitchFamily="34" charset="-122"/>
                <a:ea typeface="微软雅黑" pitchFamily="34" charset="-122"/>
              </a:rPr>
              <a:t>分类</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根据</a:t>
            </a:r>
            <a:r>
              <a:rPr lang="zh-CN" altLang="en-US" sz="1600" dirty="0">
                <a:solidFill>
                  <a:schemeClr val="bg1"/>
                </a:solidFill>
                <a:latin typeface="微软雅黑" pitchFamily="34" charset="-122"/>
                <a:ea typeface="微软雅黑" pitchFamily="34" charset="-122"/>
              </a:rPr>
              <a:t>智能网联汽车（自动驾驶汽车）所用传感器的不同，道路识别分为视觉传感器</a:t>
            </a:r>
            <a:r>
              <a:rPr lang="zh-CN" altLang="en-US" sz="1600" dirty="0" smtClean="0">
                <a:solidFill>
                  <a:schemeClr val="bg1"/>
                </a:solidFill>
                <a:latin typeface="微软雅黑" pitchFamily="34" charset="-122"/>
                <a:ea typeface="微软雅黑" pitchFamily="34" charset="-122"/>
              </a:rPr>
              <a:t>的道路</a:t>
            </a:r>
            <a:r>
              <a:rPr lang="zh-CN" altLang="en-US" sz="1600" dirty="0">
                <a:solidFill>
                  <a:schemeClr val="bg1"/>
                </a:solidFill>
                <a:latin typeface="微软雅黑" pitchFamily="34" charset="-122"/>
                <a:ea typeface="微软雅黑" pitchFamily="34" charset="-122"/>
              </a:rPr>
              <a:t>识别方法和雷达的道路识别方法两种类型。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①</a:t>
            </a:r>
            <a:r>
              <a:rPr lang="zh-CN" altLang="en-US" sz="1600" dirty="0">
                <a:solidFill>
                  <a:schemeClr val="bg1"/>
                </a:solidFill>
                <a:latin typeface="微软雅黑" pitchFamily="34" charset="-122"/>
                <a:ea typeface="微软雅黑" pitchFamily="34" charset="-122"/>
              </a:rPr>
              <a:t>视觉传感器的道路识别方法。视觉传感器的道路识别方法就是通过视觉传感器</a:t>
            </a:r>
            <a:r>
              <a:rPr lang="zh-CN" altLang="en-US" sz="1600" dirty="0" smtClean="0">
                <a:solidFill>
                  <a:schemeClr val="bg1"/>
                </a:solidFill>
                <a:latin typeface="微软雅黑" pitchFamily="34" charset="-122"/>
                <a:ea typeface="微软雅黑" pitchFamily="34" charset="-122"/>
              </a:rPr>
              <a:t>采集道路</a:t>
            </a:r>
            <a:r>
              <a:rPr lang="zh-CN" altLang="en-US" sz="1600" dirty="0">
                <a:solidFill>
                  <a:schemeClr val="bg1"/>
                </a:solidFill>
                <a:latin typeface="微软雅黑" pitchFamily="34" charset="-122"/>
                <a:ea typeface="微软雅黑" pitchFamily="34" charset="-122"/>
              </a:rPr>
              <a:t>图像，并通过控制单元（</a:t>
            </a:r>
            <a:r>
              <a:rPr lang="en-US" altLang="zh-CN" sz="1600" dirty="0">
                <a:solidFill>
                  <a:schemeClr val="bg1"/>
                </a:solidFill>
                <a:latin typeface="微软雅黑" pitchFamily="34" charset="-122"/>
                <a:ea typeface="微软雅黑" pitchFamily="34" charset="-122"/>
              </a:rPr>
              <a:t>ECU</a:t>
            </a:r>
            <a:r>
              <a:rPr lang="zh-CN" altLang="en-US" sz="1600" dirty="0">
                <a:solidFill>
                  <a:schemeClr val="bg1"/>
                </a:solidFill>
                <a:latin typeface="微软雅黑" pitchFamily="34" charset="-122"/>
                <a:ea typeface="微软雅黑" pitchFamily="34" charset="-122"/>
              </a:rPr>
              <a:t>）处理道路图像，识别出车道线。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②</a:t>
            </a:r>
            <a:r>
              <a:rPr lang="zh-CN" altLang="en-US" sz="1600" dirty="0">
                <a:solidFill>
                  <a:schemeClr val="bg1"/>
                </a:solidFill>
                <a:latin typeface="微软雅黑" pitchFamily="34" charset="-122"/>
                <a:ea typeface="微软雅黑" pitchFamily="34" charset="-122"/>
              </a:rPr>
              <a:t>雷达的道路识别方法。雷达的道路识别方法就是通过雷达采集道路信息，并通过控 制单元（</a:t>
            </a:r>
            <a:r>
              <a:rPr lang="en-US" altLang="zh-CN" sz="1600" dirty="0">
                <a:solidFill>
                  <a:schemeClr val="bg1"/>
                </a:solidFill>
                <a:latin typeface="微软雅黑" pitchFamily="34" charset="-122"/>
                <a:ea typeface="微软雅黑" pitchFamily="34" charset="-122"/>
              </a:rPr>
              <a:t>ECU</a:t>
            </a:r>
            <a:r>
              <a:rPr lang="zh-CN" altLang="en-US" sz="1600" dirty="0">
                <a:solidFill>
                  <a:schemeClr val="bg1"/>
                </a:solidFill>
                <a:latin typeface="微软雅黑" pitchFamily="34" charset="-122"/>
                <a:ea typeface="微软雅黑" pitchFamily="34" charset="-122"/>
              </a:rPr>
              <a:t>）处理信息，识别出车道线。</a:t>
            </a:r>
          </a:p>
        </p:txBody>
      </p:sp>
      <p:sp>
        <p:nvSpPr>
          <p:cNvPr id="5" name="矩形 4"/>
          <p:cNvSpPr/>
          <p:nvPr/>
        </p:nvSpPr>
        <p:spPr>
          <a:xfrm>
            <a:off x="988679" y="3795886"/>
            <a:ext cx="7183720" cy="874407"/>
          </a:xfrm>
          <a:prstGeom prst="rect">
            <a:avLst/>
          </a:prstGeom>
          <a:solidFill>
            <a:srgbClr val="0070C0"/>
          </a:solidFill>
        </p:spPr>
        <p:txBody>
          <a:bodyPr wrap="square">
            <a:spAutoFit/>
          </a:bodyPr>
          <a:lstStyle/>
          <a:p>
            <a:pPr>
              <a:lnSpc>
                <a:spcPct val="150000"/>
              </a:lnSpc>
            </a:pPr>
            <a:r>
              <a:rPr lang="zh-CN" altLang="en-US" dirty="0">
                <a:solidFill>
                  <a:schemeClr val="bg1"/>
                </a:solidFill>
                <a:latin typeface="微软雅黑" pitchFamily="34" charset="-122"/>
                <a:ea typeface="微软雅黑" pitchFamily="34" charset="-122"/>
              </a:rPr>
              <a:t>根据实际的应用情况，智能网联汽车的道路识别主要是采用视觉传感器的识别方法。</a:t>
            </a:r>
          </a:p>
        </p:txBody>
      </p:sp>
    </p:spTree>
    <p:extLst>
      <p:ext uri="{BB962C8B-B14F-4D97-AF65-F5344CB8AC3E}">
        <p14:creationId xmlns:p14="http://schemas.microsoft.com/office/powerpoint/2010/main" val="22007657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6</a:t>
            </a:fld>
            <a:endParaRPr lang="zh-CN" altLang="en-US" dirty="0"/>
          </a:p>
        </p:txBody>
      </p:sp>
      <p:sp>
        <p:nvSpPr>
          <p:cNvPr id="3" name="矩形 2"/>
          <p:cNvSpPr/>
          <p:nvPr/>
        </p:nvSpPr>
        <p:spPr>
          <a:xfrm>
            <a:off x="985270" y="1147415"/>
            <a:ext cx="2212465"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a:t>
            </a:r>
            <a:r>
              <a:rPr sz="2000" b="1" dirty="0" smtClean="0">
                <a:solidFill>
                  <a:schemeClr val="bg1"/>
                </a:solidFill>
                <a:latin typeface="微软雅黑" panose="020B0503020204020204" pitchFamily="34" charset="-122"/>
                <a:ea typeface="微软雅黑" panose="020B0503020204020204" pitchFamily="34" charset="-122"/>
              </a:rPr>
              <a:t>道路图像的特点</a:t>
            </a:r>
          </a:p>
        </p:txBody>
      </p:sp>
      <p:pic>
        <p:nvPicPr>
          <p:cNvPr id="67" name="图片 6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3606536" y="1278971"/>
            <a:ext cx="2159000" cy="1441450"/>
          </a:xfrm>
          <a:prstGeom prst="rect">
            <a:avLst/>
          </a:prstGeom>
          <a:noFill/>
          <a:ln>
            <a:noFill/>
          </a:ln>
        </p:spPr>
      </p:pic>
      <p:pic>
        <p:nvPicPr>
          <p:cNvPr id="66" name="图片 6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6012160" y="1287657"/>
            <a:ext cx="2178050" cy="1454150"/>
          </a:xfrm>
          <a:prstGeom prst="rect">
            <a:avLst/>
          </a:prstGeom>
          <a:noFill/>
          <a:ln>
            <a:noFill/>
          </a:ln>
        </p:spPr>
      </p:pic>
      <p:pic>
        <p:nvPicPr>
          <p:cNvPr id="65" name="图片 6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a:xfrm>
            <a:off x="3606536" y="3093177"/>
            <a:ext cx="2159000" cy="1412875"/>
          </a:xfrm>
          <a:prstGeom prst="rect">
            <a:avLst/>
          </a:prstGeom>
          <a:noFill/>
          <a:ln>
            <a:noFill/>
          </a:ln>
        </p:spPr>
      </p:pic>
      <p:pic>
        <p:nvPicPr>
          <p:cNvPr id="64" name="图片 6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a:xfrm>
            <a:off x="6024860" y="3099042"/>
            <a:ext cx="2165350" cy="1407009"/>
          </a:xfrm>
          <a:prstGeom prst="rect">
            <a:avLst/>
          </a:prstGeom>
          <a:noFill/>
          <a:ln>
            <a:noFill/>
          </a:ln>
        </p:spPr>
      </p:pic>
      <p:sp>
        <p:nvSpPr>
          <p:cNvPr id="10" name="Text Box 8"/>
          <p:cNvSpPr>
            <a:spLocks noChangeArrowheads="1"/>
          </p:cNvSpPr>
          <p:nvPr/>
        </p:nvSpPr>
        <p:spPr bwMode="auto">
          <a:xfrm>
            <a:off x="98527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智能网联汽车如何识别道路</a:t>
            </a:r>
            <a:r>
              <a:rPr lang="zh-CN" altLang="en-US" sz="3200" b="1" dirty="0" smtClean="0">
                <a:solidFill>
                  <a:schemeClr val="accent1"/>
                </a:solidFill>
                <a:latin typeface="微软雅黑" panose="020B0503020204020204" pitchFamily="34" charset="-122"/>
              </a:rPr>
              <a:t>？</a:t>
            </a:r>
            <a:endParaRPr lang="zh-CN" altLang="en-US" sz="3200" b="1" dirty="0" smtClean="0">
              <a:solidFill>
                <a:schemeClr val="accent1"/>
              </a:solidFill>
              <a:latin typeface="微软雅黑" panose="020B0503020204020204" pitchFamily="34" charset="-122"/>
            </a:endParaRPr>
          </a:p>
        </p:txBody>
      </p:sp>
      <p:sp>
        <p:nvSpPr>
          <p:cNvPr id="4" name="矩形 3"/>
          <p:cNvSpPr/>
          <p:nvPr/>
        </p:nvSpPr>
        <p:spPr>
          <a:xfrm>
            <a:off x="985271" y="1634758"/>
            <a:ext cx="2212464" cy="3046988"/>
          </a:xfrm>
          <a:prstGeom prst="rect">
            <a:avLst/>
          </a:prstGeom>
          <a:solidFill>
            <a:srgbClr val="0070C0"/>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复杂的道路环境和复杂的气候变化都会影响道路识别，智能网联汽车环境感知系统都 会预先采集道路图像信息，并进行分析处理后建模，作为道路识别的参考依据。</a:t>
            </a:r>
          </a:p>
        </p:txBody>
      </p:sp>
      <p:sp>
        <p:nvSpPr>
          <p:cNvPr id="5" name="矩形 4"/>
          <p:cNvSpPr/>
          <p:nvPr/>
        </p:nvSpPr>
        <p:spPr>
          <a:xfrm>
            <a:off x="3692661" y="2667218"/>
            <a:ext cx="1980029" cy="377411"/>
          </a:xfrm>
          <a:prstGeom prst="rect">
            <a:avLst/>
          </a:prstGeom>
        </p:spPr>
        <p:txBody>
          <a:bodyPr wrap="none">
            <a:spAutoFit/>
          </a:bodyPr>
          <a:lstStyle/>
          <a:p>
            <a:pPr lvl="0" algn="ctr" fontAlgn="base">
              <a:lnSpc>
                <a:spcPct val="150000"/>
              </a:lnSpc>
            </a:pPr>
            <a:r>
              <a:rPr lang="zh-CN" altLang="en-US" sz="1400" dirty="0">
                <a:latin typeface="微软雅黑" panose="020B0503020204020204" pitchFamily="34" charset="-122"/>
                <a:ea typeface="微软雅黑" panose="020B0503020204020204" pitchFamily="34" charset="-122"/>
              </a:rPr>
              <a:t>阴影条件下的道路图像</a:t>
            </a:r>
            <a:endParaRPr lang="zh-CN" altLang="en-US" sz="1400" dirty="0">
              <a:latin typeface="微软雅黑" panose="020B0503020204020204" pitchFamily="34" charset="-122"/>
              <a:ea typeface="微软雅黑" panose="020B0503020204020204" pitchFamily="34" charset="-122"/>
            </a:endParaRPr>
          </a:p>
        </p:txBody>
      </p:sp>
      <p:sp>
        <p:nvSpPr>
          <p:cNvPr id="7" name="矩形 6"/>
          <p:cNvSpPr/>
          <p:nvPr/>
        </p:nvSpPr>
        <p:spPr>
          <a:xfrm>
            <a:off x="5863899" y="2667218"/>
            <a:ext cx="2474571" cy="415498"/>
          </a:xfrm>
          <a:prstGeom prst="rect">
            <a:avLst/>
          </a:prstGeom>
        </p:spPr>
        <p:txBody>
          <a:bodyPr wrap="square">
            <a:spAutoFit/>
          </a:bodyPr>
          <a:lstStyle/>
          <a:p>
            <a:pPr lvl="0" algn="ctr" fontAlgn="base">
              <a:lnSpc>
                <a:spcPct val="150000"/>
              </a:lnSpc>
            </a:pPr>
            <a:r>
              <a:rPr lang="zh-CN" altLang="en-US" sz="1400" dirty="0">
                <a:solidFill>
                  <a:prstClr val="black"/>
                </a:solidFill>
                <a:latin typeface="微软雅黑" panose="020B0503020204020204" pitchFamily="34" charset="-122"/>
                <a:ea typeface="微软雅黑" panose="020B0503020204020204" pitchFamily="34" charset="-122"/>
              </a:rPr>
              <a:t>强弱光照条件下的道路图像</a:t>
            </a:r>
            <a:endParaRPr lang="zh-CN" altLang="en-US" sz="1400" dirty="0">
              <a:solidFill>
                <a:prstClr val="black"/>
              </a:solidFill>
              <a:latin typeface="微软雅黑" panose="020B0503020204020204" pitchFamily="34" charset="-122"/>
              <a:ea typeface="微软雅黑" panose="020B0503020204020204" pitchFamily="34" charset="-122"/>
            </a:endParaRPr>
          </a:p>
        </p:txBody>
      </p:sp>
      <p:sp>
        <p:nvSpPr>
          <p:cNvPr id="9" name="矩形 8"/>
          <p:cNvSpPr/>
          <p:nvPr/>
        </p:nvSpPr>
        <p:spPr>
          <a:xfrm>
            <a:off x="3692662" y="4447460"/>
            <a:ext cx="1980029" cy="415498"/>
          </a:xfrm>
          <a:prstGeom prst="rect">
            <a:avLst/>
          </a:prstGeom>
        </p:spPr>
        <p:txBody>
          <a:bodyPr wrap="none">
            <a:spAutoFit/>
          </a:bodyPr>
          <a:lstStyle/>
          <a:p>
            <a:pPr lvl="0" algn="ctr" fontAlgn="base">
              <a:lnSpc>
                <a:spcPct val="150000"/>
              </a:lnSpc>
            </a:pPr>
            <a:r>
              <a:rPr lang="zh-CN" altLang="en-US" sz="1400" dirty="0">
                <a:solidFill>
                  <a:prstClr val="black"/>
                </a:solidFill>
                <a:latin typeface="微软雅黑" panose="020B0503020204020204" pitchFamily="34" charset="-122"/>
                <a:ea typeface="微软雅黑" panose="020B0503020204020204" pitchFamily="34" charset="-122"/>
              </a:rPr>
              <a:t>雨天条件下的道路图像</a:t>
            </a:r>
            <a:endParaRPr lang="zh-CN" altLang="en-US" sz="1400" dirty="0">
              <a:solidFill>
                <a:prstClr val="black"/>
              </a:solidFill>
              <a:latin typeface="微软雅黑" panose="020B0503020204020204" pitchFamily="34" charset="-122"/>
              <a:ea typeface="微软雅黑" panose="020B0503020204020204" pitchFamily="34" charset="-122"/>
            </a:endParaRPr>
          </a:p>
        </p:txBody>
      </p:sp>
      <p:sp>
        <p:nvSpPr>
          <p:cNvPr id="11" name="矩形 10"/>
          <p:cNvSpPr/>
          <p:nvPr/>
        </p:nvSpPr>
        <p:spPr>
          <a:xfrm>
            <a:off x="6297056" y="4447460"/>
            <a:ext cx="1620957" cy="415498"/>
          </a:xfrm>
          <a:prstGeom prst="rect">
            <a:avLst/>
          </a:prstGeom>
        </p:spPr>
        <p:txBody>
          <a:bodyPr wrap="none">
            <a:spAutoFit/>
          </a:bodyPr>
          <a:lstStyle/>
          <a:p>
            <a:pPr lvl="0" algn="ctr" fontAlgn="base">
              <a:lnSpc>
                <a:spcPct val="150000"/>
              </a:lnSpc>
            </a:pPr>
            <a:r>
              <a:rPr lang="zh-CN" altLang="en-US" sz="1400" dirty="0">
                <a:solidFill>
                  <a:prstClr val="black"/>
                </a:solidFill>
                <a:latin typeface="微软雅黑" panose="020B0503020204020204" pitchFamily="34" charset="-122"/>
                <a:ea typeface="微软雅黑" panose="020B0503020204020204" pitchFamily="34" charset="-122"/>
              </a:rPr>
              <a:t>弯道处的道路图像</a:t>
            </a:r>
            <a:endParaRPr lang="zh-CN" altLang="en-US" sz="1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7</a:t>
            </a:fld>
            <a:endParaRPr lang="zh-CN" altLang="en-US" dirty="0"/>
          </a:p>
        </p:txBody>
      </p:sp>
      <p:sp>
        <p:nvSpPr>
          <p:cNvPr id="3" name="矩形 2"/>
          <p:cNvSpPr/>
          <p:nvPr/>
        </p:nvSpPr>
        <p:spPr>
          <a:xfrm>
            <a:off x="985270" y="1131590"/>
            <a:ext cx="4120039"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4</a:t>
            </a:r>
            <a:r>
              <a:rPr sz="2000" b="1" dirty="0" smtClean="0">
                <a:solidFill>
                  <a:schemeClr val="bg1"/>
                </a:solidFill>
                <a:latin typeface="微软雅黑" panose="020B0503020204020204" pitchFamily="34" charset="-122"/>
                <a:ea typeface="微软雅黑" panose="020B0503020204020204" pitchFamily="34" charset="-122"/>
              </a:rPr>
              <a:t>.道路识别的流程与方法</a:t>
            </a:r>
            <a:r>
              <a:rPr lang="en-US" altLang="zh-CN"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识别流程</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12" name="Text Box 8"/>
          <p:cNvSpPr>
            <a:spLocks noChangeArrowheads="1"/>
          </p:cNvSpPr>
          <p:nvPr/>
        </p:nvSpPr>
        <p:spPr bwMode="auto">
          <a:xfrm>
            <a:off x="98527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智能网联汽车如何识别道路</a:t>
            </a:r>
            <a:r>
              <a:rPr lang="zh-CN" altLang="en-US" sz="3200" b="1" dirty="0" smtClean="0">
                <a:solidFill>
                  <a:schemeClr val="accent1"/>
                </a:solidFill>
                <a:latin typeface="微软雅黑" panose="020B0503020204020204" pitchFamily="34" charset="-122"/>
              </a:rPr>
              <a:t>？</a:t>
            </a:r>
            <a:endParaRPr lang="zh-CN" altLang="en-US" sz="3200" b="1" dirty="0" smtClean="0">
              <a:solidFill>
                <a:schemeClr val="accent1"/>
              </a:solidFill>
              <a:latin typeface="微软雅黑" panose="020B0503020204020204" pitchFamily="34" charset="-122"/>
            </a:endParaRPr>
          </a:p>
        </p:txBody>
      </p:sp>
      <p:sp>
        <p:nvSpPr>
          <p:cNvPr id="7" name="矩形 6"/>
          <p:cNvSpPr/>
          <p:nvPr/>
        </p:nvSpPr>
        <p:spPr>
          <a:xfrm>
            <a:off x="985270" y="1660738"/>
            <a:ext cx="6395042" cy="373051"/>
          </a:xfrm>
          <a:prstGeom prst="rect">
            <a:avLst/>
          </a:prstGeom>
          <a:solidFill>
            <a:srgbClr val="0070C0"/>
          </a:solidFill>
        </p:spPr>
        <p:txBody>
          <a:bodyPr wrap="square">
            <a:spAutoFit/>
          </a:bodyPr>
          <a:lstStyle/>
          <a:p>
            <a:pPr>
              <a:lnSpc>
                <a:spcPct val="114000"/>
              </a:lnSpc>
            </a:pPr>
            <a:r>
              <a:rPr lang="zh-CN" altLang="en-US" sz="1600" dirty="0" smtClean="0">
                <a:solidFill>
                  <a:schemeClr val="bg1"/>
                </a:solidFill>
                <a:latin typeface="微软雅黑" pitchFamily="34" charset="-122"/>
                <a:ea typeface="微软雅黑" pitchFamily="34" charset="-122"/>
              </a:rPr>
              <a:t>原始</a:t>
            </a:r>
            <a:r>
              <a:rPr lang="zh-CN" altLang="en-US" sz="1600" dirty="0">
                <a:solidFill>
                  <a:schemeClr val="bg1"/>
                </a:solidFill>
                <a:latin typeface="微软雅黑" pitchFamily="34" charset="-122"/>
                <a:ea typeface="微软雅黑" pitchFamily="34" charset="-122"/>
              </a:rPr>
              <a:t>图像采集→图像灰度化 →图像滤波→图像二值化→车道线</a:t>
            </a:r>
            <a:r>
              <a:rPr lang="zh-CN" altLang="en-US" sz="1600" dirty="0" smtClean="0">
                <a:solidFill>
                  <a:schemeClr val="bg1"/>
                </a:solidFill>
                <a:latin typeface="微软雅黑" pitchFamily="34" charset="-122"/>
                <a:ea typeface="微软雅黑" pitchFamily="34" charset="-122"/>
              </a:rPr>
              <a:t>提取</a:t>
            </a:r>
            <a:endParaRPr lang="zh-CN" altLang="en-US" sz="1600" dirty="0">
              <a:solidFill>
                <a:schemeClr val="bg1"/>
              </a:solidFill>
              <a:latin typeface="微软雅黑" pitchFamily="34" charset="-122"/>
              <a:ea typeface="微软雅黑" pitchFamily="34" charset="-122"/>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062189"/>
            <a:ext cx="4690971" cy="2729683"/>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8</a:t>
            </a:fld>
            <a:endParaRPr lang="zh-CN" altLang="en-US" dirty="0"/>
          </a:p>
        </p:txBody>
      </p:sp>
      <p:sp>
        <p:nvSpPr>
          <p:cNvPr id="3" name="矩形 2"/>
          <p:cNvSpPr/>
          <p:nvPr/>
        </p:nvSpPr>
        <p:spPr>
          <a:xfrm>
            <a:off x="985270" y="1131590"/>
            <a:ext cx="4120039"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4</a:t>
            </a:r>
            <a:r>
              <a:rPr sz="2000" b="1" dirty="0" smtClean="0">
                <a:solidFill>
                  <a:schemeClr val="bg1"/>
                </a:solidFill>
                <a:latin typeface="微软雅黑" panose="020B0503020204020204" pitchFamily="34" charset="-122"/>
                <a:ea typeface="微软雅黑" panose="020B0503020204020204" pitchFamily="34" charset="-122"/>
              </a:rPr>
              <a:t>.道路识别的流程与方法</a:t>
            </a:r>
            <a:r>
              <a:rPr lang="en-US" altLang="zh-CN"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识别方法</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12" name="Text Box 8"/>
          <p:cNvSpPr>
            <a:spLocks noChangeArrowheads="1"/>
          </p:cNvSpPr>
          <p:nvPr/>
        </p:nvSpPr>
        <p:spPr bwMode="auto">
          <a:xfrm>
            <a:off x="98527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智能网联汽车如何识别道路</a:t>
            </a:r>
            <a:r>
              <a:rPr lang="zh-CN" altLang="en-US" sz="3200" b="1" dirty="0" smtClean="0">
                <a:solidFill>
                  <a:schemeClr val="accent1"/>
                </a:solidFill>
                <a:latin typeface="微软雅黑" panose="020B0503020204020204" pitchFamily="34" charset="-122"/>
              </a:rPr>
              <a:t>？</a:t>
            </a:r>
            <a:endParaRPr lang="zh-CN" altLang="en-US" sz="3200" b="1" dirty="0" smtClean="0">
              <a:solidFill>
                <a:schemeClr val="accent1"/>
              </a:solidFill>
              <a:latin typeface="微软雅黑" panose="020B0503020204020204" pitchFamily="34" charset="-122"/>
            </a:endParaRPr>
          </a:p>
        </p:txBody>
      </p:sp>
      <p:pic>
        <p:nvPicPr>
          <p:cNvPr id="8" name="图片 60" descr="说明: C:\Users\Lenovo\Desktop\智能网联汽车 人民交通\项目2 智能网联汽车环境感知系统应用\图2-2-10 道路识别的结果图像.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960860" y="1707912"/>
            <a:ext cx="4176464" cy="2448272"/>
          </a:xfrm>
          <a:prstGeom prst="rect">
            <a:avLst/>
          </a:prstGeom>
          <a:noFill/>
          <a:ln>
            <a:noFill/>
          </a:ln>
        </p:spPr>
      </p:pic>
      <p:sp>
        <p:nvSpPr>
          <p:cNvPr id="9" name="文本框 6"/>
          <p:cNvSpPr txBox="1"/>
          <p:nvPr/>
        </p:nvSpPr>
        <p:spPr>
          <a:xfrm>
            <a:off x="985271" y="1707654"/>
            <a:ext cx="2866649" cy="1938992"/>
          </a:xfrm>
          <a:prstGeom prst="rect">
            <a:avLst/>
          </a:prstGeom>
          <a:solidFill>
            <a:srgbClr val="0070C0"/>
          </a:solidFill>
          <a:ln w="9525">
            <a:noFill/>
          </a:ln>
        </p:spPr>
        <p:txBody>
          <a:bodyPr wrap="square">
            <a:spAutoFit/>
          </a:bodyPr>
          <a:lstStyle/>
          <a:p>
            <a:pPr indent="266700">
              <a:lnSpc>
                <a:spcPct val="150000"/>
              </a:lnSpc>
            </a:pPr>
            <a:r>
              <a:rPr lang="zh-CN" sz="1600" dirty="0">
                <a:solidFill>
                  <a:schemeClr val="bg1"/>
                </a:solidFill>
                <a:latin typeface="微软雅黑" pitchFamily="34" charset="-122"/>
                <a:ea typeface="微软雅黑" pitchFamily="34" charset="-122"/>
              </a:rPr>
              <a:t>1）区域分割的识别方法。</a:t>
            </a:r>
          </a:p>
          <a:p>
            <a:pPr indent="266700">
              <a:lnSpc>
                <a:spcPct val="150000"/>
              </a:lnSpc>
            </a:pPr>
            <a:r>
              <a:rPr lang="zh-CN" sz="1600" dirty="0">
                <a:solidFill>
                  <a:schemeClr val="bg1"/>
                </a:solidFill>
                <a:latin typeface="微软雅黑" pitchFamily="34" charset="-122"/>
                <a:ea typeface="微软雅黑" pitchFamily="34" charset="-122"/>
              </a:rPr>
              <a:t>2）道路特征的识别方法。</a:t>
            </a:r>
          </a:p>
          <a:p>
            <a:pPr indent="266700">
              <a:lnSpc>
                <a:spcPct val="150000"/>
              </a:lnSpc>
            </a:pPr>
            <a:r>
              <a:rPr lang="zh-CN" sz="1600" dirty="0">
                <a:solidFill>
                  <a:schemeClr val="bg1"/>
                </a:solidFill>
                <a:latin typeface="微软雅黑" pitchFamily="34" charset="-122"/>
                <a:ea typeface="微软雅黑" pitchFamily="34" charset="-122"/>
              </a:rPr>
              <a:t>3）道路模型的识别方法。</a:t>
            </a:r>
          </a:p>
          <a:p>
            <a:pPr indent="266700">
              <a:lnSpc>
                <a:spcPct val="150000"/>
              </a:lnSpc>
            </a:pPr>
            <a:r>
              <a:rPr lang="zh-CN" sz="1600" dirty="0">
                <a:solidFill>
                  <a:schemeClr val="bg1"/>
                </a:solidFill>
                <a:latin typeface="微软雅黑" pitchFamily="34" charset="-122"/>
                <a:ea typeface="微软雅黑" pitchFamily="34" charset="-122"/>
              </a:rPr>
              <a:t>4）道路特征与模型相结合的识别方法。</a:t>
            </a:r>
            <a:endParaRPr lang="zh-CN" altLang="en-US" sz="16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2178110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9</a:t>
            </a:fld>
            <a:endParaRPr lang="zh-CN" altLang="en-US" dirty="0"/>
          </a:p>
        </p:txBody>
      </p:sp>
      <p:sp>
        <p:nvSpPr>
          <p:cNvPr id="8"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智能网联汽车如何识别前方车辆？</a:t>
            </a:r>
          </a:p>
        </p:txBody>
      </p:sp>
      <p:sp>
        <p:nvSpPr>
          <p:cNvPr id="3" name="矩形 2"/>
          <p:cNvSpPr/>
          <p:nvPr/>
        </p:nvSpPr>
        <p:spPr>
          <a:xfrm>
            <a:off x="974299" y="1122283"/>
            <a:ext cx="2767965" cy="400110"/>
          </a:xfrm>
          <a:prstGeom prst="rect">
            <a:avLst/>
          </a:prstGeom>
          <a:solidFill>
            <a:srgbClr val="0070C0"/>
          </a:solidFill>
        </p:spPr>
        <p:txBody>
          <a:bodyPr wrap="square">
            <a:spAutoFit/>
          </a:bodyPr>
          <a:lstStyle/>
          <a:p>
            <a:pPr algn="l" fontAlgn="ctr"/>
            <a:r>
              <a:rPr sz="2000" b="1" dirty="0">
                <a:solidFill>
                  <a:schemeClr val="bg1"/>
                </a:solidFill>
                <a:latin typeface="微软雅黑" panose="020B0503020204020204" pitchFamily="34" charset="-122"/>
                <a:ea typeface="微软雅黑" panose="020B0503020204020204" pitchFamily="34" charset="-122"/>
                <a:sym typeface="+mn-ea"/>
              </a:rPr>
              <a:t>1.</a:t>
            </a:r>
            <a:r>
              <a:rPr sz="2000" b="1" dirty="0" smtClean="0">
                <a:solidFill>
                  <a:schemeClr val="bg1"/>
                </a:solidFill>
                <a:latin typeface="微软雅黑" panose="020B0503020204020204" pitchFamily="34" charset="-122"/>
                <a:ea typeface="微软雅黑" panose="020B0503020204020204" pitchFamily="34" charset="-122"/>
                <a:sym typeface="+mn-ea"/>
              </a:rPr>
              <a:t>车辆特征的识别方法</a:t>
            </a:r>
            <a:endParaRPr sz="2000" b="1" dirty="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971600" y="1635646"/>
            <a:ext cx="7200800" cy="373051"/>
          </a:xfrm>
          <a:prstGeom prst="rect">
            <a:avLst/>
          </a:prstGeom>
          <a:solidFill>
            <a:srgbClr val="0070C0"/>
          </a:solidFill>
        </p:spPr>
        <p:txBody>
          <a:bodyPr wrap="square">
            <a:spAutoFit/>
          </a:bodyPr>
          <a:lstStyle/>
          <a:p>
            <a:pPr fontAlgn="base">
              <a:lnSpc>
                <a:spcPct val="114000"/>
              </a:lnSpc>
            </a:pPr>
            <a:r>
              <a:rPr sz="1600" dirty="0" err="1">
                <a:solidFill>
                  <a:schemeClr val="bg1"/>
                </a:solidFill>
                <a:latin typeface="微软雅黑" panose="020B0503020204020204" pitchFamily="34" charset="-122"/>
                <a:ea typeface="微软雅黑" panose="020B0503020204020204" pitchFamily="34" charset="-122"/>
              </a:rPr>
              <a:t>根据车辆的颜色、轮廓、</a:t>
            </a:r>
            <a:r>
              <a:rPr sz="1600" dirty="0" err="1" smtClean="0">
                <a:solidFill>
                  <a:schemeClr val="bg1"/>
                </a:solidFill>
                <a:latin typeface="微软雅黑" panose="020B0503020204020204" pitchFamily="34" charset="-122"/>
                <a:ea typeface="微软雅黑" panose="020B0503020204020204" pitchFamily="34" charset="-122"/>
              </a:rPr>
              <a:t>对称性等特征将车辆与周围的背景区别开来</a:t>
            </a:r>
            <a:r>
              <a:rPr lang="zh-CN" altLang="en-US" sz="1600" dirty="0" smtClean="0">
                <a:solidFill>
                  <a:schemeClr val="bg1"/>
                </a:solidFill>
                <a:latin typeface="微软雅黑" panose="020B0503020204020204" pitchFamily="34" charset="-122"/>
                <a:ea typeface="微软雅黑" panose="020B0503020204020204" pitchFamily="34" charset="-122"/>
              </a:rPr>
              <a:t>。</a:t>
            </a:r>
            <a:endParaRPr sz="1600" dirty="0">
              <a:solidFill>
                <a:schemeClr val="bg1"/>
              </a:solidFill>
              <a:latin typeface="微软雅黑" panose="020B0503020204020204" pitchFamily="34" charset="-122"/>
              <a:ea typeface="微软雅黑" panose="020B0503020204020204" pitchFamily="34" charset="-122"/>
            </a:endParaRPr>
          </a:p>
        </p:txBody>
      </p:sp>
      <p:pic>
        <p:nvPicPr>
          <p:cNvPr id="13" name="图片 13"/>
          <p:cNvPicPr>
            <a:picLocks noChangeAspect="1"/>
          </p:cNvPicPr>
          <p:nvPr/>
        </p:nvPicPr>
        <p:blipFill>
          <a:blip r:embed="rId3"/>
          <a:stretch>
            <a:fillRect/>
          </a:stretch>
        </p:blipFill>
        <p:spPr>
          <a:xfrm>
            <a:off x="953015" y="2210121"/>
            <a:ext cx="4029749" cy="1981200"/>
          </a:xfrm>
          <a:prstGeom prst="rect">
            <a:avLst/>
          </a:prstGeom>
          <a:ln w="12700" cmpd="sng">
            <a:solidFill>
              <a:schemeClr val="accent1">
                <a:shade val="50000"/>
              </a:schemeClr>
            </a:solidFill>
            <a:prstDash val="solid"/>
          </a:ln>
        </p:spPr>
      </p:pic>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8556" y="2160648"/>
            <a:ext cx="30861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10</a:t>
            </a:fld>
            <a:endParaRPr lang="zh-CN" altLang="en-US" dirty="0"/>
          </a:p>
        </p:txBody>
      </p:sp>
      <p:sp>
        <p:nvSpPr>
          <p:cNvPr id="2" name="矩形 1"/>
          <p:cNvSpPr/>
          <p:nvPr/>
        </p:nvSpPr>
        <p:spPr>
          <a:xfrm>
            <a:off x="949059" y="1779662"/>
            <a:ext cx="4265139" cy="1200329"/>
          </a:xfrm>
          <a:prstGeom prst="rect">
            <a:avLst/>
          </a:prstGeom>
          <a:solidFill>
            <a:srgbClr val="0070C0"/>
          </a:solidFill>
        </p:spPr>
        <p:txBody>
          <a:bodyPr wrap="square">
            <a:spAutoFit/>
          </a:bodyPr>
          <a:lstStyle/>
          <a:p>
            <a:pPr fontAlgn="base">
              <a:lnSpc>
                <a:spcPct val="150000"/>
              </a:lnSpc>
            </a:pPr>
            <a:r>
              <a:rPr sz="1600" dirty="0">
                <a:solidFill>
                  <a:schemeClr val="bg1"/>
                </a:solidFill>
                <a:latin typeface="微软雅黑" panose="020B0503020204020204" pitchFamily="34" charset="-122"/>
                <a:ea typeface="微软雅黑" panose="020B0503020204020204" pitchFamily="34" charset="-122"/>
              </a:rPr>
              <a:t>根据车辆模型的识别方法是根据前方运动车辆的参数来建立二维或三维模型，然后利用指定的搜索程序来匹配查找前方车辆。</a:t>
            </a:r>
          </a:p>
        </p:txBody>
      </p:sp>
      <p:pic>
        <p:nvPicPr>
          <p:cNvPr id="30" name="图片 30"/>
          <p:cNvPicPr>
            <a:picLocks noChangeAspect="1"/>
          </p:cNvPicPr>
          <p:nvPr/>
        </p:nvPicPr>
        <p:blipFill>
          <a:blip r:embed="rId3"/>
          <a:stretch>
            <a:fillRect/>
          </a:stretch>
        </p:blipFill>
        <p:spPr>
          <a:xfrm>
            <a:off x="5364088" y="1522394"/>
            <a:ext cx="2664296" cy="1814593"/>
          </a:xfrm>
          <a:prstGeom prst="rect">
            <a:avLst/>
          </a:prstGeom>
        </p:spPr>
      </p:pic>
      <p:sp>
        <p:nvSpPr>
          <p:cNvPr id="7"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智能网联汽车如何识别前方车辆？</a:t>
            </a:r>
          </a:p>
        </p:txBody>
      </p:sp>
      <p:sp>
        <p:nvSpPr>
          <p:cNvPr id="9" name="矩形 8"/>
          <p:cNvSpPr/>
          <p:nvPr/>
        </p:nvSpPr>
        <p:spPr>
          <a:xfrm>
            <a:off x="974299" y="1122283"/>
            <a:ext cx="2767965" cy="400110"/>
          </a:xfrm>
          <a:prstGeom prst="rect">
            <a:avLst/>
          </a:prstGeom>
          <a:solidFill>
            <a:srgbClr val="0070C0"/>
          </a:solidFill>
        </p:spPr>
        <p:txBody>
          <a:bodyPr wrap="squar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sym typeface="+mn-ea"/>
              </a:rPr>
              <a:t>2</a:t>
            </a:r>
            <a:r>
              <a:rPr sz="2000" b="1" dirty="0" smtClean="0">
                <a:solidFill>
                  <a:schemeClr val="bg1"/>
                </a:solidFill>
                <a:latin typeface="微软雅黑" panose="020B0503020204020204" pitchFamily="34" charset="-122"/>
                <a:ea typeface="微软雅黑" panose="020B0503020204020204" pitchFamily="34" charset="-122"/>
                <a:sym typeface="+mn-ea"/>
              </a:rPr>
              <a:t>.车辆</a:t>
            </a:r>
            <a:r>
              <a:rPr lang="zh-CN" altLang="en-US" sz="2000" b="1" dirty="0">
                <a:solidFill>
                  <a:schemeClr val="bg1"/>
                </a:solidFill>
                <a:latin typeface="微软雅黑" panose="020B0503020204020204" pitchFamily="34" charset="-122"/>
                <a:ea typeface="微软雅黑" panose="020B0503020204020204" pitchFamily="34" charset="-122"/>
                <a:sym typeface="+mn-ea"/>
              </a:rPr>
              <a:t>模型</a:t>
            </a:r>
            <a:r>
              <a:rPr sz="2000" b="1" dirty="0" err="1" smtClean="0">
                <a:solidFill>
                  <a:schemeClr val="bg1"/>
                </a:solidFill>
                <a:latin typeface="微软雅黑" panose="020B0503020204020204" pitchFamily="34" charset="-122"/>
                <a:ea typeface="微软雅黑" panose="020B0503020204020204" pitchFamily="34" charset="-122"/>
                <a:sym typeface="+mn-ea"/>
              </a:rPr>
              <a:t>的识别方法</a:t>
            </a:r>
            <a:endParaRPr sz="2000" b="1" dirty="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49059" y="3579862"/>
            <a:ext cx="7195555" cy="1200329"/>
          </a:xfrm>
          <a:prstGeom prst="rect">
            <a:avLst/>
          </a:prstGeom>
          <a:solidFill>
            <a:srgbClr val="0070C0"/>
          </a:solidFill>
        </p:spPr>
        <p:txBody>
          <a:bodyPr wrap="square">
            <a:spAutoFit/>
          </a:bodyPr>
          <a:lstStyle/>
          <a:p>
            <a:pPr>
              <a:lnSpc>
                <a:spcPct val="150000"/>
              </a:lnSpc>
            </a:pPr>
            <a:r>
              <a:rPr lang="zh-CN" altLang="en-US" sz="1600" dirty="0" smtClean="0">
                <a:solidFill>
                  <a:schemeClr val="bg1"/>
                </a:solidFill>
                <a:latin typeface="微软雅黑" pitchFamily="34" charset="-122"/>
                <a:ea typeface="微软雅黑" pitchFamily="34" charset="-122"/>
              </a:rPr>
              <a:t>采用</a:t>
            </a:r>
            <a:r>
              <a:rPr lang="zh-CN" altLang="en-US" sz="1600" dirty="0">
                <a:solidFill>
                  <a:schemeClr val="bg1"/>
                </a:solidFill>
                <a:latin typeface="微软雅黑" pitchFamily="34" charset="-122"/>
                <a:ea typeface="微软雅黑" pitchFamily="34" charset="-122"/>
              </a:rPr>
              <a:t>多传感器融合技术是</a:t>
            </a:r>
            <a:r>
              <a:rPr lang="zh-CN" altLang="en-US" sz="1600" dirty="0" smtClean="0">
                <a:solidFill>
                  <a:schemeClr val="bg1"/>
                </a:solidFill>
                <a:latin typeface="微软雅黑" pitchFamily="34" charset="-122"/>
                <a:ea typeface="微软雅黑" pitchFamily="34" charset="-122"/>
              </a:rPr>
              <a:t>未来</a:t>
            </a:r>
            <a:r>
              <a:rPr lang="zh-CN" altLang="en-US" sz="1600" dirty="0">
                <a:solidFill>
                  <a:schemeClr val="bg1"/>
                </a:solidFill>
                <a:latin typeface="微软雅黑" pitchFamily="34" charset="-122"/>
                <a:ea typeface="微软雅黑" pitchFamily="34" charset="-122"/>
              </a:rPr>
              <a:t>车辆识别技术的发展方向。目前，在车辆识别中主要 有两种融合技术，即视觉传感器与激光雷达的融合技术</a:t>
            </a:r>
            <a:r>
              <a:rPr lang="zh-CN" altLang="en-US" sz="1600" dirty="0" smtClean="0">
                <a:solidFill>
                  <a:schemeClr val="bg1"/>
                </a:solidFill>
                <a:latin typeface="微软雅黑" pitchFamily="34" charset="-122"/>
                <a:ea typeface="微软雅黑" pitchFamily="34" charset="-122"/>
              </a:rPr>
              <a:t>，以及</a:t>
            </a:r>
            <a:r>
              <a:rPr lang="zh-CN" altLang="en-US" sz="1600" dirty="0">
                <a:solidFill>
                  <a:schemeClr val="bg1"/>
                </a:solidFill>
                <a:latin typeface="微软雅黑" pitchFamily="34" charset="-122"/>
                <a:ea typeface="微软雅黑" pitchFamily="34" charset="-122"/>
              </a:rPr>
              <a:t>视觉传感器与毫米波雷达的融合技术。</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11</a:t>
            </a:fld>
            <a:endParaRPr lang="zh-CN" altLang="en-US" dirty="0"/>
          </a:p>
        </p:txBody>
      </p:sp>
      <p:sp>
        <p:nvSpPr>
          <p:cNvPr id="3" name="矩形 2"/>
          <p:cNvSpPr/>
          <p:nvPr/>
        </p:nvSpPr>
        <p:spPr>
          <a:xfrm>
            <a:off x="971600" y="1131590"/>
            <a:ext cx="2212465"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1.行人识别的定义</a:t>
            </a:r>
          </a:p>
        </p:txBody>
      </p:sp>
      <p:sp>
        <p:nvSpPr>
          <p:cNvPr id="2" name="矩形 1"/>
          <p:cNvSpPr/>
          <p:nvPr/>
        </p:nvSpPr>
        <p:spPr>
          <a:xfrm>
            <a:off x="971550" y="1635125"/>
            <a:ext cx="2664346" cy="1938020"/>
          </a:xfrm>
          <a:prstGeom prst="rect">
            <a:avLst/>
          </a:prstGeom>
          <a:solidFill>
            <a:srgbClr val="0070C0"/>
          </a:solidFill>
        </p:spPr>
        <p:txBody>
          <a:bodyPr wrap="square">
            <a:spAutoFit/>
          </a:bodyPr>
          <a:lstStyle/>
          <a:p>
            <a:pPr fontAlgn="base">
              <a:lnSpc>
                <a:spcPct val="150000"/>
              </a:lnSpc>
            </a:pPr>
            <a:r>
              <a:rPr sz="1600" dirty="0">
                <a:solidFill>
                  <a:schemeClr val="bg1"/>
                </a:solidFill>
                <a:latin typeface="微软雅黑" panose="020B0503020204020204" pitchFamily="34" charset="-122"/>
                <a:ea typeface="微软雅黑" panose="020B0503020204020204" pitchFamily="34" charset="-122"/>
              </a:rPr>
              <a:t>行人识别是采用安装在车辆前方的视觉传感器采集前方场景的图像信息，通过分析处理这些图像信息，实现对行人的识别。</a:t>
            </a:r>
          </a:p>
        </p:txBody>
      </p:sp>
      <p:pic>
        <p:nvPicPr>
          <p:cNvPr id="28" name="图片 28" descr="说明: C:\Users\Lenovo\Desktop\智能网联汽车 人民交通\项目2 智能网联汽车环境感知系统应用\图2-2-16 自动驾驶汽车行人识别的场景.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4211960" y="1203325"/>
            <a:ext cx="3949700" cy="2430780"/>
          </a:xfrm>
          <a:prstGeom prst="rect">
            <a:avLst/>
          </a:prstGeom>
          <a:noFill/>
          <a:ln>
            <a:noFill/>
          </a:ln>
        </p:spPr>
      </p:pic>
      <p:sp>
        <p:nvSpPr>
          <p:cNvPr id="7"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a:t>
            </a:r>
            <a:r>
              <a:rPr lang="zh-CN" altLang="en-US" sz="3200" b="1" dirty="0" smtClean="0">
                <a:solidFill>
                  <a:schemeClr val="accent1"/>
                </a:solidFill>
                <a:latin typeface="微软雅黑" panose="020B0503020204020204" pitchFamily="34" charset="-122"/>
              </a:rPr>
              <a:t>识别行人？</a:t>
            </a:r>
            <a:endParaRPr lang="zh-CN" altLang="en-US" sz="3200" b="1" dirty="0" smtClean="0">
              <a:solidFill>
                <a:schemeClr val="accent1"/>
              </a:solidFill>
              <a:latin typeface="微软雅黑" panose="020B0503020204020204" pitchFamily="34" charset="-122"/>
            </a:endParaRPr>
          </a:p>
        </p:txBody>
      </p:sp>
      <p:sp>
        <p:nvSpPr>
          <p:cNvPr id="4" name="矩形 3"/>
          <p:cNvSpPr/>
          <p:nvPr/>
        </p:nvSpPr>
        <p:spPr>
          <a:xfrm>
            <a:off x="898064" y="3662854"/>
            <a:ext cx="7263595" cy="1077218"/>
          </a:xfrm>
          <a:prstGeom prst="rect">
            <a:avLst/>
          </a:prstGeom>
          <a:solidFill>
            <a:srgbClr val="0070C0"/>
          </a:solidFill>
        </p:spPr>
        <p:txBody>
          <a:bodyPr wrap="square">
            <a:spAutoFit/>
          </a:bodyPr>
          <a:lstStyle/>
          <a:p>
            <a:r>
              <a:rPr lang="zh-CN" altLang="en-US" sz="1600" dirty="0">
                <a:solidFill>
                  <a:schemeClr val="bg1"/>
                </a:solidFill>
                <a:latin typeface="微软雅黑" pitchFamily="34" charset="-122"/>
                <a:ea typeface="微软雅黑" pitchFamily="34" charset="-122"/>
              </a:rPr>
              <a:t>行人识别的目的是能够及时准确地</a:t>
            </a:r>
            <a:r>
              <a:rPr lang="zh-CN" altLang="en-US" sz="1600" dirty="0" smtClean="0">
                <a:solidFill>
                  <a:schemeClr val="bg1"/>
                </a:solidFill>
                <a:latin typeface="微软雅黑" pitchFamily="34" charset="-122"/>
                <a:ea typeface="微软雅黑" pitchFamily="34" charset="-122"/>
              </a:rPr>
              <a:t>检测</a:t>
            </a:r>
            <a:r>
              <a:rPr lang="zh-CN" altLang="en-US" sz="1600" dirty="0">
                <a:solidFill>
                  <a:schemeClr val="bg1"/>
                </a:solidFill>
                <a:latin typeface="微软雅黑" pitchFamily="34" charset="-122"/>
                <a:ea typeface="微软雅黑" pitchFamily="34" charset="-122"/>
              </a:rPr>
              <a:t>出车辆前方的行人，并根据不同危险级别提供</a:t>
            </a:r>
            <a:r>
              <a:rPr lang="zh-CN" altLang="en-US" sz="1600" dirty="0" smtClean="0">
                <a:solidFill>
                  <a:schemeClr val="bg1"/>
                </a:solidFill>
                <a:latin typeface="微软雅黑" pitchFamily="34" charset="-122"/>
                <a:ea typeface="微软雅黑" pitchFamily="34" charset="-122"/>
              </a:rPr>
              <a:t>不同的</a:t>
            </a:r>
            <a:r>
              <a:rPr lang="zh-CN" altLang="en-US" sz="1600" dirty="0">
                <a:solidFill>
                  <a:schemeClr val="bg1"/>
                </a:solidFill>
                <a:latin typeface="微软雅黑" pitchFamily="34" charset="-122"/>
                <a:ea typeface="微软雅黑" pitchFamily="34" charset="-122"/>
              </a:rPr>
              <a:t>预警提示，如距离车辆越近的行人危险级别越高，</a:t>
            </a:r>
            <a:r>
              <a:rPr lang="zh-CN" altLang="en-US" sz="1600" dirty="0" smtClean="0">
                <a:solidFill>
                  <a:schemeClr val="bg1"/>
                </a:solidFill>
                <a:latin typeface="微软雅黑" pitchFamily="34" charset="-122"/>
                <a:ea typeface="微软雅黑" pitchFamily="34" charset="-122"/>
              </a:rPr>
              <a:t>提示</a:t>
            </a:r>
            <a:r>
              <a:rPr lang="zh-CN" altLang="en-US" sz="1600" dirty="0">
                <a:solidFill>
                  <a:schemeClr val="bg1"/>
                </a:solidFill>
                <a:latin typeface="微软雅黑" pitchFamily="34" charset="-122"/>
                <a:ea typeface="微软雅黑" pitchFamily="34" charset="-122"/>
              </a:rPr>
              <a:t>音也应越急促，以保证驾驶员具有足够的反应时间</a:t>
            </a:r>
            <a:r>
              <a:rPr lang="zh-CN" altLang="en-US" sz="1600" dirty="0" smtClean="0">
                <a:solidFill>
                  <a:schemeClr val="bg1"/>
                </a:solidFill>
                <a:latin typeface="微软雅黑" pitchFamily="34" charset="-122"/>
                <a:ea typeface="微软雅黑" pitchFamily="34" charset="-122"/>
              </a:rPr>
              <a:t>，从而</a:t>
            </a:r>
            <a:r>
              <a:rPr lang="zh-CN" altLang="en-US" sz="1600" dirty="0">
                <a:solidFill>
                  <a:schemeClr val="bg1"/>
                </a:solidFill>
                <a:latin typeface="微软雅黑" pitchFamily="34" charset="-122"/>
                <a:ea typeface="微软雅黑" pitchFamily="34" charset="-122"/>
              </a:rPr>
              <a:t>能够极大降低甚至避免撞人事故的发生。</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12</a:t>
            </a:fld>
            <a:endParaRPr lang="zh-CN" altLang="en-US" dirty="0"/>
          </a:p>
        </p:txBody>
      </p:sp>
      <p:sp>
        <p:nvSpPr>
          <p:cNvPr id="2" name="矩形 1"/>
          <p:cNvSpPr/>
          <p:nvPr/>
        </p:nvSpPr>
        <p:spPr>
          <a:xfrm>
            <a:off x="971551" y="1635125"/>
            <a:ext cx="7128841" cy="2618794"/>
          </a:xfrm>
          <a:prstGeom prst="rect">
            <a:avLst/>
          </a:prstGeom>
          <a:solidFill>
            <a:srgbClr val="0070C0"/>
          </a:solidFill>
        </p:spPr>
        <p:txBody>
          <a:bodyPr wrap="square">
            <a:spAutoFit/>
          </a:bodyPr>
          <a:lstStyle/>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（1）可见光行人检测</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可见光行人检测采用的视觉传感器为普通的光学摄像头。由于普通光学摄像头是利用可见光进行成像，因此非常符合人的正常视觉习惯，而且硬件成本十分低廉。但是受到光照条件的限制，该方法只能应用在白天，在光照条件很差的阴雨天或夜间则无法使用。</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（2）红外行人检测</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红外行人检测采用红外热成像摄像头，利用物体发出的热红外线进行成像，不依赖于光照，具有很好的夜视功能，在白天和晚上都适用，尤其是在夜间及光线较差的阴雨天具有无可替代的优势。</a:t>
            </a:r>
          </a:p>
        </p:txBody>
      </p:sp>
      <p:sp>
        <p:nvSpPr>
          <p:cNvPr id="7" name="矩形 6"/>
          <p:cNvSpPr/>
          <p:nvPr/>
        </p:nvSpPr>
        <p:spPr>
          <a:xfrm>
            <a:off x="971600" y="1131590"/>
            <a:ext cx="2212465"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.行人识别的</a:t>
            </a:r>
            <a:r>
              <a:rPr lang="zh-CN" altLang="en-US" sz="2000" b="1" dirty="0">
                <a:solidFill>
                  <a:schemeClr val="bg1"/>
                </a:solidFill>
                <a:latin typeface="微软雅黑" panose="020B0503020204020204" pitchFamily="34" charset="-122"/>
                <a:ea typeface="微软雅黑" panose="020B0503020204020204" pitchFamily="34" charset="-122"/>
              </a:rPr>
              <a:t>类型</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9"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a:t>
            </a:r>
            <a:r>
              <a:rPr lang="zh-CN" altLang="en-US" sz="3200" b="1" dirty="0" smtClean="0">
                <a:solidFill>
                  <a:schemeClr val="accent1"/>
                </a:solidFill>
                <a:latin typeface="微软雅黑" panose="020B0503020204020204" pitchFamily="34" charset="-122"/>
              </a:rPr>
              <a:t>识别行人？</a:t>
            </a:r>
            <a:endParaRPr lang="zh-CN" altLang="en-US" sz="3200" b="1" dirty="0" smtClean="0">
              <a:solidFill>
                <a:schemeClr val="accent1"/>
              </a:solidFill>
              <a:latin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13</a:t>
            </a:fld>
            <a:endParaRPr lang="zh-CN" altLang="en-US" dirty="0"/>
          </a:p>
        </p:txBody>
      </p:sp>
      <p:sp>
        <p:nvSpPr>
          <p:cNvPr id="7" name="矩形 6"/>
          <p:cNvSpPr/>
          <p:nvPr/>
        </p:nvSpPr>
        <p:spPr>
          <a:xfrm>
            <a:off x="971600" y="1131590"/>
            <a:ext cx="2725426"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.行人识别</a:t>
            </a:r>
            <a:r>
              <a:rPr lang="zh-CN" altLang="en-US" sz="2000" b="1" dirty="0">
                <a:solidFill>
                  <a:schemeClr val="bg1"/>
                </a:solidFill>
                <a:latin typeface="微软雅黑" panose="020B0503020204020204" pitchFamily="34" charset="-122"/>
                <a:ea typeface="微软雅黑" panose="020B0503020204020204" pitchFamily="34" charset="-122"/>
              </a:rPr>
              <a:t>系统</a:t>
            </a:r>
            <a:r>
              <a:rPr sz="2000" b="1" dirty="0" smtClean="0">
                <a:solidFill>
                  <a:schemeClr val="bg1"/>
                </a:solidFill>
                <a:latin typeface="微软雅黑" panose="020B0503020204020204" pitchFamily="34" charset="-122"/>
                <a:ea typeface="微软雅黑" panose="020B0503020204020204" pitchFamily="34" charset="-122"/>
              </a:rPr>
              <a:t>的</a:t>
            </a:r>
            <a:r>
              <a:rPr lang="zh-CN" altLang="en-US" sz="2000" b="1" dirty="0" smtClean="0">
                <a:solidFill>
                  <a:schemeClr val="bg1"/>
                </a:solidFill>
                <a:latin typeface="微软雅黑" panose="020B0503020204020204" pitchFamily="34" charset="-122"/>
                <a:ea typeface="微软雅黑" panose="020B0503020204020204" pitchFamily="34" charset="-122"/>
              </a:rPr>
              <a:t>组成</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9"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a:t>
            </a:r>
            <a:r>
              <a:rPr lang="zh-CN" altLang="en-US" sz="3200" b="1" dirty="0" smtClean="0">
                <a:solidFill>
                  <a:schemeClr val="accent1"/>
                </a:solidFill>
                <a:latin typeface="微软雅黑" panose="020B0503020204020204" pitchFamily="34" charset="-122"/>
              </a:rPr>
              <a:t>识别行人？</a:t>
            </a:r>
            <a:endParaRPr lang="zh-CN" altLang="en-US" sz="3200" b="1" dirty="0" smtClean="0">
              <a:solidFill>
                <a:schemeClr val="accent1"/>
              </a:solidFill>
              <a:latin typeface="微软雅黑" panose="020B0503020204020204" pitchFamily="34" charset="-122"/>
            </a:endParaRPr>
          </a:p>
        </p:txBody>
      </p:sp>
      <p:sp>
        <p:nvSpPr>
          <p:cNvPr id="5" name="矩形 4"/>
          <p:cNvSpPr/>
          <p:nvPr/>
        </p:nvSpPr>
        <p:spPr>
          <a:xfrm>
            <a:off x="974812" y="1605580"/>
            <a:ext cx="5541404" cy="338554"/>
          </a:xfrm>
          <a:prstGeom prst="rect">
            <a:avLst/>
          </a:prstGeom>
          <a:solidFill>
            <a:srgbClr val="0070C0"/>
          </a:solidFill>
        </p:spPr>
        <p:txBody>
          <a:bodyPr wrap="square">
            <a:spAutoFit/>
          </a:bodyPr>
          <a:lstStyle/>
          <a:p>
            <a:r>
              <a:rPr lang="zh-CN" altLang="en-US" sz="1600" dirty="0" smtClean="0">
                <a:solidFill>
                  <a:schemeClr val="bg1"/>
                </a:solidFill>
                <a:latin typeface="微软雅黑" pitchFamily="34" charset="-122"/>
                <a:ea typeface="微软雅黑" pitchFamily="34" charset="-122"/>
              </a:rPr>
              <a:t>行人</a:t>
            </a:r>
            <a:r>
              <a:rPr lang="zh-CN" altLang="en-US" sz="1600" dirty="0">
                <a:solidFill>
                  <a:schemeClr val="bg1"/>
                </a:solidFill>
                <a:latin typeface="微软雅黑" pitchFamily="34" charset="-122"/>
                <a:ea typeface="微软雅黑" pitchFamily="34" charset="-122"/>
              </a:rPr>
              <a:t>识别系统由预处理、分类检测和决策报警三部分组成。</a:t>
            </a:r>
          </a:p>
        </p:txBody>
      </p:sp>
      <p:pic>
        <p:nvPicPr>
          <p:cNvPr id="3305" name="Picture 2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2211710"/>
            <a:ext cx="6696075"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14</a:t>
            </a:fld>
            <a:endParaRPr lang="zh-CN" altLang="en-US" dirty="0"/>
          </a:p>
        </p:txBody>
      </p:sp>
      <p:sp>
        <p:nvSpPr>
          <p:cNvPr id="2" name="矩形 1"/>
          <p:cNvSpPr/>
          <p:nvPr/>
        </p:nvSpPr>
        <p:spPr>
          <a:xfrm>
            <a:off x="971551" y="1635125"/>
            <a:ext cx="7200850" cy="829945"/>
          </a:xfrm>
          <a:prstGeom prst="rect">
            <a:avLst/>
          </a:prstGeom>
          <a:solidFill>
            <a:srgbClr val="0070C0"/>
          </a:solidFill>
        </p:spPr>
        <p:txBody>
          <a:bodyPr wrap="square">
            <a:spAutoFit/>
          </a:bodyPr>
          <a:lstStyle/>
          <a:p>
            <a:pPr fontAlgn="base">
              <a:lnSpc>
                <a:spcPct val="150000"/>
              </a:lnSpc>
            </a:pPr>
            <a:r>
              <a:rPr sz="1600" dirty="0">
                <a:solidFill>
                  <a:schemeClr val="bg1"/>
                </a:solidFill>
                <a:latin typeface="微软雅黑" panose="020B0503020204020204" pitchFamily="34" charset="-122"/>
                <a:ea typeface="微软雅黑" panose="020B0503020204020204" pitchFamily="34" charset="-122"/>
              </a:rPr>
              <a:t>行人识别的方法主要包括根据特征分类的行人识别的方法、根据模型的行人识别方法、根据运动特性的行人识别方法、根据形状模型的行人识别方法等。</a:t>
            </a:r>
          </a:p>
        </p:txBody>
      </p:sp>
      <p:pic>
        <p:nvPicPr>
          <p:cNvPr id="27" name="图片 27" descr="说明: C:\Users\Lenovo\Desktop\智能网联汽车 人民交通\项目2 智能网联汽车环境感知系统应用\图2-2-18 行人的识别结果示意图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691680" y="2571750"/>
            <a:ext cx="2880296" cy="1867535"/>
          </a:xfrm>
          <a:prstGeom prst="rect">
            <a:avLst/>
          </a:prstGeom>
          <a:noFill/>
          <a:ln>
            <a:noFill/>
          </a:ln>
        </p:spPr>
      </p:pic>
      <p:pic>
        <p:nvPicPr>
          <p:cNvPr id="26" name="图片 26" descr="说明: C:\Users\Lenovo\Desktop\智能网联汽车 人民交通\项目2 智能网联汽车环境感知系统应用\图2-2-18 行人的识别结果示意图2.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4828255" y="2571750"/>
            <a:ext cx="2927985" cy="1867535"/>
          </a:xfrm>
          <a:prstGeom prst="rect">
            <a:avLst/>
          </a:prstGeom>
          <a:noFill/>
          <a:ln>
            <a:noFill/>
          </a:ln>
        </p:spPr>
      </p:pic>
      <p:sp>
        <p:nvSpPr>
          <p:cNvPr id="9" name="矩形 8"/>
          <p:cNvSpPr/>
          <p:nvPr/>
        </p:nvSpPr>
        <p:spPr>
          <a:xfrm>
            <a:off x="971600" y="1131590"/>
            <a:ext cx="2212465"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4</a:t>
            </a:r>
            <a:r>
              <a:rPr sz="2000" b="1" dirty="0" smtClean="0">
                <a:solidFill>
                  <a:schemeClr val="bg1"/>
                </a:solidFill>
                <a:latin typeface="微软雅黑" panose="020B0503020204020204" pitchFamily="34" charset="-122"/>
                <a:ea typeface="微软雅黑" panose="020B0503020204020204" pitchFamily="34" charset="-122"/>
              </a:rPr>
              <a:t>.行人识别的</a:t>
            </a:r>
            <a:r>
              <a:rPr lang="zh-CN" altLang="en-US" sz="2000" b="1" dirty="0">
                <a:solidFill>
                  <a:schemeClr val="bg1"/>
                </a:solidFill>
                <a:latin typeface="微软雅黑" panose="020B0503020204020204" pitchFamily="34" charset="-122"/>
                <a:ea typeface="微软雅黑" panose="020B0503020204020204" pitchFamily="34" charset="-122"/>
              </a:rPr>
              <a:t>方法</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10"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a:t>
            </a:r>
            <a:r>
              <a:rPr lang="zh-CN" altLang="en-US" sz="3200" b="1" dirty="0" smtClean="0">
                <a:solidFill>
                  <a:schemeClr val="accent1"/>
                </a:solidFill>
                <a:latin typeface="微软雅黑" panose="020B0503020204020204" pitchFamily="34" charset="-122"/>
              </a:rPr>
              <a:t>识别行人？</a:t>
            </a:r>
            <a:endParaRPr lang="zh-CN" altLang="en-US" sz="3200" b="1" dirty="0" smtClean="0">
              <a:solidFill>
                <a:schemeClr val="accent1"/>
              </a:solidFill>
              <a:latin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15</a:t>
            </a:fld>
            <a:endParaRPr lang="zh-CN" altLang="en-US" dirty="0"/>
          </a:p>
        </p:txBody>
      </p:sp>
      <p:sp>
        <p:nvSpPr>
          <p:cNvPr id="3" name="矩形 2"/>
          <p:cNvSpPr/>
          <p:nvPr/>
        </p:nvSpPr>
        <p:spPr>
          <a:xfrm>
            <a:off x="971600" y="1131590"/>
            <a:ext cx="1955985"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1.交通标志简介</a:t>
            </a:r>
          </a:p>
        </p:txBody>
      </p:sp>
      <p:sp>
        <p:nvSpPr>
          <p:cNvPr id="2" name="矩形 1"/>
          <p:cNvSpPr/>
          <p:nvPr/>
        </p:nvSpPr>
        <p:spPr>
          <a:xfrm>
            <a:off x="971550" y="1666108"/>
            <a:ext cx="2448322" cy="2677656"/>
          </a:xfrm>
          <a:prstGeom prst="rect">
            <a:avLst/>
          </a:prstGeom>
          <a:solidFill>
            <a:srgbClr val="0070C0"/>
          </a:solidFill>
        </p:spPr>
        <p:txBody>
          <a:bodyPr wrap="square">
            <a:spAutoFit/>
          </a:bodyPr>
          <a:lstStyle/>
          <a:p>
            <a:pPr fontAlgn="base">
              <a:lnSpc>
                <a:spcPct val="150000"/>
              </a:lnSpc>
            </a:pPr>
            <a:r>
              <a:rPr sz="1600" dirty="0">
                <a:solidFill>
                  <a:schemeClr val="bg1"/>
                </a:solidFill>
                <a:latin typeface="微软雅黑" panose="020B0503020204020204" pitchFamily="34" charset="-122"/>
                <a:ea typeface="微软雅黑" panose="020B0503020204020204" pitchFamily="34" charset="-122"/>
              </a:rPr>
              <a:t>道路交通标志作为重要的道路交通安全附属设施，可向驾驶员提供各种引导和约束信息，驾驶员实时地、正确地获取交通标志信息，是保障行车安全的前提。</a:t>
            </a:r>
          </a:p>
        </p:txBody>
      </p:sp>
      <p:pic>
        <p:nvPicPr>
          <p:cNvPr id="25" name="图片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426365" y="1131590"/>
            <a:ext cx="4756150" cy="2089150"/>
          </a:xfrm>
          <a:prstGeom prst="rect">
            <a:avLst/>
          </a:prstGeom>
          <a:noFill/>
          <a:ln>
            <a:noFill/>
          </a:ln>
        </p:spPr>
      </p:pic>
      <p:sp>
        <p:nvSpPr>
          <p:cNvPr id="7"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a:t>
            </a:r>
            <a:r>
              <a:rPr lang="zh-CN" altLang="en-US" sz="3200" b="1" dirty="0" smtClean="0">
                <a:solidFill>
                  <a:schemeClr val="accent1"/>
                </a:solidFill>
                <a:latin typeface="微软雅黑" panose="020B0503020204020204" pitchFamily="34" charset="-122"/>
              </a:rPr>
              <a:t>识别交通标志？</a:t>
            </a:r>
            <a:endParaRPr lang="zh-CN" altLang="en-US" sz="3200" b="1" dirty="0" smtClean="0">
              <a:solidFill>
                <a:schemeClr val="accent1"/>
              </a:solidFill>
              <a:latin typeface="微软雅黑" panose="020B0503020204020204" pitchFamily="34" charset="-122"/>
            </a:endParaRPr>
          </a:p>
        </p:txBody>
      </p:sp>
      <p:sp>
        <p:nvSpPr>
          <p:cNvPr id="4" name="矩形 3"/>
          <p:cNvSpPr/>
          <p:nvPr/>
        </p:nvSpPr>
        <p:spPr>
          <a:xfrm>
            <a:off x="3451847" y="3240911"/>
            <a:ext cx="4730668" cy="1495922"/>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交通标志具有鲜明的色彩特征，因此要实现对交通标志图像的有效分割检测，颜色</a:t>
            </a:r>
            <a:r>
              <a:rPr lang="zh-CN" altLang="en-US" sz="1600" dirty="0" smtClean="0">
                <a:solidFill>
                  <a:schemeClr val="bg1"/>
                </a:solidFill>
                <a:latin typeface="微软雅黑" pitchFamily="34" charset="-122"/>
                <a:ea typeface="微软雅黑" pitchFamily="34" charset="-122"/>
              </a:rPr>
              <a:t>是一</a:t>
            </a:r>
            <a:r>
              <a:rPr lang="zh-CN" altLang="en-US" sz="1600" dirty="0">
                <a:solidFill>
                  <a:schemeClr val="bg1"/>
                </a:solidFill>
                <a:latin typeface="微软雅黑" pitchFamily="34" charset="-122"/>
                <a:ea typeface="微软雅黑" pitchFamily="34" charset="-122"/>
              </a:rPr>
              <a:t>个重要信息；选择合适的颜色空间对其加以分析和提取，将有助于提高智能网联汽车</a:t>
            </a:r>
            <a:r>
              <a:rPr lang="zh-CN" altLang="en-US" sz="1600" dirty="0" smtClean="0">
                <a:solidFill>
                  <a:schemeClr val="bg1"/>
                </a:solidFill>
                <a:latin typeface="微软雅黑" pitchFamily="34" charset="-122"/>
                <a:ea typeface="微软雅黑" pitchFamily="34" charset="-122"/>
              </a:rPr>
              <a:t>环境</a:t>
            </a:r>
            <a:r>
              <a:rPr lang="zh-CN" altLang="en-US" sz="1600" dirty="0">
                <a:solidFill>
                  <a:schemeClr val="bg1"/>
                </a:solidFill>
                <a:latin typeface="微软雅黑" pitchFamily="34" charset="-122"/>
                <a:ea typeface="微软雅黑" pitchFamily="34" charset="-122"/>
              </a:rPr>
              <a:t>感知系统识别的实时性和准确性。</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16</a:t>
            </a:fld>
            <a:endParaRPr lang="zh-CN" altLang="en-US" dirty="0"/>
          </a:p>
        </p:txBody>
      </p:sp>
      <p:sp>
        <p:nvSpPr>
          <p:cNvPr id="7" name="矩形 6"/>
          <p:cNvSpPr/>
          <p:nvPr/>
        </p:nvSpPr>
        <p:spPr>
          <a:xfrm>
            <a:off x="971600" y="1131590"/>
            <a:ext cx="2468946"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.交通标志</a:t>
            </a:r>
            <a:r>
              <a:rPr lang="zh-CN" altLang="en-US" sz="2000" b="1" dirty="0" smtClean="0">
                <a:solidFill>
                  <a:schemeClr val="bg1"/>
                </a:solidFill>
                <a:latin typeface="微软雅黑" panose="020B0503020204020204" pitchFamily="34" charset="-122"/>
                <a:ea typeface="微软雅黑" panose="020B0503020204020204" pitchFamily="34" charset="-122"/>
              </a:rPr>
              <a:t>识别系统</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9"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a:t>
            </a:r>
            <a:r>
              <a:rPr lang="zh-CN" altLang="en-US" sz="3200" b="1" dirty="0" smtClean="0">
                <a:solidFill>
                  <a:schemeClr val="accent1"/>
                </a:solidFill>
                <a:latin typeface="微软雅黑" panose="020B0503020204020204" pitchFamily="34" charset="-122"/>
              </a:rPr>
              <a:t>识别交通标志？</a:t>
            </a:r>
            <a:endParaRPr lang="zh-CN" altLang="en-US" sz="3200" b="1" dirty="0" smtClean="0">
              <a:solidFill>
                <a:schemeClr val="accent1"/>
              </a:solidFill>
              <a:latin typeface="微软雅黑" panose="020B0503020204020204" pitchFamily="34" charset="-122"/>
            </a:endParaRPr>
          </a:p>
        </p:txBody>
      </p:sp>
      <p:sp>
        <p:nvSpPr>
          <p:cNvPr id="4" name="矩形 3"/>
          <p:cNvSpPr/>
          <p:nvPr/>
        </p:nvSpPr>
        <p:spPr>
          <a:xfrm>
            <a:off x="971600" y="1635646"/>
            <a:ext cx="7200800" cy="1215204"/>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在智能网联汽车中，交通标志的检测是通过图像识别系统实现的。交通标志识别</a:t>
            </a:r>
            <a:r>
              <a:rPr lang="zh-CN" altLang="en-US" sz="1600" dirty="0" smtClean="0">
                <a:solidFill>
                  <a:schemeClr val="bg1"/>
                </a:solidFill>
                <a:latin typeface="微软雅黑" pitchFamily="34" charset="-122"/>
                <a:ea typeface="微软雅黑" pitchFamily="34" charset="-122"/>
              </a:rPr>
              <a:t>系统首先</a:t>
            </a:r>
            <a:r>
              <a:rPr lang="zh-CN" altLang="en-US" sz="1600" dirty="0">
                <a:solidFill>
                  <a:schemeClr val="bg1"/>
                </a:solidFill>
                <a:latin typeface="微软雅黑" pitchFamily="34" charset="-122"/>
                <a:ea typeface="微软雅黑" pitchFamily="34" charset="-122"/>
              </a:rPr>
              <a:t>使用视觉传感器（车载摄像头）获取目标图像，然后进行图像</a:t>
            </a:r>
            <a:r>
              <a:rPr lang="zh-CN" altLang="en-US" sz="1600" dirty="0" smtClean="0">
                <a:solidFill>
                  <a:schemeClr val="bg1"/>
                </a:solidFill>
                <a:latin typeface="微软雅黑" pitchFamily="34" charset="-122"/>
                <a:ea typeface="微软雅黑" pitchFamily="34" charset="-122"/>
              </a:rPr>
              <a:t>分割</a:t>
            </a:r>
            <a:r>
              <a:rPr lang="zh-CN" altLang="en-US" sz="1600" dirty="0">
                <a:solidFill>
                  <a:schemeClr val="bg1"/>
                </a:solidFill>
                <a:latin typeface="微软雅黑" pitchFamily="34" charset="-122"/>
                <a:ea typeface="微软雅黑" pitchFamily="34" charset="-122"/>
              </a:rPr>
              <a:t>和特征提取，通过与交通标志标准特征库比较进行交通标志识别，识别结果也可以</a:t>
            </a:r>
            <a:r>
              <a:rPr lang="zh-CN" altLang="en-US" sz="1600" dirty="0" smtClean="0">
                <a:solidFill>
                  <a:schemeClr val="bg1"/>
                </a:solidFill>
                <a:latin typeface="微软雅黑" pitchFamily="34" charset="-122"/>
                <a:ea typeface="微软雅黑" pitchFamily="34" charset="-122"/>
              </a:rPr>
              <a:t>与其他</a:t>
            </a:r>
            <a:r>
              <a:rPr lang="zh-CN" altLang="en-US" sz="1600" dirty="0">
                <a:solidFill>
                  <a:schemeClr val="bg1"/>
                </a:solidFill>
                <a:latin typeface="微软雅黑" pitchFamily="34" charset="-122"/>
                <a:ea typeface="微软雅黑" pitchFamily="34" charset="-122"/>
              </a:rPr>
              <a:t>智能网联汽车共享。</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913233"/>
            <a:ext cx="49530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17</a:t>
            </a:fld>
            <a:endParaRPr lang="zh-CN" altLang="en-US" dirty="0"/>
          </a:p>
        </p:txBody>
      </p:sp>
      <p:sp>
        <p:nvSpPr>
          <p:cNvPr id="2" name="矩形 1"/>
          <p:cNvSpPr/>
          <p:nvPr/>
        </p:nvSpPr>
        <p:spPr>
          <a:xfrm>
            <a:off x="903770" y="1635646"/>
            <a:ext cx="2156062" cy="1569660"/>
          </a:xfrm>
          <a:prstGeom prst="rect">
            <a:avLst/>
          </a:prstGeom>
          <a:solidFill>
            <a:srgbClr val="0070C0"/>
          </a:solidFill>
        </p:spPr>
        <p:txBody>
          <a:bodyPr wrap="square">
            <a:spAutoFit/>
          </a:bodyPr>
          <a:lstStyle/>
          <a:p>
            <a:pPr fontAlgn="base">
              <a:lnSpc>
                <a:spcPct val="150000"/>
              </a:lnSpc>
            </a:pPr>
            <a:r>
              <a:rPr sz="1600" dirty="0" err="1" smtClean="0">
                <a:solidFill>
                  <a:schemeClr val="bg1"/>
                </a:solidFill>
                <a:latin typeface="微软雅黑" panose="020B0503020204020204" pitchFamily="34" charset="-122"/>
                <a:ea typeface="微软雅黑" panose="020B0503020204020204" pitchFamily="34" charset="-122"/>
              </a:rPr>
              <a:t>原始图像采集</a:t>
            </a:r>
            <a:r>
              <a:rPr sz="1600" dirty="0" err="1">
                <a:solidFill>
                  <a:schemeClr val="bg1"/>
                </a:solidFill>
                <a:latin typeface="微软雅黑" panose="020B0503020204020204" pitchFamily="34" charset="-122"/>
                <a:ea typeface="微软雅黑" panose="020B0503020204020204" pitchFamily="34" charset="-122"/>
              </a:rPr>
              <a:t>→图像预处理→图像分割检测→图像特征提取→交通标志识别</a:t>
            </a:r>
            <a:r>
              <a:rPr sz="1600" dirty="0">
                <a:solidFill>
                  <a:schemeClr val="bg1"/>
                </a:solidFill>
                <a:latin typeface="微软雅黑" panose="020B0503020204020204" pitchFamily="34" charset="-122"/>
                <a:ea typeface="微软雅黑" panose="020B0503020204020204" pitchFamily="34" charset="-122"/>
              </a:rPr>
              <a:t>”</a:t>
            </a:r>
          </a:p>
        </p:txBody>
      </p:sp>
      <p:pic>
        <p:nvPicPr>
          <p:cNvPr id="4" name="图片 3"/>
          <p:cNvPicPr>
            <a:picLocks noChangeAspect="1"/>
          </p:cNvPicPr>
          <p:nvPr/>
        </p:nvPicPr>
        <p:blipFill>
          <a:blip r:embed="rId3"/>
          <a:stretch>
            <a:fillRect/>
          </a:stretch>
        </p:blipFill>
        <p:spPr>
          <a:xfrm>
            <a:off x="3059832" y="1635646"/>
            <a:ext cx="5127169" cy="3024336"/>
          </a:xfrm>
          <a:prstGeom prst="rect">
            <a:avLst/>
          </a:prstGeom>
        </p:spPr>
      </p:pic>
      <p:sp>
        <p:nvSpPr>
          <p:cNvPr id="7" name="矩形 6"/>
          <p:cNvSpPr/>
          <p:nvPr/>
        </p:nvSpPr>
        <p:spPr>
          <a:xfrm>
            <a:off x="971600" y="1131590"/>
            <a:ext cx="3863558"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.交通标志</a:t>
            </a:r>
            <a:r>
              <a:rPr lang="zh-CN" altLang="en-US" sz="2000" b="1" dirty="0" smtClean="0">
                <a:solidFill>
                  <a:schemeClr val="bg1"/>
                </a:solidFill>
                <a:latin typeface="微软雅黑" panose="020B0503020204020204" pitchFamily="34" charset="-122"/>
                <a:ea typeface="微软雅黑" panose="020B0503020204020204" pitchFamily="34" charset="-122"/>
              </a:rPr>
              <a:t>识别流程与方法</a:t>
            </a:r>
            <a:r>
              <a:rPr lang="en-US" altLang="zh-CN"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流程</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9"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a:t>
            </a:r>
            <a:r>
              <a:rPr lang="zh-CN" altLang="en-US" sz="3200" b="1" dirty="0" smtClean="0">
                <a:solidFill>
                  <a:schemeClr val="accent1"/>
                </a:solidFill>
                <a:latin typeface="微软雅黑" panose="020B0503020204020204" pitchFamily="34" charset="-122"/>
              </a:rPr>
              <a:t>识别交通标志？</a:t>
            </a:r>
            <a:endParaRPr lang="zh-CN" altLang="en-US" sz="3200" b="1" dirty="0" smtClean="0">
              <a:solidFill>
                <a:schemeClr val="accent1"/>
              </a:solidFill>
              <a:latin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18</a:t>
            </a:fld>
            <a:endParaRPr lang="zh-CN" altLang="en-US" dirty="0"/>
          </a:p>
        </p:txBody>
      </p:sp>
      <p:sp>
        <p:nvSpPr>
          <p:cNvPr id="7" name="矩形 6"/>
          <p:cNvSpPr/>
          <p:nvPr/>
        </p:nvSpPr>
        <p:spPr>
          <a:xfrm>
            <a:off x="971600" y="1131590"/>
            <a:ext cx="3863558"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.交通标志</a:t>
            </a:r>
            <a:r>
              <a:rPr lang="zh-CN" altLang="en-US" sz="2000" b="1" dirty="0" smtClean="0">
                <a:solidFill>
                  <a:schemeClr val="bg1"/>
                </a:solidFill>
                <a:latin typeface="微软雅黑" panose="020B0503020204020204" pitchFamily="34" charset="-122"/>
                <a:ea typeface="微软雅黑" panose="020B0503020204020204" pitchFamily="34" charset="-122"/>
              </a:rPr>
              <a:t>识别流程与方法</a:t>
            </a:r>
            <a:r>
              <a:rPr lang="en-US" altLang="zh-CN"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方法</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9"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a:t>
            </a:r>
            <a:r>
              <a:rPr lang="zh-CN" altLang="en-US" sz="3200" b="1" dirty="0" smtClean="0">
                <a:solidFill>
                  <a:schemeClr val="accent1"/>
                </a:solidFill>
                <a:latin typeface="微软雅黑" panose="020B0503020204020204" pitchFamily="34" charset="-122"/>
              </a:rPr>
              <a:t>识别交通标志？</a:t>
            </a:r>
            <a:endParaRPr lang="zh-CN" altLang="en-US" sz="3200" b="1" dirty="0" smtClean="0">
              <a:solidFill>
                <a:schemeClr val="accent1"/>
              </a:solidFill>
              <a:latin typeface="微软雅黑" panose="020B0503020204020204" pitchFamily="34" charset="-122"/>
            </a:endParaRPr>
          </a:p>
        </p:txBody>
      </p:sp>
      <p:sp>
        <p:nvSpPr>
          <p:cNvPr id="3" name="矩形 2"/>
          <p:cNvSpPr/>
          <p:nvPr/>
        </p:nvSpPr>
        <p:spPr>
          <a:xfrm>
            <a:off x="971600" y="1635646"/>
            <a:ext cx="3312368" cy="1938992"/>
          </a:xfrm>
          <a:prstGeom prst="rect">
            <a:avLst/>
          </a:prstGeom>
          <a:solidFill>
            <a:srgbClr val="0070C0"/>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①根据颜色特征的交通标志识别</a:t>
            </a:r>
            <a:r>
              <a:rPr lang="zh-CN" altLang="en-US" sz="1600" dirty="0" smtClean="0">
                <a:solidFill>
                  <a:schemeClr val="bg1"/>
                </a:solidFill>
                <a:latin typeface="微软雅黑" pitchFamily="34" charset="-122"/>
                <a:ea typeface="微软雅黑" pitchFamily="34" charset="-122"/>
              </a:rPr>
              <a:t>。 </a:t>
            </a:r>
            <a:endParaRPr lang="en-US" altLang="zh-CN" sz="1600" dirty="0" smtClean="0">
              <a:solidFill>
                <a:schemeClr val="bg1"/>
              </a:solidFill>
              <a:latin typeface="微软雅黑" pitchFamily="34" charset="-122"/>
              <a:ea typeface="微软雅黑" pitchFamily="34" charset="-122"/>
            </a:endParaRPr>
          </a:p>
          <a:p>
            <a:pPr>
              <a:lnSpc>
                <a:spcPct val="150000"/>
              </a:lnSpc>
            </a:pPr>
            <a:r>
              <a:rPr lang="zh-CN" altLang="en-US" sz="1600" dirty="0" smtClean="0">
                <a:solidFill>
                  <a:schemeClr val="bg1"/>
                </a:solidFill>
                <a:latin typeface="微软雅黑" pitchFamily="34" charset="-122"/>
                <a:ea typeface="微软雅黑" pitchFamily="34" charset="-122"/>
              </a:rPr>
              <a:t>②</a:t>
            </a:r>
            <a:r>
              <a:rPr lang="zh-CN" altLang="en-US" sz="1600" dirty="0">
                <a:solidFill>
                  <a:schemeClr val="bg1"/>
                </a:solidFill>
                <a:latin typeface="微软雅黑" pitchFamily="34" charset="-122"/>
                <a:ea typeface="微软雅黑" pitchFamily="34" charset="-122"/>
              </a:rPr>
              <a:t>根据形状特征的交通标志识别</a:t>
            </a:r>
            <a:r>
              <a:rPr lang="zh-CN" altLang="en-US" sz="1600" dirty="0" smtClean="0">
                <a:solidFill>
                  <a:schemeClr val="bg1"/>
                </a:solidFill>
                <a:latin typeface="微软雅黑" pitchFamily="34" charset="-122"/>
                <a:ea typeface="微软雅黑" pitchFamily="34" charset="-122"/>
              </a:rPr>
              <a:t>。 </a:t>
            </a:r>
            <a:endParaRPr lang="en-US" altLang="zh-CN" sz="1600" dirty="0" smtClean="0">
              <a:solidFill>
                <a:schemeClr val="bg1"/>
              </a:solidFill>
              <a:latin typeface="微软雅黑" pitchFamily="34" charset="-122"/>
              <a:ea typeface="微软雅黑" pitchFamily="34" charset="-122"/>
            </a:endParaRPr>
          </a:p>
          <a:p>
            <a:pPr>
              <a:lnSpc>
                <a:spcPct val="150000"/>
              </a:lnSpc>
            </a:pPr>
            <a:r>
              <a:rPr lang="zh-CN" altLang="en-US" sz="1600" dirty="0" smtClean="0">
                <a:solidFill>
                  <a:schemeClr val="bg1"/>
                </a:solidFill>
                <a:latin typeface="微软雅黑" pitchFamily="34" charset="-122"/>
                <a:ea typeface="微软雅黑" pitchFamily="34" charset="-122"/>
              </a:rPr>
              <a:t>③</a:t>
            </a:r>
            <a:r>
              <a:rPr lang="zh-CN" altLang="en-US" sz="1600" dirty="0">
                <a:solidFill>
                  <a:schemeClr val="bg1"/>
                </a:solidFill>
                <a:latin typeface="微软雅黑" pitchFamily="34" charset="-122"/>
                <a:ea typeface="微软雅黑" pitchFamily="34" charset="-122"/>
              </a:rPr>
              <a:t>根据显著性的交通标志识别</a:t>
            </a:r>
            <a:r>
              <a:rPr lang="zh-CN" altLang="en-US" sz="1600" dirty="0" smtClean="0">
                <a:solidFill>
                  <a:schemeClr val="bg1"/>
                </a:solidFill>
                <a:latin typeface="微软雅黑" pitchFamily="34" charset="-122"/>
                <a:ea typeface="微软雅黑" pitchFamily="34" charset="-122"/>
              </a:rPr>
              <a:t>。</a:t>
            </a:r>
            <a:endParaRPr lang="en-US" altLang="zh-CN" sz="1600" dirty="0" smtClean="0">
              <a:solidFill>
                <a:schemeClr val="bg1"/>
              </a:solidFill>
              <a:latin typeface="微软雅黑" pitchFamily="34" charset="-122"/>
              <a:ea typeface="微软雅黑" pitchFamily="34" charset="-122"/>
            </a:endParaRPr>
          </a:p>
          <a:p>
            <a:pPr>
              <a:lnSpc>
                <a:spcPct val="150000"/>
              </a:lnSpc>
            </a:pPr>
            <a:r>
              <a:rPr lang="zh-CN" altLang="en-US" sz="1600" dirty="0" smtClean="0">
                <a:solidFill>
                  <a:schemeClr val="bg1"/>
                </a:solidFill>
                <a:latin typeface="微软雅黑" pitchFamily="34" charset="-122"/>
                <a:ea typeface="微软雅黑" pitchFamily="34" charset="-122"/>
              </a:rPr>
              <a:t>④</a:t>
            </a:r>
            <a:r>
              <a:rPr lang="zh-CN" altLang="en-US" sz="1600" dirty="0">
                <a:solidFill>
                  <a:schemeClr val="bg1"/>
                </a:solidFill>
                <a:latin typeface="微软雅黑" pitchFamily="34" charset="-122"/>
                <a:ea typeface="微软雅黑" pitchFamily="34" charset="-122"/>
              </a:rPr>
              <a:t>根据特征提取和机器学习的交通标志识别。</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4" y="1629257"/>
            <a:ext cx="3672408" cy="235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69212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19</a:t>
            </a:fld>
            <a:endParaRPr lang="zh-CN" altLang="en-US" dirty="0"/>
          </a:p>
        </p:txBody>
      </p:sp>
      <p:sp>
        <p:nvSpPr>
          <p:cNvPr id="3" name="矩形 2"/>
          <p:cNvSpPr/>
          <p:nvPr/>
        </p:nvSpPr>
        <p:spPr>
          <a:xfrm>
            <a:off x="971600" y="1131590"/>
            <a:ext cx="2212465"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1.交通信号灯简介</a:t>
            </a:r>
          </a:p>
        </p:txBody>
      </p:sp>
      <p:sp>
        <p:nvSpPr>
          <p:cNvPr id="2" name="矩形 1"/>
          <p:cNvSpPr/>
          <p:nvPr/>
        </p:nvSpPr>
        <p:spPr>
          <a:xfrm>
            <a:off x="971551" y="1635125"/>
            <a:ext cx="7200850" cy="787523"/>
          </a:xfrm>
          <a:prstGeom prst="rect">
            <a:avLst/>
          </a:prstGeom>
          <a:solidFill>
            <a:srgbClr val="0070C0"/>
          </a:solidFill>
        </p:spPr>
        <p:txBody>
          <a:bodyPr wrap="square">
            <a:spAutoFit/>
          </a:bodyPr>
          <a:lstStyle/>
          <a:p>
            <a:pPr fontAlgn="base">
              <a:lnSpc>
                <a:spcPct val="150000"/>
              </a:lnSpc>
            </a:pPr>
            <a:r>
              <a:rPr lang="zh-CN" altLang="en-US" sz="1600" dirty="0">
                <a:solidFill>
                  <a:schemeClr val="bg1"/>
                </a:solidFill>
                <a:latin typeface="微软雅黑" pitchFamily="34" charset="-122"/>
                <a:ea typeface="微软雅黑" pitchFamily="34" charset="-122"/>
              </a:rPr>
              <a:t>不同国家和地区采用的交通信号灯式样不一定相同。我国交通信号灯的</a:t>
            </a:r>
            <a:r>
              <a:rPr lang="zh-CN" altLang="en-US" sz="1600" dirty="0" smtClean="0">
                <a:solidFill>
                  <a:schemeClr val="bg1"/>
                </a:solidFill>
                <a:latin typeface="微软雅黑" pitchFamily="34" charset="-122"/>
                <a:ea typeface="微软雅黑" pitchFamily="34" charset="-122"/>
              </a:rPr>
              <a:t>特征分别从</a:t>
            </a:r>
            <a:r>
              <a:rPr sz="1600" dirty="0" err="1" smtClean="0">
                <a:solidFill>
                  <a:schemeClr val="bg1"/>
                </a:solidFill>
                <a:latin typeface="微软雅黑" panose="020B0503020204020204" pitchFamily="34" charset="-122"/>
                <a:ea typeface="微软雅黑" panose="020B0503020204020204" pitchFamily="34" charset="-122"/>
              </a:rPr>
              <a:t>从信号灯颜色</a:t>
            </a:r>
            <a:r>
              <a:rPr lang="zh-CN" altLang="en-US" sz="1600" dirty="0" smtClean="0">
                <a:solidFill>
                  <a:schemeClr val="bg1"/>
                </a:solidFill>
                <a:latin typeface="微软雅黑" panose="020B0503020204020204" pitchFamily="34" charset="-122"/>
                <a:ea typeface="微软雅黑" panose="020B0503020204020204" pitchFamily="34" charset="-122"/>
              </a:rPr>
              <a:t>、</a:t>
            </a:r>
            <a:r>
              <a:rPr sz="1600" dirty="0" err="1" smtClean="0">
                <a:solidFill>
                  <a:schemeClr val="bg1"/>
                </a:solidFill>
                <a:latin typeface="微软雅黑" panose="020B0503020204020204" pitchFamily="34" charset="-122"/>
                <a:ea typeface="微软雅黑" panose="020B0503020204020204" pitchFamily="34" charset="-122"/>
              </a:rPr>
              <a:t>安装方法</a:t>
            </a:r>
            <a:r>
              <a:rPr lang="zh-CN" altLang="en-US" sz="1600" dirty="0" smtClean="0">
                <a:solidFill>
                  <a:schemeClr val="bg1"/>
                </a:solidFill>
                <a:latin typeface="微软雅黑" panose="020B0503020204020204" pitchFamily="34" charset="-122"/>
                <a:ea typeface="微软雅黑" panose="020B0503020204020204" pitchFamily="34" charset="-122"/>
              </a:rPr>
              <a:t>和</a:t>
            </a:r>
            <a:r>
              <a:rPr sz="1600" dirty="0" err="1" smtClean="0">
                <a:solidFill>
                  <a:schemeClr val="bg1"/>
                </a:solidFill>
                <a:latin typeface="微软雅黑" panose="020B0503020204020204" pitchFamily="34" charset="-122"/>
                <a:ea typeface="微软雅黑" panose="020B0503020204020204" pitchFamily="34" charset="-122"/>
              </a:rPr>
              <a:t>功能</a:t>
            </a:r>
            <a:r>
              <a:rPr lang="zh-CN" altLang="en-US" sz="1600" dirty="0" smtClean="0">
                <a:solidFill>
                  <a:schemeClr val="bg1"/>
                </a:solidFill>
                <a:latin typeface="微软雅黑" panose="020B0503020204020204" pitchFamily="34" charset="-122"/>
                <a:ea typeface="微软雅黑" panose="020B0503020204020204" pitchFamily="34" charset="-122"/>
              </a:rPr>
              <a:t>具有典型特征</a:t>
            </a:r>
            <a:r>
              <a:rPr sz="1600" dirty="0" smtClean="0">
                <a:solidFill>
                  <a:schemeClr val="bg1"/>
                </a:solidFill>
                <a:latin typeface="微软雅黑" panose="020B0503020204020204" pitchFamily="34" charset="-122"/>
                <a:ea typeface="微软雅黑" panose="020B0503020204020204" pitchFamily="34" charset="-122"/>
              </a:rPr>
              <a:t>。</a:t>
            </a:r>
            <a:endParaRPr sz="1600" dirty="0">
              <a:solidFill>
                <a:schemeClr val="bg1"/>
              </a:solidFill>
              <a:latin typeface="微软雅黑" panose="020B0503020204020204" pitchFamily="34" charset="-122"/>
              <a:ea typeface="微软雅黑" panose="020B0503020204020204" pitchFamily="34" charset="-122"/>
            </a:endParaRPr>
          </a:p>
        </p:txBody>
      </p:sp>
      <p:sp>
        <p:nvSpPr>
          <p:cNvPr id="7"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a:t>
            </a:r>
            <a:r>
              <a:rPr lang="zh-CN" altLang="en-US" sz="3200" b="1" dirty="0" smtClean="0">
                <a:solidFill>
                  <a:schemeClr val="accent1"/>
                </a:solidFill>
                <a:latin typeface="微软雅黑" panose="020B0503020204020204" pitchFamily="34" charset="-122"/>
              </a:rPr>
              <a:t>识别交通信号灯？</a:t>
            </a:r>
            <a:endParaRPr lang="zh-CN" altLang="en-US" sz="3200" b="1" dirty="0" smtClean="0">
              <a:solidFill>
                <a:schemeClr val="accent1"/>
              </a:solidFill>
              <a:latin typeface="微软雅黑" panose="020B0503020204020204" pitchFamily="34" charset="-122"/>
            </a:endParaRP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568" y="2565074"/>
            <a:ext cx="7056833" cy="1911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20</a:t>
            </a:fld>
            <a:endParaRPr lang="zh-CN" altLang="en-US" dirty="0"/>
          </a:p>
        </p:txBody>
      </p:sp>
      <p:sp>
        <p:nvSpPr>
          <p:cNvPr id="2" name="矩形 1"/>
          <p:cNvSpPr/>
          <p:nvPr/>
        </p:nvSpPr>
        <p:spPr>
          <a:xfrm>
            <a:off x="971549" y="1635646"/>
            <a:ext cx="7200852" cy="1495922"/>
          </a:xfrm>
          <a:prstGeom prst="rect">
            <a:avLst/>
          </a:prstGeom>
          <a:solidFill>
            <a:srgbClr val="0070C0"/>
          </a:solidFill>
        </p:spPr>
        <p:txBody>
          <a:bodyPr wrap="square">
            <a:spAutoFit/>
          </a:bodyPr>
          <a:lstStyle/>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智能网联汽车的交通信号灯识别系统包括检测和识别两个环节。首先是定位交通信号灯，通过车载摄像机（视觉传感器），从复杂的城市道路交通环境中获取图像，根据交通信号灯的颜色、几何特征等信息，准确定位其位置，获取候选区域；然后是识别交通信号灯，根据在检测环节中已经获取交通信号灯的候选区域，通过对其分析及特征提取，进行分类识别。</a:t>
            </a:r>
          </a:p>
        </p:txBody>
      </p:sp>
      <p:pic>
        <p:nvPicPr>
          <p:cNvPr id="10" name="图片 10" descr="图2-2-2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996121" y="3291830"/>
            <a:ext cx="7151707" cy="1095110"/>
          </a:xfrm>
          <a:prstGeom prst="rect">
            <a:avLst/>
          </a:prstGeom>
          <a:noFill/>
          <a:ln w="12700" cmpd="sng">
            <a:solidFill>
              <a:schemeClr val="accent1">
                <a:shade val="50000"/>
              </a:schemeClr>
            </a:solidFill>
            <a:prstDash val="solid"/>
          </a:ln>
        </p:spPr>
      </p:pic>
      <p:sp>
        <p:nvSpPr>
          <p:cNvPr id="7" name="矩形 6"/>
          <p:cNvSpPr/>
          <p:nvPr/>
        </p:nvSpPr>
        <p:spPr>
          <a:xfrm>
            <a:off x="971600" y="1131590"/>
            <a:ext cx="2725426"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.交通信号灯</a:t>
            </a:r>
            <a:r>
              <a:rPr lang="zh-CN" altLang="en-US" sz="2000" b="1" dirty="0" smtClean="0">
                <a:solidFill>
                  <a:schemeClr val="bg1"/>
                </a:solidFill>
                <a:latin typeface="微软雅黑" panose="020B0503020204020204" pitchFamily="34" charset="-122"/>
                <a:ea typeface="微软雅黑" panose="020B0503020204020204" pitchFamily="34" charset="-122"/>
              </a:rPr>
              <a:t>识别系统</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9"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a:t>
            </a:r>
            <a:r>
              <a:rPr lang="zh-CN" altLang="en-US" sz="3200" b="1" dirty="0" smtClean="0">
                <a:solidFill>
                  <a:schemeClr val="accent1"/>
                </a:solidFill>
                <a:latin typeface="微软雅黑" panose="020B0503020204020204" pitchFamily="34" charset="-122"/>
              </a:rPr>
              <a:t>识别交通信号灯？</a:t>
            </a:r>
            <a:endParaRPr lang="zh-CN" altLang="en-US" sz="3200" b="1" dirty="0" smtClean="0">
              <a:solidFill>
                <a:schemeClr val="accent1"/>
              </a:solidFill>
              <a:latin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21</a:t>
            </a:fld>
            <a:endParaRPr lang="zh-CN" altLang="en-US" dirty="0"/>
          </a:p>
        </p:txBody>
      </p:sp>
      <p:sp>
        <p:nvSpPr>
          <p:cNvPr id="2" name="矩形 1"/>
          <p:cNvSpPr/>
          <p:nvPr/>
        </p:nvSpPr>
        <p:spPr>
          <a:xfrm>
            <a:off x="971600" y="1803718"/>
            <a:ext cx="2160240" cy="1569660"/>
          </a:xfrm>
          <a:prstGeom prst="rect">
            <a:avLst/>
          </a:prstGeom>
          <a:solidFill>
            <a:srgbClr val="0070C0"/>
          </a:solidFill>
        </p:spPr>
        <p:txBody>
          <a:bodyPr wrap="square">
            <a:spAutoFit/>
          </a:bodyPr>
          <a:lstStyle/>
          <a:p>
            <a:pPr fontAlgn="base">
              <a:lnSpc>
                <a:spcPct val="150000"/>
              </a:lnSpc>
            </a:pPr>
            <a:r>
              <a:rPr sz="1600" dirty="0" err="1" smtClean="0">
                <a:solidFill>
                  <a:schemeClr val="bg1"/>
                </a:solidFill>
                <a:latin typeface="微软雅黑" panose="020B0503020204020204" pitchFamily="34" charset="-122"/>
                <a:ea typeface="微软雅黑" panose="020B0503020204020204" pitchFamily="34" charset="-122"/>
              </a:rPr>
              <a:t>原始图像采集</a:t>
            </a:r>
            <a:r>
              <a:rPr sz="1600" dirty="0" err="1">
                <a:solidFill>
                  <a:schemeClr val="bg1"/>
                </a:solidFill>
                <a:latin typeface="微软雅黑" panose="020B0503020204020204" pitchFamily="34" charset="-122"/>
                <a:ea typeface="微软雅黑" panose="020B0503020204020204" pitchFamily="34" charset="-122"/>
              </a:rPr>
              <a:t>→图像灰度化→直方图均衡化→图像二值化→</a:t>
            </a:r>
            <a:r>
              <a:rPr sz="1600" dirty="0" err="1" smtClean="0">
                <a:solidFill>
                  <a:schemeClr val="bg1"/>
                </a:solidFill>
                <a:latin typeface="微软雅黑" panose="020B0503020204020204" pitchFamily="34" charset="-122"/>
                <a:ea typeface="微软雅黑" panose="020B0503020204020204" pitchFamily="34" charset="-122"/>
              </a:rPr>
              <a:t>交通信号灯识别</a:t>
            </a:r>
            <a:endParaRPr sz="1600" dirty="0">
              <a:solidFill>
                <a:schemeClr val="bg1"/>
              </a:solidFill>
              <a:latin typeface="微软雅黑" panose="020B0503020204020204" pitchFamily="34" charset="-122"/>
              <a:ea typeface="微软雅黑" panose="020B0503020204020204" pitchFamily="34" charset="-122"/>
            </a:endParaRPr>
          </a:p>
        </p:txBody>
      </p:sp>
      <p:sp>
        <p:nvSpPr>
          <p:cNvPr id="9" name="矩形 8"/>
          <p:cNvSpPr/>
          <p:nvPr/>
        </p:nvSpPr>
        <p:spPr>
          <a:xfrm>
            <a:off x="971600" y="1131590"/>
            <a:ext cx="4120039"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.交通信号灯</a:t>
            </a:r>
            <a:r>
              <a:rPr lang="zh-CN" altLang="en-US" sz="2000" b="1" dirty="0" smtClean="0">
                <a:solidFill>
                  <a:schemeClr val="bg1"/>
                </a:solidFill>
                <a:latin typeface="微软雅黑" panose="020B0503020204020204" pitchFamily="34" charset="-122"/>
                <a:ea typeface="微软雅黑" panose="020B0503020204020204" pitchFamily="34" charset="-122"/>
              </a:rPr>
              <a:t>识别流程与方法</a:t>
            </a:r>
            <a:r>
              <a:rPr lang="en-US" altLang="zh-CN"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流程</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10"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a:t>
            </a:r>
            <a:r>
              <a:rPr lang="zh-CN" altLang="en-US" sz="3200" b="1" dirty="0" smtClean="0">
                <a:solidFill>
                  <a:schemeClr val="accent1"/>
                </a:solidFill>
                <a:latin typeface="微软雅黑" panose="020B0503020204020204" pitchFamily="34" charset="-122"/>
              </a:rPr>
              <a:t>识别交通信号灯？</a:t>
            </a:r>
            <a:endParaRPr lang="zh-CN" altLang="en-US" sz="3200" b="1" dirty="0" smtClean="0">
              <a:solidFill>
                <a:schemeClr val="accent1"/>
              </a:solidFill>
              <a:latin typeface="微软雅黑" panose="020B0503020204020204" pitchFamily="34" charset="-122"/>
            </a:endParaRP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3610" y="1635646"/>
            <a:ext cx="4752528" cy="310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22</a:t>
            </a:fld>
            <a:endParaRPr lang="zh-CN" altLang="en-US" dirty="0"/>
          </a:p>
        </p:txBody>
      </p:sp>
      <p:sp>
        <p:nvSpPr>
          <p:cNvPr id="9" name="矩形 8"/>
          <p:cNvSpPr/>
          <p:nvPr/>
        </p:nvSpPr>
        <p:spPr>
          <a:xfrm>
            <a:off x="971600" y="1131590"/>
            <a:ext cx="4120039"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.交通信号灯</a:t>
            </a:r>
            <a:r>
              <a:rPr lang="zh-CN" altLang="en-US" sz="2000" b="1" dirty="0" smtClean="0">
                <a:solidFill>
                  <a:schemeClr val="bg1"/>
                </a:solidFill>
                <a:latin typeface="微软雅黑" panose="020B0503020204020204" pitchFamily="34" charset="-122"/>
                <a:ea typeface="微软雅黑" panose="020B0503020204020204" pitchFamily="34" charset="-122"/>
              </a:rPr>
              <a:t>识别流程与方法</a:t>
            </a:r>
            <a:r>
              <a:rPr lang="en-US" altLang="zh-CN"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方法</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10"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智能网联汽车如何</a:t>
            </a:r>
            <a:r>
              <a:rPr lang="zh-CN" altLang="en-US" sz="3200" b="1" dirty="0" smtClean="0">
                <a:solidFill>
                  <a:schemeClr val="accent1"/>
                </a:solidFill>
                <a:latin typeface="微软雅黑" panose="020B0503020204020204" pitchFamily="34" charset="-122"/>
              </a:rPr>
              <a:t>识别交通信号灯？</a:t>
            </a:r>
            <a:endParaRPr lang="zh-CN" altLang="en-US" sz="3200" b="1" dirty="0" smtClean="0">
              <a:solidFill>
                <a:schemeClr val="accent1"/>
              </a:solidFill>
              <a:latin typeface="微软雅黑" panose="020B0503020204020204" pitchFamily="34" charset="-122"/>
            </a:endParaRPr>
          </a:p>
        </p:txBody>
      </p:sp>
      <p:sp>
        <p:nvSpPr>
          <p:cNvPr id="3" name="矩形 2"/>
          <p:cNvSpPr/>
          <p:nvPr/>
        </p:nvSpPr>
        <p:spPr>
          <a:xfrm>
            <a:off x="971600" y="1707654"/>
            <a:ext cx="4752528" cy="2057358"/>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交通信号灯识别的主要方法如下</a:t>
            </a:r>
            <a:r>
              <a:rPr lang="zh-CN" altLang="en-US" sz="1600" dirty="0" smtClean="0">
                <a:solidFill>
                  <a:schemeClr val="bg1"/>
                </a:solidFill>
                <a:latin typeface="微软雅黑" pitchFamily="34" charset="-122"/>
                <a:ea typeface="微软雅黑" pitchFamily="34" charset="-122"/>
              </a:rPr>
              <a:t>：</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 </a:t>
            </a:r>
            <a:r>
              <a:rPr lang="zh-CN" altLang="en-US" sz="1600" dirty="0">
                <a:solidFill>
                  <a:schemeClr val="bg1"/>
                </a:solidFill>
                <a:latin typeface="微软雅黑" pitchFamily="34" charset="-122"/>
                <a:ea typeface="微软雅黑" pitchFamily="34" charset="-122"/>
              </a:rPr>
              <a:t>①根据颜色特征的识别方法。根据颜色特征的交 通信号灯识别方法主要是选取某个色彩空间，对交通 信号灯的红、黄、绿 </a:t>
            </a:r>
            <a:r>
              <a:rPr lang="en-US" altLang="zh-CN" sz="1600" dirty="0">
                <a:solidFill>
                  <a:schemeClr val="bg1"/>
                </a:solidFill>
                <a:latin typeface="微软雅黑" pitchFamily="34" charset="-122"/>
                <a:ea typeface="微软雅黑" pitchFamily="34" charset="-122"/>
              </a:rPr>
              <a:t>3 </a:t>
            </a:r>
            <a:r>
              <a:rPr lang="zh-CN" altLang="en-US" sz="1600" dirty="0">
                <a:solidFill>
                  <a:schemeClr val="bg1"/>
                </a:solidFill>
                <a:latin typeface="微软雅黑" pitchFamily="34" charset="-122"/>
                <a:ea typeface="微软雅黑" pitchFamily="34" charset="-122"/>
              </a:rPr>
              <a:t>种颜色进行识别</a:t>
            </a:r>
            <a:r>
              <a:rPr lang="zh-CN" altLang="en-US" sz="1600" dirty="0" smtClean="0">
                <a:solidFill>
                  <a:schemeClr val="bg1"/>
                </a:solidFill>
                <a:latin typeface="微软雅黑" pitchFamily="34" charset="-122"/>
                <a:ea typeface="微软雅黑" pitchFamily="34" charset="-122"/>
              </a:rPr>
              <a:t>。</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 </a:t>
            </a:r>
            <a:r>
              <a:rPr lang="zh-CN" altLang="en-US" sz="1600" dirty="0">
                <a:solidFill>
                  <a:schemeClr val="bg1"/>
                </a:solidFill>
                <a:latin typeface="微软雅黑" pitchFamily="34" charset="-122"/>
                <a:ea typeface="微软雅黑" pitchFamily="34" charset="-122"/>
              </a:rPr>
              <a:t>②根据形状特征的识别方法。根据形状特征的</a:t>
            </a:r>
            <a:r>
              <a:rPr lang="zh-CN" altLang="en-US" sz="1600" dirty="0" smtClean="0">
                <a:solidFill>
                  <a:schemeClr val="bg1"/>
                </a:solidFill>
                <a:latin typeface="微软雅黑" pitchFamily="34" charset="-122"/>
                <a:ea typeface="微软雅黑" pitchFamily="34" charset="-122"/>
              </a:rPr>
              <a:t>识别</a:t>
            </a:r>
            <a:r>
              <a:rPr lang="zh-CN" altLang="en-US" sz="1600" dirty="0">
                <a:solidFill>
                  <a:schemeClr val="bg1"/>
                </a:solidFill>
                <a:latin typeface="微软雅黑" pitchFamily="34" charset="-122"/>
                <a:ea typeface="微软雅黑" pitchFamily="34" charset="-122"/>
              </a:rPr>
              <a:t>方法主要是利用交通信号灯和它的相关支撑物</a:t>
            </a:r>
            <a:r>
              <a:rPr lang="zh-CN" altLang="en-US" sz="1600" dirty="0" smtClean="0">
                <a:solidFill>
                  <a:schemeClr val="bg1"/>
                </a:solidFill>
                <a:latin typeface="微软雅黑" pitchFamily="34" charset="-122"/>
                <a:ea typeface="微软雅黑" pitchFamily="34" charset="-122"/>
              </a:rPr>
              <a:t>之间的</a:t>
            </a:r>
            <a:r>
              <a:rPr lang="zh-CN" altLang="en-US" sz="1600" dirty="0">
                <a:solidFill>
                  <a:schemeClr val="bg1"/>
                </a:solidFill>
                <a:latin typeface="微软雅黑" pitchFamily="34" charset="-122"/>
                <a:ea typeface="微软雅黑" pitchFamily="34" charset="-122"/>
              </a:rPr>
              <a:t>几何信息进行识别。</a:t>
            </a: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8144" y="1634498"/>
            <a:ext cx="2256881" cy="2119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971599" y="3939902"/>
            <a:ext cx="7153426" cy="653769"/>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识别时也可以将交通信号灯的颜色特征和形状</a:t>
            </a:r>
            <a:r>
              <a:rPr lang="zh-CN" altLang="en-US" sz="1600" dirty="0" smtClean="0">
                <a:solidFill>
                  <a:schemeClr val="bg1"/>
                </a:solidFill>
                <a:latin typeface="微软雅黑" pitchFamily="34" charset="-122"/>
                <a:ea typeface="微软雅黑" pitchFamily="34" charset="-122"/>
              </a:rPr>
              <a:t>特征</a:t>
            </a:r>
            <a:r>
              <a:rPr lang="zh-CN" altLang="en-US" sz="1600" dirty="0">
                <a:solidFill>
                  <a:schemeClr val="bg1"/>
                </a:solidFill>
                <a:latin typeface="微软雅黑" pitchFamily="34" charset="-122"/>
                <a:ea typeface="微软雅黑" pitchFamily="34" charset="-122"/>
              </a:rPr>
              <a:t>结合起来，以减少单独利用某一特征所带来的</a:t>
            </a:r>
            <a:r>
              <a:rPr lang="zh-CN" altLang="en-US" sz="1600" dirty="0" smtClean="0">
                <a:solidFill>
                  <a:schemeClr val="bg1"/>
                </a:solidFill>
                <a:latin typeface="微软雅黑" pitchFamily="34" charset="-122"/>
                <a:ea typeface="微软雅黑" pitchFamily="34" charset="-122"/>
              </a:rPr>
              <a:t>识别偏差</a:t>
            </a:r>
            <a:r>
              <a:rPr lang="zh-CN" altLang="en-US" sz="1600" dirty="0">
                <a:solidFill>
                  <a:schemeClr val="bg1"/>
                </a:solidFill>
                <a:latin typeface="微软雅黑" pitchFamily="34" charset="-122"/>
                <a:ea typeface="微软雅黑" pitchFamily="34" charset="-122"/>
              </a:rPr>
              <a:t>甚至错误。</a:t>
            </a:r>
          </a:p>
        </p:txBody>
      </p:sp>
    </p:spTree>
    <p:extLst>
      <p:ext uri="{BB962C8B-B14F-4D97-AF65-F5344CB8AC3E}">
        <p14:creationId xmlns:p14="http://schemas.microsoft.com/office/powerpoint/2010/main" val="18302416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Grp="1" noChangeArrowheads="1"/>
          </p:cNvSpPr>
          <p:nvPr/>
        </p:nvSpPr>
        <p:spPr bwMode="auto">
          <a:xfrm>
            <a:off x="2699792" y="1698475"/>
            <a:ext cx="4074090" cy="756832"/>
          </a:xfrm>
          <a:prstGeom prst="rect">
            <a:avLst/>
          </a:prstGeom>
          <a:noFill/>
          <a:ln w="9525">
            <a:noFill/>
            <a:miter lim="800000"/>
          </a:ln>
          <a:effectLst/>
        </p:spPr>
        <p:txBody>
          <a:bodyPr anchor="ctr"/>
          <a:lstStyle/>
          <a:p>
            <a:pPr algn="ctr">
              <a:buFontTx/>
              <a:buNone/>
              <a:defRPr/>
            </a:pPr>
            <a:r>
              <a:rPr lang="en-US" altLang="zh-CN" sz="6000" b="1" dirty="0">
                <a:solidFill>
                  <a:srgbClr val="0A80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Thanks</a:t>
            </a:r>
            <a:r>
              <a:rPr lang="zh-CN" altLang="en-US" sz="6000" b="1" dirty="0">
                <a:solidFill>
                  <a:srgbClr val="0A80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p>
        </p:txBody>
      </p:sp>
      <p:sp>
        <p:nvSpPr>
          <p:cNvPr id="11" name="灯片编号占位符 5"/>
          <p:cNvSpPr txBox="1"/>
          <p:nvPr/>
        </p:nvSpPr>
        <p:spPr>
          <a:xfrm>
            <a:off x="107504" y="4840397"/>
            <a:ext cx="21336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z="1200" smtClean="0"/>
              <a:t>23</a:t>
            </a:fld>
            <a:endParaRPr lang="zh-CN" altLang="en-US" sz="12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TotalTime>
  <Words>1198</Words>
  <Application>Microsoft Office PowerPoint</Application>
  <PresentationFormat>全屏显示(16:9)</PresentationFormat>
  <Paragraphs>132</Paragraphs>
  <Slides>23</Slides>
  <Notes>22</Notes>
  <HiddenSlides>0</HiddenSlides>
  <MMClips>0</MMClips>
  <ScaleCrop>false</ScaleCrop>
  <HeadingPairs>
    <vt:vector size="4" baseType="variant">
      <vt:variant>
        <vt:lpstr>主题</vt:lpstr>
      </vt:variant>
      <vt:variant>
        <vt:i4>1</vt:i4>
      </vt:variant>
      <vt:variant>
        <vt:lpstr>幻灯片标题</vt:lpstr>
      </vt:variant>
      <vt:variant>
        <vt:i4>23</vt:i4>
      </vt:variant>
    </vt:vector>
  </HeadingPairs>
  <TitlesOfParts>
    <vt:vector size="24"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内训体系构架（讨论稿）</dc:title>
  <dc:creator>Administrator</dc:creator>
  <cp:lastModifiedBy>Lenovo</cp:lastModifiedBy>
  <cp:revision>1587</cp:revision>
  <dcterms:created xsi:type="dcterms:W3CDTF">2017-08-03T05:04:00Z</dcterms:created>
  <dcterms:modified xsi:type="dcterms:W3CDTF">2022-03-02T17:10:31Z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8E4C9AADA725407FBE44C9347C02DF2D</vt:lpwstr>
  </property>
</Properties>
</file>