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33"/>
  </p:notesMasterIdLst>
  <p:sldIdLst>
    <p:sldId id="452" r:id="rId2"/>
    <p:sldId id="619" r:id="rId3"/>
    <p:sldId id="620" r:id="rId4"/>
    <p:sldId id="552" r:id="rId5"/>
    <p:sldId id="607" r:id="rId6"/>
    <p:sldId id="621" r:id="rId7"/>
    <p:sldId id="622" r:id="rId8"/>
    <p:sldId id="623" r:id="rId9"/>
    <p:sldId id="624" r:id="rId10"/>
    <p:sldId id="608" r:id="rId11"/>
    <p:sldId id="609" r:id="rId12"/>
    <p:sldId id="592" r:id="rId13"/>
    <p:sldId id="610" r:id="rId14"/>
    <p:sldId id="611" r:id="rId15"/>
    <p:sldId id="612" r:id="rId16"/>
    <p:sldId id="593" r:id="rId17"/>
    <p:sldId id="625" r:id="rId18"/>
    <p:sldId id="613" r:id="rId19"/>
    <p:sldId id="626" r:id="rId20"/>
    <p:sldId id="627" r:id="rId21"/>
    <p:sldId id="628" r:id="rId22"/>
    <p:sldId id="615" r:id="rId23"/>
    <p:sldId id="629" r:id="rId24"/>
    <p:sldId id="630" r:id="rId25"/>
    <p:sldId id="631" r:id="rId26"/>
    <p:sldId id="616" r:id="rId27"/>
    <p:sldId id="632" r:id="rId28"/>
    <p:sldId id="617" r:id="rId29"/>
    <p:sldId id="618" r:id="rId30"/>
    <p:sldId id="634" r:id="rId31"/>
    <p:sldId id="569" r:id="rId32"/>
  </p:sldIdLst>
  <p:sldSz cx="9144000" cy="5143500" type="screen16x9"/>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DA735"/>
    <a:srgbClr val="E20000"/>
    <a:srgbClr val="0A8029"/>
    <a:srgbClr val="6BA42C"/>
    <a:srgbClr val="080B86"/>
    <a:srgbClr val="2A6430"/>
    <a:srgbClr val="F2DCDB"/>
    <a:srgbClr val="EECECD"/>
    <a:srgbClr val="FAC090"/>
    <a:srgbClr val="88B0E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662" autoAdjust="0"/>
    <p:restoredTop sz="83310" autoAdjust="0"/>
  </p:normalViewPr>
  <p:slideViewPr>
    <p:cSldViewPr>
      <p:cViewPr>
        <p:scale>
          <a:sx n="70" d="100"/>
          <a:sy n="70" d="100"/>
        </p:scale>
        <p:origin x="-612" y="-60"/>
      </p:cViewPr>
      <p:guideLst>
        <p:guide orient="horz" pos="1400"/>
        <p:guide pos="2852"/>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DBC56A5-6504-4F84-B307-892CFB3AFEA7}" type="datetimeFigureOut">
              <a:rPr lang="zh-CN" altLang="en-US" smtClean="0"/>
              <a:t>2022/3/2</a:t>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58B046C-3A01-41E6-A822-7FA0A1965D87}" type="slidenum">
              <a:rPr lang="zh-CN" altLang="en-US" smtClean="0"/>
              <a:t>‹#›</a:t>
            </a:fld>
            <a:endParaRPr lang="zh-CN" altLang="en-US"/>
          </a:p>
        </p:txBody>
      </p:sp>
    </p:spTree>
    <p:extLst>
      <p:ext uri="{BB962C8B-B14F-4D97-AF65-F5344CB8AC3E}">
        <p14:creationId xmlns:p14="http://schemas.microsoft.com/office/powerpoint/2010/main" val="21650392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endParaRPr lang="zh-CN" altLang="zh-CN" dirty="0" smtClean="0">
              <a:effectLst/>
            </a:endParaRPr>
          </a:p>
        </p:txBody>
      </p:sp>
      <p:sp>
        <p:nvSpPr>
          <p:cNvPr id="4" name="灯片编号占位符 3"/>
          <p:cNvSpPr>
            <a:spLocks noGrp="1"/>
          </p:cNvSpPr>
          <p:nvPr>
            <p:ph type="sldNum" sz="quarter" idx="10"/>
          </p:nvPr>
        </p:nvSpPr>
        <p:spPr/>
        <p:txBody>
          <a:bodyPr/>
          <a:lstStyle/>
          <a:p>
            <a:fld id="{358B046C-3A01-41E6-A822-7FA0A1965D87}"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endParaRPr lang="zh-CN" altLang="zh-CN" dirty="0" smtClean="0">
              <a:effectLst/>
            </a:endParaRPr>
          </a:p>
        </p:txBody>
      </p:sp>
      <p:sp>
        <p:nvSpPr>
          <p:cNvPr id="4" name="灯片编号占位符 3"/>
          <p:cNvSpPr>
            <a:spLocks noGrp="1"/>
          </p:cNvSpPr>
          <p:nvPr>
            <p:ph type="sldNum" sz="quarter" idx="10"/>
          </p:nvPr>
        </p:nvSpPr>
        <p:spPr/>
        <p:txBody>
          <a:bodyPr/>
          <a:lstStyle/>
          <a:p>
            <a:fld id="{358B046C-3A01-41E6-A822-7FA0A1965D87}" type="slidenum">
              <a:rPr lang="zh-CN" altLang="en-US" smtClean="0"/>
              <a:t>2</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endParaRPr lang="zh-CN" altLang="zh-CN" dirty="0" smtClean="0">
              <a:effectLst/>
            </a:endParaRPr>
          </a:p>
        </p:txBody>
      </p:sp>
      <p:sp>
        <p:nvSpPr>
          <p:cNvPr id="4" name="灯片编号占位符 3"/>
          <p:cNvSpPr>
            <a:spLocks noGrp="1"/>
          </p:cNvSpPr>
          <p:nvPr>
            <p:ph type="sldNum" sz="quarter" idx="10"/>
          </p:nvPr>
        </p:nvSpPr>
        <p:spPr/>
        <p:txBody>
          <a:bodyPr/>
          <a:lstStyle/>
          <a:p>
            <a:fld id="{358B046C-3A01-41E6-A822-7FA0A1965D87}" type="slidenum">
              <a:rPr lang="zh-CN" altLang="en-US" smtClean="0"/>
              <a:t>3</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dirty="0">
              <a:effectLst/>
            </a:endParaRPr>
          </a:p>
        </p:txBody>
      </p:sp>
      <p:sp>
        <p:nvSpPr>
          <p:cNvPr id="4" name="灯片编号占位符 3"/>
          <p:cNvSpPr>
            <a:spLocks noGrp="1"/>
          </p:cNvSpPr>
          <p:nvPr>
            <p:ph type="sldNum" sz="quarter" idx="10"/>
          </p:nvPr>
        </p:nvSpPr>
        <p:spPr/>
        <p:txBody>
          <a:bodyPr/>
          <a:lstStyle/>
          <a:p>
            <a:fld id="{358B046C-3A01-41E6-A822-7FA0A1965D87}" type="slidenum">
              <a:rPr lang="zh-CN" altLang="en-US" smtClean="0"/>
              <a:t>4</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dirty="0">
              <a:effectLst/>
            </a:endParaRPr>
          </a:p>
        </p:txBody>
      </p:sp>
      <p:sp>
        <p:nvSpPr>
          <p:cNvPr id="4" name="灯片编号占位符 3"/>
          <p:cNvSpPr>
            <a:spLocks noGrp="1"/>
          </p:cNvSpPr>
          <p:nvPr>
            <p:ph type="sldNum" sz="quarter" idx="10"/>
          </p:nvPr>
        </p:nvSpPr>
        <p:spPr/>
        <p:txBody>
          <a:bodyPr/>
          <a:lstStyle/>
          <a:p>
            <a:fld id="{358B046C-3A01-41E6-A822-7FA0A1965D87}" type="slidenum">
              <a:rPr lang="zh-CN" altLang="en-US" smtClean="0"/>
              <a:t>5</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dirty="0">
              <a:effectLst/>
            </a:endParaRPr>
          </a:p>
        </p:txBody>
      </p:sp>
      <p:sp>
        <p:nvSpPr>
          <p:cNvPr id="4" name="灯片编号占位符 3"/>
          <p:cNvSpPr>
            <a:spLocks noGrp="1"/>
          </p:cNvSpPr>
          <p:nvPr>
            <p:ph type="sldNum" sz="quarter" idx="10"/>
          </p:nvPr>
        </p:nvSpPr>
        <p:spPr/>
        <p:txBody>
          <a:bodyPr/>
          <a:lstStyle/>
          <a:p>
            <a:fld id="{358B046C-3A01-41E6-A822-7FA0A1965D87}" type="slidenum">
              <a:rPr lang="zh-CN" altLang="en-US" smtClean="0"/>
              <a:t>6</a:t>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dirty="0">
              <a:effectLst/>
            </a:endParaRPr>
          </a:p>
        </p:txBody>
      </p:sp>
      <p:sp>
        <p:nvSpPr>
          <p:cNvPr id="4" name="灯片编号占位符 3"/>
          <p:cNvSpPr>
            <a:spLocks noGrp="1"/>
          </p:cNvSpPr>
          <p:nvPr>
            <p:ph type="sldNum" sz="quarter" idx="10"/>
          </p:nvPr>
        </p:nvSpPr>
        <p:spPr/>
        <p:txBody>
          <a:bodyPr/>
          <a:lstStyle/>
          <a:p>
            <a:fld id="{358B046C-3A01-41E6-A822-7FA0A1965D87}" type="slidenum">
              <a:rPr lang="zh-CN" altLang="en-US" smtClean="0"/>
              <a:t>7</a:t>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dirty="0">
              <a:effectLst/>
            </a:endParaRPr>
          </a:p>
        </p:txBody>
      </p:sp>
      <p:sp>
        <p:nvSpPr>
          <p:cNvPr id="4" name="灯片编号占位符 3"/>
          <p:cNvSpPr>
            <a:spLocks noGrp="1"/>
          </p:cNvSpPr>
          <p:nvPr>
            <p:ph type="sldNum" sz="quarter" idx="10"/>
          </p:nvPr>
        </p:nvSpPr>
        <p:spPr/>
        <p:txBody>
          <a:bodyPr/>
          <a:lstStyle/>
          <a:p>
            <a:fld id="{358B046C-3A01-41E6-A822-7FA0A1965D87}" type="slidenum">
              <a:rPr lang="zh-CN" altLang="en-US" smtClean="0"/>
              <a:t>8</a:t>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dirty="0">
              <a:effectLst/>
            </a:endParaRPr>
          </a:p>
        </p:txBody>
      </p:sp>
      <p:sp>
        <p:nvSpPr>
          <p:cNvPr id="4" name="灯片编号占位符 3"/>
          <p:cNvSpPr>
            <a:spLocks noGrp="1"/>
          </p:cNvSpPr>
          <p:nvPr>
            <p:ph type="sldNum" sz="quarter" idx="10"/>
          </p:nvPr>
        </p:nvSpPr>
        <p:spPr/>
        <p:txBody>
          <a:bodyPr/>
          <a:lstStyle/>
          <a:p>
            <a:fld id="{358B046C-3A01-41E6-A822-7FA0A1965D87}" type="slidenum">
              <a:rPr lang="zh-CN" altLang="en-US" smtClean="0"/>
              <a:t>9</a:t>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dirty="0">
              <a:effectLst/>
            </a:endParaRPr>
          </a:p>
        </p:txBody>
      </p:sp>
      <p:sp>
        <p:nvSpPr>
          <p:cNvPr id="4" name="灯片编号占位符 3"/>
          <p:cNvSpPr>
            <a:spLocks noGrp="1"/>
          </p:cNvSpPr>
          <p:nvPr>
            <p:ph type="sldNum" sz="quarter" idx="10"/>
          </p:nvPr>
        </p:nvSpPr>
        <p:spPr/>
        <p:txBody>
          <a:bodyPr/>
          <a:lstStyle/>
          <a:p>
            <a:fld id="{358B046C-3A01-41E6-A822-7FA0A1965D87}" type="slidenum">
              <a:rPr lang="zh-CN" altLang="en-US" smtClean="0"/>
              <a:t>10</a:t>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dirty="0">
              <a:effectLst/>
            </a:endParaRPr>
          </a:p>
        </p:txBody>
      </p:sp>
      <p:sp>
        <p:nvSpPr>
          <p:cNvPr id="4" name="灯片编号占位符 3"/>
          <p:cNvSpPr>
            <a:spLocks noGrp="1"/>
          </p:cNvSpPr>
          <p:nvPr>
            <p:ph type="sldNum" sz="quarter" idx="10"/>
          </p:nvPr>
        </p:nvSpPr>
        <p:spPr/>
        <p:txBody>
          <a:bodyPr/>
          <a:lstStyle/>
          <a:p>
            <a:fld id="{358B046C-3A01-41E6-A822-7FA0A1965D87}" type="slidenum">
              <a:rPr lang="zh-CN" altLang="en-US" smtClean="0"/>
              <a:t>11</a:t>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dirty="0">
              <a:effectLst/>
            </a:endParaRPr>
          </a:p>
        </p:txBody>
      </p:sp>
      <p:sp>
        <p:nvSpPr>
          <p:cNvPr id="4" name="灯片编号占位符 3"/>
          <p:cNvSpPr>
            <a:spLocks noGrp="1"/>
          </p:cNvSpPr>
          <p:nvPr>
            <p:ph type="sldNum" sz="quarter" idx="10"/>
          </p:nvPr>
        </p:nvSpPr>
        <p:spPr/>
        <p:txBody>
          <a:bodyPr/>
          <a:lstStyle/>
          <a:p>
            <a:fld id="{358B046C-3A01-41E6-A822-7FA0A1965D87}" type="slidenum">
              <a:rPr lang="zh-CN" altLang="en-US" smtClean="0"/>
              <a:t>12</a:t>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dirty="0">
              <a:effectLst/>
            </a:endParaRPr>
          </a:p>
        </p:txBody>
      </p:sp>
      <p:sp>
        <p:nvSpPr>
          <p:cNvPr id="4" name="灯片编号占位符 3"/>
          <p:cNvSpPr>
            <a:spLocks noGrp="1"/>
          </p:cNvSpPr>
          <p:nvPr>
            <p:ph type="sldNum" sz="quarter" idx="10"/>
          </p:nvPr>
        </p:nvSpPr>
        <p:spPr/>
        <p:txBody>
          <a:bodyPr/>
          <a:lstStyle/>
          <a:p>
            <a:fld id="{358B046C-3A01-41E6-A822-7FA0A1965D87}" type="slidenum">
              <a:rPr lang="zh-CN" altLang="en-US" smtClean="0"/>
              <a:t>13</a:t>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dirty="0">
              <a:effectLst/>
            </a:endParaRPr>
          </a:p>
        </p:txBody>
      </p:sp>
      <p:sp>
        <p:nvSpPr>
          <p:cNvPr id="4" name="灯片编号占位符 3"/>
          <p:cNvSpPr>
            <a:spLocks noGrp="1"/>
          </p:cNvSpPr>
          <p:nvPr>
            <p:ph type="sldNum" sz="quarter" idx="10"/>
          </p:nvPr>
        </p:nvSpPr>
        <p:spPr/>
        <p:txBody>
          <a:bodyPr/>
          <a:lstStyle/>
          <a:p>
            <a:fld id="{358B046C-3A01-41E6-A822-7FA0A1965D87}" type="slidenum">
              <a:rPr lang="zh-CN" altLang="en-US" smtClean="0"/>
              <a:t>14</a:t>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dirty="0">
              <a:effectLst/>
            </a:endParaRPr>
          </a:p>
        </p:txBody>
      </p:sp>
      <p:sp>
        <p:nvSpPr>
          <p:cNvPr id="4" name="灯片编号占位符 3"/>
          <p:cNvSpPr>
            <a:spLocks noGrp="1"/>
          </p:cNvSpPr>
          <p:nvPr>
            <p:ph type="sldNum" sz="quarter" idx="10"/>
          </p:nvPr>
        </p:nvSpPr>
        <p:spPr/>
        <p:txBody>
          <a:bodyPr/>
          <a:lstStyle/>
          <a:p>
            <a:fld id="{358B046C-3A01-41E6-A822-7FA0A1965D87}" type="slidenum">
              <a:rPr lang="zh-CN" altLang="en-US" smtClean="0"/>
              <a:t>15</a:t>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dirty="0">
              <a:effectLst/>
            </a:endParaRPr>
          </a:p>
        </p:txBody>
      </p:sp>
      <p:sp>
        <p:nvSpPr>
          <p:cNvPr id="4" name="灯片编号占位符 3"/>
          <p:cNvSpPr>
            <a:spLocks noGrp="1"/>
          </p:cNvSpPr>
          <p:nvPr>
            <p:ph type="sldNum" sz="quarter" idx="10"/>
          </p:nvPr>
        </p:nvSpPr>
        <p:spPr/>
        <p:txBody>
          <a:bodyPr/>
          <a:lstStyle/>
          <a:p>
            <a:fld id="{358B046C-3A01-41E6-A822-7FA0A1965D87}" type="slidenum">
              <a:rPr lang="zh-CN" altLang="en-US" smtClean="0"/>
              <a:t>16</a:t>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dirty="0">
              <a:effectLst/>
            </a:endParaRPr>
          </a:p>
        </p:txBody>
      </p:sp>
      <p:sp>
        <p:nvSpPr>
          <p:cNvPr id="4" name="灯片编号占位符 3"/>
          <p:cNvSpPr>
            <a:spLocks noGrp="1"/>
          </p:cNvSpPr>
          <p:nvPr>
            <p:ph type="sldNum" sz="quarter" idx="10"/>
          </p:nvPr>
        </p:nvSpPr>
        <p:spPr/>
        <p:txBody>
          <a:bodyPr/>
          <a:lstStyle/>
          <a:p>
            <a:fld id="{358B046C-3A01-41E6-A822-7FA0A1965D87}" type="slidenum">
              <a:rPr lang="zh-CN" altLang="en-US" smtClean="0"/>
              <a:t>17</a:t>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dirty="0">
              <a:effectLst/>
            </a:endParaRPr>
          </a:p>
        </p:txBody>
      </p:sp>
      <p:sp>
        <p:nvSpPr>
          <p:cNvPr id="4" name="灯片编号占位符 3"/>
          <p:cNvSpPr>
            <a:spLocks noGrp="1"/>
          </p:cNvSpPr>
          <p:nvPr>
            <p:ph type="sldNum" sz="quarter" idx="10"/>
          </p:nvPr>
        </p:nvSpPr>
        <p:spPr/>
        <p:txBody>
          <a:bodyPr/>
          <a:lstStyle/>
          <a:p>
            <a:fld id="{358B046C-3A01-41E6-A822-7FA0A1965D87}" type="slidenum">
              <a:rPr lang="zh-CN" altLang="en-US" smtClean="0"/>
              <a:t>18</a:t>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dirty="0">
              <a:effectLst/>
            </a:endParaRPr>
          </a:p>
        </p:txBody>
      </p:sp>
      <p:sp>
        <p:nvSpPr>
          <p:cNvPr id="4" name="灯片编号占位符 3"/>
          <p:cNvSpPr>
            <a:spLocks noGrp="1"/>
          </p:cNvSpPr>
          <p:nvPr>
            <p:ph type="sldNum" sz="quarter" idx="10"/>
          </p:nvPr>
        </p:nvSpPr>
        <p:spPr/>
        <p:txBody>
          <a:bodyPr/>
          <a:lstStyle/>
          <a:p>
            <a:fld id="{358B046C-3A01-41E6-A822-7FA0A1965D87}" type="slidenum">
              <a:rPr lang="zh-CN" altLang="en-US" smtClean="0"/>
              <a:t>19</a:t>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dirty="0">
              <a:effectLst/>
            </a:endParaRPr>
          </a:p>
        </p:txBody>
      </p:sp>
      <p:sp>
        <p:nvSpPr>
          <p:cNvPr id="4" name="灯片编号占位符 3"/>
          <p:cNvSpPr>
            <a:spLocks noGrp="1"/>
          </p:cNvSpPr>
          <p:nvPr>
            <p:ph type="sldNum" sz="quarter" idx="10"/>
          </p:nvPr>
        </p:nvSpPr>
        <p:spPr/>
        <p:txBody>
          <a:bodyPr/>
          <a:lstStyle/>
          <a:p>
            <a:fld id="{358B046C-3A01-41E6-A822-7FA0A1965D87}" type="slidenum">
              <a:rPr lang="zh-CN" altLang="en-US" smtClean="0"/>
              <a:t>20</a:t>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dirty="0">
              <a:effectLst/>
            </a:endParaRPr>
          </a:p>
        </p:txBody>
      </p:sp>
      <p:sp>
        <p:nvSpPr>
          <p:cNvPr id="4" name="灯片编号占位符 3"/>
          <p:cNvSpPr>
            <a:spLocks noGrp="1"/>
          </p:cNvSpPr>
          <p:nvPr>
            <p:ph type="sldNum" sz="quarter" idx="10"/>
          </p:nvPr>
        </p:nvSpPr>
        <p:spPr/>
        <p:txBody>
          <a:bodyPr/>
          <a:lstStyle/>
          <a:p>
            <a:fld id="{358B046C-3A01-41E6-A822-7FA0A1965D87}" type="slidenum">
              <a:rPr lang="zh-CN" altLang="en-US" smtClean="0"/>
              <a:t>21</a:t>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dirty="0">
              <a:effectLst/>
            </a:endParaRPr>
          </a:p>
        </p:txBody>
      </p:sp>
      <p:sp>
        <p:nvSpPr>
          <p:cNvPr id="4" name="灯片编号占位符 3"/>
          <p:cNvSpPr>
            <a:spLocks noGrp="1"/>
          </p:cNvSpPr>
          <p:nvPr>
            <p:ph type="sldNum" sz="quarter" idx="10"/>
          </p:nvPr>
        </p:nvSpPr>
        <p:spPr/>
        <p:txBody>
          <a:bodyPr/>
          <a:lstStyle/>
          <a:p>
            <a:fld id="{358B046C-3A01-41E6-A822-7FA0A1965D87}" type="slidenum">
              <a:rPr lang="zh-CN" altLang="en-US" smtClean="0"/>
              <a:t>22</a:t>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dirty="0">
              <a:effectLst/>
            </a:endParaRPr>
          </a:p>
        </p:txBody>
      </p:sp>
      <p:sp>
        <p:nvSpPr>
          <p:cNvPr id="4" name="灯片编号占位符 3"/>
          <p:cNvSpPr>
            <a:spLocks noGrp="1"/>
          </p:cNvSpPr>
          <p:nvPr>
            <p:ph type="sldNum" sz="quarter" idx="10"/>
          </p:nvPr>
        </p:nvSpPr>
        <p:spPr/>
        <p:txBody>
          <a:bodyPr/>
          <a:lstStyle/>
          <a:p>
            <a:fld id="{358B046C-3A01-41E6-A822-7FA0A1965D87}" type="slidenum">
              <a:rPr lang="zh-CN" altLang="en-US" smtClean="0"/>
              <a:t>23</a:t>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dirty="0">
              <a:effectLst/>
            </a:endParaRPr>
          </a:p>
        </p:txBody>
      </p:sp>
      <p:sp>
        <p:nvSpPr>
          <p:cNvPr id="4" name="灯片编号占位符 3"/>
          <p:cNvSpPr>
            <a:spLocks noGrp="1"/>
          </p:cNvSpPr>
          <p:nvPr>
            <p:ph type="sldNum" sz="quarter" idx="10"/>
          </p:nvPr>
        </p:nvSpPr>
        <p:spPr/>
        <p:txBody>
          <a:bodyPr/>
          <a:lstStyle/>
          <a:p>
            <a:fld id="{358B046C-3A01-41E6-A822-7FA0A1965D87}" type="slidenum">
              <a:rPr lang="zh-CN" altLang="en-US" smtClean="0"/>
              <a:t>24</a:t>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dirty="0">
              <a:effectLst/>
            </a:endParaRPr>
          </a:p>
        </p:txBody>
      </p:sp>
      <p:sp>
        <p:nvSpPr>
          <p:cNvPr id="4" name="灯片编号占位符 3"/>
          <p:cNvSpPr>
            <a:spLocks noGrp="1"/>
          </p:cNvSpPr>
          <p:nvPr>
            <p:ph type="sldNum" sz="quarter" idx="10"/>
          </p:nvPr>
        </p:nvSpPr>
        <p:spPr/>
        <p:txBody>
          <a:bodyPr/>
          <a:lstStyle/>
          <a:p>
            <a:fld id="{358B046C-3A01-41E6-A822-7FA0A1965D87}" type="slidenum">
              <a:rPr lang="zh-CN" altLang="en-US" smtClean="0"/>
              <a:t>25</a:t>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dirty="0">
              <a:effectLst/>
            </a:endParaRPr>
          </a:p>
        </p:txBody>
      </p:sp>
      <p:sp>
        <p:nvSpPr>
          <p:cNvPr id="4" name="灯片编号占位符 3"/>
          <p:cNvSpPr>
            <a:spLocks noGrp="1"/>
          </p:cNvSpPr>
          <p:nvPr>
            <p:ph type="sldNum" sz="quarter" idx="10"/>
          </p:nvPr>
        </p:nvSpPr>
        <p:spPr/>
        <p:txBody>
          <a:bodyPr/>
          <a:lstStyle/>
          <a:p>
            <a:fld id="{358B046C-3A01-41E6-A822-7FA0A1965D87}" type="slidenum">
              <a:rPr lang="zh-CN" altLang="en-US" smtClean="0"/>
              <a:t>26</a:t>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dirty="0">
              <a:effectLst/>
            </a:endParaRPr>
          </a:p>
        </p:txBody>
      </p:sp>
      <p:sp>
        <p:nvSpPr>
          <p:cNvPr id="4" name="灯片编号占位符 3"/>
          <p:cNvSpPr>
            <a:spLocks noGrp="1"/>
          </p:cNvSpPr>
          <p:nvPr>
            <p:ph type="sldNum" sz="quarter" idx="10"/>
          </p:nvPr>
        </p:nvSpPr>
        <p:spPr/>
        <p:txBody>
          <a:bodyPr/>
          <a:lstStyle/>
          <a:p>
            <a:fld id="{358B046C-3A01-41E6-A822-7FA0A1965D87}" type="slidenum">
              <a:rPr lang="zh-CN" altLang="en-US" smtClean="0"/>
              <a:t>27</a:t>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dirty="0">
              <a:effectLst/>
            </a:endParaRPr>
          </a:p>
        </p:txBody>
      </p:sp>
      <p:sp>
        <p:nvSpPr>
          <p:cNvPr id="4" name="灯片编号占位符 3"/>
          <p:cNvSpPr>
            <a:spLocks noGrp="1"/>
          </p:cNvSpPr>
          <p:nvPr>
            <p:ph type="sldNum" sz="quarter" idx="10"/>
          </p:nvPr>
        </p:nvSpPr>
        <p:spPr/>
        <p:txBody>
          <a:bodyPr/>
          <a:lstStyle/>
          <a:p>
            <a:fld id="{358B046C-3A01-41E6-A822-7FA0A1965D87}" type="slidenum">
              <a:rPr lang="zh-CN" altLang="en-US" smtClean="0"/>
              <a:t>28</a:t>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dirty="0">
              <a:effectLst/>
            </a:endParaRPr>
          </a:p>
        </p:txBody>
      </p:sp>
      <p:sp>
        <p:nvSpPr>
          <p:cNvPr id="4" name="灯片编号占位符 3"/>
          <p:cNvSpPr>
            <a:spLocks noGrp="1"/>
          </p:cNvSpPr>
          <p:nvPr>
            <p:ph type="sldNum" sz="quarter" idx="10"/>
          </p:nvPr>
        </p:nvSpPr>
        <p:spPr/>
        <p:txBody>
          <a:bodyPr/>
          <a:lstStyle/>
          <a:p>
            <a:fld id="{358B046C-3A01-41E6-A822-7FA0A1965D87}" type="slidenum">
              <a:rPr lang="zh-CN" altLang="en-US" smtClean="0"/>
              <a:t>29</a:t>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dirty="0">
              <a:effectLst/>
            </a:endParaRPr>
          </a:p>
        </p:txBody>
      </p:sp>
      <p:sp>
        <p:nvSpPr>
          <p:cNvPr id="4" name="灯片编号占位符 3"/>
          <p:cNvSpPr>
            <a:spLocks noGrp="1"/>
          </p:cNvSpPr>
          <p:nvPr>
            <p:ph type="sldNum" sz="quarter" idx="10"/>
          </p:nvPr>
        </p:nvSpPr>
        <p:spPr/>
        <p:txBody>
          <a:bodyPr/>
          <a:lstStyle/>
          <a:p>
            <a:fld id="{358B046C-3A01-41E6-A822-7FA0A1965D87}" type="slidenum">
              <a:rPr lang="zh-CN" altLang="en-US" smtClean="0"/>
              <a:t>30</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7820"/>
            <a:ext cx="7772400" cy="1102519"/>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A16A2C8B-5710-4407-A094-7D0381341E3B}" type="datetime1">
              <a:rPr lang="zh-CN" altLang="en-US" smtClean="0"/>
              <a:t>2022/3/2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pic>
        <p:nvPicPr>
          <p:cNvPr id="7" name="Picture 2" descr="body"/>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187624" y="466367"/>
            <a:ext cx="6176442" cy="43008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a:xfrm>
            <a:off x="755576" y="1063229"/>
            <a:ext cx="8229600" cy="3394472"/>
          </a:xfrm>
        </p:spPr>
        <p:txBody>
          <a:bodyPr/>
          <a:lstStyle/>
          <a:p>
            <a:pPr lvl="0"/>
            <a:r>
              <a:rPr lang="zh-CN" altLang="en-US" dirty="0" smtClean="0"/>
              <a:t>单击此处编辑母版文本样式</a:t>
            </a:r>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endParaRPr lang="zh-CN" altLang="en-US" dirty="0"/>
          </a:p>
        </p:txBody>
      </p:sp>
      <p:sp>
        <p:nvSpPr>
          <p:cNvPr id="4" name="日期占位符 3"/>
          <p:cNvSpPr>
            <a:spLocks noGrp="1"/>
          </p:cNvSpPr>
          <p:nvPr>
            <p:ph type="dt" sz="half" idx="10"/>
          </p:nvPr>
        </p:nvSpPr>
        <p:spPr/>
        <p:txBody>
          <a:bodyPr/>
          <a:lstStyle/>
          <a:p>
            <a:fld id="{BFE8FFB4-D8F7-48E0-9754-FAF3066818AC}" type="datetime1">
              <a:rPr lang="zh-CN" altLang="en-US" smtClean="0"/>
              <a:t>2022/3/2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6"/>
            <a:ext cx="7772400" cy="1021556"/>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p>
            <a:fld id="{3D4017A1-F837-41FD-8512-7BBDAF0EED8B}" type="datetime1">
              <a:rPr lang="zh-CN" altLang="en-US" smtClean="0"/>
              <a:t>2022/3/2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900114"/>
            <a:ext cx="4038600" cy="254555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900114"/>
            <a:ext cx="4038600" cy="254555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78E7C002-758E-4D25-975A-AB620C087E93}" type="datetime1">
              <a:rPr lang="zh-CN" altLang="en-US" smtClean="0"/>
              <a:t>2022/3/2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8"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8"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D2F3E8EA-488D-4BB4-AB2B-C90BF1352AF7}" type="datetime1">
              <a:rPr lang="zh-CN" altLang="en-US" smtClean="0"/>
              <a:t>2022/3/2</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6E3622F2-C2FC-4FED-ABEC-518BAC9A44A6}" type="datetime1">
              <a:rPr lang="zh-CN" altLang="en-US" smtClean="0"/>
              <a:t>2022/3/2</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6DA4C27-18E3-4311-8A9B-EEA28C49A864}" type="datetime1">
              <a:rPr lang="zh-CN" altLang="en-US" smtClean="0"/>
              <a:t>2022/3/2</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3" y="204787"/>
            <a:ext cx="3008313" cy="871538"/>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04789"/>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3" y="1076327"/>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D38DB677-D259-4E34-9A89-F6EEDF9008C9}" type="datetime1">
              <a:rPr lang="zh-CN" altLang="en-US" smtClean="0"/>
              <a:t>2022/3/2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1"/>
            <a:ext cx="5486400" cy="425054"/>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4025504"/>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90DAD84B-109E-4527-94FF-867BDC11262B}" type="datetime1">
              <a:rPr lang="zh-CN" altLang="en-US" smtClean="0"/>
              <a:t>2022/3/2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2EF1F9AA-5F1F-420B-9A0D-3439B6781FDC}" type="datetime1">
              <a:rPr lang="zh-CN" altLang="en-US" smtClean="0"/>
              <a:t>2022/3/2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154782"/>
            <a:ext cx="2057400" cy="329088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154782"/>
            <a:ext cx="6019800" cy="3290888"/>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2AD0B00F-AA85-4C40-AA06-D9A56162892B}" type="datetime1">
              <a:rPr lang="zh-CN" altLang="en-US" smtClean="0"/>
              <a:t>2022/3/2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cSld name="1_标题幻灯片">
    <p:spTree>
      <p:nvGrpSpPr>
        <p:cNvPr id="1" name=""/>
        <p:cNvGrpSpPr/>
        <p:nvPr/>
      </p:nvGrpSpPr>
      <p:grpSpPr>
        <a:xfrm>
          <a:off x="0" y="0"/>
          <a:ext cx="0" cy="0"/>
          <a:chOff x="0" y="0"/>
          <a:chExt cx="0" cy="0"/>
        </a:xfrm>
      </p:grpSpPr>
      <p:sp>
        <p:nvSpPr>
          <p:cNvPr id="3" name="Rectangle 3"/>
          <p:cNvSpPr>
            <a:spLocks noChangeArrowheads="1"/>
          </p:cNvSpPr>
          <p:nvPr userDrawn="1"/>
        </p:nvSpPr>
        <p:spPr bwMode="auto">
          <a:xfrm>
            <a:off x="5298304" y="915566"/>
            <a:ext cx="3670323" cy="342900"/>
          </a:xfrm>
          <a:prstGeom prst="rect">
            <a:avLst/>
          </a:prstGeom>
          <a:solidFill>
            <a:schemeClr val="bg1"/>
          </a:solidFill>
          <a:ln w="9525">
            <a:solidFill>
              <a:schemeClr val="bg1"/>
            </a:solidFill>
            <a:miter lim="800000"/>
          </a:ln>
        </p:spPr>
        <p:txBody>
          <a:bodyPr anchor="ctr"/>
          <a:lstStyle>
            <a:lvl1pPr eaLnBrk="0" hangingPunct="0">
              <a:defRPr sz="4400">
                <a:solidFill>
                  <a:schemeClr val="tx1"/>
                </a:solidFill>
                <a:latin typeface="Arial" panose="020B0604020202020204" pitchFamily="34" charset="0"/>
                <a:ea typeface="宋体" panose="02010600030101010101" pitchFamily="2" charset="-122"/>
              </a:defRPr>
            </a:lvl1pPr>
            <a:lvl2pPr marL="742950" indent="-285750" eaLnBrk="0" hangingPunct="0">
              <a:defRPr sz="4400">
                <a:solidFill>
                  <a:schemeClr val="tx1"/>
                </a:solidFill>
                <a:latin typeface="Arial" panose="020B0604020202020204" pitchFamily="34" charset="0"/>
                <a:ea typeface="宋体" panose="02010600030101010101" pitchFamily="2" charset="-122"/>
              </a:defRPr>
            </a:lvl2pPr>
            <a:lvl3pPr marL="1143000" indent="-228600" eaLnBrk="0" hangingPunct="0">
              <a:defRPr sz="4400">
                <a:solidFill>
                  <a:schemeClr val="tx1"/>
                </a:solidFill>
                <a:latin typeface="Arial" panose="020B0604020202020204" pitchFamily="34" charset="0"/>
                <a:ea typeface="宋体" panose="02010600030101010101" pitchFamily="2" charset="-122"/>
              </a:defRPr>
            </a:lvl3pPr>
            <a:lvl4pPr marL="1600200" indent="-228600" eaLnBrk="0" hangingPunct="0">
              <a:defRPr sz="4400">
                <a:solidFill>
                  <a:schemeClr val="tx1"/>
                </a:solidFill>
                <a:latin typeface="Arial" panose="020B0604020202020204" pitchFamily="34" charset="0"/>
                <a:ea typeface="宋体" panose="02010600030101010101" pitchFamily="2" charset="-122"/>
              </a:defRPr>
            </a:lvl4pPr>
            <a:lvl5pPr marL="2057400" indent="-228600" eaLnBrk="0" hangingPunct="0">
              <a:defRPr sz="4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4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4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4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4400">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6" name="Rectangle 3"/>
          <p:cNvSpPr>
            <a:spLocks noChangeArrowheads="1"/>
          </p:cNvSpPr>
          <p:nvPr userDrawn="1"/>
        </p:nvSpPr>
        <p:spPr bwMode="auto">
          <a:xfrm>
            <a:off x="467544" y="3075806"/>
            <a:ext cx="4070521" cy="1800200"/>
          </a:xfrm>
          <a:prstGeom prst="rect">
            <a:avLst/>
          </a:prstGeom>
          <a:solidFill>
            <a:schemeClr val="bg1"/>
          </a:solidFill>
          <a:ln w="9525">
            <a:solidFill>
              <a:schemeClr val="bg1"/>
            </a:solidFill>
            <a:miter lim="800000"/>
          </a:ln>
        </p:spPr>
        <p:txBody>
          <a:bodyPr anchor="ctr"/>
          <a:lstStyle>
            <a:lvl1pPr eaLnBrk="0" hangingPunct="0">
              <a:defRPr sz="4400">
                <a:solidFill>
                  <a:schemeClr val="tx1"/>
                </a:solidFill>
                <a:latin typeface="Arial" panose="020B0604020202020204" pitchFamily="34" charset="0"/>
                <a:ea typeface="宋体" panose="02010600030101010101" pitchFamily="2" charset="-122"/>
              </a:defRPr>
            </a:lvl1pPr>
            <a:lvl2pPr marL="742950" indent="-285750" eaLnBrk="0" hangingPunct="0">
              <a:defRPr sz="4400">
                <a:solidFill>
                  <a:schemeClr val="tx1"/>
                </a:solidFill>
                <a:latin typeface="Arial" panose="020B0604020202020204" pitchFamily="34" charset="0"/>
                <a:ea typeface="宋体" panose="02010600030101010101" pitchFamily="2" charset="-122"/>
              </a:defRPr>
            </a:lvl2pPr>
            <a:lvl3pPr marL="1143000" indent="-228600" eaLnBrk="0" hangingPunct="0">
              <a:defRPr sz="4400">
                <a:solidFill>
                  <a:schemeClr val="tx1"/>
                </a:solidFill>
                <a:latin typeface="Arial" panose="020B0604020202020204" pitchFamily="34" charset="0"/>
                <a:ea typeface="宋体" panose="02010600030101010101" pitchFamily="2" charset="-122"/>
              </a:defRPr>
            </a:lvl3pPr>
            <a:lvl4pPr marL="1600200" indent="-228600" eaLnBrk="0" hangingPunct="0">
              <a:defRPr sz="4400">
                <a:solidFill>
                  <a:schemeClr val="tx1"/>
                </a:solidFill>
                <a:latin typeface="Arial" panose="020B0604020202020204" pitchFamily="34" charset="0"/>
                <a:ea typeface="宋体" panose="02010600030101010101" pitchFamily="2" charset="-122"/>
              </a:defRPr>
            </a:lvl4pPr>
            <a:lvl5pPr marL="2057400" indent="-228600" eaLnBrk="0" hangingPunct="0">
              <a:defRPr sz="4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4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4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4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4400">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Tree>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457200" y="4767264"/>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5F7EA93C-689E-4CAB-A3E9-95BA7A7E3BFC}" type="datetime1">
              <a:rPr lang="zh-CN" altLang="en-US" smtClean="0"/>
              <a:t>2022/3/2</a:t>
            </a:fld>
            <a:endParaRPr lang="zh-CN" altLang="en-US"/>
          </a:p>
        </p:txBody>
      </p:sp>
      <p:sp>
        <p:nvSpPr>
          <p:cNvPr id="5" name="页脚占位符 4"/>
          <p:cNvSpPr>
            <a:spLocks noGrp="1"/>
          </p:cNvSpPr>
          <p:nvPr>
            <p:ph type="ftr" sz="quarter" idx="3"/>
          </p:nvPr>
        </p:nvSpPr>
        <p:spPr>
          <a:xfrm>
            <a:off x="3124200" y="4767264"/>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4767264"/>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0C913308-F349-4B6D-A68A-DD1791B4A57B}"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iming>
    <p:tnLst>
      <p:par>
        <p:cTn id="1" dur="indefinite" restart="never" nodeType="tmRoot"/>
      </p:par>
    </p:tnLst>
  </p:timing>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2.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17.jpe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18.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26.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30.jpeg"/></Relationships>
</file>

<file path=ppt/slides/_rels/slide28.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28.xml"/><Relationship Id="rId1" Type="http://schemas.openxmlformats.org/officeDocument/2006/relationships/slideLayout" Target="../slideLayouts/slideLayout2.xml"/><Relationship Id="rId5" Type="http://schemas.openxmlformats.org/officeDocument/2006/relationships/image" Target="../media/image33.jpeg"/><Relationship Id="rId4" Type="http://schemas.openxmlformats.org/officeDocument/2006/relationships/image" Target="../media/image32.jpe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7584" y="627534"/>
            <a:ext cx="7380312" cy="3550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0754" y="915566"/>
            <a:ext cx="7861394" cy="22322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98092324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1371031" y="483518"/>
            <a:ext cx="6543005" cy="4169725"/>
            <a:chOff x="1403648" y="339502"/>
            <a:chExt cx="6543005" cy="4169725"/>
          </a:xfrm>
        </p:grpSpPr>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03648" y="339502"/>
              <a:ext cx="6543005" cy="39350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5"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91680" y="4039975"/>
              <a:ext cx="3672408" cy="469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Tree>
    <p:extLst>
      <p:ext uri="{BB962C8B-B14F-4D97-AF65-F5344CB8AC3E}">
        <p14:creationId xmlns:p14="http://schemas.microsoft.com/office/powerpoint/2010/main" val="377385395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a:xfrm>
            <a:off x="107504" y="4840397"/>
            <a:ext cx="2133600" cy="273844"/>
          </a:xfrm>
        </p:spPr>
        <p:txBody>
          <a:bodyPr/>
          <a:lstStyle/>
          <a:p>
            <a:pPr algn="l"/>
            <a:fld id="{0C913308-F349-4B6D-A68A-DD1791B4A57B}" type="slidenum">
              <a:rPr lang="zh-CN" altLang="en-US" smtClean="0"/>
              <a:t>4</a:t>
            </a:fld>
            <a:endParaRPr lang="zh-CN" altLang="en-US" dirty="0"/>
          </a:p>
        </p:txBody>
      </p:sp>
      <p:sp>
        <p:nvSpPr>
          <p:cNvPr id="8" name="Text Box 8"/>
          <p:cNvSpPr>
            <a:spLocks noChangeArrowheads="1"/>
          </p:cNvSpPr>
          <p:nvPr/>
        </p:nvSpPr>
        <p:spPr bwMode="auto">
          <a:xfrm>
            <a:off x="971600" y="411510"/>
            <a:ext cx="7573236" cy="583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9pPr>
          </a:lstStyle>
          <a:p>
            <a:pPr algn="ctr" eaLnBrk="1" hangingPunct="1">
              <a:spcBef>
                <a:spcPct val="0"/>
              </a:spcBef>
              <a:buFont typeface="Arial" panose="020B0604020202020204" pitchFamily="34" charset="0"/>
              <a:buNone/>
            </a:pPr>
            <a:r>
              <a:rPr lang="zh-CN" altLang="en-US" sz="3200" b="1" dirty="0" smtClean="0">
                <a:solidFill>
                  <a:schemeClr val="accent1"/>
                </a:solidFill>
                <a:latin typeface="微软雅黑" panose="020B0503020204020204" pitchFamily="34" charset="-122"/>
              </a:rPr>
              <a:t>什么是智能网联汽车的环境感知技术？</a:t>
            </a:r>
          </a:p>
        </p:txBody>
      </p:sp>
      <p:sp>
        <p:nvSpPr>
          <p:cNvPr id="3" name="矩形 2"/>
          <p:cNvSpPr/>
          <p:nvPr/>
        </p:nvSpPr>
        <p:spPr>
          <a:xfrm>
            <a:off x="971600" y="1092466"/>
            <a:ext cx="2725426" cy="400110"/>
          </a:xfrm>
          <a:prstGeom prst="rect">
            <a:avLst/>
          </a:prstGeom>
          <a:solidFill>
            <a:srgbClr val="0070C0"/>
          </a:solidFill>
        </p:spPr>
        <p:txBody>
          <a:bodyPr wrap="none">
            <a:spAutoFit/>
          </a:bodyPr>
          <a:lstStyle/>
          <a:p>
            <a:pPr algn="l" fontAlgn="ctr"/>
            <a:r>
              <a:rPr sz="2000" b="1" dirty="0" smtClean="0">
                <a:solidFill>
                  <a:schemeClr val="bg1"/>
                </a:solidFill>
                <a:latin typeface="微软雅黑" panose="020B0503020204020204" pitchFamily="34" charset="-122"/>
                <a:ea typeface="微软雅黑" panose="020B0503020204020204" pitchFamily="34" charset="-122"/>
              </a:rPr>
              <a:t>1.环境感知技术的定义</a:t>
            </a:r>
          </a:p>
        </p:txBody>
      </p:sp>
      <p:sp>
        <p:nvSpPr>
          <p:cNvPr id="2" name="矩形 1"/>
          <p:cNvSpPr/>
          <p:nvPr/>
        </p:nvSpPr>
        <p:spPr>
          <a:xfrm>
            <a:off x="971600" y="1707654"/>
            <a:ext cx="3168352" cy="2618794"/>
          </a:xfrm>
          <a:prstGeom prst="rect">
            <a:avLst/>
          </a:prstGeom>
          <a:solidFill>
            <a:srgbClr val="0070C0"/>
          </a:solidFill>
        </p:spPr>
        <p:txBody>
          <a:bodyPr wrap="square">
            <a:spAutoFit/>
          </a:bodyPr>
          <a:lstStyle/>
          <a:p>
            <a:pPr fontAlgn="base">
              <a:lnSpc>
                <a:spcPct val="114000"/>
              </a:lnSpc>
            </a:pPr>
            <a:r>
              <a:rPr sz="1600" dirty="0">
                <a:solidFill>
                  <a:schemeClr val="bg1"/>
                </a:solidFill>
                <a:latin typeface="微软雅黑" panose="020B0503020204020204" pitchFamily="34" charset="-122"/>
                <a:ea typeface="微软雅黑" panose="020B0503020204020204" pitchFamily="34" charset="-122"/>
              </a:rPr>
              <a:t>智能网联汽车的环境感知就是利用视觉传感器、超声波雷达（也称超声波传感器）、毫米波雷达、激光雷达，以及V2X通信技术等获取道路、车辆位置和障碍物的信息，并将这些信息传输给车载控制中心，为智能网联汽车提供决策依据，是实现自动驾驶（无人驾驶）的第一步。</a:t>
            </a:r>
          </a:p>
        </p:txBody>
      </p:sp>
      <p:pic>
        <p:nvPicPr>
          <p:cNvPr id="57" name="图片 5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a:xfrm>
            <a:off x="4355976" y="1707654"/>
            <a:ext cx="3798059" cy="2316788"/>
          </a:xfrm>
          <a:prstGeom prst="rect">
            <a:avLst/>
          </a:prstGeom>
          <a:noFill/>
          <a:ln w="12700" cmpd="sng">
            <a:solidFill>
              <a:schemeClr val="accent1">
                <a:shade val="50000"/>
              </a:schemeClr>
            </a:solidFill>
            <a:prstDash val="solid"/>
          </a:ln>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a:xfrm>
            <a:off x="107504" y="4840397"/>
            <a:ext cx="2133600" cy="273844"/>
          </a:xfrm>
        </p:spPr>
        <p:txBody>
          <a:bodyPr/>
          <a:lstStyle/>
          <a:p>
            <a:pPr algn="l"/>
            <a:fld id="{0C913308-F349-4B6D-A68A-DD1791B4A57B}" type="slidenum">
              <a:rPr lang="zh-CN" altLang="en-US" smtClean="0"/>
              <a:t>5</a:t>
            </a:fld>
            <a:endParaRPr lang="zh-CN" altLang="en-US" dirty="0"/>
          </a:p>
        </p:txBody>
      </p:sp>
      <p:pic>
        <p:nvPicPr>
          <p:cNvPr id="56" name="图片 56" descr="说明: C:\Users\Lenovo\AppData\Local\Temp\1603974869(1).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a:xfrm>
            <a:off x="2915816" y="1635646"/>
            <a:ext cx="5247525" cy="3096344"/>
          </a:xfrm>
          <a:prstGeom prst="rect">
            <a:avLst/>
          </a:prstGeom>
          <a:noFill/>
          <a:ln w="12700" cmpd="sng">
            <a:solidFill>
              <a:schemeClr val="accent1"/>
            </a:solidFill>
            <a:prstDash val="solid"/>
          </a:ln>
        </p:spPr>
      </p:pic>
      <p:sp>
        <p:nvSpPr>
          <p:cNvPr id="7" name="Text Box 8"/>
          <p:cNvSpPr>
            <a:spLocks noChangeArrowheads="1"/>
          </p:cNvSpPr>
          <p:nvPr/>
        </p:nvSpPr>
        <p:spPr bwMode="auto">
          <a:xfrm>
            <a:off x="971600" y="411510"/>
            <a:ext cx="7573236" cy="583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9pPr>
          </a:lstStyle>
          <a:p>
            <a:pPr algn="ctr" eaLnBrk="1" hangingPunct="1">
              <a:spcBef>
                <a:spcPct val="0"/>
              </a:spcBef>
              <a:buFont typeface="Arial" panose="020B0604020202020204" pitchFamily="34" charset="0"/>
              <a:buNone/>
            </a:pPr>
            <a:r>
              <a:rPr lang="zh-CN" altLang="en-US" sz="3200" b="1" dirty="0" smtClean="0">
                <a:solidFill>
                  <a:schemeClr val="accent1"/>
                </a:solidFill>
                <a:latin typeface="微软雅黑" panose="020B0503020204020204" pitchFamily="34" charset="-122"/>
              </a:rPr>
              <a:t>什么是智能网联汽车的环境感知技术？</a:t>
            </a:r>
          </a:p>
        </p:txBody>
      </p:sp>
      <p:sp>
        <p:nvSpPr>
          <p:cNvPr id="9" name="矩形 8"/>
          <p:cNvSpPr/>
          <p:nvPr/>
        </p:nvSpPr>
        <p:spPr>
          <a:xfrm>
            <a:off x="971600" y="1092466"/>
            <a:ext cx="2725426" cy="400110"/>
          </a:xfrm>
          <a:prstGeom prst="rect">
            <a:avLst/>
          </a:prstGeom>
          <a:solidFill>
            <a:srgbClr val="0070C0"/>
          </a:solidFill>
        </p:spPr>
        <p:txBody>
          <a:bodyPr wrap="none">
            <a:spAutoFit/>
          </a:bodyPr>
          <a:lstStyle/>
          <a:p>
            <a:pPr algn="l" fontAlgn="ctr"/>
            <a:r>
              <a:rPr lang="en-US" sz="2000" b="1" dirty="0" smtClean="0">
                <a:solidFill>
                  <a:schemeClr val="bg1"/>
                </a:solidFill>
                <a:latin typeface="微软雅黑" panose="020B0503020204020204" pitchFamily="34" charset="-122"/>
                <a:ea typeface="微软雅黑" panose="020B0503020204020204" pitchFamily="34" charset="-122"/>
              </a:rPr>
              <a:t>2</a:t>
            </a:r>
            <a:r>
              <a:rPr sz="2000" b="1" dirty="0" smtClean="0">
                <a:solidFill>
                  <a:schemeClr val="bg1"/>
                </a:solidFill>
                <a:latin typeface="微软雅黑" panose="020B0503020204020204" pitchFamily="34" charset="-122"/>
                <a:ea typeface="微软雅黑" panose="020B0503020204020204" pitchFamily="34" charset="-122"/>
              </a:rPr>
              <a:t>.环境感知</a:t>
            </a:r>
            <a:r>
              <a:rPr lang="zh-CN" altLang="en-US" sz="2000" b="1" dirty="0" smtClean="0">
                <a:solidFill>
                  <a:schemeClr val="bg1"/>
                </a:solidFill>
                <a:latin typeface="微软雅黑" panose="020B0503020204020204" pitchFamily="34" charset="-122"/>
                <a:ea typeface="微软雅黑" panose="020B0503020204020204" pitchFamily="34" charset="-122"/>
              </a:rPr>
              <a:t>系统</a:t>
            </a:r>
            <a:r>
              <a:rPr sz="2000" b="1" dirty="0" smtClean="0">
                <a:solidFill>
                  <a:schemeClr val="bg1"/>
                </a:solidFill>
                <a:latin typeface="微软雅黑" panose="020B0503020204020204" pitchFamily="34" charset="-122"/>
                <a:ea typeface="微软雅黑" panose="020B0503020204020204" pitchFamily="34" charset="-122"/>
              </a:rPr>
              <a:t>的</a:t>
            </a:r>
            <a:r>
              <a:rPr lang="zh-CN" altLang="en-US" sz="2000" b="1" dirty="0" smtClean="0">
                <a:solidFill>
                  <a:schemeClr val="bg1"/>
                </a:solidFill>
                <a:latin typeface="微软雅黑" panose="020B0503020204020204" pitchFamily="34" charset="-122"/>
                <a:ea typeface="微软雅黑" panose="020B0503020204020204" pitchFamily="34" charset="-122"/>
              </a:rPr>
              <a:t>组成</a:t>
            </a:r>
            <a:endParaRPr sz="2000" b="1" dirty="0" smtClean="0">
              <a:solidFill>
                <a:schemeClr val="bg1"/>
              </a:solidFill>
              <a:latin typeface="微软雅黑" panose="020B0503020204020204" pitchFamily="34" charset="-122"/>
              <a:ea typeface="微软雅黑" panose="020B0503020204020204" pitchFamily="34" charset="-122"/>
            </a:endParaRPr>
          </a:p>
        </p:txBody>
      </p:sp>
      <p:sp>
        <p:nvSpPr>
          <p:cNvPr id="4" name="矩形 3"/>
          <p:cNvSpPr/>
          <p:nvPr/>
        </p:nvSpPr>
        <p:spPr>
          <a:xfrm>
            <a:off x="971600" y="1707654"/>
            <a:ext cx="1728192" cy="2536400"/>
          </a:xfrm>
          <a:prstGeom prst="rect">
            <a:avLst/>
          </a:prstGeom>
          <a:solidFill>
            <a:srgbClr val="0070C0"/>
          </a:solidFill>
        </p:spPr>
        <p:txBody>
          <a:bodyPr wrap="square">
            <a:spAutoFit/>
          </a:bodyPr>
          <a:lstStyle/>
          <a:p>
            <a:pPr>
              <a:lnSpc>
                <a:spcPct val="150000"/>
              </a:lnSpc>
            </a:pPr>
            <a:r>
              <a:rPr lang="zh-CN" altLang="en-US" dirty="0">
                <a:solidFill>
                  <a:schemeClr val="bg1"/>
                </a:solidFill>
                <a:latin typeface="微软雅黑" pitchFamily="34" charset="-122"/>
                <a:ea typeface="微软雅黑" pitchFamily="34" charset="-122"/>
              </a:rPr>
              <a:t>智能网联汽车的环境感知系统由信息采集单元、信息处理单元和信 息传输单元组成。</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a:xfrm>
            <a:off x="107504" y="4840397"/>
            <a:ext cx="2133600" cy="273844"/>
          </a:xfrm>
        </p:spPr>
        <p:txBody>
          <a:bodyPr/>
          <a:lstStyle/>
          <a:p>
            <a:pPr algn="l"/>
            <a:fld id="{0C913308-F349-4B6D-A68A-DD1791B4A57B}" type="slidenum">
              <a:rPr lang="zh-CN" altLang="en-US" smtClean="0"/>
              <a:t>6</a:t>
            </a:fld>
            <a:endParaRPr lang="zh-CN" altLang="en-US" dirty="0"/>
          </a:p>
        </p:txBody>
      </p:sp>
      <p:sp>
        <p:nvSpPr>
          <p:cNvPr id="7" name="Text Box 8"/>
          <p:cNvSpPr>
            <a:spLocks noChangeArrowheads="1"/>
          </p:cNvSpPr>
          <p:nvPr/>
        </p:nvSpPr>
        <p:spPr bwMode="auto">
          <a:xfrm>
            <a:off x="971600" y="411510"/>
            <a:ext cx="7573236" cy="583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9pPr>
          </a:lstStyle>
          <a:p>
            <a:pPr algn="ctr" eaLnBrk="1" hangingPunct="1">
              <a:spcBef>
                <a:spcPct val="0"/>
              </a:spcBef>
              <a:buFont typeface="Arial" panose="020B0604020202020204" pitchFamily="34" charset="0"/>
              <a:buNone/>
            </a:pPr>
            <a:r>
              <a:rPr lang="zh-CN" altLang="en-US" sz="3200" b="1" dirty="0" smtClean="0">
                <a:solidFill>
                  <a:schemeClr val="accent1"/>
                </a:solidFill>
                <a:latin typeface="微软雅黑" panose="020B0503020204020204" pitchFamily="34" charset="-122"/>
              </a:rPr>
              <a:t>什么是智能网联汽车的环境感知技术？</a:t>
            </a:r>
          </a:p>
        </p:txBody>
      </p:sp>
      <p:sp>
        <p:nvSpPr>
          <p:cNvPr id="9" name="矩形 8"/>
          <p:cNvSpPr/>
          <p:nvPr/>
        </p:nvSpPr>
        <p:spPr>
          <a:xfrm>
            <a:off x="971600" y="1092466"/>
            <a:ext cx="2725426" cy="400110"/>
          </a:xfrm>
          <a:prstGeom prst="rect">
            <a:avLst/>
          </a:prstGeom>
          <a:solidFill>
            <a:srgbClr val="0070C0"/>
          </a:solidFill>
        </p:spPr>
        <p:txBody>
          <a:bodyPr wrap="none">
            <a:spAutoFit/>
          </a:bodyPr>
          <a:lstStyle/>
          <a:p>
            <a:pPr algn="l" fontAlgn="ctr"/>
            <a:r>
              <a:rPr lang="en-US" sz="2000" b="1" dirty="0" smtClean="0">
                <a:solidFill>
                  <a:schemeClr val="bg1"/>
                </a:solidFill>
                <a:latin typeface="微软雅黑" panose="020B0503020204020204" pitchFamily="34" charset="-122"/>
                <a:ea typeface="微软雅黑" panose="020B0503020204020204" pitchFamily="34" charset="-122"/>
              </a:rPr>
              <a:t>2</a:t>
            </a:r>
            <a:r>
              <a:rPr sz="2000" b="1" dirty="0" smtClean="0">
                <a:solidFill>
                  <a:schemeClr val="bg1"/>
                </a:solidFill>
                <a:latin typeface="微软雅黑" panose="020B0503020204020204" pitchFamily="34" charset="-122"/>
                <a:ea typeface="微软雅黑" panose="020B0503020204020204" pitchFamily="34" charset="-122"/>
              </a:rPr>
              <a:t>.环境感知</a:t>
            </a:r>
            <a:r>
              <a:rPr lang="zh-CN" altLang="en-US" sz="2000" b="1" dirty="0" smtClean="0">
                <a:solidFill>
                  <a:schemeClr val="bg1"/>
                </a:solidFill>
                <a:latin typeface="微软雅黑" panose="020B0503020204020204" pitchFamily="34" charset="-122"/>
                <a:ea typeface="微软雅黑" panose="020B0503020204020204" pitchFamily="34" charset="-122"/>
              </a:rPr>
              <a:t>系统</a:t>
            </a:r>
            <a:r>
              <a:rPr sz="2000" b="1" dirty="0" smtClean="0">
                <a:solidFill>
                  <a:schemeClr val="bg1"/>
                </a:solidFill>
                <a:latin typeface="微软雅黑" panose="020B0503020204020204" pitchFamily="34" charset="-122"/>
                <a:ea typeface="微软雅黑" panose="020B0503020204020204" pitchFamily="34" charset="-122"/>
              </a:rPr>
              <a:t>的</a:t>
            </a:r>
            <a:r>
              <a:rPr lang="zh-CN" altLang="en-US" sz="2000" b="1" dirty="0" smtClean="0">
                <a:solidFill>
                  <a:schemeClr val="bg1"/>
                </a:solidFill>
                <a:latin typeface="微软雅黑" panose="020B0503020204020204" pitchFamily="34" charset="-122"/>
                <a:ea typeface="微软雅黑" panose="020B0503020204020204" pitchFamily="34" charset="-122"/>
              </a:rPr>
              <a:t>组成</a:t>
            </a:r>
            <a:endParaRPr sz="2000" b="1" dirty="0" smtClean="0">
              <a:solidFill>
                <a:schemeClr val="bg1"/>
              </a:solidFill>
              <a:latin typeface="微软雅黑" panose="020B0503020204020204" pitchFamily="34" charset="-122"/>
              <a:ea typeface="微软雅黑" panose="020B0503020204020204" pitchFamily="34" charset="-122"/>
            </a:endParaRPr>
          </a:p>
        </p:txBody>
      </p:sp>
      <p:sp>
        <p:nvSpPr>
          <p:cNvPr id="2" name="矩形 1"/>
          <p:cNvSpPr/>
          <p:nvPr/>
        </p:nvSpPr>
        <p:spPr>
          <a:xfrm>
            <a:off x="971600" y="1694587"/>
            <a:ext cx="3456384" cy="3003515"/>
          </a:xfrm>
          <a:prstGeom prst="rect">
            <a:avLst/>
          </a:prstGeom>
          <a:solidFill>
            <a:srgbClr val="0070C0"/>
          </a:solidFill>
        </p:spPr>
        <p:txBody>
          <a:bodyPr wrap="square">
            <a:spAutoFit/>
          </a:bodyPr>
          <a:lstStyle/>
          <a:p>
            <a:pPr>
              <a:lnSpc>
                <a:spcPct val="150000"/>
              </a:lnSpc>
            </a:pPr>
            <a:r>
              <a:rPr lang="zh-CN" altLang="en-US" sz="1600" b="1" dirty="0">
                <a:solidFill>
                  <a:schemeClr val="bg1"/>
                </a:solidFill>
                <a:latin typeface="微软雅黑" pitchFamily="34" charset="-122"/>
                <a:ea typeface="微软雅黑" pitchFamily="34" charset="-122"/>
              </a:rPr>
              <a:t>（</a:t>
            </a:r>
            <a:r>
              <a:rPr lang="en-US" altLang="zh-CN" sz="1600" b="1" dirty="0">
                <a:solidFill>
                  <a:schemeClr val="bg1"/>
                </a:solidFill>
                <a:latin typeface="微软雅黑" pitchFamily="34" charset="-122"/>
                <a:ea typeface="微软雅黑" pitchFamily="34" charset="-122"/>
              </a:rPr>
              <a:t>1</a:t>
            </a:r>
            <a:r>
              <a:rPr lang="zh-CN" altLang="en-US" sz="1600" b="1" dirty="0">
                <a:solidFill>
                  <a:schemeClr val="bg1"/>
                </a:solidFill>
                <a:latin typeface="微软雅黑" pitchFamily="34" charset="-122"/>
                <a:ea typeface="微软雅黑" pitchFamily="34" charset="-122"/>
              </a:rPr>
              <a:t>）信息采集</a:t>
            </a:r>
            <a:r>
              <a:rPr lang="zh-CN" altLang="en-US" sz="1600" b="1" dirty="0" smtClean="0">
                <a:solidFill>
                  <a:schemeClr val="bg1"/>
                </a:solidFill>
                <a:latin typeface="微软雅黑" pitchFamily="34" charset="-122"/>
                <a:ea typeface="微软雅黑" pitchFamily="34" charset="-122"/>
              </a:rPr>
              <a:t>单元</a:t>
            </a:r>
            <a:endParaRPr lang="en-US" altLang="zh-CN" sz="1600" b="1" dirty="0" smtClean="0">
              <a:solidFill>
                <a:schemeClr val="bg1"/>
              </a:solidFill>
              <a:latin typeface="微软雅黑" pitchFamily="34" charset="-122"/>
              <a:ea typeface="微软雅黑" pitchFamily="34" charset="-122"/>
            </a:endParaRPr>
          </a:p>
          <a:p>
            <a:pPr>
              <a:lnSpc>
                <a:spcPct val="150000"/>
              </a:lnSpc>
            </a:pPr>
            <a:r>
              <a:rPr lang="zh-CN" altLang="en-US" sz="1600" dirty="0" smtClean="0">
                <a:solidFill>
                  <a:schemeClr val="bg1"/>
                </a:solidFill>
                <a:latin typeface="微软雅黑" pitchFamily="34" charset="-122"/>
                <a:ea typeface="微软雅黑" pitchFamily="34" charset="-122"/>
              </a:rPr>
              <a:t>环境</a:t>
            </a:r>
            <a:r>
              <a:rPr lang="zh-CN" altLang="en-US" sz="1600" dirty="0">
                <a:solidFill>
                  <a:schemeClr val="bg1"/>
                </a:solidFill>
                <a:latin typeface="微软雅黑" pitchFamily="34" charset="-122"/>
                <a:ea typeface="微软雅黑" pitchFamily="34" charset="-122"/>
              </a:rPr>
              <a:t>感知系统获取周围环境和车辆信息的实时性和稳定性，直接关系到后续检测或识 别的准确性和执行的有效性。信息采集主要包括惯性元件、超声波传感器、激光雷达、</a:t>
            </a:r>
            <a:r>
              <a:rPr lang="zh-CN" altLang="en-US" sz="1600" dirty="0" smtClean="0">
                <a:solidFill>
                  <a:schemeClr val="bg1"/>
                </a:solidFill>
                <a:latin typeface="微软雅黑" pitchFamily="34" charset="-122"/>
                <a:ea typeface="微软雅黑" pitchFamily="34" charset="-122"/>
              </a:rPr>
              <a:t>毫米波</a:t>
            </a:r>
            <a:r>
              <a:rPr lang="zh-CN" altLang="en-US" sz="1600" dirty="0">
                <a:solidFill>
                  <a:schemeClr val="bg1"/>
                </a:solidFill>
                <a:latin typeface="微软雅黑" pitchFamily="34" charset="-122"/>
                <a:ea typeface="微软雅黑" pitchFamily="34" charset="-122"/>
              </a:rPr>
              <a:t>雷达、视觉传感器、定位导航及车载自组织网络等。</a:t>
            </a:r>
          </a:p>
        </p:txBody>
      </p:sp>
      <p:pic>
        <p:nvPicPr>
          <p:cNvPr id="409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10430" y="1694587"/>
            <a:ext cx="3561970" cy="21488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95793982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a:xfrm>
            <a:off x="107504" y="4840397"/>
            <a:ext cx="2133600" cy="273844"/>
          </a:xfrm>
        </p:spPr>
        <p:txBody>
          <a:bodyPr/>
          <a:lstStyle/>
          <a:p>
            <a:pPr algn="l"/>
            <a:fld id="{0C913308-F349-4B6D-A68A-DD1791B4A57B}" type="slidenum">
              <a:rPr lang="zh-CN" altLang="en-US" smtClean="0"/>
              <a:t>7</a:t>
            </a:fld>
            <a:endParaRPr lang="zh-CN" altLang="en-US" dirty="0"/>
          </a:p>
        </p:txBody>
      </p:sp>
      <p:sp>
        <p:nvSpPr>
          <p:cNvPr id="7" name="Text Box 8"/>
          <p:cNvSpPr>
            <a:spLocks noChangeArrowheads="1"/>
          </p:cNvSpPr>
          <p:nvPr/>
        </p:nvSpPr>
        <p:spPr bwMode="auto">
          <a:xfrm>
            <a:off x="971600" y="411510"/>
            <a:ext cx="7573236" cy="583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9pPr>
          </a:lstStyle>
          <a:p>
            <a:pPr algn="ctr" eaLnBrk="1" hangingPunct="1">
              <a:spcBef>
                <a:spcPct val="0"/>
              </a:spcBef>
              <a:buFont typeface="Arial" panose="020B0604020202020204" pitchFamily="34" charset="0"/>
              <a:buNone/>
            </a:pPr>
            <a:r>
              <a:rPr lang="zh-CN" altLang="en-US" sz="3200" b="1" dirty="0" smtClean="0">
                <a:solidFill>
                  <a:schemeClr val="accent1"/>
                </a:solidFill>
                <a:latin typeface="微软雅黑" panose="020B0503020204020204" pitchFamily="34" charset="-122"/>
              </a:rPr>
              <a:t>什么是智能网联汽车的环境感知技术？</a:t>
            </a:r>
          </a:p>
        </p:txBody>
      </p:sp>
      <p:sp>
        <p:nvSpPr>
          <p:cNvPr id="9" name="矩形 8"/>
          <p:cNvSpPr/>
          <p:nvPr/>
        </p:nvSpPr>
        <p:spPr>
          <a:xfrm>
            <a:off x="971600" y="1092466"/>
            <a:ext cx="2725426" cy="400110"/>
          </a:xfrm>
          <a:prstGeom prst="rect">
            <a:avLst/>
          </a:prstGeom>
          <a:solidFill>
            <a:srgbClr val="0070C0"/>
          </a:solidFill>
        </p:spPr>
        <p:txBody>
          <a:bodyPr wrap="none">
            <a:spAutoFit/>
          </a:bodyPr>
          <a:lstStyle/>
          <a:p>
            <a:pPr algn="l" fontAlgn="ctr"/>
            <a:r>
              <a:rPr lang="en-US" sz="2000" b="1" dirty="0" smtClean="0">
                <a:solidFill>
                  <a:schemeClr val="bg1"/>
                </a:solidFill>
                <a:latin typeface="微软雅黑" panose="020B0503020204020204" pitchFamily="34" charset="-122"/>
                <a:ea typeface="微软雅黑" panose="020B0503020204020204" pitchFamily="34" charset="-122"/>
              </a:rPr>
              <a:t>2</a:t>
            </a:r>
            <a:r>
              <a:rPr sz="2000" b="1" dirty="0" smtClean="0">
                <a:solidFill>
                  <a:schemeClr val="bg1"/>
                </a:solidFill>
                <a:latin typeface="微软雅黑" panose="020B0503020204020204" pitchFamily="34" charset="-122"/>
                <a:ea typeface="微软雅黑" panose="020B0503020204020204" pitchFamily="34" charset="-122"/>
              </a:rPr>
              <a:t>.环境感知</a:t>
            </a:r>
            <a:r>
              <a:rPr lang="zh-CN" altLang="en-US" sz="2000" b="1" dirty="0" smtClean="0">
                <a:solidFill>
                  <a:schemeClr val="bg1"/>
                </a:solidFill>
                <a:latin typeface="微软雅黑" panose="020B0503020204020204" pitchFamily="34" charset="-122"/>
                <a:ea typeface="微软雅黑" panose="020B0503020204020204" pitchFamily="34" charset="-122"/>
              </a:rPr>
              <a:t>系统</a:t>
            </a:r>
            <a:r>
              <a:rPr sz="2000" b="1" dirty="0" smtClean="0">
                <a:solidFill>
                  <a:schemeClr val="bg1"/>
                </a:solidFill>
                <a:latin typeface="微软雅黑" panose="020B0503020204020204" pitchFamily="34" charset="-122"/>
                <a:ea typeface="微软雅黑" panose="020B0503020204020204" pitchFamily="34" charset="-122"/>
              </a:rPr>
              <a:t>的</a:t>
            </a:r>
            <a:r>
              <a:rPr lang="zh-CN" altLang="en-US" sz="2000" b="1" dirty="0" smtClean="0">
                <a:solidFill>
                  <a:schemeClr val="bg1"/>
                </a:solidFill>
                <a:latin typeface="微软雅黑" panose="020B0503020204020204" pitchFamily="34" charset="-122"/>
                <a:ea typeface="微软雅黑" panose="020B0503020204020204" pitchFamily="34" charset="-122"/>
              </a:rPr>
              <a:t>组成</a:t>
            </a:r>
            <a:endParaRPr sz="2000" b="1" dirty="0" smtClean="0">
              <a:solidFill>
                <a:schemeClr val="bg1"/>
              </a:solidFill>
              <a:latin typeface="微软雅黑" panose="020B0503020204020204" pitchFamily="34" charset="-122"/>
              <a:ea typeface="微软雅黑" panose="020B0503020204020204" pitchFamily="34" charset="-122"/>
            </a:endParaRPr>
          </a:p>
        </p:txBody>
      </p:sp>
      <p:sp>
        <p:nvSpPr>
          <p:cNvPr id="3" name="矩形 2"/>
          <p:cNvSpPr/>
          <p:nvPr/>
        </p:nvSpPr>
        <p:spPr>
          <a:xfrm>
            <a:off x="971600" y="1635646"/>
            <a:ext cx="7200800" cy="1200329"/>
          </a:xfrm>
          <a:prstGeom prst="rect">
            <a:avLst/>
          </a:prstGeom>
          <a:solidFill>
            <a:srgbClr val="0070C0"/>
          </a:solidFill>
        </p:spPr>
        <p:txBody>
          <a:bodyPr wrap="square">
            <a:spAutoFit/>
          </a:bodyPr>
          <a:lstStyle/>
          <a:p>
            <a:pPr>
              <a:lnSpc>
                <a:spcPct val="150000"/>
              </a:lnSpc>
            </a:pPr>
            <a:r>
              <a:rPr lang="zh-CN" altLang="en-US" sz="1600" dirty="0">
                <a:solidFill>
                  <a:schemeClr val="bg1"/>
                </a:solidFill>
                <a:latin typeface="微软雅黑" pitchFamily="34" charset="-122"/>
                <a:ea typeface="微软雅黑" pitchFamily="34" charset="-122"/>
              </a:rPr>
              <a:t>（</a:t>
            </a:r>
            <a:r>
              <a:rPr lang="en-US" altLang="zh-CN" sz="1600" dirty="0">
                <a:solidFill>
                  <a:schemeClr val="bg1"/>
                </a:solidFill>
                <a:latin typeface="微软雅黑" pitchFamily="34" charset="-122"/>
                <a:ea typeface="微软雅黑" pitchFamily="34" charset="-122"/>
              </a:rPr>
              <a:t>2</a:t>
            </a:r>
            <a:r>
              <a:rPr lang="zh-CN" altLang="en-US" sz="1600" dirty="0">
                <a:solidFill>
                  <a:schemeClr val="bg1"/>
                </a:solidFill>
                <a:latin typeface="微软雅黑" pitchFamily="34" charset="-122"/>
                <a:ea typeface="微软雅黑" pitchFamily="34" charset="-122"/>
              </a:rPr>
              <a:t>）信息处理单元 信息处理单元主要是对信息采集单元输送来的信号，包括道路、车辆、行人、</a:t>
            </a:r>
            <a:r>
              <a:rPr lang="zh-CN" altLang="en-US" sz="1600" dirty="0" smtClean="0">
                <a:solidFill>
                  <a:schemeClr val="bg1"/>
                </a:solidFill>
                <a:latin typeface="微软雅黑" pitchFamily="34" charset="-122"/>
                <a:ea typeface="微软雅黑" pitchFamily="34" charset="-122"/>
              </a:rPr>
              <a:t>交通标志</a:t>
            </a:r>
            <a:r>
              <a:rPr lang="zh-CN" altLang="en-US" sz="1600" dirty="0">
                <a:solidFill>
                  <a:schemeClr val="bg1"/>
                </a:solidFill>
                <a:latin typeface="微软雅黑" pitchFamily="34" charset="-122"/>
                <a:ea typeface="微软雅黑" pitchFamily="34" charset="-122"/>
              </a:rPr>
              <a:t>、交通信号灯等进行分析和识别，并发送给信息传输单元。</a:t>
            </a:r>
          </a:p>
        </p:txBody>
      </p:sp>
      <p:sp>
        <p:nvSpPr>
          <p:cNvPr id="4" name="矩形 3"/>
          <p:cNvSpPr/>
          <p:nvPr/>
        </p:nvSpPr>
        <p:spPr>
          <a:xfrm>
            <a:off x="971600" y="3003798"/>
            <a:ext cx="7224748" cy="1200329"/>
          </a:xfrm>
          <a:prstGeom prst="rect">
            <a:avLst/>
          </a:prstGeom>
          <a:solidFill>
            <a:srgbClr val="0070C0"/>
          </a:solidFill>
        </p:spPr>
        <p:txBody>
          <a:bodyPr wrap="square">
            <a:spAutoFit/>
          </a:bodyPr>
          <a:lstStyle/>
          <a:p>
            <a:pPr>
              <a:lnSpc>
                <a:spcPct val="150000"/>
              </a:lnSpc>
            </a:pPr>
            <a:r>
              <a:rPr lang="zh-CN" altLang="en-US" sz="1600" dirty="0">
                <a:solidFill>
                  <a:schemeClr val="bg1"/>
                </a:solidFill>
                <a:latin typeface="微软雅黑" pitchFamily="34" charset="-122"/>
                <a:ea typeface="微软雅黑" pitchFamily="34" charset="-122"/>
              </a:rPr>
              <a:t>（</a:t>
            </a:r>
            <a:r>
              <a:rPr lang="en-US" altLang="zh-CN" sz="1600" dirty="0">
                <a:solidFill>
                  <a:schemeClr val="bg1"/>
                </a:solidFill>
                <a:latin typeface="微软雅黑" pitchFamily="34" charset="-122"/>
                <a:ea typeface="微软雅黑" pitchFamily="34" charset="-122"/>
              </a:rPr>
              <a:t>3</a:t>
            </a:r>
            <a:r>
              <a:rPr lang="zh-CN" altLang="en-US" sz="1600" dirty="0">
                <a:solidFill>
                  <a:schemeClr val="bg1"/>
                </a:solidFill>
                <a:latin typeface="微软雅黑" pitchFamily="34" charset="-122"/>
                <a:ea typeface="微软雅黑" pitchFamily="34" charset="-122"/>
              </a:rPr>
              <a:t>）信息传输单元 信息传输单元接收到信息处理单元对环境感知信号的分析数据后，根据具体情况执行 不同的操作。信息传输单元包括显示系统、报警系统、传感器网络和车载自组织网络。</a:t>
            </a:r>
          </a:p>
        </p:txBody>
      </p:sp>
    </p:spTree>
    <p:extLst>
      <p:ext uri="{BB962C8B-B14F-4D97-AF65-F5344CB8AC3E}">
        <p14:creationId xmlns:p14="http://schemas.microsoft.com/office/powerpoint/2010/main" val="287948651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a:xfrm>
            <a:off x="107504" y="4840397"/>
            <a:ext cx="2133600" cy="273844"/>
          </a:xfrm>
        </p:spPr>
        <p:txBody>
          <a:bodyPr/>
          <a:lstStyle/>
          <a:p>
            <a:pPr algn="l"/>
            <a:fld id="{0C913308-F349-4B6D-A68A-DD1791B4A57B}" type="slidenum">
              <a:rPr lang="zh-CN" altLang="en-US" smtClean="0"/>
              <a:t>8</a:t>
            </a:fld>
            <a:endParaRPr lang="zh-CN" altLang="en-US" dirty="0"/>
          </a:p>
        </p:txBody>
      </p:sp>
      <p:sp>
        <p:nvSpPr>
          <p:cNvPr id="7" name="Text Box 8"/>
          <p:cNvSpPr>
            <a:spLocks noChangeArrowheads="1"/>
          </p:cNvSpPr>
          <p:nvPr/>
        </p:nvSpPr>
        <p:spPr bwMode="auto">
          <a:xfrm>
            <a:off x="971600" y="411510"/>
            <a:ext cx="7573236" cy="583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9pPr>
          </a:lstStyle>
          <a:p>
            <a:pPr algn="ctr" eaLnBrk="1" hangingPunct="1">
              <a:spcBef>
                <a:spcPct val="0"/>
              </a:spcBef>
              <a:buFont typeface="Arial" panose="020B0604020202020204" pitchFamily="34" charset="0"/>
              <a:buNone/>
            </a:pPr>
            <a:r>
              <a:rPr lang="zh-CN" altLang="en-US" sz="3200" b="1" dirty="0" smtClean="0">
                <a:solidFill>
                  <a:schemeClr val="accent1"/>
                </a:solidFill>
                <a:latin typeface="微软雅黑" panose="020B0503020204020204" pitchFamily="34" charset="-122"/>
              </a:rPr>
              <a:t>什么是智能网联汽车的环境感知技术？</a:t>
            </a:r>
          </a:p>
        </p:txBody>
      </p:sp>
      <p:sp>
        <p:nvSpPr>
          <p:cNvPr id="9" name="矩形 8"/>
          <p:cNvSpPr/>
          <p:nvPr/>
        </p:nvSpPr>
        <p:spPr>
          <a:xfrm>
            <a:off x="971600" y="1092466"/>
            <a:ext cx="2468946" cy="400110"/>
          </a:xfrm>
          <a:prstGeom prst="rect">
            <a:avLst/>
          </a:prstGeom>
          <a:solidFill>
            <a:srgbClr val="0070C0"/>
          </a:solidFill>
        </p:spPr>
        <p:txBody>
          <a:bodyPr wrap="none">
            <a:spAutoFit/>
          </a:bodyPr>
          <a:lstStyle/>
          <a:p>
            <a:pPr algn="l" fontAlgn="ctr"/>
            <a:r>
              <a:rPr lang="en-US" sz="2000" b="1" dirty="0" smtClean="0">
                <a:solidFill>
                  <a:schemeClr val="bg1"/>
                </a:solidFill>
                <a:latin typeface="微软雅黑" panose="020B0503020204020204" pitchFamily="34" charset="-122"/>
                <a:ea typeface="微软雅黑" panose="020B0503020204020204" pitchFamily="34" charset="-122"/>
              </a:rPr>
              <a:t>3</a:t>
            </a:r>
            <a:r>
              <a:rPr sz="2000" b="1" dirty="0" smtClean="0">
                <a:solidFill>
                  <a:schemeClr val="bg1"/>
                </a:solidFill>
                <a:latin typeface="微软雅黑" panose="020B0503020204020204" pitchFamily="34" charset="-122"/>
                <a:ea typeface="微软雅黑" panose="020B0503020204020204" pitchFamily="34" charset="-122"/>
              </a:rPr>
              <a:t>.环境感知</a:t>
            </a:r>
            <a:r>
              <a:rPr lang="zh-CN" altLang="en-US" sz="2000" b="1" dirty="0" smtClean="0">
                <a:solidFill>
                  <a:schemeClr val="bg1"/>
                </a:solidFill>
                <a:latin typeface="微软雅黑" panose="020B0503020204020204" pitchFamily="34" charset="-122"/>
                <a:ea typeface="微软雅黑" panose="020B0503020204020204" pitchFamily="34" charset="-122"/>
              </a:rPr>
              <a:t>器的类型</a:t>
            </a:r>
            <a:endParaRPr sz="2000" b="1" dirty="0" smtClean="0">
              <a:solidFill>
                <a:schemeClr val="bg1"/>
              </a:solidFill>
              <a:latin typeface="微软雅黑" panose="020B0503020204020204" pitchFamily="34" charset="-122"/>
              <a:ea typeface="微软雅黑" panose="020B0503020204020204" pitchFamily="34" charset="-122"/>
            </a:endParaRPr>
          </a:p>
        </p:txBody>
      </p:sp>
      <p:sp>
        <p:nvSpPr>
          <p:cNvPr id="2" name="矩形 1"/>
          <p:cNvSpPr/>
          <p:nvPr/>
        </p:nvSpPr>
        <p:spPr>
          <a:xfrm>
            <a:off x="971600" y="1635646"/>
            <a:ext cx="7200800" cy="2264851"/>
          </a:xfrm>
          <a:prstGeom prst="rect">
            <a:avLst/>
          </a:prstGeom>
          <a:solidFill>
            <a:srgbClr val="0070C0"/>
          </a:solidFill>
        </p:spPr>
        <p:txBody>
          <a:bodyPr wrap="square">
            <a:spAutoFit/>
          </a:bodyPr>
          <a:lstStyle/>
          <a:p>
            <a:pPr>
              <a:lnSpc>
                <a:spcPct val="150000"/>
              </a:lnSpc>
            </a:pPr>
            <a:r>
              <a:rPr lang="zh-CN" altLang="en-US" sz="1600" dirty="0">
                <a:solidFill>
                  <a:schemeClr val="bg1"/>
                </a:solidFill>
                <a:latin typeface="微软雅黑" pitchFamily="34" charset="-122"/>
                <a:ea typeface="微软雅黑" pitchFamily="34" charset="-122"/>
              </a:rPr>
              <a:t>按照智能网联汽车获取交通环境信息的途径，可将环境感知传感器分为被动环境感知 传感器和主动环境感知传感器。 </a:t>
            </a:r>
            <a:endParaRPr lang="en-US" altLang="zh-CN" sz="1600" dirty="0" smtClean="0">
              <a:solidFill>
                <a:schemeClr val="bg1"/>
              </a:solidFill>
              <a:latin typeface="微软雅黑" pitchFamily="34" charset="-122"/>
              <a:ea typeface="微软雅黑" pitchFamily="34" charset="-122"/>
            </a:endParaRPr>
          </a:p>
          <a:p>
            <a:pPr>
              <a:lnSpc>
                <a:spcPct val="150000"/>
              </a:lnSpc>
            </a:pPr>
            <a:r>
              <a:rPr lang="zh-CN" altLang="en-US" sz="1600" dirty="0" smtClean="0">
                <a:solidFill>
                  <a:schemeClr val="bg1"/>
                </a:solidFill>
                <a:latin typeface="微软雅黑" pitchFamily="34" charset="-122"/>
                <a:ea typeface="微软雅黑" pitchFamily="34" charset="-122"/>
              </a:rPr>
              <a:t>被动</a:t>
            </a:r>
            <a:r>
              <a:rPr lang="zh-CN" altLang="en-US" sz="1600" dirty="0">
                <a:solidFill>
                  <a:schemeClr val="bg1"/>
                </a:solidFill>
                <a:latin typeface="微软雅黑" pitchFamily="34" charset="-122"/>
                <a:ea typeface="微软雅黑" pitchFamily="34" charset="-122"/>
              </a:rPr>
              <a:t>环境感知传感器自身不会发射信号，而是通过接收外部反射或辐射的信号获取环 境信息，如视觉传感器（单 </a:t>
            </a:r>
            <a:r>
              <a:rPr lang="en-US" altLang="zh-CN" sz="1600" dirty="0">
                <a:solidFill>
                  <a:schemeClr val="bg1"/>
                </a:solidFill>
                <a:latin typeface="微软雅黑" pitchFamily="34" charset="-122"/>
                <a:ea typeface="微软雅黑" pitchFamily="34" charset="-122"/>
              </a:rPr>
              <a:t>/ </a:t>
            </a:r>
            <a:r>
              <a:rPr lang="zh-CN" altLang="en-US" sz="1600" dirty="0">
                <a:solidFill>
                  <a:schemeClr val="bg1"/>
                </a:solidFill>
                <a:latin typeface="微软雅黑" pitchFamily="34" charset="-122"/>
                <a:ea typeface="微软雅黑" pitchFamily="34" charset="-122"/>
              </a:rPr>
              <a:t>双 </a:t>
            </a:r>
            <a:r>
              <a:rPr lang="en-US" altLang="zh-CN" sz="1600" dirty="0">
                <a:solidFill>
                  <a:schemeClr val="bg1"/>
                </a:solidFill>
                <a:latin typeface="微软雅黑" pitchFamily="34" charset="-122"/>
                <a:ea typeface="微软雅黑" pitchFamily="34" charset="-122"/>
              </a:rPr>
              <a:t>/ </a:t>
            </a:r>
            <a:r>
              <a:rPr lang="zh-CN" altLang="en-US" sz="1600" dirty="0">
                <a:solidFill>
                  <a:schemeClr val="bg1"/>
                </a:solidFill>
                <a:latin typeface="微软雅黑" pitchFamily="34" charset="-122"/>
                <a:ea typeface="微软雅黑" pitchFamily="34" charset="-122"/>
              </a:rPr>
              <a:t>三目摄像头、环视摄像头）等。 </a:t>
            </a:r>
            <a:endParaRPr lang="en-US" altLang="zh-CN" sz="1600" dirty="0" smtClean="0">
              <a:solidFill>
                <a:schemeClr val="bg1"/>
              </a:solidFill>
              <a:latin typeface="微软雅黑" pitchFamily="34" charset="-122"/>
              <a:ea typeface="微软雅黑" pitchFamily="34" charset="-122"/>
            </a:endParaRPr>
          </a:p>
          <a:p>
            <a:pPr>
              <a:lnSpc>
                <a:spcPct val="150000"/>
              </a:lnSpc>
            </a:pPr>
            <a:r>
              <a:rPr lang="zh-CN" altLang="en-US" sz="1600" dirty="0" smtClean="0">
                <a:solidFill>
                  <a:schemeClr val="bg1"/>
                </a:solidFill>
                <a:latin typeface="微软雅黑" pitchFamily="34" charset="-122"/>
                <a:ea typeface="微软雅黑" pitchFamily="34" charset="-122"/>
              </a:rPr>
              <a:t>主动</a:t>
            </a:r>
            <a:r>
              <a:rPr lang="zh-CN" altLang="en-US" sz="1600" dirty="0">
                <a:solidFill>
                  <a:schemeClr val="bg1"/>
                </a:solidFill>
                <a:latin typeface="微软雅黑" pitchFamily="34" charset="-122"/>
                <a:ea typeface="微软雅黑" pitchFamily="34" charset="-122"/>
              </a:rPr>
              <a:t>环境感知传感器可以主动向外部环境发射信号进行环境感知，如超声波传感器、 毫米波雷达和激光雷达等。</a:t>
            </a:r>
          </a:p>
        </p:txBody>
      </p:sp>
    </p:spTree>
    <p:extLst>
      <p:ext uri="{BB962C8B-B14F-4D97-AF65-F5344CB8AC3E}">
        <p14:creationId xmlns:p14="http://schemas.microsoft.com/office/powerpoint/2010/main" val="165822245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a:xfrm>
            <a:off x="107504" y="4840397"/>
            <a:ext cx="2133600" cy="273844"/>
          </a:xfrm>
        </p:spPr>
        <p:txBody>
          <a:bodyPr/>
          <a:lstStyle/>
          <a:p>
            <a:pPr algn="l"/>
            <a:fld id="{0C913308-F349-4B6D-A68A-DD1791B4A57B}" type="slidenum">
              <a:rPr lang="zh-CN" altLang="en-US" smtClean="0"/>
              <a:t>9</a:t>
            </a:fld>
            <a:endParaRPr lang="zh-CN" altLang="en-US" dirty="0"/>
          </a:p>
        </p:txBody>
      </p:sp>
      <p:sp>
        <p:nvSpPr>
          <p:cNvPr id="7" name="Text Box 8"/>
          <p:cNvSpPr>
            <a:spLocks noChangeArrowheads="1"/>
          </p:cNvSpPr>
          <p:nvPr/>
        </p:nvSpPr>
        <p:spPr bwMode="auto">
          <a:xfrm>
            <a:off x="971600" y="411510"/>
            <a:ext cx="7573236" cy="583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9pPr>
          </a:lstStyle>
          <a:p>
            <a:pPr algn="ctr" eaLnBrk="1" hangingPunct="1">
              <a:spcBef>
                <a:spcPct val="0"/>
              </a:spcBef>
              <a:buFont typeface="Arial" panose="020B0604020202020204" pitchFamily="34" charset="0"/>
              <a:buNone/>
            </a:pPr>
            <a:r>
              <a:rPr lang="zh-CN" altLang="en-US" sz="3200" b="1" dirty="0" smtClean="0">
                <a:solidFill>
                  <a:schemeClr val="accent1"/>
                </a:solidFill>
                <a:latin typeface="微软雅黑" panose="020B0503020204020204" pitchFamily="34" charset="-122"/>
              </a:rPr>
              <a:t>什么是智能网联汽车的环境感知技术？</a:t>
            </a:r>
          </a:p>
        </p:txBody>
      </p:sp>
      <p:sp>
        <p:nvSpPr>
          <p:cNvPr id="9" name="矩形 8"/>
          <p:cNvSpPr/>
          <p:nvPr/>
        </p:nvSpPr>
        <p:spPr>
          <a:xfrm>
            <a:off x="971600" y="1092466"/>
            <a:ext cx="2468946" cy="400110"/>
          </a:xfrm>
          <a:prstGeom prst="rect">
            <a:avLst/>
          </a:prstGeom>
          <a:solidFill>
            <a:srgbClr val="0070C0"/>
          </a:solidFill>
        </p:spPr>
        <p:txBody>
          <a:bodyPr wrap="none">
            <a:spAutoFit/>
          </a:bodyPr>
          <a:lstStyle/>
          <a:p>
            <a:pPr algn="l" fontAlgn="ctr"/>
            <a:r>
              <a:rPr lang="en-US" sz="2000" b="1" dirty="0" smtClean="0">
                <a:solidFill>
                  <a:schemeClr val="bg1"/>
                </a:solidFill>
                <a:latin typeface="微软雅黑" panose="020B0503020204020204" pitchFamily="34" charset="-122"/>
                <a:ea typeface="微软雅黑" panose="020B0503020204020204" pitchFamily="34" charset="-122"/>
              </a:rPr>
              <a:t>3</a:t>
            </a:r>
            <a:r>
              <a:rPr sz="2000" b="1" dirty="0" smtClean="0">
                <a:solidFill>
                  <a:schemeClr val="bg1"/>
                </a:solidFill>
                <a:latin typeface="微软雅黑" panose="020B0503020204020204" pitchFamily="34" charset="-122"/>
                <a:ea typeface="微软雅黑" panose="020B0503020204020204" pitchFamily="34" charset="-122"/>
              </a:rPr>
              <a:t>.环境感知</a:t>
            </a:r>
            <a:r>
              <a:rPr lang="zh-CN" altLang="en-US" sz="2000" b="1" dirty="0" smtClean="0">
                <a:solidFill>
                  <a:schemeClr val="bg1"/>
                </a:solidFill>
                <a:latin typeface="微软雅黑" panose="020B0503020204020204" pitchFamily="34" charset="-122"/>
                <a:ea typeface="微软雅黑" panose="020B0503020204020204" pitchFamily="34" charset="-122"/>
              </a:rPr>
              <a:t>器的类型</a:t>
            </a:r>
            <a:endParaRPr sz="2000" b="1" dirty="0" smtClean="0">
              <a:solidFill>
                <a:schemeClr val="bg1"/>
              </a:solidFill>
              <a:latin typeface="微软雅黑" panose="020B0503020204020204" pitchFamily="34" charset="-122"/>
              <a:ea typeface="微软雅黑" panose="020B0503020204020204" pitchFamily="34" charset="-122"/>
            </a:endParaRPr>
          </a:p>
        </p:txBody>
      </p:sp>
      <p:sp>
        <p:nvSpPr>
          <p:cNvPr id="8" name="矩形 7"/>
          <p:cNvSpPr/>
          <p:nvPr/>
        </p:nvSpPr>
        <p:spPr>
          <a:xfrm>
            <a:off x="943122" y="1635646"/>
            <a:ext cx="1972694" cy="1568450"/>
          </a:xfrm>
          <a:prstGeom prst="rect">
            <a:avLst/>
          </a:prstGeom>
          <a:solidFill>
            <a:srgbClr val="0070C0"/>
          </a:solidFill>
        </p:spPr>
        <p:txBody>
          <a:bodyPr wrap="square">
            <a:spAutoFit/>
          </a:bodyPr>
          <a:lstStyle/>
          <a:p>
            <a:pPr fontAlgn="base">
              <a:lnSpc>
                <a:spcPct val="150000"/>
              </a:lnSpc>
            </a:pPr>
            <a:r>
              <a:rPr sz="1600" dirty="0">
                <a:solidFill>
                  <a:schemeClr val="bg1"/>
                </a:solidFill>
                <a:latin typeface="微软雅黑" panose="020B0503020204020204" pitchFamily="34" charset="-122"/>
                <a:ea typeface="微软雅黑" panose="020B0503020204020204" pitchFamily="34" charset="-122"/>
              </a:rPr>
              <a:t>（1）视觉传感器</a:t>
            </a:r>
          </a:p>
          <a:p>
            <a:pPr fontAlgn="base">
              <a:lnSpc>
                <a:spcPct val="150000"/>
              </a:lnSpc>
            </a:pPr>
            <a:r>
              <a:rPr sz="1600" dirty="0">
                <a:solidFill>
                  <a:schemeClr val="bg1"/>
                </a:solidFill>
                <a:latin typeface="微软雅黑" panose="020B0503020204020204" pitchFamily="34" charset="-122"/>
                <a:ea typeface="微软雅黑" panose="020B0503020204020204" pitchFamily="34" charset="-122"/>
              </a:rPr>
              <a:t>（2）超声波传感器</a:t>
            </a:r>
          </a:p>
          <a:p>
            <a:pPr fontAlgn="base">
              <a:lnSpc>
                <a:spcPct val="150000"/>
              </a:lnSpc>
            </a:pPr>
            <a:r>
              <a:rPr sz="1600" dirty="0">
                <a:solidFill>
                  <a:schemeClr val="bg1"/>
                </a:solidFill>
                <a:latin typeface="微软雅黑" panose="020B0503020204020204" pitchFamily="34" charset="-122"/>
                <a:ea typeface="微软雅黑" panose="020B0503020204020204" pitchFamily="34" charset="-122"/>
              </a:rPr>
              <a:t>（3）毫米波雷达</a:t>
            </a:r>
          </a:p>
          <a:p>
            <a:pPr fontAlgn="base">
              <a:lnSpc>
                <a:spcPct val="150000"/>
              </a:lnSpc>
            </a:pPr>
            <a:r>
              <a:rPr sz="1600" dirty="0">
                <a:solidFill>
                  <a:schemeClr val="bg1"/>
                </a:solidFill>
                <a:latin typeface="微软雅黑" panose="020B0503020204020204" pitchFamily="34" charset="-122"/>
                <a:ea typeface="微软雅黑" panose="020B0503020204020204" pitchFamily="34" charset="-122"/>
              </a:rPr>
              <a:t>（4）激光雷达</a:t>
            </a:r>
          </a:p>
        </p:txBody>
      </p:sp>
      <p:pic>
        <p:nvPicPr>
          <p:cNvPr id="10" name="图片 54" descr="图2-1-4psd"/>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a:xfrm>
            <a:off x="3059832" y="1656349"/>
            <a:ext cx="5112568" cy="3075641"/>
          </a:xfrm>
          <a:prstGeom prst="rect">
            <a:avLst/>
          </a:prstGeom>
          <a:noFill/>
          <a:ln w="12700" cmpd="sng">
            <a:solidFill>
              <a:schemeClr val="accent1">
                <a:shade val="50000"/>
              </a:schemeClr>
            </a:solidFill>
            <a:prstDash val="solid"/>
          </a:ln>
        </p:spPr>
      </p:pic>
    </p:spTree>
    <p:extLst>
      <p:ext uri="{BB962C8B-B14F-4D97-AF65-F5344CB8AC3E}">
        <p14:creationId xmlns:p14="http://schemas.microsoft.com/office/powerpoint/2010/main" val="188716420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a:xfrm>
            <a:off x="107504" y="4840397"/>
            <a:ext cx="2133600" cy="273844"/>
          </a:xfrm>
        </p:spPr>
        <p:txBody>
          <a:bodyPr/>
          <a:lstStyle/>
          <a:p>
            <a:pPr algn="l"/>
            <a:fld id="{0C913308-F349-4B6D-A68A-DD1791B4A57B}" type="slidenum">
              <a:rPr lang="zh-CN" altLang="en-US" smtClean="0"/>
              <a:t>10</a:t>
            </a:fld>
            <a:endParaRPr lang="zh-CN" altLang="en-US" dirty="0"/>
          </a:p>
        </p:txBody>
      </p:sp>
      <p:sp>
        <p:nvSpPr>
          <p:cNvPr id="7" name="Text Box 8"/>
          <p:cNvSpPr>
            <a:spLocks noChangeArrowheads="1"/>
          </p:cNvSpPr>
          <p:nvPr/>
        </p:nvSpPr>
        <p:spPr bwMode="auto">
          <a:xfrm>
            <a:off x="971600" y="411510"/>
            <a:ext cx="7573236" cy="583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9pPr>
          </a:lstStyle>
          <a:p>
            <a:pPr algn="ctr" eaLnBrk="1" hangingPunct="1">
              <a:spcBef>
                <a:spcPct val="0"/>
              </a:spcBef>
              <a:buFont typeface="Arial" panose="020B0604020202020204" pitchFamily="34" charset="0"/>
              <a:buNone/>
            </a:pPr>
            <a:r>
              <a:rPr lang="zh-CN" altLang="en-US" sz="3200" b="1" dirty="0" smtClean="0">
                <a:solidFill>
                  <a:schemeClr val="accent1"/>
                </a:solidFill>
                <a:latin typeface="微软雅黑" panose="020B0503020204020204" pitchFamily="34" charset="-122"/>
              </a:rPr>
              <a:t>什么是智能网联汽车的环境感知技术？</a:t>
            </a:r>
          </a:p>
        </p:txBody>
      </p:sp>
      <p:sp>
        <p:nvSpPr>
          <p:cNvPr id="9" name="矩形 8"/>
          <p:cNvSpPr/>
          <p:nvPr/>
        </p:nvSpPr>
        <p:spPr>
          <a:xfrm>
            <a:off x="971600" y="1092466"/>
            <a:ext cx="2468946" cy="400110"/>
          </a:xfrm>
          <a:prstGeom prst="rect">
            <a:avLst/>
          </a:prstGeom>
          <a:solidFill>
            <a:srgbClr val="0070C0"/>
          </a:solidFill>
        </p:spPr>
        <p:txBody>
          <a:bodyPr wrap="none">
            <a:spAutoFit/>
          </a:bodyPr>
          <a:lstStyle/>
          <a:p>
            <a:pPr algn="l" fontAlgn="ctr"/>
            <a:r>
              <a:rPr lang="en-US" sz="2000" b="1" dirty="0" smtClean="0">
                <a:solidFill>
                  <a:schemeClr val="bg1"/>
                </a:solidFill>
                <a:latin typeface="微软雅黑" panose="020B0503020204020204" pitchFamily="34" charset="-122"/>
                <a:ea typeface="微软雅黑" panose="020B0503020204020204" pitchFamily="34" charset="-122"/>
              </a:rPr>
              <a:t>4</a:t>
            </a:r>
            <a:r>
              <a:rPr sz="2000" b="1" dirty="0" smtClean="0">
                <a:solidFill>
                  <a:schemeClr val="bg1"/>
                </a:solidFill>
                <a:latin typeface="微软雅黑" panose="020B0503020204020204" pitchFamily="34" charset="-122"/>
                <a:ea typeface="微软雅黑" panose="020B0503020204020204" pitchFamily="34" charset="-122"/>
              </a:rPr>
              <a:t>.环境感知</a:t>
            </a:r>
            <a:r>
              <a:rPr lang="zh-CN" altLang="en-US" sz="2000" b="1" dirty="0" smtClean="0">
                <a:solidFill>
                  <a:schemeClr val="bg1"/>
                </a:solidFill>
                <a:latin typeface="微软雅黑" panose="020B0503020204020204" pitchFamily="34" charset="-122"/>
                <a:ea typeface="微软雅黑" panose="020B0503020204020204" pitchFamily="34" charset="-122"/>
              </a:rPr>
              <a:t>器的</a:t>
            </a:r>
            <a:r>
              <a:rPr lang="zh-CN" altLang="en-US" sz="2000" b="1" dirty="0">
                <a:solidFill>
                  <a:schemeClr val="bg1"/>
                </a:solidFill>
                <a:latin typeface="微软雅黑" panose="020B0503020204020204" pitchFamily="34" charset="-122"/>
                <a:ea typeface="微软雅黑" panose="020B0503020204020204" pitchFamily="34" charset="-122"/>
              </a:rPr>
              <a:t>配置</a:t>
            </a:r>
            <a:endParaRPr sz="2000" b="1" dirty="0" smtClean="0">
              <a:solidFill>
                <a:schemeClr val="bg1"/>
              </a:solidFill>
              <a:latin typeface="微软雅黑" panose="020B0503020204020204" pitchFamily="34" charset="-122"/>
              <a:ea typeface="微软雅黑" panose="020B0503020204020204" pitchFamily="34" charset="-122"/>
            </a:endParaRPr>
          </a:p>
        </p:txBody>
      </p:sp>
      <p:sp>
        <p:nvSpPr>
          <p:cNvPr id="4" name="矩形 3"/>
          <p:cNvSpPr/>
          <p:nvPr/>
        </p:nvSpPr>
        <p:spPr>
          <a:xfrm>
            <a:off x="971600" y="1648420"/>
            <a:ext cx="1656184" cy="3046988"/>
          </a:xfrm>
          <a:prstGeom prst="rect">
            <a:avLst/>
          </a:prstGeom>
          <a:solidFill>
            <a:srgbClr val="0070C0"/>
          </a:solidFill>
        </p:spPr>
        <p:txBody>
          <a:bodyPr wrap="square">
            <a:spAutoFit/>
          </a:bodyPr>
          <a:lstStyle/>
          <a:p>
            <a:pPr>
              <a:lnSpc>
                <a:spcPct val="150000"/>
              </a:lnSpc>
            </a:pPr>
            <a:r>
              <a:rPr lang="zh-CN" altLang="en-US" sz="1600" dirty="0">
                <a:solidFill>
                  <a:schemeClr val="bg1"/>
                </a:solidFill>
                <a:latin typeface="微软雅黑" pitchFamily="34" charset="-122"/>
                <a:ea typeface="微软雅黑" pitchFamily="34" charset="-122"/>
              </a:rPr>
              <a:t>环境感知传感器在智能网联汽车上的配置类型和数量与自动驾驶级别有关，自动</a:t>
            </a:r>
            <a:r>
              <a:rPr lang="zh-CN" altLang="en-US" sz="1600" dirty="0" smtClean="0">
                <a:solidFill>
                  <a:schemeClr val="bg1"/>
                </a:solidFill>
                <a:latin typeface="微软雅黑" pitchFamily="34" charset="-122"/>
                <a:ea typeface="微软雅黑" pitchFamily="34" charset="-122"/>
              </a:rPr>
              <a:t>驾驶级别</a:t>
            </a:r>
            <a:r>
              <a:rPr lang="zh-CN" altLang="en-US" sz="1600" dirty="0">
                <a:solidFill>
                  <a:schemeClr val="bg1"/>
                </a:solidFill>
                <a:latin typeface="微软雅黑" pitchFamily="34" charset="-122"/>
                <a:ea typeface="微软雅黑" pitchFamily="34" charset="-122"/>
              </a:rPr>
              <a:t>越高，配置的传感器越多。</a:t>
            </a:r>
          </a:p>
        </p:txBody>
      </p:sp>
      <p:pic>
        <p:nvPicPr>
          <p:cNvPr id="512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41694" y="1659168"/>
            <a:ext cx="5530706" cy="2568765"/>
          </a:xfrm>
          <a:prstGeom prst="rect">
            <a:avLst/>
          </a:prstGeom>
          <a:noFill/>
          <a:ln w="9525">
            <a:solidFill>
              <a:schemeClr val="accent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a:xfrm>
            <a:off x="107504" y="4840397"/>
            <a:ext cx="2133600" cy="273844"/>
          </a:xfrm>
        </p:spPr>
        <p:txBody>
          <a:bodyPr/>
          <a:lstStyle/>
          <a:p>
            <a:pPr algn="l"/>
            <a:fld id="{0C913308-F349-4B6D-A68A-DD1791B4A57B}" type="slidenum">
              <a:rPr lang="zh-CN" altLang="en-US" smtClean="0"/>
              <a:t>11</a:t>
            </a:fld>
            <a:endParaRPr lang="zh-CN" altLang="en-US" dirty="0"/>
          </a:p>
        </p:txBody>
      </p:sp>
      <p:sp>
        <p:nvSpPr>
          <p:cNvPr id="7" name="Text Box 8"/>
          <p:cNvSpPr>
            <a:spLocks noChangeArrowheads="1"/>
          </p:cNvSpPr>
          <p:nvPr/>
        </p:nvSpPr>
        <p:spPr bwMode="auto">
          <a:xfrm>
            <a:off x="971600" y="411510"/>
            <a:ext cx="7573236" cy="583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9pPr>
          </a:lstStyle>
          <a:p>
            <a:pPr algn="ctr" eaLnBrk="1" hangingPunct="1">
              <a:spcBef>
                <a:spcPct val="0"/>
              </a:spcBef>
              <a:buFont typeface="Arial" panose="020B0604020202020204" pitchFamily="34" charset="0"/>
              <a:buNone/>
            </a:pPr>
            <a:r>
              <a:rPr lang="zh-CN" altLang="en-US" sz="3200" b="1" dirty="0" smtClean="0">
                <a:solidFill>
                  <a:schemeClr val="accent1"/>
                </a:solidFill>
                <a:latin typeface="微软雅黑" panose="020B0503020204020204" pitchFamily="34" charset="-122"/>
              </a:rPr>
              <a:t>什么是智能网联汽车的环境感知技术？</a:t>
            </a:r>
          </a:p>
        </p:txBody>
      </p:sp>
      <p:sp>
        <p:nvSpPr>
          <p:cNvPr id="9" name="矩形 8"/>
          <p:cNvSpPr/>
          <p:nvPr/>
        </p:nvSpPr>
        <p:spPr>
          <a:xfrm>
            <a:off x="971600" y="1092466"/>
            <a:ext cx="2468946" cy="400110"/>
          </a:xfrm>
          <a:prstGeom prst="rect">
            <a:avLst/>
          </a:prstGeom>
          <a:solidFill>
            <a:srgbClr val="0070C0"/>
          </a:solidFill>
        </p:spPr>
        <p:txBody>
          <a:bodyPr wrap="none">
            <a:spAutoFit/>
          </a:bodyPr>
          <a:lstStyle/>
          <a:p>
            <a:pPr algn="l" fontAlgn="ctr"/>
            <a:r>
              <a:rPr lang="en-US" sz="2000" b="1" dirty="0" smtClean="0">
                <a:solidFill>
                  <a:schemeClr val="bg1"/>
                </a:solidFill>
                <a:latin typeface="微软雅黑" panose="020B0503020204020204" pitchFamily="34" charset="-122"/>
                <a:ea typeface="微软雅黑" panose="020B0503020204020204" pitchFamily="34" charset="-122"/>
              </a:rPr>
              <a:t>4</a:t>
            </a:r>
            <a:r>
              <a:rPr sz="2000" b="1" dirty="0" smtClean="0">
                <a:solidFill>
                  <a:schemeClr val="bg1"/>
                </a:solidFill>
                <a:latin typeface="微软雅黑" panose="020B0503020204020204" pitchFamily="34" charset="-122"/>
                <a:ea typeface="微软雅黑" panose="020B0503020204020204" pitchFamily="34" charset="-122"/>
              </a:rPr>
              <a:t>.环境感知</a:t>
            </a:r>
            <a:r>
              <a:rPr lang="zh-CN" altLang="en-US" sz="2000" b="1" dirty="0" smtClean="0">
                <a:solidFill>
                  <a:schemeClr val="bg1"/>
                </a:solidFill>
                <a:latin typeface="微软雅黑" panose="020B0503020204020204" pitchFamily="34" charset="-122"/>
                <a:ea typeface="微软雅黑" panose="020B0503020204020204" pitchFamily="34" charset="-122"/>
              </a:rPr>
              <a:t>器的</a:t>
            </a:r>
            <a:r>
              <a:rPr lang="zh-CN" altLang="en-US" sz="2000" b="1" dirty="0">
                <a:solidFill>
                  <a:schemeClr val="bg1"/>
                </a:solidFill>
                <a:latin typeface="微软雅黑" panose="020B0503020204020204" pitchFamily="34" charset="-122"/>
                <a:ea typeface="微软雅黑" panose="020B0503020204020204" pitchFamily="34" charset="-122"/>
              </a:rPr>
              <a:t>配置</a:t>
            </a:r>
            <a:endParaRPr sz="2000" b="1" dirty="0" smtClean="0">
              <a:solidFill>
                <a:schemeClr val="bg1"/>
              </a:solidFill>
              <a:latin typeface="微软雅黑" panose="020B0503020204020204" pitchFamily="34" charset="-122"/>
              <a:ea typeface="微软雅黑" panose="020B0503020204020204" pitchFamily="34" charset="-122"/>
            </a:endParaRPr>
          </a:p>
        </p:txBody>
      </p:sp>
      <p:pic>
        <p:nvPicPr>
          <p:cNvPr id="614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91880" y="1092466"/>
            <a:ext cx="4824536" cy="3762334"/>
          </a:xfrm>
          <a:prstGeom prst="rect">
            <a:avLst/>
          </a:prstGeom>
          <a:noFill/>
          <a:ln w="9525">
            <a:solidFill>
              <a:schemeClr val="accent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 name="矩形 10"/>
          <p:cNvSpPr/>
          <p:nvPr/>
        </p:nvSpPr>
        <p:spPr>
          <a:xfrm>
            <a:off x="971599" y="1707654"/>
            <a:ext cx="2376265" cy="2677656"/>
          </a:xfrm>
          <a:prstGeom prst="rect">
            <a:avLst/>
          </a:prstGeom>
          <a:solidFill>
            <a:srgbClr val="0070C0"/>
          </a:solidFill>
        </p:spPr>
        <p:txBody>
          <a:bodyPr wrap="square">
            <a:spAutoFit/>
          </a:bodyPr>
          <a:lstStyle/>
          <a:p>
            <a:pPr fontAlgn="base">
              <a:lnSpc>
                <a:spcPct val="150000"/>
              </a:lnSpc>
            </a:pPr>
            <a:r>
              <a:rPr lang="zh-CN" altLang="en-US" sz="1600" dirty="0">
                <a:solidFill>
                  <a:schemeClr val="bg1"/>
                </a:solidFill>
                <a:latin typeface="微软雅黑" panose="020B0503020204020204" pitchFamily="34" charset="-122"/>
                <a:ea typeface="微软雅黑" panose="020B0503020204020204" pitchFamily="34" charset="-122"/>
              </a:rPr>
              <a:t>在</a:t>
            </a:r>
            <a:r>
              <a:rPr sz="1600" dirty="0" smtClean="0">
                <a:solidFill>
                  <a:schemeClr val="bg1"/>
                </a:solidFill>
                <a:latin typeface="微软雅黑" panose="020B0503020204020204" pitchFamily="34" charset="-122"/>
                <a:ea typeface="微软雅黑" panose="020B0503020204020204" pitchFamily="34" charset="-122"/>
              </a:rPr>
              <a:t>选择环境感知传感器时</a:t>
            </a:r>
            <a:r>
              <a:rPr sz="1600" dirty="0">
                <a:solidFill>
                  <a:schemeClr val="bg1"/>
                </a:solidFill>
                <a:latin typeface="微软雅黑" panose="020B0503020204020204" pitchFamily="34" charset="-122"/>
                <a:ea typeface="微软雅黑" panose="020B0503020204020204" pitchFamily="34" charset="-122"/>
              </a:rPr>
              <a:t>，一般需要综合考虑多个方面的属性，结合这些属性参数和不同等级的自动驾驶功能实现需求，从多种传感器中综合考虑加以选取。</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a:xfrm>
            <a:off x="107504" y="4840397"/>
            <a:ext cx="2133600" cy="273844"/>
          </a:xfrm>
        </p:spPr>
        <p:txBody>
          <a:bodyPr/>
          <a:lstStyle/>
          <a:p>
            <a:pPr algn="l"/>
            <a:fld id="{0C913308-F349-4B6D-A68A-DD1791B4A57B}" type="slidenum">
              <a:rPr lang="zh-CN" altLang="en-US" smtClean="0"/>
              <a:t>12</a:t>
            </a:fld>
            <a:endParaRPr lang="zh-CN" altLang="en-US" dirty="0"/>
          </a:p>
        </p:txBody>
      </p:sp>
      <p:sp>
        <p:nvSpPr>
          <p:cNvPr id="8" name="Text Box 8"/>
          <p:cNvSpPr>
            <a:spLocks noChangeArrowheads="1"/>
          </p:cNvSpPr>
          <p:nvPr/>
        </p:nvSpPr>
        <p:spPr bwMode="auto">
          <a:xfrm>
            <a:off x="975110" y="411510"/>
            <a:ext cx="7573236" cy="953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9pPr>
          </a:lstStyle>
          <a:p>
            <a:pPr algn="ctr" eaLnBrk="1" hangingPunct="1">
              <a:spcBef>
                <a:spcPct val="0"/>
              </a:spcBef>
              <a:buFont typeface="Arial" panose="020B0604020202020204" pitchFamily="34" charset="0"/>
              <a:buNone/>
            </a:pPr>
            <a:r>
              <a:rPr lang="zh-CN" altLang="en-US" sz="2800" b="1" dirty="0" smtClean="0">
                <a:solidFill>
                  <a:schemeClr val="accent1"/>
                </a:solidFill>
                <a:latin typeface="微软雅黑" panose="020B0503020204020204" pitchFamily="34" charset="-122"/>
              </a:rPr>
              <a:t>什么是视觉传感器？视觉传感器在智能网联汽车上有哪些实际应用？</a:t>
            </a:r>
          </a:p>
        </p:txBody>
      </p:sp>
      <p:sp>
        <p:nvSpPr>
          <p:cNvPr id="3" name="矩形 2"/>
          <p:cNvSpPr/>
          <p:nvPr/>
        </p:nvSpPr>
        <p:spPr>
          <a:xfrm>
            <a:off x="975110" y="1903311"/>
            <a:ext cx="2212465" cy="400110"/>
          </a:xfrm>
          <a:prstGeom prst="rect">
            <a:avLst/>
          </a:prstGeom>
          <a:solidFill>
            <a:srgbClr val="0070C0"/>
          </a:solidFill>
        </p:spPr>
        <p:txBody>
          <a:bodyPr wrap="none">
            <a:spAutoFit/>
          </a:bodyPr>
          <a:lstStyle/>
          <a:p>
            <a:pPr algn="l" fontAlgn="ctr"/>
            <a:r>
              <a:rPr sz="2000" b="1" dirty="0" smtClean="0">
                <a:solidFill>
                  <a:schemeClr val="bg1"/>
                </a:solidFill>
                <a:latin typeface="微软雅黑" panose="020B0503020204020204" pitchFamily="34" charset="-122"/>
                <a:ea typeface="微软雅黑" panose="020B0503020204020204" pitchFamily="34" charset="-122"/>
              </a:rPr>
              <a:t>1.单目视觉传感器</a:t>
            </a:r>
          </a:p>
        </p:txBody>
      </p:sp>
      <p:sp>
        <p:nvSpPr>
          <p:cNvPr id="2" name="矩形 1"/>
          <p:cNvSpPr/>
          <p:nvPr/>
        </p:nvSpPr>
        <p:spPr>
          <a:xfrm>
            <a:off x="975110" y="2401917"/>
            <a:ext cx="2732794" cy="2308324"/>
          </a:xfrm>
          <a:prstGeom prst="rect">
            <a:avLst/>
          </a:prstGeom>
          <a:solidFill>
            <a:srgbClr val="0070C0"/>
          </a:solidFill>
        </p:spPr>
        <p:txBody>
          <a:bodyPr wrap="square">
            <a:spAutoFit/>
          </a:bodyPr>
          <a:lstStyle/>
          <a:p>
            <a:pPr fontAlgn="base">
              <a:lnSpc>
                <a:spcPct val="150000"/>
              </a:lnSpc>
            </a:pPr>
            <a:r>
              <a:rPr sz="1600" dirty="0">
                <a:solidFill>
                  <a:schemeClr val="bg1"/>
                </a:solidFill>
                <a:latin typeface="微软雅黑" panose="020B0503020204020204" pitchFamily="34" charset="-122"/>
                <a:ea typeface="微软雅黑" panose="020B0503020204020204" pitchFamily="34" charset="-122"/>
              </a:rPr>
              <a:t>单目视觉传感器，即单目摄像头，是自动驾驶车辆系统中最重要的传感器之一，通过对车道线检测和其他车辆检测，</a:t>
            </a:r>
            <a:r>
              <a:rPr sz="1600" dirty="0" smtClean="0">
                <a:solidFill>
                  <a:schemeClr val="bg1"/>
                </a:solidFill>
                <a:latin typeface="微软雅黑" panose="020B0503020204020204" pitchFamily="34" charset="-122"/>
                <a:ea typeface="微软雅黑" panose="020B0503020204020204" pitchFamily="34" charset="-122"/>
              </a:rPr>
              <a:t>可以实现车道保持和自适应巡航等功能</a:t>
            </a:r>
            <a:r>
              <a:rPr lang="zh-CN" altLang="en-US" sz="1600" dirty="0" smtClean="0">
                <a:solidFill>
                  <a:schemeClr val="bg1"/>
                </a:solidFill>
                <a:latin typeface="微软雅黑" panose="020B0503020204020204" pitchFamily="34" charset="-122"/>
                <a:ea typeface="微软雅黑" panose="020B0503020204020204" pitchFamily="34" charset="-122"/>
              </a:rPr>
              <a:t>。</a:t>
            </a:r>
            <a:endParaRPr sz="1600" dirty="0">
              <a:solidFill>
                <a:schemeClr val="bg1"/>
              </a:solidFill>
              <a:latin typeface="微软雅黑" panose="020B0503020204020204" pitchFamily="34" charset="-122"/>
              <a:ea typeface="微软雅黑" panose="020B0503020204020204" pitchFamily="34" charset="-122"/>
            </a:endParaRPr>
          </a:p>
        </p:txBody>
      </p:sp>
      <p:pic>
        <p:nvPicPr>
          <p:cNvPr id="51" name="图片 5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a:xfrm>
            <a:off x="5966716" y="2312426"/>
            <a:ext cx="2160462" cy="1717573"/>
          </a:xfrm>
          <a:prstGeom prst="rect">
            <a:avLst/>
          </a:prstGeom>
          <a:noFill/>
          <a:ln w="12700" cmpd="sng">
            <a:solidFill>
              <a:schemeClr val="accent1">
                <a:shade val="50000"/>
              </a:schemeClr>
            </a:solidFill>
            <a:prstDash val="solid"/>
          </a:ln>
        </p:spPr>
      </p:pic>
      <p:pic>
        <p:nvPicPr>
          <p:cNvPr id="5" name="图片 2"/>
          <p:cNvPicPr>
            <a:picLocks noChangeAspect="1"/>
          </p:cNvPicPr>
          <p:nvPr/>
        </p:nvPicPr>
        <p:blipFill>
          <a:blip r:embed="rId4"/>
          <a:stretch>
            <a:fillRect/>
          </a:stretch>
        </p:blipFill>
        <p:spPr>
          <a:xfrm>
            <a:off x="3860823" y="2379759"/>
            <a:ext cx="1907968" cy="1650241"/>
          </a:xfrm>
          <a:prstGeom prst="rect">
            <a:avLst/>
          </a:prstGeom>
          <a:ln w="12700" cmpd="sng">
            <a:solidFill>
              <a:schemeClr val="accent1">
                <a:shade val="50000"/>
              </a:schemeClr>
            </a:solidFill>
            <a:prstDash val="solid"/>
          </a:ln>
        </p:spPr>
      </p:pic>
      <p:sp>
        <p:nvSpPr>
          <p:cNvPr id="4" name="矩形 3"/>
          <p:cNvSpPr/>
          <p:nvPr/>
        </p:nvSpPr>
        <p:spPr>
          <a:xfrm>
            <a:off x="967477" y="1410443"/>
            <a:ext cx="4801314" cy="369332"/>
          </a:xfrm>
          <a:prstGeom prst="rect">
            <a:avLst/>
          </a:prstGeom>
        </p:spPr>
        <p:txBody>
          <a:bodyPr wrap="none">
            <a:spAutoFit/>
          </a:bodyPr>
          <a:lstStyle/>
          <a:p>
            <a:r>
              <a:rPr lang="zh-CN" altLang="en-US" dirty="0">
                <a:latin typeface="微软雅黑" pitchFamily="34" charset="-122"/>
                <a:ea typeface="微软雅黑" pitchFamily="34" charset="-122"/>
              </a:rPr>
              <a:t>视觉传感器属于“被动型”环境感知</a:t>
            </a:r>
            <a:r>
              <a:rPr lang="zh-CN" altLang="en-US" dirty="0" smtClean="0">
                <a:latin typeface="微软雅黑" pitchFamily="34" charset="-122"/>
                <a:ea typeface="微软雅黑" pitchFamily="34" charset="-122"/>
              </a:rPr>
              <a:t>传感器。</a:t>
            </a:r>
            <a:endParaRPr lang="zh-CN" altLang="en-US" dirty="0">
              <a:latin typeface="微软雅黑" pitchFamily="34" charset="-122"/>
              <a:ea typeface="微软雅黑" pitchFamily="34" charset="-122"/>
            </a:endParaRPr>
          </a:p>
        </p:txBody>
      </p:sp>
      <p:sp>
        <p:nvSpPr>
          <p:cNvPr id="7" name="矩形 6"/>
          <p:cNvSpPr/>
          <p:nvPr/>
        </p:nvSpPr>
        <p:spPr>
          <a:xfrm>
            <a:off x="3838825" y="4155926"/>
            <a:ext cx="4288353" cy="338554"/>
          </a:xfrm>
          <a:prstGeom prst="rect">
            <a:avLst/>
          </a:prstGeom>
          <a:solidFill>
            <a:srgbClr val="0070C0"/>
          </a:solidFill>
        </p:spPr>
        <p:txBody>
          <a:bodyPr wrap="none">
            <a:spAutoFit/>
          </a:bodyPr>
          <a:lstStyle/>
          <a:p>
            <a:r>
              <a:rPr lang="zh-CN" altLang="en-US" sz="1600" dirty="0">
                <a:solidFill>
                  <a:schemeClr val="bg1"/>
                </a:solidFill>
                <a:latin typeface="微软雅黑" pitchFamily="34" charset="-122"/>
                <a:ea typeface="微软雅黑" pitchFamily="34" charset="-122"/>
              </a:rPr>
              <a:t>单目视觉传感器的工作原理是先识别后测距。</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a:xfrm>
            <a:off x="107504" y="4840397"/>
            <a:ext cx="2133600" cy="273844"/>
          </a:xfrm>
        </p:spPr>
        <p:txBody>
          <a:bodyPr/>
          <a:lstStyle/>
          <a:p>
            <a:pPr algn="l"/>
            <a:fld id="{0C913308-F349-4B6D-A68A-DD1791B4A57B}" type="slidenum">
              <a:rPr lang="zh-CN" altLang="en-US" smtClean="0"/>
              <a:t>13</a:t>
            </a:fld>
            <a:endParaRPr lang="zh-CN" altLang="en-US" dirty="0"/>
          </a:p>
        </p:txBody>
      </p:sp>
      <p:sp>
        <p:nvSpPr>
          <p:cNvPr id="3" name="矩形 2"/>
          <p:cNvSpPr/>
          <p:nvPr/>
        </p:nvSpPr>
        <p:spPr>
          <a:xfrm>
            <a:off x="971600" y="1499890"/>
            <a:ext cx="2212465" cy="400110"/>
          </a:xfrm>
          <a:prstGeom prst="rect">
            <a:avLst/>
          </a:prstGeom>
          <a:solidFill>
            <a:srgbClr val="0070C0"/>
          </a:solidFill>
        </p:spPr>
        <p:txBody>
          <a:bodyPr wrap="none">
            <a:spAutoFit/>
          </a:bodyPr>
          <a:lstStyle/>
          <a:p>
            <a:pPr algn="l" fontAlgn="ctr"/>
            <a:r>
              <a:rPr sz="2000" b="1" dirty="0" smtClean="0">
                <a:solidFill>
                  <a:schemeClr val="bg1"/>
                </a:solidFill>
                <a:latin typeface="微软雅黑" panose="020B0503020204020204" pitchFamily="34" charset="-122"/>
                <a:ea typeface="微软雅黑" panose="020B0503020204020204" pitchFamily="34" charset="-122"/>
              </a:rPr>
              <a:t>2.双目视觉传感器</a:t>
            </a:r>
          </a:p>
        </p:txBody>
      </p:sp>
      <p:sp>
        <p:nvSpPr>
          <p:cNvPr id="2" name="矩形 1"/>
          <p:cNvSpPr/>
          <p:nvPr/>
        </p:nvSpPr>
        <p:spPr>
          <a:xfrm>
            <a:off x="957364" y="2007404"/>
            <a:ext cx="4478732" cy="1569660"/>
          </a:xfrm>
          <a:prstGeom prst="rect">
            <a:avLst/>
          </a:prstGeom>
          <a:solidFill>
            <a:srgbClr val="0070C0"/>
          </a:solidFill>
        </p:spPr>
        <p:txBody>
          <a:bodyPr wrap="square">
            <a:spAutoFit/>
          </a:bodyPr>
          <a:lstStyle/>
          <a:p>
            <a:pPr fontAlgn="base">
              <a:lnSpc>
                <a:spcPct val="150000"/>
              </a:lnSpc>
            </a:pPr>
            <a:r>
              <a:rPr sz="1600" dirty="0">
                <a:solidFill>
                  <a:schemeClr val="bg1"/>
                </a:solidFill>
                <a:latin typeface="微软雅黑" panose="020B0503020204020204" pitchFamily="34" charset="-122"/>
                <a:ea typeface="微软雅黑" panose="020B0503020204020204" pitchFamily="34" charset="-122"/>
              </a:rPr>
              <a:t>双目视觉传感器，即双目摄像头。车载双目视觉传感器首先对物体（包括道路设施、其他车辆、行人等）与本车距离进行测量，然后再对物体进行识别。</a:t>
            </a:r>
          </a:p>
        </p:txBody>
      </p:sp>
      <p:pic>
        <p:nvPicPr>
          <p:cNvPr id="50" name="图片 50"/>
          <p:cNvPicPr>
            <a:picLocks noChangeAspect="1" noChangeArrowheads="1"/>
          </p:cNvPicPr>
          <p:nvPr/>
        </p:nvPicPr>
        <p:blipFill>
          <a:blip r:embed="rId3">
            <a:extLst>
              <a:ext uri="{28A0092B-C50C-407E-A947-70E740481C1C}">
                <a14:useLocalDpi xmlns:a14="http://schemas.microsoft.com/office/drawing/2010/main" val="0"/>
              </a:ext>
            </a:extLst>
          </a:blip>
          <a:srcRect l="19557" r="13654"/>
          <a:stretch>
            <a:fillRect/>
          </a:stretch>
        </p:blipFill>
        <p:spPr>
          <a:xfrm>
            <a:off x="5513618" y="2007404"/>
            <a:ext cx="2624217" cy="1595182"/>
          </a:xfrm>
          <a:prstGeom prst="rect">
            <a:avLst/>
          </a:prstGeom>
          <a:noFill/>
          <a:ln w="12700" cmpd="sng">
            <a:solidFill>
              <a:schemeClr val="accent1">
                <a:shade val="50000"/>
              </a:schemeClr>
            </a:solidFill>
            <a:prstDash val="solid"/>
          </a:ln>
        </p:spPr>
      </p:pic>
      <p:sp>
        <p:nvSpPr>
          <p:cNvPr id="7" name="Text Box 8"/>
          <p:cNvSpPr>
            <a:spLocks noChangeArrowheads="1"/>
          </p:cNvSpPr>
          <p:nvPr/>
        </p:nvSpPr>
        <p:spPr bwMode="auto">
          <a:xfrm>
            <a:off x="975110" y="411510"/>
            <a:ext cx="7573236" cy="953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9pPr>
          </a:lstStyle>
          <a:p>
            <a:pPr algn="ctr" eaLnBrk="1" hangingPunct="1">
              <a:spcBef>
                <a:spcPct val="0"/>
              </a:spcBef>
              <a:buFont typeface="Arial" panose="020B0604020202020204" pitchFamily="34" charset="0"/>
              <a:buNone/>
            </a:pPr>
            <a:r>
              <a:rPr lang="zh-CN" altLang="en-US" sz="2800" b="1" dirty="0" smtClean="0">
                <a:solidFill>
                  <a:schemeClr val="accent1"/>
                </a:solidFill>
                <a:latin typeface="微软雅黑" panose="020B0503020204020204" pitchFamily="34" charset="-122"/>
              </a:rPr>
              <a:t>什么是视觉传感器？视觉传感器在智能网联汽车上有哪些实际应用？</a:t>
            </a:r>
          </a:p>
        </p:txBody>
      </p:sp>
      <p:sp>
        <p:nvSpPr>
          <p:cNvPr id="4" name="矩形 3"/>
          <p:cNvSpPr/>
          <p:nvPr/>
        </p:nvSpPr>
        <p:spPr>
          <a:xfrm>
            <a:off x="957363" y="3723877"/>
            <a:ext cx="7180472" cy="934487"/>
          </a:xfrm>
          <a:prstGeom prst="rect">
            <a:avLst/>
          </a:prstGeom>
          <a:solidFill>
            <a:srgbClr val="0070C0"/>
          </a:solidFill>
        </p:spPr>
        <p:txBody>
          <a:bodyPr wrap="square">
            <a:spAutoFit/>
          </a:bodyPr>
          <a:lstStyle/>
          <a:p>
            <a:pPr>
              <a:lnSpc>
                <a:spcPct val="114000"/>
              </a:lnSpc>
            </a:pPr>
            <a:r>
              <a:rPr lang="zh-CN" altLang="en-US" sz="1600" dirty="0">
                <a:solidFill>
                  <a:schemeClr val="bg1"/>
                </a:solidFill>
                <a:latin typeface="微软雅黑" pitchFamily="34" charset="-122"/>
                <a:ea typeface="微软雅黑" pitchFamily="34" charset="-122"/>
              </a:rPr>
              <a:t>双目视觉传感器的工作原理与人眼相似。在</a:t>
            </a:r>
            <a:r>
              <a:rPr lang="zh-CN" altLang="en-US" sz="1600" dirty="0" smtClean="0">
                <a:solidFill>
                  <a:schemeClr val="bg1"/>
                </a:solidFill>
                <a:latin typeface="微软雅黑" pitchFamily="34" charset="-122"/>
                <a:ea typeface="微软雅黑" pitchFamily="34" charset="-122"/>
              </a:rPr>
              <a:t>距离测量</a:t>
            </a:r>
            <a:r>
              <a:rPr lang="zh-CN" altLang="en-US" sz="1600" dirty="0">
                <a:solidFill>
                  <a:schemeClr val="bg1"/>
                </a:solidFill>
                <a:latin typeface="微软雅黑" pitchFamily="34" charset="-122"/>
                <a:ea typeface="微软雅黑" pitchFamily="34" charset="-122"/>
              </a:rPr>
              <a:t>阶段，先利用视差直接测量物体与汽车之间的</a:t>
            </a:r>
            <a:r>
              <a:rPr lang="zh-CN" altLang="en-US" sz="1600" dirty="0" smtClean="0">
                <a:solidFill>
                  <a:schemeClr val="bg1"/>
                </a:solidFill>
                <a:latin typeface="微软雅黑" pitchFamily="34" charset="-122"/>
                <a:ea typeface="微软雅黑" pitchFamily="34" charset="-122"/>
              </a:rPr>
              <a:t>距离。在</a:t>
            </a:r>
            <a:r>
              <a:rPr lang="zh-CN" altLang="en-US" sz="1600" dirty="0">
                <a:solidFill>
                  <a:schemeClr val="bg1"/>
                </a:solidFill>
                <a:latin typeface="微软雅黑" pitchFamily="34" charset="-122"/>
                <a:ea typeface="微软雅黑" pitchFamily="34" charset="-122"/>
              </a:rPr>
              <a:t>目标识别阶段，双目摄像头仍然使用与单目摄像头相同的目标特征提取和信息处理 单元的数据分析来进一步识别</a:t>
            </a:r>
            <a:r>
              <a:rPr lang="zh-CN" altLang="en-US" sz="1600" dirty="0" smtClean="0">
                <a:solidFill>
                  <a:schemeClr val="bg1"/>
                </a:solidFill>
                <a:latin typeface="微软雅黑" pitchFamily="34" charset="-122"/>
                <a:ea typeface="微软雅黑" pitchFamily="34" charset="-122"/>
              </a:rPr>
              <a:t>目标。</a:t>
            </a:r>
            <a:endParaRPr lang="zh-CN" altLang="en-US" sz="1600" dirty="0">
              <a:solidFill>
                <a:schemeClr val="bg1"/>
              </a:solidFill>
              <a:latin typeface="微软雅黑" pitchFamily="34" charset="-122"/>
              <a:ea typeface="微软雅黑" pitchFamily="34" charset="-122"/>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a:xfrm>
            <a:off x="107504" y="4840397"/>
            <a:ext cx="2133600" cy="273844"/>
          </a:xfrm>
        </p:spPr>
        <p:txBody>
          <a:bodyPr/>
          <a:lstStyle/>
          <a:p>
            <a:pPr algn="l"/>
            <a:fld id="{0C913308-F349-4B6D-A68A-DD1791B4A57B}" type="slidenum">
              <a:rPr lang="zh-CN" altLang="en-US" smtClean="0"/>
              <a:t>14</a:t>
            </a:fld>
            <a:endParaRPr lang="zh-CN" altLang="en-US" dirty="0"/>
          </a:p>
        </p:txBody>
      </p:sp>
      <p:sp>
        <p:nvSpPr>
          <p:cNvPr id="3" name="矩形 2"/>
          <p:cNvSpPr/>
          <p:nvPr/>
        </p:nvSpPr>
        <p:spPr>
          <a:xfrm>
            <a:off x="971600" y="1491630"/>
            <a:ext cx="2212465" cy="400110"/>
          </a:xfrm>
          <a:prstGeom prst="rect">
            <a:avLst/>
          </a:prstGeom>
          <a:solidFill>
            <a:srgbClr val="0070C0"/>
          </a:solidFill>
        </p:spPr>
        <p:txBody>
          <a:bodyPr wrap="none">
            <a:spAutoFit/>
          </a:bodyPr>
          <a:lstStyle/>
          <a:p>
            <a:pPr algn="l" fontAlgn="ctr"/>
            <a:r>
              <a:rPr sz="2000" b="1" dirty="0" smtClean="0">
                <a:solidFill>
                  <a:schemeClr val="bg1"/>
                </a:solidFill>
                <a:latin typeface="微软雅黑" panose="020B0503020204020204" pitchFamily="34" charset="-122"/>
                <a:ea typeface="微软雅黑" panose="020B0503020204020204" pitchFamily="34" charset="-122"/>
              </a:rPr>
              <a:t>3.多个视觉传感器</a:t>
            </a:r>
          </a:p>
        </p:txBody>
      </p:sp>
      <p:sp>
        <p:nvSpPr>
          <p:cNvPr id="2" name="矩形 1"/>
          <p:cNvSpPr/>
          <p:nvPr/>
        </p:nvSpPr>
        <p:spPr>
          <a:xfrm>
            <a:off x="990726" y="1995686"/>
            <a:ext cx="4445370" cy="1938992"/>
          </a:xfrm>
          <a:prstGeom prst="rect">
            <a:avLst/>
          </a:prstGeom>
          <a:solidFill>
            <a:srgbClr val="0070C0"/>
          </a:solidFill>
        </p:spPr>
        <p:txBody>
          <a:bodyPr wrap="square">
            <a:spAutoFit/>
          </a:bodyPr>
          <a:lstStyle/>
          <a:p>
            <a:pPr fontAlgn="base">
              <a:lnSpc>
                <a:spcPct val="150000"/>
              </a:lnSpc>
            </a:pPr>
            <a:r>
              <a:rPr sz="1600" dirty="0">
                <a:solidFill>
                  <a:schemeClr val="bg1"/>
                </a:solidFill>
                <a:latin typeface="微软雅黑" panose="020B0503020204020204" pitchFamily="34" charset="-122"/>
                <a:ea typeface="微软雅黑" panose="020B0503020204020204" pitchFamily="34" charset="-122"/>
              </a:rPr>
              <a:t>在汽车自动驾驶中，通过不同焦距和不同仰角的多个单目摄像头，可以获得不同位置的交通标志、信号灯和各种道路标志的检测和识别能力。因此多个单目视觉传感器的组合方案在智能网联汽车领域得到了广泛的应用。</a:t>
            </a:r>
          </a:p>
        </p:txBody>
      </p:sp>
      <p:pic>
        <p:nvPicPr>
          <p:cNvPr id="4" name="图片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a:xfrm>
            <a:off x="5508104" y="1995686"/>
            <a:ext cx="2664306" cy="1635465"/>
          </a:xfrm>
          <a:prstGeom prst="rect">
            <a:avLst/>
          </a:prstGeom>
          <a:noFill/>
          <a:ln w="12700" cmpd="sng">
            <a:solidFill>
              <a:schemeClr val="accent1">
                <a:shade val="50000"/>
              </a:schemeClr>
            </a:solidFill>
            <a:prstDash val="solid"/>
          </a:ln>
        </p:spPr>
      </p:pic>
      <p:sp>
        <p:nvSpPr>
          <p:cNvPr id="7" name="Text Box 8"/>
          <p:cNvSpPr>
            <a:spLocks noChangeArrowheads="1"/>
          </p:cNvSpPr>
          <p:nvPr/>
        </p:nvSpPr>
        <p:spPr bwMode="auto">
          <a:xfrm>
            <a:off x="975110" y="411510"/>
            <a:ext cx="7573236" cy="953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9pPr>
          </a:lstStyle>
          <a:p>
            <a:pPr algn="ctr" eaLnBrk="1" hangingPunct="1">
              <a:spcBef>
                <a:spcPct val="0"/>
              </a:spcBef>
              <a:buFont typeface="Arial" panose="020B0604020202020204" pitchFamily="34" charset="0"/>
              <a:buNone/>
            </a:pPr>
            <a:r>
              <a:rPr lang="zh-CN" altLang="en-US" sz="2800" b="1" dirty="0" smtClean="0">
                <a:solidFill>
                  <a:schemeClr val="accent1"/>
                </a:solidFill>
                <a:latin typeface="微软雅黑" panose="020B0503020204020204" pitchFamily="34" charset="-122"/>
              </a:rPr>
              <a:t>什么是视觉传感器？视觉传感器在智能网联汽车上有哪些实际应用？</a:t>
            </a:r>
          </a:p>
        </p:txBody>
      </p:sp>
      <p:sp>
        <p:nvSpPr>
          <p:cNvPr id="5" name="矩形 4"/>
          <p:cNvSpPr/>
          <p:nvPr/>
        </p:nvSpPr>
        <p:spPr>
          <a:xfrm>
            <a:off x="971600" y="4083918"/>
            <a:ext cx="7200810" cy="653769"/>
          </a:xfrm>
          <a:prstGeom prst="rect">
            <a:avLst/>
          </a:prstGeom>
          <a:solidFill>
            <a:srgbClr val="0070C0"/>
          </a:solidFill>
        </p:spPr>
        <p:txBody>
          <a:bodyPr wrap="square">
            <a:spAutoFit/>
          </a:bodyPr>
          <a:lstStyle/>
          <a:p>
            <a:pPr>
              <a:lnSpc>
                <a:spcPct val="114000"/>
              </a:lnSpc>
            </a:pPr>
            <a:r>
              <a:rPr lang="zh-CN" altLang="en-US" sz="1600" dirty="0">
                <a:solidFill>
                  <a:schemeClr val="bg1"/>
                </a:solidFill>
                <a:latin typeface="微软雅黑" pitchFamily="34" charset="-122"/>
                <a:ea typeface="微软雅黑" pitchFamily="34" charset="-122"/>
              </a:rPr>
              <a:t>汽车行驶的动态环境是不断变化的，正确而充分地理解环境是智能网联汽车环境感知 系统面临的重要挑战。</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a:xfrm>
            <a:off x="107504" y="4840397"/>
            <a:ext cx="2133600" cy="273844"/>
          </a:xfrm>
        </p:spPr>
        <p:txBody>
          <a:bodyPr/>
          <a:lstStyle/>
          <a:p>
            <a:pPr algn="l"/>
            <a:fld id="{0C913308-F349-4B6D-A68A-DD1791B4A57B}" type="slidenum">
              <a:rPr lang="zh-CN" altLang="en-US" smtClean="0"/>
              <a:t>15</a:t>
            </a:fld>
            <a:endParaRPr lang="zh-CN" altLang="en-US" dirty="0"/>
          </a:p>
        </p:txBody>
      </p:sp>
      <p:sp>
        <p:nvSpPr>
          <p:cNvPr id="3" name="矩形 2"/>
          <p:cNvSpPr/>
          <p:nvPr/>
        </p:nvSpPr>
        <p:spPr>
          <a:xfrm>
            <a:off x="965665" y="1499890"/>
            <a:ext cx="2725426" cy="400110"/>
          </a:xfrm>
          <a:prstGeom prst="rect">
            <a:avLst/>
          </a:prstGeom>
          <a:solidFill>
            <a:srgbClr val="0070C0"/>
          </a:solidFill>
        </p:spPr>
        <p:txBody>
          <a:bodyPr wrap="none">
            <a:spAutoFit/>
          </a:bodyPr>
          <a:lstStyle/>
          <a:p>
            <a:pPr algn="l" fontAlgn="ctr"/>
            <a:r>
              <a:rPr sz="2000" b="1" dirty="0" smtClean="0">
                <a:solidFill>
                  <a:schemeClr val="bg1"/>
                </a:solidFill>
                <a:latin typeface="微软雅黑" panose="020B0503020204020204" pitchFamily="34" charset="-122"/>
                <a:ea typeface="微软雅黑" panose="020B0503020204020204" pitchFamily="34" charset="-122"/>
              </a:rPr>
              <a:t>4.红外夜视视觉传感器</a:t>
            </a:r>
          </a:p>
        </p:txBody>
      </p:sp>
      <p:sp>
        <p:nvSpPr>
          <p:cNvPr id="2" name="矩形 1"/>
          <p:cNvSpPr/>
          <p:nvPr/>
        </p:nvSpPr>
        <p:spPr>
          <a:xfrm>
            <a:off x="965665" y="1995686"/>
            <a:ext cx="3966375" cy="1215204"/>
          </a:xfrm>
          <a:prstGeom prst="rect">
            <a:avLst/>
          </a:prstGeom>
          <a:solidFill>
            <a:srgbClr val="0070C0"/>
          </a:solidFill>
        </p:spPr>
        <p:txBody>
          <a:bodyPr wrap="square">
            <a:spAutoFit/>
          </a:bodyPr>
          <a:lstStyle/>
          <a:p>
            <a:pPr fontAlgn="base">
              <a:lnSpc>
                <a:spcPct val="114000"/>
              </a:lnSpc>
            </a:pPr>
            <a:r>
              <a:rPr lang="zh-CN" altLang="en-US" sz="1600" dirty="0" smtClean="0">
                <a:solidFill>
                  <a:schemeClr val="bg1"/>
                </a:solidFill>
                <a:latin typeface="微软雅黑" panose="020B0503020204020204" pitchFamily="34" charset="-122"/>
                <a:ea typeface="微软雅黑" panose="020B0503020204020204" pitchFamily="34" charset="-122"/>
              </a:rPr>
              <a:t>自</a:t>
            </a:r>
            <a:r>
              <a:rPr sz="1600" dirty="0" smtClean="0">
                <a:solidFill>
                  <a:schemeClr val="bg1"/>
                </a:solidFill>
                <a:latin typeface="微软雅黑" panose="020B0503020204020204" pitchFamily="34" charset="-122"/>
                <a:ea typeface="微软雅黑" panose="020B0503020204020204" pitchFamily="34" charset="-122"/>
              </a:rPr>
              <a:t>然界中温度高于绝对零度的物体</a:t>
            </a:r>
            <a:r>
              <a:rPr sz="1600" dirty="0">
                <a:solidFill>
                  <a:schemeClr val="bg1"/>
                </a:solidFill>
                <a:latin typeface="微软雅黑" panose="020B0503020204020204" pitchFamily="34" charset="-122"/>
                <a:ea typeface="微软雅黑" panose="020B0503020204020204" pitchFamily="34" charset="-122"/>
              </a:rPr>
              <a:t>，每时每刻都会向外辐射红外线。红外线辐射的物理本质是热辐射，也是一种电磁波，可以被利用来对相关物体的识别</a:t>
            </a:r>
            <a:r>
              <a:rPr sz="1600" dirty="0" smtClean="0">
                <a:solidFill>
                  <a:schemeClr val="bg1"/>
                </a:solidFill>
                <a:latin typeface="微软雅黑" panose="020B0503020204020204" pitchFamily="34" charset="-122"/>
                <a:ea typeface="微软雅黑" panose="020B0503020204020204" pitchFamily="34" charset="-122"/>
              </a:rPr>
              <a:t>。</a:t>
            </a:r>
            <a:endParaRPr sz="1600" dirty="0">
              <a:solidFill>
                <a:schemeClr val="bg1"/>
              </a:solidFill>
              <a:latin typeface="微软雅黑" panose="020B0503020204020204" pitchFamily="34" charset="-122"/>
              <a:ea typeface="微软雅黑" panose="020B0503020204020204" pitchFamily="34" charset="-122"/>
            </a:endParaRPr>
          </a:p>
        </p:txBody>
      </p:sp>
      <p:pic>
        <p:nvPicPr>
          <p:cNvPr id="49" name="图片 49" descr="图2-1-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a:xfrm>
            <a:off x="5071391" y="3003798"/>
            <a:ext cx="3096776" cy="1709907"/>
          </a:xfrm>
          <a:prstGeom prst="rect">
            <a:avLst/>
          </a:prstGeom>
          <a:noFill/>
          <a:ln w="12700" cmpd="sng">
            <a:solidFill>
              <a:schemeClr val="accent1">
                <a:shade val="50000"/>
              </a:schemeClr>
            </a:solidFill>
            <a:prstDash val="solid"/>
          </a:ln>
        </p:spPr>
      </p:pic>
      <p:pic>
        <p:nvPicPr>
          <p:cNvPr id="48" name="图片 4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a:xfrm>
            <a:off x="5071392" y="1423909"/>
            <a:ext cx="3096775" cy="1457531"/>
          </a:xfrm>
          <a:prstGeom prst="rect">
            <a:avLst/>
          </a:prstGeom>
          <a:noFill/>
          <a:ln w="12700" cmpd="sng">
            <a:solidFill>
              <a:schemeClr val="accent1">
                <a:shade val="50000"/>
              </a:schemeClr>
            </a:solidFill>
            <a:prstDash val="solid"/>
          </a:ln>
        </p:spPr>
      </p:pic>
      <p:sp>
        <p:nvSpPr>
          <p:cNvPr id="9" name="Text Box 8"/>
          <p:cNvSpPr>
            <a:spLocks noChangeArrowheads="1"/>
          </p:cNvSpPr>
          <p:nvPr/>
        </p:nvSpPr>
        <p:spPr bwMode="auto">
          <a:xfrm>
            <a:off x="975110" y="411510"/>
            <a:ext cx="7573236" cy="953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9pPr>
          </a:lstStyle>
          <a:p>
            <a:pPr algn="ctr" eaLnBrk="1" hangingPunct="1">
              <a:spcBef>
                <a:spcPct val="0"/>
              </a:spcBef>
              <a:buFont typeface="Arial" panose="020B0604020202020204" pitchFamily="34" charset="0"/>
              <a:buNone/>
            </a:pPr>
            <a:r>
              <a:rPr lang="zh-CN" altLang="en-US" sz="2800" b="1" dirty="0" smtClean="0">
                <a:solidFill>
                  <a:schemeClr val="accent1"/>
                </a:solidFill>
                <a:latin typeface="微软雅黑" panose="020B0503020204020204" pitchFamily="34" charset="-122"/>
              </a:rPr>
              <a:t>什么是视觉传感器？视觉传感器在智能网联汽车上有哪些实际应用？</a:t>
            </a:r>
          </a:p>
        </p:txBody>
      </p:sp>
      <p:sp>
        <p:nvSpPr>
          <p:cNvPr id="4" name="矩形 3"/>
          <p:cNvSpPr/>
          <p:nvPr/>
        </p:nvSpPr>
        <p:spPr>
          <a:xfrm>
            <a:off x="965006" y="3332626"/>
            <a:ext cx="3967034" cy="1495922"/>
          </a:xfrm>
          <a:prstGeom prst="rect">
            <a:avLst/>
          </a:prstGeom>
          <a:solidFill>
            <a:srgbClr val="0070C0"/>
          </a:solidFill>
        </p:spPr>
        <p:txBody>
          <a:bodyPr wrap="square">
            <a:spAutoFit/>
          </a:bodyPr>
          <a:lstStyle/>
          <a:p>
            <a:pPr>
              <a:lnSpc>
                <a:spcPct val="114000"/>
              </a:lnSpc>
            </a:pPr>
            <a:r>
              <a:rPr lang="zh-CN" altLang="en-US" sz="1600" dirty="0">
                <a:solidFill>
                  <a:schemeClr val="bg1"/>
                </a:solidFill>
                <a:latin typeface="微软雅黑" pitchFamily="34" charset="-122"/>
                <a:ea typeface="微软雅黑" pitchFamily="34" charset="-122"/>
              </a:rPr>
              <a:t>红外夜视系统是视觉传感器一个独特的分支，能够像可见光摄像头一样，获取环境 中的目标大小和距离等信息，在光照不足的条件下是对可见光视觉传感器的一种有效</a:t>
            </a:r>
            <a:r>
              <a:rPr lang="zh-CN" altLang="en-US" sz="1600" dirty="0" smtClean="0">
                <a:solidFill>
                  <a:schemeClr val="bg1"/>
                </a:solidFill>
                <a:latin typeface="微软雅黑" pitchFamily="34" charset="-122"/>
                <a:ea typeface="微软雅黑" pitchFamily="34" charset="-122"/>
              </a:rPr>
              <a:t>补充。</a:t>
            </a:r>
            <a:endParaRPr lang="zh-CN" altLang="en-US" sz="1600" dirty="0">
              <a:solidFill>
                <a:schemeClr val="bg1"/>
              </a:solidFill>
              <a:latin typeface="微软雅黑" pitchFamily="34" charset="-122"/>
              <a:ea typeface="微软雅黑" pitchFamily="34" charset="-122"/>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a:xfrm>
            <a:off x="107504" y="4840397"/>
            <a:ext cx="2133600" cy="273844"/>
          </a:xfrm>
        </p:spPr>
        <p:txBody>
          <a:bodyPr/>
          <a:lstStyle/>
          <a:p>
            <a:pPr algn="l"/>
            <a:fld id="{0C913308-F349-4B6D-A68A-DD1791B4A57B}" type="slidenum">
              <a:rPr lang="zh-CN" altLang="en-US" smtClean="0"/>
              <a:t>16</a:t>
            </a:fld>
            <a:endParaRPr lang="zh-CN" altLang="en-US" dirty="0"/>
          </a:p>
        </p:txBody>
      </p:sp>
      <p:sp>
        <p:nvSpPr>
          <p:cNvPr id="8" name="Text Box 8"/>
          <p:cNvSpPr>
            <a:spLocks noChangeArrowheads="1"/>
          </p:cNvSpPr>
          <p:nvPr/>
        </p:nvSpPr>
        <p:spPr bwMode="auto">
          <a:xfrm>
            <a:off x="971600" y="411510"/>
            <a:ext cx="7573236" cy="107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9pPr>
          </a:lstStyle>
          <a:p>
            <a:pPr algn="ctr" eaLnBrk="1" hangingPunct="1">
              <a:spcBef>
                <a:spcPct val="0"/>
              </a:spcBef>
              <a:buFont typeface="Arial" panose="020B0604020202020204" pitchFamily="34" charset="0"/>
              <a:buNone/>
            </a:pPr>
            <a:r>
              <a:rPr lang="zh-CN" altLang="en-US" sz="3200" b="1" dirty="0" smtClean="0">
                <a:solidFill>
                  <a:schemeClr val="accent1"/>
                </a:solidFill>
                <a:latin typeface="微软雅黑" panose="020B0503020204020204" pitchFamily="34" charset="-122"/>
              </a:rPr>
              <a:t>什么是雷达？雷达在智能网联汽车上有哪些实际应用？</a:t>
            </a:r>
          </a:p>
        </p:txBody>
      </p:sp>
      <p:sp>
        <p:nvSpPr>
          <p:cNvPr id="3" name="矩形 2"/>
          <p:cNvSpPr/>
          <p:nvPr/>
        </p:nvSpPr>
        <p:spPr>
          <a:xfrm>
            <a:off x="1043608" y="2174262"/>
            <a:ext cx="1699504" cy="400110"/>
          </a:xfrm>
          <a:prstGeom prst="rect">
            <a:avLst/>
          </a:prstGeom>
          <a:solidFill>
            <a:srgbClr val="0070C0"/>
          </a:solidFill>
        </p:spPr>
        <p:txBody>
          <a:bodyPr wrap="none">
            <a:spAutoFit/>
          </a:bodyPr>
          <a:lstStyle/>
          <a:p>
            <a:pPr algn="l" fontAlgn="ctr"/>
            <a:r>
              <a:rPr sz="2000" b="1" dirty="0" smtClean="0">
                <a:solidFill>
                  <a:schemeClr val="bg1"/>
                </a:solidFill>
                <a:latin typeface="微软雅黑" panose="020B0503020204020204" pitchFamily="34" charset="-122"/>
                <a:ea typeface="微软雅黑" panose="020B0503020204020204" pitchFamily="34" charset="-122"/>
              </a:rPr>
              <a:t>1.超声波雷达</a:t>
            </a:r>
          </a:p>
        </p:txBody>
      </p:sp>
      <p:sp>
        <p:nvSpPr>
          <p:cNvPr id="4" name="矩形 3"/>
          <p:cNvSpPr/>
          <p:nvPr/>
        </p:nvSpPr>
        <p:spPr>
          <a:xfrm>
            <a:off x="957031" y="1626354"/>
            <a:ext cx="4108817" cy="369332"/>
          </a:xfrm>
          <a:prstGeom prst="rect">
            <a:avLst/>
          </a:prstGeom>
        </p:spPr>
        <p:txBody>
          <a:bodyPr wrap="none">
            <a:spAutoFit/>
          </a:bodyPr>
          <a:lstStyle/>
          <a:p>
            <a:r>
              <a:rPr lang="zh-CN" altLang="en-US" dirty="0">
                <a:latin typeface="微软雅黑" pitchFamily="34" charset="-122"/>
                <a:ea typeface="微软雅黑" pitchFamily="34" charset="-122"/>
              </a:rPr>
              <a:t>雷达属于“主动型”环境感知</a:t>
            </a:r>
            <a:r>
              <a:rPr lang="zh-CN" altLang="en-US" dirty="0" smtClean="0">
                <a:latin typeface="微软雅黑" pitchFamily="34" charset="-122"/>
                <a:ea typeface="微软雅黑" pitchFamily="34" charset="-122"/>
              </a:rPr>
              <a:t>传感器。</a:t>
            </a:r>
            <a:endParaRPr lang="zh-CN" altLang="en-US" dirty="0">
              <a:latin typeface="微软雅黑" pitchFamily="34" charset="-122"/>
              <a:ea typeface="微软雅黑" pitchFamily="34" charset="-122"/>
            </a:endParaRPr>
          </a:p>
        </p:txBody>
      </p:sp>
      <p:sp>
        <p:nvSpPr>
          <p:cNvPr id="5" name="矩形 4"/>
          <p:cNvSpPr/>
          <p:nvPr/>
        </p:nvSpPr>
        <p:spPr>
          <a:xfrm>
            <a:off x="971600" y="2715766"/>
            <a:ext cx="7200800" cy="1754326"/>
          </a:xfrm>
          <a:prstGeom prst="rect">
            <a:avLst/>
          </a:prstGeom>
          <a:solidFill>
            <a:srgbClr val="0070C0"/>
          </a:solidFill>
        </p:spPr>
        <p:txBody>
          <a:bodyPr wrap="square">
            <a:spAutoFit/>
          </a:bodyPr>
          <a:lstStyle/>
          <a:p>
            <a:pPr>
              <a:lnSpc>
                <a:spcPct val="150000"/>
              </a:lnSpc>
            </a:pPr>
            <a:r>
              <a:rPr lang="zh-CN" altLang="en-US" dirty="0">
                <a:solidFill>
                  <a:schemeClr val="bg1"/>
                </a:solidFill>
                <a:latin typeface="微软雅黑" pitchFamily="34" charset="-122"/>
                <a:ea typeface="微软雅黑" pitchFamily="34" charset="-122"/>
              </a:rPr>
              <a:t>声音以波的形式传播，称为声波。按频率分类，频率</a:t>
            </a:r>
            <a:r>
              <a:rPr lang="zh-CN" altLang="en-US" dirty="0" smtClean="0">
                <a:solidFill>
                  <a:schemeClr val="bg1"/>
                </a:solidFill>
                <a:latin typeface="微软雅黑" pitchFamily="34" charset="-122"/>
                <a:ea typeface="微软雅黑" pitchFamily="34" charset="-122"/>
              </a:rPr>
              <a:t>低于</a:t>
            </a:r>
            <a:r>
              <a:rPr lang="en-US" altLang="zh-CN" dirty="0" smtClean="0">
                <a:solidFill>
                  <a:schemeClr val="bg1"/>
                </a:solidFill>
                <a:latin typeface="微软雅黑" pitchFamily="34" charset="-122"/>
                <a:ea typeface="微软雅黑" pitchFamily="34" charset="-122"/>
              </a:rPr>
              <a:t>20Hz</a:t>
            </a:r>
            <a:r>
              <a:rPr lang="zh-CN" altLang="en-US" dirty="0" smtClean="0">
                <a:solidFill>
                  <a:schemeClr val="bg1"/>
                </a:solidFill>
                <a:latin typeface="微软雅黑" pitchFamily="34" charset="-122"/>
                <a:ea typeface="微软雅黑" pitchFamily="34" charset="-122"/>
              </a:rPr>
              <a:t>的</a:t>
            </a:r>
            <a:r>
              <a:rPr lang="zh-CN" altLang="en-US" dirty="0">
                <a:solidFill>
                  <a:schemeClr val="bg1"/>
                </a:solidFill>
                <a:latin typeface="微软雅黑" pitchFamily="34" charset="-122"/>
                <a:ea typeface="微软雅黑" pitchFamily="34" charset="-122"/>
              </a:rPr>
              <a:t>声波称为次声波； 频率在 </a:t>
            </a:r>
            <a:r>
              <a:rPr lang="en-US" altLang="zh-CN" dirty="0">
                <a:solidFill>
                  <a:schemeClr val="bg1"/>
                </a:solidFill>
                <a:latin typeface="微软雅黑" pitchFamily="34" charset="-122"/>
                <a:ea typeface="微软雅黑" pitchFamily="34" charset="-122"/>
              </a:rPr>
              <a:t>20Hz~20kHz </a:t>
            </a:r>
            <a:r>
              <a:rPr lang="zh-CN" altLang="en-US" dirty="0">
                <a:solidFill>
                  <a:schemeClr val="bg1"/>
                </a:solidFill>
                <a:latin typeface="微软雅黑" pitchFamily="34" charset="-122"/>
                <a:ea typeface="微软雅黑" pitchFamily="34" charset="-122"/>
              </a:rPr>
              <a:t>的声波称为可听波，即人耳能分辨的声波；频率在 </a:t>
            </a:r>
            <a:r>
              <a:rPr lang="en-US" altLang="zh-CN" dirty="0">
                <a:solidFill>
                  <a:schemeClr val="bg1"/>
                </a:solidFill>
                <a:latin typeface="微软雅黑" pitchFamily="34" charset="-122"/>
                <a:ea typeface="微软雅黑" pitchFamily="34" charset="-122"/>
              </a:rPr>
              <a:t>20kHz~1GHz </a:t>
            </a:r>
            <a:r>
              <a:rPr lang="zh-CN" altLang="en-US" dirty="0">
                <a:solidFill>
                  <a:schemeClr val="bg1"/>
                </a:solidFill>
                <a:latin typeface="微软雅黑" pitchFamily="34" charset="-122"/>
                <a:ea typeface="微软雅黑" pitchFamily="34" charset="-122"/>
              </a:rPr>
              <a:t>的</a:t>
            </a:r>
            <a:r>
              <a:rPr lang="zh-CN" altLang="en-US" dirty="0" smtClean="0">
                <a:solidFill>
                  <a:schemeClr val="bg1"/>
                </a:solidFill>
                <a:latin typeface="微软雅黑" pitchFamily="34" charset="-122"/>
                <a:ea typeface="微软雅黑" pitchFamily="34" charset="-122"/>
              </a:rPr>
              <a:t>声波</a:t>
            </a:r>
            <a:r>
              <a:rPr lang="zh-CN" altLang="en-US" dirty="0">
                <a:solidFill>
                  <a:schemeClr val="bg1"/>
                </a:solidFill>
                <a:latin typeface="微软雅黑" pitchFamily="34" charset="-122"/>
                <a:ea typeface="微软雅黑" pitchFamily="34" charset="-122"/>
              </a:rPr>
              <a:t>称为超声波；频率</a:t>
            </a:r>
            <a:r>
              <a:rPr lang="zh-CN" altLang="en-US" dirty="0" smtClean="0">
                <a:solidFill>
                  <a:schemeClr val="bg1"/>
                </a:solidFill>
                <a:latin typeface="微软雅黑" pitchFamily="34" charset="-122"/>
                <a:ea typeface="微软雅黑" pitchFamily="34" charset="-122"/>
              </a:rPr>
              <a:t>大于</a:t>
            </a:r>
            <a:r>
              <a:rPr lang="en-US" altLang="zh-CN" dirty="0" smtClean="0">
                <a:solidFill>
                  <a:schemeClr val="bg1"/>
                </a:solidFill>
                <a:latin typeface="微软雅黑" pitchFamily="34" charset="-122"/>
                <a:ea typeface="微软雅黑" pitchFamily="34" charset="-122"/>
              </a:rPr>
              <a:t>1GHz </a:t>
            </a:r>
            <a:r>
              <a:rPr lang="zh-CN" altLang="en-US" dirty="0">
                <a:solidFill>
                  <a:schemeClr val="bg1"/>
                </a:solidFill>
                <a:latin typeface="微软雅黑" pitchFamily="34" charset="-122"/>
                <a:ea typeface="微软雅黑" pitchFamily="34" charset="-122"/>
              </a:rPr>
              <a:t>的声波称为特超声或微波超声。</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a:xfrm>
            <a:off x="107504" y="4840397"/>
            <a:ext cx="2133600" cy="273844"/>
          </a:xfrm>
        </p:spPr>
        <p:txBody>
          <a:bodyPr/>
          <a:lstStyle/>
          <a:p>
            <a:pPr algn="l"/>
            <a:fld id="{0C913308-F349-4B6D-A68A-DD1791B4A57B}" type="slidenum">
              <a:rPr lang="zh-CN" altLang="en-US" smtClean="0"/>
              <a:t>17</a:t>
            </a:fld>
            <a:endParaRPr lang="zh-CN" altLang="en-US" dirty="0"/>
          </a:p>
        </p:txBody>
      </p:sp>
      <p:sp>
        <p:nvSpPr>
          <p:cNvPr id="8" name="Text Box 8"/>
          <p:cNvSpPr>
            <a:spLocks noChangeArrowheads="1"/>
          </p:cNvSpPr>
          <p:nvPr/>
        </p:nvSpPr>
        <p:spPr bwMode="auto">
          <a:xfrm>
            <a:off x="971600" y="411510"/>
            <a:ext cx="7573236" cy="107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9pPr>
          </a:lstStyle>
          <a:p>
            <a:pPr algn="ctr" eaLnBrk="1" hangingPunct="1">
              <a:spcBef>
                <a:spcPct val="0"/>
              </a:spcBef>
              <a:buFont typeface="Arial" panose="020B0604020202020204" pitchFamily="34" charset="0"/>
              <a:buNone/>
            </a:pPr>
            <a:r>
              <a:rPr lang="zh-CN" altLang="en-US" sz="3200" b="1" dirty="0" smtClean="0">
                <a:solidFill>
                  <a:schemeClr val="accent1"/>
                </a:solidFill>
                <a:latin typeface="微软雅黑" panose="020B0503020204020204" pitchFamily="34" charset="-122"/>
              </a:rPr>
              <a:t>什么是雷达？雷达在智能网联汽车上有哪些实际应用？</a:t>
            </a:r>
          </a:p>
        </p:txBody>
      </p:sp>
      <p:sp>
        <p:nvSpPr>
          <p:cNvPr id="3" name="矩形 2"/>
          <p:cNvSpPr/>
          <p:nvPr/>
        </p:nvSpPr>
        <p:spPr>
          <a:xfrm>
            <a:off x="971600" y="1487835"/>
            <a:ext cx="1699504" cy="400110"/>
          </a:xfrm>
          <a:prstGeom prst="rect">
            <a:avLst/>
          </a:prstGeom>
          <a:solidFill>
            <a:srgbClr val="0070C0"/>
          </a:solidFill>
        </p:spPr>
        <p:txBody>
          <a:bodyPr wrap="none">
            <a:spAutoFit/>
          </a:bodyPr>
          <a:lstStyle/>
          <a:p>
            <a:pPr algn="l" fontAlgn="ctr"/>
            <a:r>
              <a:rPr sz="2000" b="1" dirty="0" smtClean="0">
                <a:solidFill>
                  <a:schemeClr val="bg1"/>
                </a:solidFill>
                <a:latin typeface="微软雅黑" panose="020B0503020204020204" pitchFamily="34" charset="-122"/>
                <a:ea typeface="微软雅黑" panose="020B0503020204020204" pitchFamily="34" charset="-122"/>
              </a:rPr>
              <a:t>1.超声波雷达</a:t>
            </a:r>
          </a:p>
        </p:txBody>
      </p:sp>
      <p:pic>
        <p:nvPicPr>
          <p:cNvPr id="46" name="图片 46" descr="说明: C:\Users\Lenovo\Desktop\智能网联汽车 人民交通\项目1 智能网联汽车概述\任务1-2  图\w900_h600_cb730421cd3f44f38ab32281dc6c2cfb.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a:xfrm>
            <a:off x="5919946" y="1675743"/>
            <a:ext cx="2232248" cy="1435640"/>
          </a:xfrm>
          <a:prstGeom prst="rect">
            <a:avLst/>
          </a:prstGeom>
          <a:noFill/>
          <a:ln w="12700" cmpd="sng">
            <a:solidFill>
              <a:schemeClr val="accent1">
                <a:shade val="50000"/>
              </a:schemeClr>
            </a:solidFill>
            <a:prstDash val="solid"/>
          </a:ln>
        </p:spPr>
      </p:pic>
      <p:pic>
        <p:nvPicPr>
          <p:cNvPr id="7" name="图片 7"/>
          <p:cNvPicPr>
            <a:picLocks noChangeAspect="1"/>
          </p:cNvPicPr>
          <p:nvPr/>
        </p:nvPicPr>
        <p:blipFill>
          <a:blip r:embed="rId4"/>
          <a:stretch>
            <a:fillRect/>
          </a:stretch>
        </p:blipFill>
        <p:spPr>
          <a:xfrm>
            <a:off x="4860032" y="3219822"/>
            <a:ext cx="3292162" cy="1614043"/>
          </a:xfrm>
          <a:prstGeom prst="rect">
            <a:avLst/>
          </a:prstGeom>
          <a:ln w="12700" cmpd="sng">
            <a:solidFill>
              <a:schemeClr val="accent1">
                <a:shade val="50000"/>
              </a:schemeClr>
            </a:solidFill>
            <a:prstDash val="solid"/>
          </a:ln>
        </p:spPr>
      </p:pic>
      <p:sp>
        <p:nvSpPr>
          <p:cNvPr id="5" name="矩形 4"/>
          <p:cNvSpPr/>
          <p:nvPr/>
        </p:nvSpPr>
        <p:spPr>
          <a:xfrm>
            <a:off x="971600" y="2019493"/>
            <a:ext cx="4752528" cy="1077218"/>
          </a:xfrm>
          <a:prstGeom prst="rect">
            <a:avLst/>
          </a:prstGeom>
          <a:solidFill>
            <a:srgbClr val="0070C0"/>
          </a:solidFill>
        </p:spPr>
        <p:txBody>
          <a:bodyPr wrap="square">
            <a:spAutoFit/>
          </a:bodyPr>
          <a:lstStyle/>
          <a:p>
            <a:r>
              <a:rPr lang="zh-CN" altLang="en-US" sz="1600" dirty="0">
                <a:solidFill>
                  <a:schemeClr val="bg1"/>
                </a:solidFill>
                <a:latin typeface="微软雅黑" pitchFamily="34" charset="-122"/>
                <a:ea typeface="微软雅黑" pitchFamily="34" charset="-122"/>
              </a:rPr>
              <a:t>（</a:t>
            </a:r>
            <a:r>
              <a:rPr lang="en-US" altLang="zh-CN" sz="1600" dirty="0">
                <a:solidFill>
                  <a:schemeClr val="bg1"/>
                </a:solidFill>
                <a:latin typeface="微软雅黑" pitchFamily="34" charset="-122"/>
                <a:ea typeface="微软雅黑" pitchFamily="34" charset="-122"/>
              </a:rPr>
              <a:t>1</a:t>
            </a:r>
            <a:r>
              <a:rPr lang="zh-CN" altLang="en-US" sz="1600" dirty="0">
                <a:solidFill>
                  <a:schemeClr val="bg1"/>
                </a:solidFill>
                <a:latin typeface="微软雅黑" pitchFamily="34" charset="-122"/>
                <a:ea typeface="微软雅黑" pitchFamily="34" charset="-122"/>
              </a:rPr>
              <a:t>）超声波雷达的</a:t>
            </a:r>
            <a:r>
              <a:rPr lang="zh-CN" altLang="en-US" sz="1600" dirty="0" smtClean="0">
                <a:solidFill>
                  <a:schemeClr val="bg1"/>
                </a:solidFill>
                <a:latin typeface="微软雅黑" pitchFamily="34" charset="-122"/>
                <a:ea typeface="微软雅黑" pitchFamily="34" charset="-122"/>
              </a:rPr>
              <a:t>定义</a:t>
            </a:r>
            <a:endParaRPr lang="en-US" altLang="zh-CN" sz="1600" dirty="0" smtClean="0">
              <a:solidFill>
                <a:schemeClr val="bg1"/>
              </a:solidFill>
              <a:latin typeface="微软雅黑" pitchFamily="34" charset="-122"/>
              <a:ea typeface="微软雅黑" pitchFamily="34" charset="-122"/>
            </a:endParaRPr>
          </a:p>
          <a:p>
            <a:r>
              <a:rPr lang="zh-CN" altLang="en-US" sz="1600" dirty="0" smtClean="0">
                <a:solidFill>
                  <a:schemeClr val="bg1"/>
                </a:solidFill>
                <a:latin typeface="微软雅黑" pitchFamily="34" charset="-122"/>
                <a:ea typeface="微软雅黑" pitchFamily="34" charset="-122"/>
              </a:rPr>
              <a:t>超声波</a:t>
            </a:r>
            <a:r>
              <a:rPr lang="zh-CN" altLang="en-US" sz="1600" dirty="0">
                <a:solidFill>
                  <a:schemeClr val="bg1"/>
                </a:solidFill>
                <a:latin typeface="微软雅黑" pitchFamily="34" charset="-122"/>
                <a:ea typeface="微软雅黑" pitchFamily="34" charset="-122"/>
              </a:rPr>
              <a:t>雷达也称超声波传感器，是在超声波</a:t>
            </a:r>
            <a:r>
              <a:rPr lang="zh-CN" altLang="en-US" sz="1600" dirty="0" smtClean="0">
                <a:solidFill>
                  <a:schemeClr val="bg1"/>
                </a:solidFill>
                <a:latin typeface="微软雅黑" pitchFamily="34" charset="-122"/>
                <a:ea typeface="微软雅黑" pitchFamily="34" charset="-122"/>
              </a:rPr>
              <a:t>频率</a:t>
            </a:r>
            <a:r>
              <a:rPr lang="zh-CN" altLang="en-US" sz="1600" dirty="0">
                <a:solidFill>
                  <a:schemeClr val="bg1"/>
                </a:solidFill>
                <a:latin typeface="微软雅黑" pitchFamily="34" charset="-122"/>
                <a:ea typeface="微软雅黑" pitchFamily="34" charset="-122"/>
              </a:rPr>
              <a:t>范围内将交变的电信号转换成声信号或将外界</a:t>
            </a:r>
            <a:r>
              <a:rPr lang="zh-CN" altLang="en-US" sz="1600" dirty="0" smtClean="0">
                <a:solidFill>
                  <a:schemeClr val="bg1"/>
                </a:solidFill>
                <a:latin typeface="微软雅黑" pitchFamily="34" charset="-122"/>
                <a:ea typeface="微软雅黑" pitchFamily="34" charset="-122"/>
              </a:rPr>
              <a:t>声场</a:t>
            </a:r>
            <a:r>
              <a:rPr lang="zh-CN" altLang="en-US" sz="1600" dirty="0">
                <a:solidFill>
                  <a:schemeClr val="bg1"/>
                </a:solidFill>
                <a:latin typeface="微软雅黑" pitchFamily="34" charset="-122"/>
                <a:ea typeface="微软雅黑" pitchFamily="34" charset="-122"/>
              </a:rPr>
              <a:t>中的声音信号转换为电信号的能量转换器件。</a:t>
            </a:r>
          </a:p>
        </p:txBody>
      </p:sp>
      <p:sp>
        <p:nvSpPr>
          <p:cNvPr id="9" name="矩形 8"/>
          <p:cNvSpPr/>
          <p:nvPr/>
        </p:nvSpPr>
        <p:spPr>
          <a:xfrm>
            <a:off x="929212" y="3219822"/>
            <a:ext cx="3829006" cy="1415772"/>
          </a:xfrm>
          <a:prstGeom prst="rect">
            <a:avLst/>
          </a:prstGeom>
          <a:solidFill>
            <a:srgbClr val="0070C0"/>
          </a:solidFill>
        </p:spPr>
        <p:txBody>
          <a:bodyPr wrap="square">
            <a:spAutoFit/>
          </a:bodyPr>
          <a:lstStyle/>
          <a:p>
            <a:r>
              <a:rPr lang="zh-CN" altLang="en-US" sz="1600" dirty="0">
                <a:solidFill>
                  <a:schemeClr val="bg1"/>
                </a:solidFill>
                <a:latin typeface="微软雅黑" pitchFamily="34" charset="-122"/>
                <a:ea typeface="微软雅黑" pitchFamily="34" charset="-122"/>
              </a:rPr>
              <a:t>（</a:t>
            </a:r>
            <a:r>
              <a:rPr lang="en-US" altLang="zh-CN" sz="1600" dirty="0">
                <a:solidFill>
                  <a:schemeClr val="bg1"/>
                </a:solidFill>
                <a:latin typeface="微软雅黑" pitchFamily="34" charset="-122"/>
                <a:ea typeface="微软雅黑" pitchFamily="34" charset="-122"/>
              </a:rPr>
              <a:t>2</a:t>
            </a:r>
            <a:r>
              <a:rPr lang="zh-CN" altLang="en-US" sz="1600" dirty="0">
                <a:solidFill>
                  <a:schemeClr val="bg1"/>
                </a:solidFill>
                <a:latin typeface="微软雅黑" pitchFamily="34" charset="-122"/>
                <a:ea typeface="微软雅黑" pitchFamily="34" charset="-122"/>
              </a:rPr>
              <a:t>）超声波雷达的测距</a:t>
            </a:r>
            <a:r>
              <a:rPr lang="zh-CN" altLang="en-US" sz="1600" dirty="0" smtClean="0">
                <a:solidFill>
                  <a:schemeClr val="bg1"/>
                </a:solidFill>
                <a:latin typeface="微软雅黑" pitchFamily="34" charset="-122"/>
                <a:ea typeface="微软雅黑" pitchFamily="34" charset="-122"/>
              </a:rPr>
              <a:t>原理</a:t>
            </a:r>
            <a:endParaRPr lang="en-US" altLang="zh-CN" sz="1600" dirty="0" smtClean="0">
              <a:solidFill>
                <a:schemeClr val="bg1"/>
              </a:solidFill>
              <a:latin typeface="微软雅黑" pitchFamily="34" charset="-122"/>
              <a:ea typeface="微软雅黑" pitchFamily="34" charset="-122"/>
            </a:endParaRPr>
          </a:p>
          <a:p>
            <a:r>
              <a:rPr lang="zh-CN" altLang="en-US" sz="1400" dirty="0" smtClean="0">
                <a:solidFill>
                  <a:schemeClr val="bg1"/>
                </a:solidFill>
                <a:latin typeface="微软雅黑" pitchFamily="34" charset="-122"/>
                <a:ea typeface="微软雅黑" pitchFamily="34" charset="-122"/>
              </a:rPr>
              <a:t>发射器</a:t>
            </a:r>
            <a:r>
              <a:rPr lang="zh-CN" altLang="en-US" sz="1400" dirty="0">
                <a:solidFill>
                  <a:schemeClr val="bg1"/>
                </a:solidFill>
                <a:latin typeface="微软雅黑" pitchFamily="34" charset="-122"/>
                <a:ea typeface="微软雅黑" pitchFamily="34" charset="-122"/>
              </a:rPr>
              <a:t>发射特定频率的超声波，</a:t>
            </a:r>
            <a:r>
              <a:rPr lang="zh-CN" altLang="en-US" sz="1400" dirty="0" smtClean="0">
                <a:solidFill>
                  <a:schemeClr val="bg1"/>
                </a:solidFill>
                <a:latin typeface="微软雅黑" pitchFamily="34" charset="-122"/>
                <a:ea typeface="微软雅黑" pitchFamily="34" charset="-122"/>
              </a:rPr>
              <a:t>遇到</a:t>
            </a:r>
            <a:r>
              <a:rPr lang="zh-CN" altLang="en-US" sz="1400" dirty="0">
                <a:solidFill>
                  <a:schemeClr val="bg1"/>
                </a:solidFill>
                <a:latin typeface="微软雅黑" pitchFamily="34" charset="-122"/>
                <a:ea typeface="微软雅黑" pitchFamily="34" charset="-122"/>
              </a:rPr>
              <a:t>检测面（障碍物）反射部分超声波；接收器</a:t>
            </a:r>
            <a:r>
              <a:rPr lang="zh-CN" altLang="en-US" sz="1400" dirty="0" smtClean="0">
                <a:solidFill>
                  <a:schemeClr val="bg1"/>
                </a:solidFill>
                <a:latin typeface="微软雅黑" pitchFamily="34" charset="-122"/>
                <a:ea typeface="微软雅黑" pitchFamily="34" charset="-122"/>
              </a:rPr>
              <a:t>接收返回的</a:t>
            </a:r>
            <a:r>
              <a:rPr lang="zh-CN" altLang="en-US" sz="1400" dirty="0">
                <a:solidFill>
                  <a:schemeClr val="bg1"/>
                </a:solidFill>
                <a:latin typeface="微软雅黑" pitchFamily="34" charset="-122"/>
                <a:ea typeface="微软雅黑" pitchFamily="34" charset="-122"/>
              </a:rPr>
              <a:t>超声波，并记录超声波的往返时间，然后</a:t>
            </a:r>
            <a:r>
              <a:rPr lang="zh-CN" altLang="en-US" sz="1400" dirty="0" smtClean="0">
                <a:solidFill>
                  <a:schemeClr val="bg1"/>
                </a:solidFill>
                <a:latin typeface="微软雅黑" pitchFamily="34" charset="-122"/>
                <a:ea typeface="微软雅黑" pitchFamily="34" charset="-122"/>
              </a:rPr>
              <a:t>根据</a:t>
            </a:r>
            <a:r>
              <a:rPr lang="zh-CN" altLang="en-US" sz="1400" dirty="0">
                <a:solidFill>
                  <a:schemeClr val="bg1"/>
                </a:solidFill>
                <a:latin typeface="微软雅黑" pitchFamily="34" charset="-122"/>
                <a:ea typeface="微软雅黑" pitchFamily="34" charset="-122"/>
              </a:rPr>
              <a:t>媒质（空气）中的声速（约为 </a:t>
            </a:r>
            <a:r>
              <a:rPr lang="en-US" altLang="zh-CN" sz="1400" dirty="0">
                <a:solidFill>
                  <a:schemeClr val="bg1"/>
                </a:solidFill>
                <a:latin typeface="微软雅黑" pitchFamily="34" charset="-122"/>
                <a:ea typeface="微软雅黑" pitchFamily="34" charset="-122"/>
              </a:rPr>
              <a:t>340m/s</a:t>
            </a:r>
            <a:r>
              <a:rPr lang="zh-CN" altLang="en-US" sz="1400" dirty="0">
                <a:solidFill>
                  <a:schemeClr val="bg1"/>
                </a:solidFill>
                <a:latin typeface="微软雅黑" pitchFamily="34" charset="-122"/>
                <a:ea typeface="微软雅黑" pitchFamily="34" charset="-122"/>
              </a:rPr>
              <a:t>），计算</a:t>
            </a:r>
            <a:r>
              <a:rPr lang="zh-CN" altLang="en-US" sz="1400" dirty="0" smtClean="0">
                <a:solidFill>
                  <a:schemeClr val="bg1"/>
                </a:solidFill>
                <a:latin typeface="微软雅黑" pitchFamily="34" charset="-122"/>
                <a:ea typeface="微软雅黑" pitchFamily="34" charset="-122"/>
              </a:rPr>
              <a:t>出从</a:t>
            </a:r>
            <a:r>
              <a:rPr lang="zh-CN" altLang="en-US" sz="1400" dirty="0">
                <a:solidFill>
                  <a:schemeClr val="bg1"/>
                </a:solidFill>
                <a:latin typeface="微软雅黑" pitchFamily="34" charset="-122"/>
                <a:ea typeface="微软雅黑" pitchFamily="34" charset="-122"/>
              </a:rPr>
              <a:t>发射器到障碍物表面之间的距离。</a:t>
            </a:r>
          </a:p>
        </p:txBody>
      </p:sp>
    </p:spTree>
    <p:extLst>
      <p:ext uri="{BB962C8B-B14F-4D97-AF65-F5344CB8AC3E}">
        <p14:creationId xmlns:p14="http://schemas.microsoft.com/office/powerpoint/2010/main" val="246411136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a:xfrm>
            <a:off x="107504" y="4840397"/>
            <a:ext cx="2133600" cy="273844"/>
          </a:xfrm>
        </p:spPr>
        <p:txBody>
          <a:bodyPr/>
          <a:lstStyle/>
          <a:p>
            <a:pPr algn="l"/>
            <a:fld id="{0C913308-F349-4B6D-A68A-DD1791B4A57B}" type="slidenum">
              <a:rPr lang="zh-CN" altLang="en-US" smtClean="0"/>
              <a:t>18</a:t>
            </a:fld>
            <a:endParaRPr lang="zh-CN" altLang="en-US" dirty="0"/>
          </a:p>
        </p:txBody>
      </p:sp>
      <p:pic>
        <p:nvPicPr>
          <p:cNvPr id="44" name="图片 44" descr="说明: http://inews.gtimg.com/newsapp_match/0/3160096222/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a:xfrm>
            <a:off x="5220072" y="1899482"/>
            <a:ext cx="2952760" cy="2256444"/>
          </a:xfrm>
          <a:prstGeom prst="rect">
            <a:avLst/>
          </a:prstGeom>
          <a:noFill/>
          <a:ln w="12700" cmpd="sng">
            <a:solidFill>
              <a:schemeClr val="accent1">
                <a:shade val="50000"/>
              </a:schemeClr>
            </a:solidFill>
            <a:prstDash val="solid"/>
          </a:ln>
        </p:spPr>
      </p:pic>
      <p:sp>
        <p:nvSpPr>
          <p:cNvPr id="9" name="Text Box 8"/>
          <p:cNvSpPr>
            <a:spLocks noChangeArrowheads="1"/>
          </p:cNvSpPr>
          <p:nvPr/>
        </p:nvSpPr>
        <p:spPr bwMode="auto">
          <a:xfrm>
            <a:off x="971600" y="411510"/>
            <a:ext cx="7573236" cy="107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9pPr>
          </a:lstStyle>
          <a:p>
            <a:pPr algn="ctr" eaLnBrk="1" hangingPunct="1">
              <a:spcBef>
                <a:spcPct val="0"/>
              </a:spcBef>
              <a:buFont typeface="Arial" panose="020B0604020202020204" pitchFamily="34" charset="0"/>
              <a:buNone/>
            </a:pPr>
            <a:r>
              <a:rPr lang="zh-CN" altLang="en-US" sz="3200" b="1" dirty="0" smtClean="0">
                <a:solidFill>
                  <a:schemeClr val="accent1"/>
                </a:solidFill>
                <a:latin typeface="微软雅黑" panose="020B0503020204020204" pitchFamily="34" charset="-122"/>
              </a:rPr>
              <a:t>什么是雷达？雷达在智能网联汽车上有哪些实际应用？</a:t>
            </a:r>
          </a:p>
        </p:txBody>
      </p:sp>
      <p:sp>
        <p:nvSpPr>
          <p:cNvPr id="10" name="矩形 9"/>
          <p:cNvSpPr/>
          <p:nvPr/>
        </p:nvSpPr>
        <p:spPr>
          <a:xfrm>
            <a:off x="971600" y="1487835"/>
            <a:ext cx="1699504" cy="400110"/>
          </a:xfrm>
          <a:prstGeom prst="rect">
            <a:avLst/>
          </a:prstGeom>
          <a:solidFill>
            <a:srgbClr val="0070C0"/>
          </a:solidFill>
        </p:spPr>
        <p:txBody>
          <a:bodyPr wrap="none">
            <a:spAutoFit/>
          </a:bodyPr>
          <a:lstStyle/>
          <a:p>
            <a:pPr algn="l" fontAlgn="ctr"/>
            <a:r>
              <a:rPr sz="2000" b="1" dirty="0" smtClean="0">
                <a:solidFill>
                  <a:schemeClr val="bg1"/>
                </a:solidFill>
                <a:latin typeface="微软雅黑" panose="020B0503020204020204" pitchFamily="34" charset="-122"/>
                <a:ea typeface="微软雅黑" panose="020B0503020204020204" pitchFamily="34" charset="-122"/>
              </a:rPr>
              <a:t>1.超声波雷达</a:t>
            </a:r>
          </a:p>
        </p:txBody>
      </p:sp>
      <p:sp>
        <p:nvSpPr>
          <p:cNvPr id="11" name="矩形 10"/>
          <p:cNvSpPr/>
          <p:nvPr/>
        </p:nvSpPr>
        <p:spPr>
          <a:xfrm>
            <a:off x="971600" y="1995686"/>
            <a:ext cx="4032448" cy="2677656"/>
          </a:xfrm>
          <a:prstGeom prst="rect">
            <a:avLst/>
          </a:prstGeom>
          <a:solidFill>
            <a:srgbClr val="0070C0"/>
          </a:solidFill>
        </p:spPr>
        <p:txBody>
          <a:bodyPr wrap="square">
            <a:spAutoFit/>
          </a:bodyPr>
          <a:lstStyle/>
          <a:p>
            <a:pPr fontAlgn="base">
              <a:lnSpc>
                <a:spcPct val="150000"/>
              </a:lnSpc>
            </a:pPr>
            <a:r>
              <a:rPr sz="1600" dirty="0">
                <a:solidFill>
                  <a:schemeClr val="bg1"/>
                </a:solidFill>
                <a:latin typeface="微软雅黑" panose="020B0503020204020204" pitchFamily="34" charset="-122"/>
                <a:ea typeface="微软雅黑" panose="020B0503020204020204" pitchFamily="34" charset="-122"/>
              </a:rPr>
              <a:t>（3）</a:t>
            </a:r>
            <a:r>
              <a:rPr sz="1600" dirty="0" smtClean="0">
                <a:solidFill>
                  <a:schemeClr val="bg1"/>
                </a:solidFill>
                <a:latin typeface="微软雅黑" panose="020B0503020204020204" pitchFamily="34" charset="-122"/>
                <a:ea typeface="微软雅黑" panose="020B0503020204020204" pitchFamily="34" charset="-122"/>
              </a:rPr>
              <a:t>超声波雷达的类型</a:t>
            </a:r>
            <a:endParaRPr lang="en-US" sz="1600" dirty="0" smtClean="0">
              <a:solidFill>
                <a:schemeClr val="bg1"/>
              </a:solidFill>
              <a:latin typeface="微软雅黑" panose="020B0503020204020204" pitchFamily="34" charset="-122"/>
              <a:ea typeface="微软雅黑" panose="020B0503020204020204" pitchFamily="34" charset="-122"/>
            </a:endParaRPr>
          </a:p>
          <a:p>
            <a:pPr fontAlgn="base">
              <a:lnSpc>
                <a:spcPct val="150000"/>
              </a:lnSpc>
            </a:pPr>
            <a:r>
              <a:rPr lang="zh-CN" altLang="en-US" sz="1600" dirty="0" smtClean="0">
                <a:solidFill>
                  <a:schemeClr val="bg1"/>
                </a:solidFill>
                <a:latin typeface="微软雅黑" pitchFamily="34" charset="-122"/>
                <a:ea typeface="微软雅黑" pitchFamily="34" charset="-122"/>
              </a:rPr>
              <a:t>汽车</a:t>
            </a:r>
            <a:r>
              <a:rPr lang="zh-CN" altLang="en-US" sz="1600" dirty="0">
                <a:solidFill>
                  <a:schemeClr val="bg1"/>
                </a:solidFill>
                <a:latin typeface="微软雅黑" pitchFamily="34" charset="-122"/>
                <a:ea typeface="微软雅黑" pitchFamily="34" charset="-122"/>
              </a:rPr>
              <a:t>上常见的超声波雷达（传感器）有两种。</a:t>
            </a:r>
            <a:r>
              <a:rPr lang="zh-CN" altLang="en-US" sz="1600" dirty="0" smtClean="0">
                <a:solidFill>
                  <a:schemeClr val="bg1"/>
                </a:solidFill>
                <a:latin typeface="微软雅黑" pitchFamily="34" charset="-122"/>
                <a:ea typeface="微软雅黑" pitchFamily="34" charset="-122"/>
              </a:rPr>
              <a:t>第一种</a:t>
            </a:r>
            <a:r>
              <a:rPr lang="zh-CN" altLang="en-US" sz="1600" dirty="0">
                <a:solidFill>
                  <a:schemeClr val="bg1"/>
                </a:solidFill>
                <a:latin typeface="微软雅黑" pitchFamily="34" charset="-122"/>
                <a:ea typeface="微软雅黑" pitchFamily="34" charset="-122"/>
              </a:rPr>
              <a:t>是安装在汽车前后保险杠上，用于探测汽车前后</a:t>
            </a:r>
            <a:r>
              <a:rPr lang="zh-CN" altLang="en-US" sz="1600" dirty="0" smtClean="0">
                <a:solidFill>
                  <a:schemeClr val="bg1"/>
                </a:solidFill>
                <a:latin typeface="微软雅黑" pitchFamily="34" charset="-122"/>
                <a:ea typeface="微软雅黑" pitchFamily="34" charset="-122"/>
              </a:rPr>
              <a:t>障碍物</a:t>
            </a:r>
            <a:r>
              <a:rPr lang="zh-CN" altLang="en-US" sz="1600" dirty="0">
                <a:solidFill>
                  <a:schemeClr val="bg1"/>
                </a:solidFill>
                <a:latin typeface="微软雅黑" pitchFamily="34" charset="-122"/>
                <a:ea typeface="微软雅黑" pitchFamily="34" charset="-122"/>
              </a:rPr>
              <a:t>的</a:t>
            </a:r>
            <a:r>
              <a:rPr lang="zh-CN" altLang="en-US" sz="1600" dirty="0" smtClean="0">
                <a:solidFill>
                  <a:schemeClr val="bg1"/>
                </a:solidFill>
                <a:latin typeface="微软雅黑" pitchFamily="34" charset="-122"/>
                <a:ea typeface="微软雅黑" pitchFamily="34" charset="-122"/>
              </a:rPr>
              <a:t>超声波传感器</a:t>
            </a:r>
            <a:r>
              <a:rPr lang="en-US" altLang="zh-CN" sz="1600" dirty="0" smtClean="0">
                <a:solidFill>
                  <a:schemeClr val="bg1"/>
                </a:solidFill>
                <a:latin typeface="微软雅黑" pitchFamily="34" charset="-122"/>
                <a:ea typeface="微软雅黑" pitchFamily="34" charset="-122"/>
              </a:rPr>
              <a:t>,</a:t>
            </a:r>
            <a:r>
              <a:rPr lang="zh-CN" altLang="en-US" sz="1600" dirty="0" smtClean="0">
                <a:solidFill>
                  <a:schemeClr val="bg1"/>
                </a:solidFill>
                <a:latin typeface="微软雅黑" pitchFamily="34" charset="-122"/>
                <a:ea typeface="微软雅黑" pitchFamily="34" charset="-122"/>
              </a:rPr>
              <a:t>称为 </a:t>
            </a:r>
            <a:r>
              <a:rPr lang="en-US" altLang="zh-CN" sz="1600" dirty="0">
                <a:solidFill>
                  <a:schemeClr val="bg1"/>
                </a:solidFill>
                <a:latin typeface="微软雅黑" pitchFamily="34" charset="-122"/>
                <a:ea typeface="微软雅黑" pitchFamily="34" charset="-122"/>
              </a:rPr>
              <a:t>PDC </a:t>
            </a:r>
            <a:r>
              <a:rPr lang="zh-CN" altLang="en-US" sz="1600" dirty="0">
                <a:solidFill>
                  <a:schemeClr val="bg1"/>
                </a:solidFill>
                <a:latin typeface="微软雅黑" pitchFamily="34" charset="-122"/>
                <a:ea typeface="微软雅黑" pitchFamily="34" charset="-122"/>
              </a:rPr>
              <a:t>传感器 （驻车辅助传感器）；第二种是安装在</a:t>
            </a:r>
            <a:r>
              <a:rPr lang="zh-CN" altLang="en-US" sz="1600" dirty="0" smtClean="0">
                <a:solidFill>
                  <a:schemeClr val="bg1"/>
                </a:solidFill>
                <a:latin typeface="微软雅黑" pitchFamily="34" charset="-122"/>
                <a:ea typeface="微软雅黑" pitchFamily="34" charset="-122"/>
              </a:rPr>
              <a:t>汽车侧面</a:t>
            </a:r>
            <a:r>
              <a:rPr lang="zh-CN" altLang="en-US" sz="1600" dirty="0">
                <a:solidFill>
                  <a:schemeClr val="bg1"/>
                </a:solidFill>
                <a:latin typeface="微软雅黑" pitchFamily="34" charset="-122"/>
                <a:ea typeface="微软雅黑" pitchFamily="34" charset="-122"/>
              </a:rPr>
              <a:t>，用于测量停车位长度的</a:t>
            </a:r>
            <a:r>
              <a:rPr lang="zh-CN" altLang="en-US" sz="1600" dirty="0" smtClean="0">
                <a:solidFill>
                  <a:schemeClr val="bg1"/>
                </a:solidFill>
                <a:latin typeface="微软雅黑" pitchFamily="34" charset="-122"/>
                <a:ea typeface="微软雅黑" pitchFamily="34" charset="-122"/>
              </a:rPr>
              <a:t>超声波传感器。</a:t>
            </a:r>
            <a:endParaRPr sz="1600"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a:xfrm>
            <a:off x="107504" y="4840397"/>
            <a:ext cx="2133600" cy="273844"/>
          </a:xfrm>
        </p:spPr>
        <p:txBody>
          <a:bodyPr/>
          <a:lstStyle/>
          <a:p>
            <a:pPr algn="l"/>
            <a:fld id="{0C913308-F349-4B6D-A68A-DD1791B4A57B}" type="slidenum">
              <a:rPr lang="zh-CN" altLang="en-US" smtClean="0"/>
              <a:t>19</a:t>
            </a:fld>
            <a:endParaRPr lang="zh-CN" altLang="en-US" dirty="0"/>
          </a:p>
        </p:txBody>
      </p:sp>
      <p:sp>
        <p:nvSpPr>
          <p:cNvPr id="2" name="矩形 1"/>
          <p:cNvSpPr/>
          <p:nvPr/>
        </p:nvSpPr>
        <p:spPr>
          <a:xfrm>
            <a:off x="956192" y="1995686"/>
            <a:ext cx="3327776" cy="461665"/>
          </a:xfrm>
          <a:prstGeom prst="rect">
            <a:avLst/>
          </a:prstGeom>
          <a:solidFill>
            <a:srgbClr val="0070C0"/>
          </a:solidFill>
        </p:spPr>
        <p:txBody>
          <a:bodyPr wrap="square">
            <a:spAutoFit/>
          </a:bodyPr>
          <a:lstStyle/>
          <a:p>
            <a:pPr fontAlgn="base">
              <a:lnSpc>
                <a:spcPct val="150000"/>
              </a:lnSpc>
            </a:pPr>
            <a:r>
              <a:rPr sz="1600" dirty="0" smtClean="0">
                <a:solidFill>
                  <a:schemeClr val="bg1"/>
                </a:solidFill>
                <a:latin typeface="微软雅黑" panose="020B0503020204020204" pitchFamily="34" charset="-122"/>
                <a:ea typeface="微软雅黑" panose="020B0503020204020204" pitchFamily="34" charset="-122"/>
              </a:rPr>
              <a:t>（</a:t>
            </a:r>
            <a:r>
              <a:rPr sz="1600" dirty="0">
                <a:solidFill>
                  <a:schemeClr val="bg1"/>
                </a:solidFill>
                <a:latin typeface="微软雅黑" panose="020B0503020204020204" pitchFamily="34" charset="-122"/>
                <a:ea typeface="微软雅黑" panose="020B0503020204020204" pitchFamily="34" charset="-122"/>
              </a:rPr>
              <a:t>4）超声波雷达的优缺点和应用</a:t>
            </a:r>
          </a:p>
        </p:txBody>
      </p:sp>
      <p:pic>
        <p:nvPicPr>
          <p:cNvPr id="43" name="图片 43" descr="说明: C:\Users\Lenovo\Desktop\智能网联汽车 人民交通\项目1 智能网联汽车概述\任务1-2  图\t015b13e5f1b0464802.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a:xfrm>
            <a:off x="5364088" y="1687890"/>
            <a:ext cx="2797643" cy="1491191"/>
          </a:xfrm>
          <a:prstGeom prst="rect">
            <a:avLst/>
          </a:prstGeom>
          <a:noFill/>
          <a:ln w="12700" cmpd="sng">
            <a:solidFill>
              <a:schemeClr val="accent1">
                <a:shade val="50000"/>
              </a:schemeClr>
            </a:solidFill>
            <a:prstDash val="solid"/>
          </a:ln>
        </p:spPr>
      </p:pic>
      <p:sp>
        <p:nvSpPr>
          <p:cNvPr id="9" name="Text Box 8"/>
          <p:cNvSpPr>
            <a:spLocks noChangeArrowheads="1"/>
          </p:cNvSpPr>
          <p:nvPr/>
        </p:nvSpPr>
        <p:spPr bwMode="auto">
          <a:xfrm>
            <a:off x="971600" y="411510"/>
            <a:ext cx="7573236" cy="107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9pPr>
          </a:lstStyle>
          <a:p>
            <a:pPr algn="ctr" eaLnBrk="1" hangingPunct="1">
              <a:spcBef>
                <a:spcPct val="0"/>
              </a:spcBef>
              <a:buFont typeface="Arial" panose="020B0604020202020204" pitchFamily="34" charset="0"/>
              <a:buNone/>
            </a:pPr>
            <a:r>
              <a:rPr lang="zh-CN" altLang="en-US" sz="3200" b="1" dirty="0" smtClean="0">
                <a:solidFill>
                  <a:schemeClr val="accent1"/>
                </a:solidFill>
                <a:latin typeface="微软雅黑" panose="020B0503020204020204" pitchFamily="34" charset="-122"/>
              </a:rPr>
              <a:t>什么是雷达？雷达在智能网联汽车上有哪些实际应用？</a:t>
            </a:r>
          </a:p>
        </p:txBody>
      </p:sp>
      <p:sp>
        <p:nvSpPr>
          <p:cNvPr id="10" name="矩形 9"/>
          <p:cNvSpPr/>
          <p:nvPr/>
        </p:nvSpPr>
        <p:spPr>
          <a:xfrm>
            <a:off x="971600" y="1487835"/>
            <a:ext cx="1699504" cy="400110"/>
          </a:xfrm>
          <a:prstGeom prst="rect">
            <a:avLst/>
          </a:prstGeom>
          <a:solidFill>
            <a:srgbClr val="0070C0"/>
          </a:solidFill>
        </p:spPr>
        <p:txBody>
          <a:bodyPr wrap="none">
            <a:spAutoFit/>
          </a:bodyPr>
          <a:lstStyle/>
          <a:p>
            <a:pPr algn="l" fontAlgn="ctr"/>
            <a:r>
              <a:rPr sz="2000" b="1" dirty="0" smtClean="0">
                <a:solidFill>
                  <a:schemeClr val="bg1"/>
                </a:solidFill>
                <a:latin typeface="微软雅黑" panose="020B0503020204020204" pitchFamily="34" charset="-122"/>
                <a:ea typeface="微软雅黑" panose="020B0503020204020204" pitchFamily="34" charset="-122"/>
              </a:rPr>
              <a:t>1.超声波雷达</a:t>
            </a:r>
          </a:p>
        </p:txBody>
      </p:sp>
      <p:sp>
        <p:nvSpPr>
          <p:cNvPr id="3" name="矩形 2"/>
          <p:cNvSpPr/>
          <p:nvPr/>
        </p:nvSpPr>
        <p:spPr>
          <a:xfrm>
            <a:off x="971600" y="2585774"/>
            <a:ext cx="3888432" cy="1215204"/>
          </a:xfrm>
          <a:prstGeom prst="rect">
            <a:avLst/>
          </a:prstGeom>
          <a:solidFill>
            <a:srgbClr val="0070C0"/>
          </a:solidFill>
        </p:spPr>
        <p:txBody>
          <a:bodyPr wrap="square">
            <a:spAutoFit/>
          </a:bodyPr>
          <a:lstStyle/>
          <a:p>
            <a:pPr>
              <a:lnSpc>
                <a:spcPct val="114000"/>
              </a:lnSpc>
            </a:pPr>
            <a:r>
              <a:rPr lang="zh-CN" altLang="en-US" sz="1600" b="1" dirty="0" smtClean="0">
                <a:solidFill>
                  <a:schemeClr val="bg1"/>
                </a:solidFill>
                <a:latin typeface="微软雅黑" pitchFamily="34" charset="-122"/>
                <a:ea typeface="微软雅黑" pitchFamily="34" charset="-122"/>
              </a:rPr>
              <a:t>优点：</a:t>
            </a:r>
            <a:r>
              <a:rPr lang="zh-CN" altLang="en-US" sz="1600" dirty="0" smtClean="0">
                <a:solidFill>
                  <a:schemeClr val="bg1"/>
                </a:solidFill>
                <a:latin typeface="微软雅黑" pitchFamily="34" charset="-122"/>
                <a:ea typeface="微软雅黑" pitchFamily="34" charset="-122"/>
              </a:rPr>
              <a:t>对</a:t>
            </a:r>
            <a:r>
              <a:rPr lang="zh-CN" altLang="en-US" sz="1600" dirty="0">
                <a:solidFill>
                  <a:schemeClr val="bg1"/>
                </a:solidFill>
                <a:latin typeface="微软雅黑" pitchFamily="34" charset="-122"/>
                <a:ea typeface="微软雅黑" pitchFamily="34" charset="-122"/>
              </a:rPr>
              <a:t>色彩、光照度不</a:t>
            </a:r>
            <a:r>
              <a:rPr lang="zh-CN" altLang="en-US" sz="1600" dirty="0" smtClean="0">
                <a:solidFill>
                  <a:schemeClr val="bg1"/>
                </a:solidFill>
                <a:latin typeface="微软雅黑" pitchFamily="34" charset="-122"/>
                <a:ea typeface="微软雅黑" pitchFamily="34" charset="-122"/>
              </a:rPr>
              <a:t>敏感；对</a:t>
            </a:r>
            <a:r>
              <a:rPr lang="zh-CN" altLang="en-US" sz="1600" dirty="0">
                <a:solidFill>
                  <a:schemeClr val="bg1"/>
                </a:solidFill>
                <a:latin typeface="微软雅黑" pitchFamily="34" charset="-122"/>
                <a:ea typeface="微软雅黑" pitchFamily="34" charset="-122"/>
              </a:rPr>
              <a:t>外界光线和电磁场不</a:t>
            </a:r>
            <a:r>
              <a:rPr lang="zh-CN" altLang="en-US" sz="1600" dirty="0" smtClean="0">
                <a:solidFill>
                  <a:schemeClr val="bg1"/>
                </a:solidFill>
                <a:latin typeface="微软雅黑" pitchFamily="34" charset="-122"/>
                <a:ea typeface="微软雅黑" pitchFamily="34" charset="-122"/>
              </a:rPr>
              <a:t>敏感；结构</a:t>
            </a:r>
            <a:r>
              <a:rPr lang="zh-CN" altLang="en-US" sz="1600" dirty="0">
                <a:solidFill>
                  <a:schemeClr val="bg1"/>
                </a:solidFill>
                <a:latin typeface="微软雅黑" pitchFamily="34" charset="-122"/>
                <a:ea typeface="微软雅黑" pitchFamily="34" charset="-122"/>
              </a:rPr>
              <a:t>简单，体积小，成本低，信息处理简单可靠，易于小型化与集成化</a:t>
            </a:r>
            <a:r>
              <a:rPr lang="zh-CN" altLang="en-US" sz="1600" dirty="0" smtClean="0">
                <a:solidFill>
                  <a:schemeClr val="bg1"/>
                </a:solidFill>
                <a:latin typeface="微软雅黑" pitchFamily="34" charset="-122"/>
                <a:ea typeface="微软雅黑" pitchFamily="34" charset="-122"/>
              </a:rPr>
              <a:t>，并且</a:t>
            </a:r>
            <a:r>
              <a:rPr lang="zh-CN" altLang="en-US" sz="1600" dirty="0">
                <a:solidFill>
                  <a:schemeClr val="bg1"/>
                </a:solidFill>
                <a:latin typeface="微软雅黑" pitchFamily="34" charset="-122"/>
                <a:ea typeface="微软雅黑" pitchFamily="34" charset="-122"/>
              </a:rPr>
              <a:t>可以进行实时控制。 </a:t>
            </a:r>
            <a:endParaRPr lang="en-US" altLang="zh-CN" sz="1600" dirty="0" smtClean="0">
              <a:solidFill>
                <a:schemeClr val="bg1"/>
              </a:solidFill>
              <a:latin typeface="微软雅黑" pitchFamily="34" charset="-122"/>
              <a:ea typeface="微软雅黑" pitchFamily="34" charset="-122"/>
            </a:endParaRPr>
          </a:p>
        </p:txBody>
      </p:sp>
      <p:sp>
        <p:nvSpPr>
          <p:cNvPr id="4" name="矩形 3"/>
          <p:cNvSpPr/>
          <p:nvPr/>
        </p:nvSpPr>
        <p:spPr>
          <a:xfrm>
            <a:off x="5130957" y="3223681"/>
            <a:ext cx="3058954" cy="1495922"/>
          </a:xfrm>
          <a:prstGeom prst="rect">
            <a:avLst/>
          </a:prstGeom>
          <a:solidFill>
            <a:srgbClr val="0070C0"/>
          </a:solidFill>
        </p:spPr>
        <p:txBody>
          <a:bodyPr wrap="square">
            <a:spAutoFit/>
          </a:bodyPr>
          <a:lstStyle/>
          <a:p>
            <a:pPr>
              <a:lnSpc>
                <a:spcPct val="114000"/>
              </a:lnSpc>
            </a:pPr>
            <a:r>
              <a:rPr lang="zh-CN" altLang="en-US" sz="1600" dirty="0">
                <a:solidFill>
                  <a:schemeClr val="bg1"/>
                </a:solidFill>
                <a:latin typeface="微软雅黑" pitchFamily="34" charset="-122"/>
                <a:ea typeface="微软雅黑" pitchFamily="34" charset="-122"/>
              </a:rPr>
              <a:t>超声波雷达早期广泛应用于“声音提醒”方式的</a:t>
            </a:r>
            <a:r>
              <a:rPr lang="zh-CN" altLang="en-US" sz="1600" dirty="0" smtClean="0">
                <a:solidFill>
                  <a:schemeClr val="bg1"/>
                </a:solidFill>
                <a:latin typeface="微软雅黑" pitchFamily="34" charset="-122"/>
                <a:ea typeface="微软雅黑" pitchFamily="34" charset="-122"/>
              </a:rPr>
              <a:t>倒车</a:t>
            </a:r>
            <a:r>
              <a:rPr lang="zh-CN" altLang="en-US" sz="1600" dirty="0">
                <a:solidFill>
                  <a:schemeClr val="bg1"/>
                </a:solidFill>
                <a:latin typeface="微软雅黑" pitchFamily="34" charset="-122"/>
                <a:ea typeface="微软雅黑" pitchFamily="34" charset="-122"/>
              </a:rPr>
              <a:t>辅助系统。智能网联汽车通过超声波雷达与视觉传感 器融合方式，提供有效的目标检测和视觉辅助，</a:t>
            </a:r>
          </a:p>
        </p:txBody>
      </p:sp>
      <p:sp>
        <p:nvSpPr>
          <p:cNvPr id="12" name="矩形 11"/>
          <p:cNvSpPr/>
          <p:nvPr/>
        </p:nvSpPr>
        <p:spPr>
          <a:xfrm>
            <a:off x="940535" y="4083918"/>
            <a:ext cx="3903840" cy="653769"/>
          </a:xfrm>
          <a:prstGeom prst="rect">
            <a:avLst/>
          </a:prstGeom>
          <a:solidFill>
            <a:srgbClr val="0070C0"/>
          </a:solidFill>
        </p:spPr>
        <p:txBody>
          <a:bodyPr wrap="square">
            <a:spAutoFit/>
          </a:bodyPr>
          <a:lstStyle/>
          <a:p>
            <a:pPr>
              <a:lnSpc>
                <a:spcPct val="114000"/>
              </a:lnSpc>
            </a:pPr>
            <a:r>
              <a:rPr lang="zh-CN" altLang="en-US" sz="1600" b="1" dirty="0" smtClean="0">
                <a:solidFill>
                  <a:schemeClr val="bg1"/>
                </a:solidFill>
                <a:latin typeface="微软雅黑" pitchFamily="34" charset="-122"/>
                <a:ea typeface="微软雅黑" pitchFamily="34" charset="-122"/>
              </a:rPr>
              <a:t>缺点：</a:t>
            </a:r>
            <a:r>
              <a:rPr lang="zh-CN" altLang="en-US" sz="1600" dirty="0" smtClean="0">
                <a:solidFill>
                  <a:schemeClr val="bg1"/>
                </a:solidFill>
                <a:latin typeface="微软雅黑" pitchFamily="34" charset="-122"/>
                <a:ea typeface="微软雅黑" pitchFamily="34" charset="-122"/>
              </a:rPr>
              <a:t>传播速度</a:t>
            </a:r>
            <a:r>
              <a:rPr lang="zh-CN" altLang="en-US" sz="1600" dirty="0">
                <a:solidFill>
                  <a:schemeClr val="bg1"/>
                </a:solidFill>
                <a:latin typeface="微软雅黑" pitchFamily="34" charset="-122"/>
                <a:ea typeface="微软雅黑" pitchFamily="34" charset="-122"/>
              </a:rPr>
              <a:t>较</a:t>
            </a:r>
            <a:r>
              <a:rPr lang="zh-CN" altLang="en-US" sz="1600" dirty="0" smtClean="0">
                <a:solidFill>
                  <a:schemeClr val="bg1"/>
                </a:solidFill>
                <a:latin typeface="微软雅黑" pitchFamily="34" charset="-122"/>
                <a:ea typeface="微软雅黑" pitchFamily="34" charset="-122"/>
              </a:rPr>
              <a:t>慢；传输</a:t>
            </a:r>
            <a:r>
              <a:rPr lang="zh-CN" altLang="en-US" sz="1600" dirty="0">
                <a:solidFill>
                  <a:schemeClr val="bg1"/>
                </a:solidFill>
                <a:latin typeface="微软雅黑" pitchFamily="34" charset="-122"/>
                <a:ea typeface="微软雅黑" pitchFamily="34" charset="-122"/>
              </a:rPr>
              <a:t>速度容易受天气情况的</a:t>
            </a:r>
            <a:r>
              <a:rPr lang="zh-CN" altLang="en-US" sz="1600" dirty="0" smtClean="0">
                <a:solidFill>
                  <a:schemeClr val="bg1"/>
                </a:solidFill>
                <a:latin typeface="微软雅黑" pitchFamily="34" charset="-122"/>
                <a:ea typeface="微软雅黑" pitchFamily="34" charset="-122"/>
              </a:rPr>
              <a:t>影响；散射角</a:t>
            </a:r>
            <a:r>
              <a:rPr lang="zh-CN" altLang="en-US" sz="1600" dirty="0">
                <a:solidFill>
                  <a:schemeClr val="bg1"/>
                </a:solidFill>
                <a:latin typeface="微软雅黑" pitchFamily="34" charset="-122"/>
                <a:ea typeface="微软雅黑" pitchFamily="34" charset="-122"/>
              </a:rPr>
              <a:t>大，方向性</a:t>
            </a:r>
            <a:r>
              <a:rPr lang="zh-CN" altLang="en-US" sz="1600" dirty="0" smtClean="0">
                <a:solidFill>
                  <a:schemeClr val="bg1"/>
                </a:solidFill>
                <a:latin typeface="微软雅黑" pitchFamily="34" charset="-122"/>
                <a:ea typeface="微软雅黑" pitchFamily="34" charset="-122"/>
              </a:rPr>
              <a:t>较差。</a:t>
            </a:r>
            <a:endParaRPr lang="zh-CN" altLang="en-US" sz="1600" dirty="0">
              <a:solidFill>
                <a:schemeClr val="bg1"/>
              </a:solidFill>
              <a:latin typeface="微软雅黑" pitchFamily="34" charset="-122"/>
              <a:ea typeface="微软雅黑" pitchFamily="34" charset="-122"/>
            </a:endParaRPr>
          </a:p>
        </p:txBody>
      </p:sp>
    </p:spTree>
    <p:extLst>
      <p:ext uri="{BB962C8B-B14F-4D97-AF65-F5344CB8AC3E}">
        <p14:creationId xmlns:p14="http://schemas.microsoft.com/office/powerpoint/2010/main" val="43828580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a:xfrm>
            <a:off x="107504" y="4840397"/>
            <a:ext cx="2133600" cy="273844"/>
          </a:xfrm>
        </p:spPr>
        <p:txBody>
          <a:bodyPr/>
          <a:lstStyle/>
          <a:p>
            <a:pPr algn="l"/>
            <a:fld id="{0C913308-F349-4B6D-A68A-DD1791B4A57B}" type="slidenum">
              <a:rPr lang="zh-CN" altLang="en-US" smtClean="0"/>
              <a:t>20</a:t>
            </a:fld>
            <a:endParaRPr lang="zh-CN" altLang="en-US" dirty="0"/>
          </a:p>
        </p:txBody>
      </p:sp>
      <p:sp>
        <p:nvSpPr>
          <p:cNvPr id="9" name="Text Box 8"/>
          <p:cNvSpPr>
            <a:spLocks noChangeArrowheads="1"/>
          </p:cNvSpPr>
          <p:nvPr/>
        </p:nvSpPr>
        <p:spPr bwMode="auto">
          <a:xfrm>
            <a:off x="971600" y="411510"/>
            <a:ext cx="7573236" cy="107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9pPr>
          </a:lstStyle>
          <a:p>
            <a:pPr algn="ctr" eaLnBrk="1" hangingPunct="1">
              <a:spcBef>
                <a:spcPct val="0"/>
              </a:spcBef>
              <a:buFont typeface="Arial" panose="020B0604020202020204" pitchFamily="34" charset="0"/>
              <a:buNone/>
            </a:pPr>
            <a:r>
              <a:rPr lang="zh-CN" altLang="en-US" sz="3200" b="1" dirty="0" smtClean="0">
                <a:solidFill>
                  <a:schemeClr val="accent1"/>
                </a:solidFill>
                <a:latin typeface="微软雅黑" panose="020B0503020204020204" pitchFamily="34" charset="-122"/>
              </a:rPr>
              <a:t>什么是雷达？雷达在智能网联汽车上有哪些实际应用？</a:t>
            </a:r>
          </a:p>
        </p:txBody>
      </p:sp>
      <p:sp>
        <p:nvSpPr>
          <p:cNvPr id="10" name="矩形 9"/>
          <p:cNvSpPr/>
          <p:nvPr/>
        </p:nvSpPr>
        <p:spPr>
          <a:xfrm>
            <a:off x="971600" y="1487835"/>
            <a:ext cx="1699504" cy="400110"/>
          </a:xfrm>
          <a:prstGeom prst="rect">
            <a:avLst/>
          </a:prstGeom>
          <a:solidFill>
            <a:srgbClr val="0070C0"/>
          </a:solidFill>
        </p:spPr>
        <p:txBody>
          <a:bodyPr wrap="none">
            <a:spAutoFit/>
          </a:bodyPr>
          <a:lstStyle/>
          <a:p>
            <a:pPr algn="l" fontAlgn="ctr"/>
            <a:r>
              <a:rPr lang="en-US" sz="2000" b="1" dirty="0" smtClean="0">
                <a:solidFill>
                  <a:schemeClr val="bg1"/>
                </a:solidFill>
                <a:latin typeface="微软雅黑" panose="020B0503020204020204" pitchFamily="34" charset="-122"/>
                <a:ea typeface="微软雅黑" panose="020B0503020204020204" pitchFamily="34" charset="-122"/>
              </a:rPr>
              <a:t>2</a:t>
            </a:r>
            <a:r>
              <a:rPr sz="2000" b="1" dirty="0" smtClean="0">
                <a:solidFill>
                  <a:schemeClr val="bg1"/>
                </a:solidFill>
                <a:latin typeface="微软雅黑" panose="020B0503020204020204" pitchFamily="34" charset="-122"/>
                <a:ea typeface="微软雅黑" panose="020B0503020204020204" pitchFamily="34" charset="-122"/>
              </a:rPr>
              <a:t>.</a:t>
            </a:r>
            <a:r>
              <a:rPr lang="zh-CN" altLang="en-US" sz="2000" b="1" dirty="0" smtClean="0">
                <a:solidFill>
                  <a:schemeClr val="bg1"/>
                </a:solidFill>
                <a:latin typeface="微软雅黑" panose="020B0503020204020204" pitchFamily="34" charset="-122"/>
                <a:ea typeface="微软雅黑" panose="020B0503020204020204" pitchFamily="34" charset="-122"/>
              </a:rPr>
              <a:t>毫米</a:t>
            </a:r>
            <a:r>
              <a:rPr sz="2000" b="1" dirty="0" err="1" smtClean="0">
                <a:solidFill>
                  <a:schemeClr val="bg1"/>
                </a:solidFill>
                <a:latin typeface="微软雅黑" panose="020B0503020204020204" pitchFamily="34" charset="-122"/>
                <a:ea typeface="微软雅黑" panose="020B0503020204020204" pitchFamily="34" charset="-122"/>
              </a:rPr>
              <a:t>波雷达</a:t>
            </a:r>
            <a:endParaRPr sz="2000" b="1" dirty="0" smtClean="0">
              <a:solidFill>
                <a:schemeClr val="bg1"/>
              </a:solidFill>
              <a:latin typeface="微软雅黑" panose="020B0503020204020204" pitchFamily="34" charset="-122"/>
              <a:ea typeface="微软雅黑" panose="020B0503020204020204" pitchFamily="34" charset="-122"/>
            </a:endParaRPr>
          </a:p>
        </p:txBody>
      </p:sp>
      <p:sp>
        <p:nvSpPr>
          <p:cNvPr id="5" name="矩形 4"/>
          <p:cNvSpPr/>
          <p:nvPr/>
        </p:nvSpPr>
        <p:spPr>
          <a:xfrm>
            <a:off x="971600" y="1995686"/>
            <a:ext cx="2880320" cy="2316788"/>
          </a:xfrm>
          <a:prstGeom prst="rect">
            <a:avLst/>
          </a:prstGeom>
          <a:solidFill>
            <a:srgbClr val="0070C0"/>
          </a:solidFill>
        </p:spPr>
        <p:txBody>
          <a:bodyPr wrap="square">
            <a:spAutoFit/>
          </a:bodyPr>
          <a:lstStyle/>
          <a:p>
            <a:pPr>
              <a:lnSpc>
                <a:spcPct val="114000"/>
              </a:lnSpc>
            </a:pPr>
            <a:r>
              <a:rPr lang="zh-CN" altLang="en-US" sz="1600" dirty="0">
                <a:solidFill>
                  <a:schemeClr val="bg1"/>
                </a:solidFill>
                <a:latin typeface="微软雅黑" pitchFamily="34" charset="-122"/>
                <a:ea typeface="微软雅黑" pitchFamily="34" charset="-122"/>
              </a:rPr>
              <a:t>（</a:t>
            </a:r>
            <a:r>
              <a:rPr lang="en-US" altLang="zh-CN" sz="1600" dirty="0">
                <a:solidFill>
                  <a:schemeClr val="bg1"/>
                </a:solidFill>
                <a:latin typeface="微软雅黑" pitchFamily="34" charset="-122"/>
                <a:ea typeface="微软雅黑" pitchFamily="34" charset="-122"/>
              </a:rPr>
              <a:t>1</a:t>
            </a:r>
            <a:r>
              <a:rPr lang="zh-CN" altLang="en-US" sz="1600" dirty="0">
                <a:solidFill>
                  <a:schemeClr val="bg1"/>
                </a:solidFill>
                <a:latin typeface="微软雅黑" pitchFamily="34" charset="-122"/>
                <a:ea typeface="微软雅黑" pitchFamily="34" charset="-122"/>
              </a:rPr>
              <a:t>）毫米波雷达的</a:t>
            </a:r>
            <a:r>
              <a:rPr lang="zh-CN" altLang="en-US" sz="1600" dirty="0" smtClean="0">
                <a:solidFill>
                  <a:schemeClr val="bg1"/>
                </a:solidFill>
                <a:latin typeface="微软雅黑" pitchFamily="34" charset="-122"/>
                <a:ea typeface="微软雅黑" pitchFamily="34" charset="-122"/>
              </a:rPr>
              <a:t>定义</a:t>
            </a:r>
            <a:endParaRPr lang="en-US" altLang="zh-CN" sz="1600" dirty="0" smtClean="0">
              <a:solidFill>
                <a:schemeClr val="bg1"/>
              </a:solidFill>
              <a:latin typeface="微软雅黑" pitchFamily="34" charset="-122"/>
              <a:ea typeface="微软雅黑" pitchFamily="34" charset="-122"/>
            </a:endParaRPr>
          </a:p>
          <a:p>
            <a:pPr>
              <a:lnSpc>
                <a:spcPct val="114000"/>
              </a:lnSpc>
            </a:pPr>
            <a:r>
              <a:rPr lang="zh-CN" altLang="en-US" sz="1600" dirty="0" smtClean="0">
                <a:solidFill>
                  <a:schemeClr val="bg1"/>
                </a:solidFill>
                <a:latin typeface="微软雅黑" pitchFamily="34" charset="-122"/>
                <a:ea typeface="微软雅黑" pitchFamily="34" charset="-122"/>
              </a:rPr>
              <a:t>毫米波</a:t>
            </a:r>
            <a:r>
              <a:rPr lang="zh-CN" altLang="en-US" sz="1600" dirty="0">
                <a:solidFill>
                  <a:schemeClr val="bg1"/>
                </a:solidFill>
                <a:latin typeface="微软雅黑" pitchFamily="34" charset="-122"/>
                <a:ea typeface="微软雅黑" pitchFamily="34" charset="-122"/>
              </a:rPr>
              <a:t>是指波长为 </a:t>
            </a:r>
            <a:r>
              <a:rPr lang="en-US" altLang="zh-CN" sz="1600" dirty="0">
                <a:solidFill>
                  <a:schemeClr val="bg1"/>
                </a:solidFill>
                <a:latin typeface="微软雅黑" pitchFamily="34" charset="-122"/>
                <a:ea typeface="微软雅黑" pitchFamily="34" charset="-122"/>
              </a:rPr>
              <a:t>1~10mm </a:t>
            </a:r>
            <a:r>
              <a:rPr lang="zh-CN" altLang="en-US" sz="1600" dirty="0">
                <a:solidFill>
                  <a:schemeClr val="bg1"/>
                </a:solidFill>
                <a:latin typeface="微软雅黑" pitchFamily="34" charset="-122"/>
                <a:ea typeface="微软雅黑" pitchFamily="34" charset="-122"/>
              </a:rPr>
              <a:t>的电磁波，对应的频率范围</a:t>
            </a:r>
            <a:r>
              <a:rPr lang="zh-CN" altLang="en-US" sz="1600" dirty="0" smtClean="0">
                <a:solidFill>
                  <a:schemeClr val="bg1"/>
                </a:solidFill>
                <a:latin typeface="微软雅黑" pitchFamily="34" charset="-122"/>
                <a:ea typeface="微软雅黑" pitchFamily="34" charset="-122"/>
              </a:rPr>
              <a:t>为</a:t>
            </a:r>
            <a:r>
              <a:rPr lang="en-US" altLang="zh-CN" sz="1600" dirty="0" smtClean="0">
                <a:solidFill>
                  <a:schemeClr val="bg1"/>
                </a:solidFill>
                <a:latin typeface="微软雅黑" pitchFamily="34" charset="-122"/>
                <a:ea typeface="微软雅黑" pitchFamily="34" charset="-122"/>
              </a:rPr>
              <a:t>30~300GHz</a:t>
            </a:r>
            <a:r>
              <a:rPr lang="zh-CN" altLang="en-US" sz="1600" dirty="0" smtClean="0">
                <a:solidFill>
                  <a:schemeClr val="bg1"/>
                </a:solidFill>
                <a:latin typeface="微软雅黑" pitchFamily="34" charset="-122"/>
                <a:ea typeface="微软雅黑" pitchFamily="34" charset="-122"/>
              </a:rPr>
              <a:t>。</a:t>
            </a:r>
            <a:endParaRPr lang="en-US" altLang="zh-CN" sz="1600" dirty="0" smtClean="0">
              <a:solidFill>
                <a:schemeClr val="bg1"/>
              </a:solidFill>
              <a:latin typeface="微软雅黑" pitchFamily="34" charset="-122"/>
              <a:ea typeface="微软雅黑" pitchFamily="34" charset="-122"/>
            </a:endParaRPr>
          </a:p>
          <a:p>
            <a:pPr>
              <a:lnSpc>
                <a:spcPct val="114000"/>
              </a:lnSpc>
            </a:pPr>
            <a:r>
              <a:rPr lang="zh-CN" altLang="en-US" sz="1600" dirty="0" smtClean="0">
                <a:solidFill>
                  <a:schemeClr val="bg1"/>
                </a:solidFill>
                <a:latin typeface="微软雅黑" pitchFamily="34" charset="-122"/>
                <a:ea typeface="微软雅黑" pitchFamily="34" charset="-122"/>
              </a:rPr>
              <a:t>毫米波位于微波</a:t>
            </a:r>
            <a:r>
              <a:rPr lang="zh-CN" altLang="en-US" sz="1600" dirty="0">
                <a:solidFill>
                  <a:schemeClr val="bg1"/>
                </a:solidFill>
                <a:latin typeface="微软雅黑" pitchFamily="34" charset="-122"/>
                <a:ea typeface="微软雅黑" pitchFamily="34" charset="-122"/>
              </a:rPr>
              <a:t>与远红外波相交叠的波长范围，所以毫米波兼有这两种波谱的优点，同时也有自己 独特的性质</a:t>
            </a:r>
            <a:r>
              <a:rPr lang="zh-CN" altLang="en-US" sz="1600" dirty="0" smtClean="0">
                <a:solidFill>
                  <a:schemeClr val="bg1"/>
                </a:solidFill>
                <a:latin typeface="微软雅黑" pitchFamily="34" charset="-122"/>
                <a:ea typeface="微软雅黑" pitchFamily="34" charset="-122"/>
              </a:rPr>
              <a:t>。</a:t>
            </a:r>
            <a:endParaRPr lang="zh-CN" altLang="en-US" sz="1600" dirty="0">
              <a:solidFill>
                <a:schemeClr val="bg1"/>
              </a:solidFill>
              <a:latin typeface="微软雅黑" pitchFamily="34" charset="-122"/>
              <a:ea typeface="微软雅黑" pitchFamily="34" charset="-122"/>
            </a:endParaRPr>
          </a:p>
        </p:txBody>
      </p:sp>
      <p:pic>
        <p:nvPicPr>
          <p:cNvPr id="717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81948" y="1687890"/>
            <a:ext cx="3869254" cy="16759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3" name="矩形 12"/>
          <p:cNvSpPr/>
          <p:nvPr/>
        </p:nvSpPr>
        <p:spPr>
          <a:xfrm>
            <a:off x="4283968" y="3579862"/>
            <a:ext cx="3867233" cy="830997"/>
          </a:xfrm>
          <a:prstGeom prst="rect">
            <a:avLst/>
          </a:prstGeom>
          <a:solidFill>
            <a:srgbClr val="0070C0"/>
          </a:solidFill>
        </p:spPr>
        <p:txBody>
          <a:bodyPr wrap="square">
            <a:spAutoFit/>
          </a:bodyPr>
          <a:lstStyle/>
          <a:p>
            <a:pPr>
              <a:lnSpc>
                <a:spcPct val="150000"/>
              </a:lnSpc>
            </a:pPr>
            <a:r>
              <a:rPr lang="zh-CN" altLang="en-US" sz="1600" dirty="0" smtClean="0">
                <a:solidFill>
                  <a:schemeClr val="bg1"/>
                </a:solidFill>
                <a:latin typeface="微软雅黑" pitchFamily="34" charset="-122"/>
                <a:ea typeface="微软雅黑" pitchFamily="34" charset="-122"/>
              </a:rPr>
              <a:t>毫米波</a:t>
            </a:r>
            <a:r>
              <a:rPr lang="zh-CN" altLang="en-US" sz="1600" dirty="0">
                <a:solidFill>
                  <a:schemeClr val="bg1"/>
                </a:solidFill>
                <a:latin typeface="微软雅黑" pitchFamily="34" charset="-122"/>
                <a:ea typeface="微软雅黑" pitchFamily="34" charset="-122"/>
              </a:rPr>
              <a:t>雷达（传感器）是工作在毫米波频段的</a:t>
            </a:r>
            <a:r>
              <a:rPr lang="zh-CN" altLang="en-US" sz="1600" dirty="0" smtClean="0">
                <a:solidFill>
                  <a:schemeClr val="bg1"/>
                </a:solidFill>
                <a:latin typeface="微软雅黑" pitchFamily="34" charset="-122"/>
                <a:ea typeface="微软雅黑" pitchFamily="34" charset="-122"/>
              </a:rPr>
              <a:t>雷达。</a:t>
            </a:r>
            <a:endParaRPr lang="zh-CN" altLang="en-US" sz="1600" dirty="0">
              <a:solidFill>
                <a:schemeClr val="bg1"/>
              </a:solidFill>
              <a:latin typeface="微软雅黑" pitchFamily="34" charset="-122"/>
              <a:ea typeface="微软雅黑" pitchFamily="34" charset="-122"/>
            </a:endParaRPr>
          </a:p>
        </p:txBody>
      </p:sp>
    </p:spTree>
    <p:extLst>
      <p:ext uri="{BB962C8B-B14F-4D97-AF65-F5344CB8AC3E}">
        <p14:creationId xmlns:p14="http://schemas.microsoft.com/office/powerpoint/2010/main" val="336345939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a:xfrm>
            <a:off x="107504" y="4840397"/>
            <a:ext cx="2133600" cy="273844"/>
          </a:xfrm>
        </p:spPr>
        <p:txBody>
          <a:bodyPr/>
          <a:lstStyle/>
          <a:p>
            <a:pPr algn="l"/>
            <a:fld id="{0C913308-F349-4B6D-A68A-DD1791B4A57B}" type="slidenum">
              <a:rPr lang="zh-CN" altLang="en-US" smtClean="0"/>
              <a:t>21</a:t>
            </a:fld>
            <a:endParaRPr lang="zh-CN" altLang="en-US" dirty="0"/>
          </a:p>
        </p:txBody>
      </p:sp>
      <p:sp>
        <p:nvSpPr>
          <p:cNvPr id="9" name="Text Box 8"/>
          <p:cNvSpPr>
            <a:spLocks noChangeArrowheads="1"/>
          </p:cNvSpPr>
          <p:nvPr/>
        </p:nvSpPr>
        <p:spPr bwMode="auto">
          <a:xfrm>
            <a:off x="971600" y="411510"/>
            <a:ext cx="7573236" cy="107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9pPr>
          </a:lstStyle>
          <a:p>
            <a:pPr algn="ctr" eaLnBrk="1" hangingPunct="1">
              <a:spcBef>
                <a:spcPct val="0"/>
              </a:spcBef>
              <a:buFont typeface="Arial" panose="020B0604020202020204" pitchFamily="34" charset="0"/>
              <a:buNone/>
            </a:pPr>
            <a:r>
              <a:rPr lang="zh-CN" altLang="en-US" sz="3200" b="1" dirty="0" smtClean="0">
                <a:solidFill>
                  <a:schemeClr val="accent1"/>
                </a:solidFill>
                <a:latin typeface="微软雅黑" panose="020B0503020204020204" pitchFamily="34" charset="-122"/>
              </a:rPr>
              <a:t>什么是雷达？雷达在智能网联汽车上有哪些实际应用？</a:t>
            </a:r>
          </a:p>
        </p:txBody>
      </p:sp>
      <p:sp>
        <p:nvSpPr>
          <p:cNvPr id="10" name="矩形 9"/>
          <p:cNvSpPr/>
          <p:nvPr/>
        </p:nvSpPr>
        <p:spPr>
          <a:xfrm>
            <a:off x="971600" y="1487835"/>
            <a:ext cx="1699504" cy="400110"/>
          </a:xfrm>
          <a:prstGeom prst="rect">
            <a:avLst/>
          </a:prstGeom>
          <a:solidFill>
            <a:srgbClr val="0070C0"/>
          </a:solidFill>
        </p:spPr>
        <p:txBody>
          <a:bodyPr wrap="none">
            <a:spAutoFit/>
          </a:bodyPr>
          <a:lstStyle/>
          <a:p>
            <a:pPr algn="l" fontAlgn="ctr"/>
            <a:r>
              <a:rPr lang="en-US" sz="2000" b="1" dirty="0" smtClean="0">
                <a:solidFill>
                  <a:schemeClr val="bg1"/>
                </a:solidFill>
                <a:latin typeface="微软雅黑" panose="020B0503020204020204" pitchFamily="34" charset="-122"/>
                <a:ea typeface="微软雅黑" panose="020B0503020204020204" pitchFamily="34" charset="-122"/>
              </a:rPr>
              <a:t>2</a:t>
            </a:r>
            <a:r>
              <a:rPr sz="2000" b="1" dirty="0" smtClean="0">
                <a:solidFill>
                  <a:schemeClr val="bg1"/>
                </a:solidFill>
                <a:latin typeface="微软雅黑" panose="020B0503020204020204" pitchFamily="34" charset="-122"/>
                <a:ea typeface="微软雅黑" panose="020B0503020204020204" pitchFamily="34" charset="-122"/>
              </a:rPr>
              <a:t>.</a:t>
            </a:r>
            <a:r>
              <a:rPr lang="zh-CN" altLang="en-US" sz="2000" b="1" dirty="0" smtClean="0">
                <a:solidFill>
                  <a:schemeClr val="bg1"/>
                </a:solidFill>
                <a:latin typeface="微软雅黑" panose="020B0503020204020204" pitchFamily="34" charset="-122"/>
                <a:ea typeface="微软雅黑" panose="020B0503020204020204" pitchFamily="34" charset="-122"/>
              </a:rPr>
              <a:t>毫米</a:t>
            </a:r>
            <a:r>
              <a:rPr sz="2000" b="1" dirty="0" err="1" smtClean="0">
                <a:solidFill>
                  <a:schemeClr val="bg1"/>
                </a:solidFill>
                <a:latin typeface="微软雅黑" panose="020B0503020204020204" pitchFamily="34" charset="-122"/>
                <a:ea typeface="微软雅黑" panose="020B0503020204020204" pitchFamily="34" charset="-122"/>
              </a:rPr>
              <a:t>波雷达</a:t>
            </a:r>
            <a:endParaRPr sz="2000" b="1" dirty="0" smtClean="0">
              <a:solidFill>
                <a:schemeClr val="bg1"/>
              </a:solidFill>
              <a:latin typeface="微软雅黑" panose="020B0503020204020204" pitchFamily="34" charset="-122"/>
              <a:ea typeface="微软雅黑" panose="020B0503020204020204" pitchFamily="34" charset="-122"/>
            </a:endParaRPr>
          </a:p>
        </p:txBody>
      </p:sp>
      <p:sp>
        <p:nvSpPr>
          <p:cNvPr id="2" name="矩形 1"/>
          <p:cNvSpPr/>
          <p:nvPr/>
        </p:nvSpPr>
        <p:spPr>
          <a:xfrm>
            <a:off x="971600" y="1995686"/>
            <a:ext cx="3600400" cy="1495922"/>
          </a:xfrm>
          <a:prstGeom prst="rect">
            <a:avLst/>
          </a:prstGeom>
          <a:solidFill>
            <a:srgbClr val="0070C0"/>
          </a:solidFill>
        </p:spPr>
        <p:txBody>
          <a:bodyPr wrap="square">
            <a:spAutoFit/>
          </a:bodyPr>
          <a:lstStyle/>
          <a:p>
            <a:pPr>
              <a:lnSpc>
                <a:spcPct val="114000"/>
              </a:lnSpc>
            </a:pPr>
            <a:r>
              <a:rPr lang="zh-CN" altLang="en-US" sz="1600" dirty="0">
                <a:solidFill>
                  <a:schemeClr val="bg1"/>
                </a:solidFill>
                <a:latin typeface="微软雅黑" pitchFamily="34" charset="-122"/>
                <a:ea typeface="微软雅黑" pitchFamily="34" charset="-122"/>
              </a:rPr>
              <a:t>（</a:t>
            </a:r>
            <a:r>
              <a:rPr lang="en-US" altLang="zh-CN" sz="1600" dirty="0">
                <a:solidFill>
                  <a:schemeClr val="bg1"/>
                </a:solidFill>
                <a:latin typeface="微软雅黑" pitchFamily="34" charset="-122"/>
                <a:ea typeface="微软雅黑" pitchFamily="34" charset="-122"/>
              </a:rPr>
              <a:t>2</a:t>
            </a:r>
            <a:r>
              <a:rPr lang="zh-CN" altLang="en-US" sz="1600" dirty="0">
                <a:solidFill>
                  <a:schemeClr val="bg1"/>
                </a:solidFill>
                <a:latin typeface="微软雅黑" pitchFamily="34" charset="-122"/>
                <a:ea typeface="微软雅黑" pitchFamily="34" charset="-122"/>
              </a:rPr>
              <a:t>）毫米波雷达的测距</a:t>
            </a:r>
            <a:r>
              <a:rPr lang="zh-CN" altLang="en-US" sz="1600" dirty="0" smtClean="0">
                <a:solidFill>
                  <a:schemeClr val="bg1"/>
                </a:solidFill>
                <a:latin typeface="微软雅黑" pitchFamily="34" charset="-122"/>
                <a:ea typeface="微软雅黑" pitchFamily="34" charset="-122"/>
              </a:rPr>
              <a:t>原理</a:t>
            </a:r>
            <a:endParaRPr lang="en-US" altLang="zh-CN" sz="1600" dirty="0" smtClean="0">
              <a:solidFill>
                <a:schemeClr val="bg1"/>
              </a:solidFill>
              <a:latin typeface="微软雅黑" pitchFamily="34" charset="-122"/>
              <a:ea typeface="微软雅黑" pitchFamily="34" charset="-122"/>
            </a:endParaRPr>
          </a:p>
          <a:p>
            <a:pPr>
              <a:lnSpc>
                <a:spcPct val="114000"/>
              </a:lnSpc>
            </a:pPr>
            <a:r>
              <a:rPr lang="zh-CN" altLang="en-US" sz="1600" dirty="0" smtClean="0">
                <a:solidFill>
                  <a:schemeClr val="bg1"/>
                </a:solidFill>
                <a:latin typeface="微软雅黑" pitchFamily="34" charset="-122"/>
                <a:ea typeface="微软雅黑" pitchFamily="34" charset="-122"/>
              </a:rPr>
              <a:t>毫米波雷达通过</a:t>
            </a:r>
            <a:r>
              <a:rPr lang="zh-CN" altLang="en-US" sz="1600" dirty="0">
                <a:solidFill>
                  <a:schemeClr val="bg1"/>
                </a:solidFill>
                <a:latin typeface="微软雅黑" pitchFamily="34" charset="-122"/>
                <a:ea typeface="微软雅黑" pitchFamily="34" charset="-122"/>
              </a:rPr>
              <a:t>天线向外发射毫米波，接收机接收</a:t>
            </a:r>
            <a:r>
              <a:rPr lang="zh-CN" altLang="en-US" sz="1600" dirty="0" smtClean="0">
                <a:solidFill>
                  <a:schemeClr val="bg1"/>
                </a:solidFill>
                <a:latin typeface="微软雅黑" pitchFamily="34" charset="-122"/>
                <a:ea typeface="微软雅黑" pitchFamily="34" charset="-122"/>
              </a:rPr>
              <a:t>目标</a:t>
            </a:r>
            <a:r>
              <a:rPr lang="zh-CN" altLang="en-US" sz="1600" dirty="0">
                <a:solidFill>
                  <a:schemeClr val="bg1"/>
                </a:solidFill>
                <a:latin typeface="微软雅黑" pitchFamily="34" charset="-122"/>
                <a:ea typeface="微软雅黑" pitchFamily="34" charset="-122"/>
              </a:rPr>
              <a:t>反射信号，经信号处理器处理后快速准确地获取汽车周围的环境</a:t>
            </a:r>
            <a:r>
              <a:rPr lang="zh-CN" altLang="en-US" sz="1600" dirty="0" smtClean="0">
                <a:solidFill>
                  <a:schemeClr val="bg1"/>
                </a:solidFill>
                <a:latin typeface="微软雅黑" pitchFamily="34" charset="-122"/>
                <a:ea typeface="微软雅黑" pitchFamily="34" charset="-122"/>
              </a:rPr>
              <a:t>信息。</a:t>
            </a:r>
            <a:endParaRPr lang="zh-CN" altLang="en-US" sz="1600" dirty="0">
              <a:solidFill>
                <a:schemeClr val="bg1"/>
              </a:solidFill>
              <a:latin typeface="微软雅黑" pitchFamily="34" charset="-122"/>
              <a:ea typeface="微软雅黑" pitchFamily="34" charset="-122"/>
            </a:endParaRPr>
          </a:p>
        </p:txBody>
      </p:sp>
      <p:pic>
        <p:nvPicPr>
          <p:cNvPr id="11" name="图片 10" descr="C:\Users\Lenovo\AppData\Local\Temp\1621005313(1).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a:xfrm>
            <a:off x="4758218" y="1804228"/>
            <a:ext cx="3378300" cy="1706472"/>
          </a:xfrm>
          <a:prstGeom prst="rect">
            <a:avLst/>
          </a:prstGeom>
          <a:noFill/>
          <a:ln w="12700" cmpd="sng">
            <a:solidFill>
              <a:schemeClr val="accent1">
                <a:shade val="50000"/>
              </a:schemeClr>
            </a:solidFill>
            <a:prstDash val="solid"/>
          </a:ln>
        </p:spPr>
      </p:pic>
      <p:sp>
        <p:nvSpPr>
          <p:cNvPr id="12" name="矩形 11"/>
          <p:cNvSpPr/>
          <p:nvPr/>
        </p:nvSpPr>
        <p:spPr>
          <a:xfrm>
            <a:off x="971600" y="3550375"/>
            <a:ext cx="7164917" cy="1215204"/>
          </a:xfrm>
          <a:prstGeom prst="rect">
            <a:avLst/>
          </a:prstGeom>
          <a:solidFill>
            <a:srgbClr val="0070C0"/>
          </a:solidFill>
        </p:spPr>
        <p:txBody>
          <a:bodyPr wrap="square">
            <a:spAutoFit/>
          </a:bodyPr>
          <a:lstStyle/>
          <a:p>
            <a:pPr>
              <a:lnSpc>
                <a:spcPct val="114000"/>
              </a:lnSpc>
            </a:pPr>
            <a:r>
              <a:rPr lang="zh-CN" altLang="en-US" sz="1600" dirty="0" smtClean="0">
                <a:solidFill>
                  <a:schemeClr val="bg1"/>
                </a:solidFill>
                <a:latin typeface="微软雅黑" pitchFamily="34" charset="-122"/>
                <a:ea typeface="微软雅黑" pitchFamily="34" charset="-122"/>
              </a:rPr>
              <a:t>根据</a:t>
            </a:r>
            <a:r>
              <a:rPr lang="zh-CN" altLang="en-US" sz="1600" dirty="0">
                <a:solidFill>
                  <a:schemeClr val="bg1"/>
                </a:solidFill>
                <a:latin typeface="微软雅黑" pitchFamily="34" charset="-122"/>
                <a:ea typeface="微软雅黑" pitchFamily="34" charset="-122"/>
              </a:rPr>
              <a:t>所探知的物体信息进行</a:t>
            </a:r>
            <a:r>
              <a:rPr lang="zh-CN" altLang="en-US" sz="1600" dirty="0" smtClean="0">
                <a:solidFill>
                  <a:schemeClr val="bg1"/>
                </a:solidFill>
                <a:latin typeface="微软雅黑" pitchFamily="34" charset="-122"/>
                <a:ea typeface="微软雅黑" pitchFamily="34" charset="-122"/>
              </a:rPr>
              <a:t>目标追踪</a:t>
            </a:r>
            <a:r>
              <a:rPr lang="zh-CN" altLang="en-US" sz="1600" dirty="0">
                <a:solidFill>
                  <a:schemeClr val="bg1"/>
                </a:solidFill>
                <a:latin typeface="微软雅黑" pitchFamily="34" charset="-122"/>
                <a:ea typeface="微软雅黑" pitchFamily="34" charset="-122"/>
              </a:rPr>
              <a:t>和识别，进而结合车身动态信息进行数据融合，最终通过控制单元（</a:t>
            </a:r>
            <a:r>
              <a:rPr lang="en-US" altLang="zh-CN" sz="1600" dirty="0">
                <a:solidFill>
                  <a:schemeClr val="bg1"/>
                </a:solidFill>
                <a:latin typeface="微软雅黑" pitchFamily="34" charset="-122"/>
                <a:ea typeface="微软雅黑" pitchFamily="34" charset="-122"/>
              </a:rPr>
              <a:t>ECU</a:t>
            </a:r>
            <a:r>
              <a:rPr lang="zh-CN" altLang="en-US" sz="1600" dirty="0">
                <a:solidFill>
                  <a:schemeClr val="bg1"/>
                </a:solidFill>
                <a:latin typeface="微软雅黑" pitchFamily="34" charset="-122"/>
                <a:ea typeface="微软雅黑" pitchFamily="34" charset="-122"/>
              </a:rPr>
              <a:t>）进行</a:t>
            </a:r>
            <a:r>
              <a:rPr lang="zh-CN" altLang="en-US" sz="1600" dirty="0" smtClean="0">
                <a:solidFill>
                  <a:schemeClr val="bg1"/>
                </a:solidFill>
                <a:latin typeface="微软雅黑" pitchFamily="34" charset="-122"/>
                <a:ea typeface="微软雅黑" pitchFamily="34" charset="-122"/>
              </a:rPr>
              <a:t>智能处理</a:t>
            </a:r>
            <a:r>
              <a:rPr lang="zh-CN" altLang="en-US" sz="1600" dirty="0">
                <a:solidFill>
                  <a:schemeClr val="bg1"/>
                </a:solidFill>
                <a:latin typeface="微软雅黑" pitchFamily="34" charset="-122"/>
                <a:ea typeface="微软雅黑" pitchFamily="34" charset="-122"/>
              </a:rPr>
              <a:t>。经合理决策后，以声、光及触觉等多种方式告知或警告驾驶员，或及时对汽车</a:t>
            </a:r>
            <a:r>
              <a:rPr lang="zh-CN" altLang="en-US" sz="1600" dirty="0" smtClean="0">
                <a:solidFill>
                  <a:schemeClr val="bg1"/>
                </a:solidFill>
                <a:latin typeface="微软雅黑" pitchFamily="34" charset="-122"/>
                <a:ea typeface="微软雅黑" pitchFamily="34" charset="-122"/>
              </a:rPr>
              <a:t>做出主动</a:t>
            </a:r>
            <a:r>
              <a:rPr lang="zh-CN" altLang="en-US" sz="1600" dirty="0">
                <a:solidFill>
                  <a:schemeClr val="bg1"/>
                </a:solidFill>
                <a:latin typeface="微软雅黑" pitchFamily="34" charset="-122"/>
                <a:ea typeface="微软雅黑" pitchFamily="34" charset="-122"/>
              </a:rPr>
              <a:t>干预，从而保证汽车行驶的安全性和舒适性，减少事故发生率。</a:t>
            </a:r>
          </a:p>
        </p:txBody>
      </p:sp>
    </p:spTree>
    <p:extLst>
      <p:ext uri="{BB962C8B-B14F-4D97-AF65-F5344CB8AC3E}">
        <p14:creationId xmlns:p14="http://schemas.microsoft.com/office/powerpoint/2010/main" val="358493000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a:xfrm>
            <a:off x="107504" y="4840397"/>
            <a:ext cx="2133600" cy="273844"/>
          </a:xfrm>
        </p:spPr>
        <p:txBody>
          <a:bodyPr/>
          <a:lstStyle/>
          <a:p>
            <a:pPr algn="l"/>
            <a:fld id="{0C913308-F349-4B6D-A68A-DD1791B4A57B}" type="slidenum">
              <a:rPr lang="zh-CN" altLang="en-US" smtClean="0"/>
              <a:t>22</a:t>
            </a:fld>
            <a:endParaRPr lang="zh-CN" altLang="en-US" dirty="0"/>
          </a:p>
        </p:txBody>
      </p:sp>
      <p:sp>
        <p:nvSpPr>
          <p:cNvPr id="9" name="Text Box 8"/>
          <p:cNvSpPr>
            <a:spLocks noChangeArrowheads="1"/>
          </p:cNvSpPr>
          <p:nvPr/>
        </p:nvSpPr>
        <p:spPr bwMode="auto">
          <a:xfrm>
            <a:off x="971600" y="411510"/>
            <a:ext cx="7573236" cy="107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9pPr>
          </a:lstStyle>
          <a:p>
            <a:pPr algn="ctr" eaLnBrk="1" hangingPunct="1">
              <a:spcBef>
                <a:spcPct val="0"/>
              </a:spcBef>
              <a:buFont typeface="Arial" panose="020B0604020202020204" pitchFamily="34" charset="0"/>
              <a:buNone/>
            </a:pPr>
            <a:r>
              <a:rPr lang="zh-CN" altLang="en-US" sz="3200" b="1" dirty="0" smtClean="0">
                <a:solidFill>
                  <a:schemeClr val="accent1"/>
                </a:solidFill>
                <a:latin typeface="微软雅黑" panose="020B0503020204020204" pitchFamily="34" charset="-122"/>
              </a:rPr>
              <a:t>什么是雷达？雷达在智能网联汽车上有哪些实际应用？</a:t>
            </a:r>
          </a:p>
        </p:txBody>
      </p:sp>
      <p:sp>
        <p:nvSpPr>
          <p:cNvPr id="10" name="矩形 9"/>
          <p:cNvSpPr/>
          <p:nvPr/>
        </p:nvSpPr>
        <p:spPr>
          <a:xfrm>
            <a:off x="971600" y="1487835"/>
            <a:ext cx="1699504" cy="400110"/>
          </a:xfrm>
          <a:prstGeom prst="rect">
            <a:avLst/>
          </a:prstGeom>
          <a:solidFill>
            <a:srgbClr val="0070C0"/>
          </a:solidFill>
        </p:spPr>
        <p:txBody>
          <a:bodyPr wrap="none">
            <a:spAutoFit/>
          </a:bodyPr>
          <a:lstStyle/>
          <a:p>
            <a:pPr algn="l" fontAlgn="ctr"/>
            <a:r>
              <a:rPr lang="en-US" sz="2000" b="1" dirty="0" smtClean="0">
                <a:solidFill>
                  <a:schemeClr val="bg1"/>
                </a:solidFill>
                <a:latin typeface="微软雅黑" panose="020B0503020204020204" pitchFamily="34" charset="-122"/>
                <a:ea typeface="微软雅黑" panose="020B0503020204020204" pitchFamily="34" charset="-122"/>
              </a:rPr>
              <a:t>2</a:t>
            </a:r>
            <a:r>
              <a:rPr sz="2000" b="1" dirty="0" smtClean="0">
                <a:solidFill>
                  <a:schemeClr val="bg1"/>
                </a:solidFill>
                <a:latin typeface="微软雅黑" panose="020B0503020204020204" pitchFamily="34" charset="-122"/>
                <a:ea typeface="微软雅黑" panose="020B0503020204020204" pitchFamily="34" charset="-122"/>
              </a:rPr>
              <a:t>.</a:t>
            </a:r>
            <a:r>
              <a:rPr lang="zh-CN" altLang="en-US" sz="2000" b="1" dirty="0" smtClean="0">
                <a:solidFill>
                  <a:schemeClr val="bg1"/>
                </a:solidFill>
                <a:latin typeface="微软雅黑" panose="020B0503020204020204" pitchFamily="34" charset="-122"/>
                <a:ea typeface="微软雅黑" panose="020B0503020204020204" pitchFamily="34" charset="-122"/>
              </a:rPr>
              <a:t>毫米</a:t>
            </a:r>
            <a:r>
              <a:rPr sz="2000" b="1" dirty="0" err="1" smtClean="0">
                <a:solidFill>
                  <a:schemeClr val="bg1"/>
                </a:solidFill>
                <a:latin typeface="微软雅黑" panose="020B0503020204020204" pitchFamily="34" charset="-122"/>
                <a:ea typeface="微软雅黑" panose="020B0503020204020204" pitchFamily="34" charset="-122"/>
              </a:rPr>
              <a:t>波雷达</a:t>
            </a:r>
            <a:endParaRPr sz="2000" b="1" dirty="0" smtClean="0">
              <a:solidFill>
                <a:schemeClr val="bg1"/>
              </a:solidFill>
              <a:latin typeface="微软雅黑" panose="020B0503020204020204" pitchFamily="34" charset="-122"/>
              <a:ea typeface="微软雅黑" panose="020B0503020204020204" pitchFamily="34" charset="-122"/>
            </a:endParaRPr>
          </a:p>
        </p:txBody>
      </p:sp>
      <p:sp>
        <p:nvSpPr>
          <p:cNvPr id="4" name="矩形 3"/>
          <p:cNvSpPr/>
          <p:nvPr/>
        </p:nvSpPr>
        <p:spPr>
          <a:xfrm>
            <a:off x="971600" y="1964958"/>
            <a:ext cx="5400600" cy="584775"/>
          </a:xfrm>
          <a:prstGeom prst="rect">
            <a:avLst/>
          </a:prstGeom>
          <a:solidFill>
            <a:srgbClr val="0070C0"/>
          </a:solidFill>
        </p:spPr>
        <p:txBody>
          <a:bodyPr wrap="square">
            <a:spAutoFit/>
          </a:bodyPr>
          <a:lstStyle/>
          <a:p>
            <a:r>
              <a:rPr lang="zh-CN" altLang="en-US" sz="1600" dirty="0">
                <a:solidFill>
                  <a:schemeClr val="bg1"/>
                </a:solidFill>
                <a:latin typeface="微软雅黑" pitchFamily="34" charset="-122"/>
                <a:ea typeface="微软雅黑" pitchFamily="34" charset="-122"/>
              </a:rPr>
              <a:t>（</a:t>
            </a:r>
            <a:r>
              <a:rPr lang="en-US" altLang="zh-CN" sz="1600" dirty="0">
                <a:solidFill>
                  <a:schemeClr val="bg1"/>
                </a:solidFill>
                <a:latin typeface="微软雅黑" pitchFamily="34" charset="-122"/>
                <a:ea typeface="微软雅黑" pitchFamily="34" charset="-122"/>
              </a:rPr>
              <a:t>3</a:t>
            </a:r>
            <a:r>
              <a:rPr lang="zh-CN" altLang="en-US" sz="1600" dirty="0">
                <a:solidFill>
                  <a:schemeClr val="bg1"/>
                </a:solidFill>
                <a:latin typeface="微软雅黑" pitchFamily="34" charset="-122"/>
                <a:ea typeface="微软雅黑" pitchFamily="34" charset="-122"/>
              </a:rPr>
              <a:t>）毫米波雷达的类型 </a:t>
            </a:r>
            <a:endParaRPr lang="en-US" altLang="zh-CN" sz="1600" dirty="0" smtClean="0">
              <a:solidFill>
                <a:schemeClr val="bg1"/>
              </a:solidFill>
              <a:latin typeface="微软雅黑" pitchFamily="34" charset="-122"/>
              <a:ea typeface="微软雅黑" pitchFamily="34" charset="-122"/>
            </a:endParaRPr>
          </a:p>
          <a:p>
            <a:r>
              <a:rPr lang="zh-CN" altLang="en-US" sz="1600" dirty="0" smtClean="0">
                <a:solidFill>
                  <a:schemeClr val="bg1"/>
                </a:solidFill>
                <a:latin typeface="微软雅黑" pitchFamily="34" charset="-122"/>
                <a:ea typeface="微软雅黑" pitchFamily="34" charset="-122"/>
              </a:rPr>
              <a:t>毫米波</a:t>
            </a:r>
            <a:r>
              <a:rPr lang="zh-CN" altLang="en-US" sz="1600" dirty="0">
                <a:solidFill>
                  <a:schemeClr val="bg1"/>
                </a:solidFill>
                <a:latin typeface="微软雅黑" pitchFamily="34" charset="-122"/>
                <a:ea typeface="微软雅黑" pitchFamily="34" charset="-122"/>
              </a:rPr>
              <a:t>雷达可以按照工作原理、频段和探测距离进行分类。</a:t>
            </a:r>
          </a:p>
        </p:txBody>
      </p:sp>
      <p:pic>
        <p:nvPicPr>
          <p:cNvPr id="819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31639" y="2712066"/>
            <a:ext cx="6119731" cy="20553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a:xfrm>
            <a:off x="107504" y="4840397"/>
            <a:ext cx="2133600" cy="273844"/>
          </a:xfrm>
        </p:spPr>
        <p:txBody>
          <a:bodyPr/>
          <a:lstStyle/>
          <a:p>
            <a:pPr algn="l"/>
            <a:fld id="{0C913308-F349-4B6D-A68A-DD1791B4A57B}" type="slidenum">
              <a:rPr lang="zh-CN" altLang="en-US" smtClean="0"/>
              <a:t>23</a:t>
            </a:fld>
            <a:endParaRPr lang="zh-CN" altLang="en-US" dirty="0"/>
          </a:p>
        </p:txBody>
      </p:sp>
      <p:sp>
        <p:nvSpPr>
          <p:cNvPr id="9" name="Text Box 8"/>
          <p:cNvSpPr>
            <a:spLocks noChangeArrowheads="1"/>
          </p:cNvSpPr>
          <p:nvPr/>
        </p:nvSpPr>
        <p:spPr bwMode="auto">
          <a:xfrm>
            <a:off x="971600" y="411510"/>
            <a:ext cx="7573236" cy="107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9pPr>
          </a:lstStyle>
          <a:p>
            <a:pPr algn="ctr" eaLnBrk="1" hangingPunct="1">
              <a:spcBef>
                <a:spcPct val="0"/>
              </a:spcBef>
              <a:buFont typeface="Arial" panose="020B0604020202020204" pitchFamily="34" charset="0"/>
              <a:buNone/>
            </a:pPr>
            <a:r>
              <a:rPr lang="zh-CN" altLang="en-US" sz="3200" b="1" dirty="0" smtClean="0">
                <a:solidFill>
                  <a:schemeClr val="accent1"/>
                </a:solidFill>
                <a:latin typeface="微软雅黑" panose="020B0503020204020204" pitchFamily="34" charset="-122"/>
              </a:rPr>
              <a:t>什么是雷达？雷达在智能网联汽车上有哪些实际应用？</a:t>
            </a:r>
          </a:p>
        </p:txBody>
      </p:sp>
      <p:sp>
        <p:nvSpPr>
          <p:cNvPr id="10" name="矩形 9"/>
          <p:cNvSpPr/>
          <p:nvPr/>
        </p:nvSpPr>
        <p:spPr>
          <a:xfrm>
            <a:off x="971600" y="1487835"/>
            <a:ext cx="1699504" cy="400110"/>
          </a:xfrm>
          <a:prstGeom prst="rect">
            <a:avLst/>
          </a:prstGeom>
          <a:solidFill>
            <a:srgbClr val="0070C0"/>
          </a:solidFill>
        </p:spPr>
        <p:txBody>
          <a:bodyPr wrap="none">
            <a:spAutoFit/>
          </a:bodyPr>
          <a:lstStyle/>
          <a:p>
            <a:pPr algn="l" fontAlgn="ctr"/>
            <a:r>
              <a:rPr lang="en-US" sz="2000" b="1" dirty="0" smtClean="0">
                <a:solidFill>
                  <a:schemeClr val="bg1"/>
                </a:solidFill>
                <a:latin typeface="微软雅黑" panose="020B0503020204020204" pitchFamily="34" charset="-122"/>
                <a:ea typeface="微软雅黑" panose="020B0503020204020204" pitchFamily="34" charset="-122"/>
              </a:rPr>
              <a:t>2</a:t>
            </a:r>
            <a:r>
              <a:rPr sz="2000" b="1" dirty="0" smtClean="0">
                <a:solidFill>
                  <a:schemeClr val="bg1"/>
                </a:solidFill>
                <a:latin typeface="微软雅黑" panose="020B0503020204020204" pitchFamily="34" charset="-122"/>
                <a:ea typeface="微软雅黑" panose="020B0503020204020204" pitchFamily="34" charset="-122"/>
              </a:rPr>
              <a:t>.</a:t>
            </a:r>
            <a:r>
              <a:rPr lang="zh-CN" altLang="en-US" sz="2000" b="1" dirty="0" smtClean="0">
                <a:solidFill>
                  <a:schemeClr val="bg1"/>
                </a:solidFill>
                <a:latin typeface="微软雅黑" panose="020B0503020204020204" pitchFamily="34" charset="-122"/>
                <a:ea typeface="微软雅黑" panose="020B0503020204020204" pitchFamily="34" charset="-122"/>
              </a:rPr>
              <a:t>毫米</a:t>
            </a:r>
            <a:r>
              <a:rPr sz="2000" b="1" dirty="0" err="1" smtClean="0">
                <a:solidFill>
                  <a:schemeClr val="bg1"/>
                </a:solidFill>
                <a:latin typeface="微软雅黑" panose="020B0503020204020204" pitchFamily="34" charset="-122"/>
                <a:ea typeface="微软雅黑" panose="020B0503020204020204" pitchFamily="34" charset="-122"/>
              </a:rPr>
              <a:t>波雷达</a:t>
            </a:r>
            <a:endParaRPr sz="2000" b="1" dirty="0" smtClean="0">
              <a:solidFill>
                <a:schemeClr val="bg1"/>
              </a:solidFill>
              <a:latin typeface="微软雅黑" panose="020B0503020204020204" pitchFamily="34" charset="-122"/>
              <a:ea typeface="微软雅黑" panose="020B0503020204020204" pitchFamily="34" charset="-122"/>
            </a:endParaRPr>
          </a:p>
        </p:txBody>
      </p:sp>
      <p:sp>
        <p:nvSpPr>
          <p:cNvPr id="4" name="矩形 3"/>
          <p:cNvSpPr/>
          <p:nvPr/>
        </p:nvSpPr>
        <p:spPr>
          <a:xfrm>
            <a:off x="971600" y="1964958"/>
            <a:ext cx="3888432" cy="338554"/>
          </a:xfrm>
          <a:prstGeom prst="rect">
            <a:avLst/>
          </a:prstGeom>
          <a:solidFill>
            <a:srgbClr val="0070C0"/>
          </a:solidFill>
        </p:spPr>
        <p:txBody>
          <a:bodyPr wrap="square">
            <a:spAutoFit/>
          </a:bodyPr>
          <a:lstStyle/>
          <a:p>
            <a:r>
              <a:rPr lang="zh-CN" altLang="en-US" sz="1600" dirty="0" smtClean="0">
                <a:solidFill>
                  <a:schemeClr val="bg1"/>
                </a:solidFill>
                <a:latin typeface="微软雅黑" pitchFamily="34" charset="-122"/>
                <a:ea typeface="微软雅黑" pitchFamily="34" charset="-122"/>
              </a:rPr>
              <a:t>（</a:t>
            </a:r>
            <a:r>
              <a:rPr lang="en-US" altLang="zh-CN" sz="1600" dirty="0" smtClean="0">
                <a:solidFill>
                  <a:schemeClr val="bg1"/>
                </a:solidFill>
                <a:latin typeface="微软雅黑" pitchFamily="34" charset="-122"/>
                <a:ea typeface="微软雅黑" pitchFamily="34" charset="-122"/>
              </a:rPr>
              <a:t>4</a:t>
            </a:r>
            <a:r>
              <a:rPr lang="zh-CN" altLang="en-US" sz="1600" dirty="0" smtClean="0">
                <a:solidFill>
                  <a:schemeClr val="bg1"/>
                </a:solidFill>
                <a:latin typeface="微软雅黑" pitchFamily="34" charset="-122"/>
                <a:ea typeface="微软雅黑" pitchFamily="34" charset="-122"/>
              </a:rPr>
              <a:t>）</a:t>
            </a:r>
            <a:r>
              <a:rPr lang="zh-CN" altLang="en-US" sz="1600" dirty="0">
                <a:solidFill>
                  <a:schemeClr val="bg1"/>
                </a:solidFill>
                <a:latin typeface="微软雅黑" pitchFamily="34" charset="-122"/>
                <a:ea typeface="微软雅黑" pitchFamily="34" charset="-122"/>
              </a:rPr>
              <a:t>毫米波雷达</a:t>
            </a:r>
            <a:r>
              <a:rPr lang="zh-CN" altLang="en-US" sz="1600" dirty="0" smtClean="0">
                <a:solidFill>
                  <a:schemeClr val="bg1"/>
                </a:solidFill>
                <a:latin typeface="微软雅黑" pitchFamily="34" charset="-122"/>
                <a:ea typeface="微软雅黑" pitchFamily="34" charset="-122"/>
              </a:rPr>
              <a:t>的优缺点和应用</a:t>
            </a:r>
            <a:r>
              <a:rPr lang="en-US" altLang="zh-CN" sz="1600" dirty="0" smtClean="0">
                <a:solidFill>
                  <a:schemeClr val="bg1"/>
                </a:solidFill>
                <a:latin typeface="微软雅黑" pitchFamily="34" charset="-122"/>
                <a:ea typeface="微软雅黑" pitchFamily="34" charset="-122"/>
              </a:rPr>
              <a:t>-</a:t>
            </a:r>
            <a:r>
              <a:rPr lang="zh-CN" altLang="en-US" sz="1600" dirty="0" smtClean="0">
                <a:solidFill>
                  <a:schemeClr val="bg1"/>
                </a:solidFill>
                <a:latin typeface="微软雅黑" pitchFamily="34" charset="-122"/>
                <a:ea typeface="微软雅黑" pitchFamily="34" charset="-122"/>
              </a:rPr>
              <a:t>优缺点</a:t>
            </a:r>
            <a:endParaRPr lang="en-US" altLang="zh-CN" sz="1600" dirty="0" smtClean="0">
              <a:solidFill>
                <a:schemeClr val="bg1"/>
              </a:solidFill>
              <a:latin typeface="微软雅黑" pitchFamily="34" charset="-122"/>
              <a:ea typeface="微软雅黑" pitchFamily="34" charset="-122"/>
            </a:endParaRPr>
          </a:p>
        </p:txBody>
      </p:sp>
      <p:sp>
        <p:nvSpPr>
          <p:cNvPr id="2" name="矩形 1"/>
          <p:cNvSpPr/>
          <p:nvPr/>
        </p:nvSpPr>
        <p:spPr>
          <a:xfrm>
            <a:off x="967072" y="2427734"/>
            <a:ext cx="7205327" cy="338554"/>
          </a:xfrm>
          <a:prstGeom prst="rect">
            <a:avLst/>
          </a:prstGeom>
          <a:solidFill>
            <a:srgbClr val="0070C0"/>
          </a:solidFill>
        </p:spPr>
        <p:txBody>
          <a:bodyPr wrap="square">
            <a:spAutoFit/>
          </a:bodyPr>
          <a:lstStyle/>
          <a:p>
            <a:r>
              <a:rPr lang="zh-CN" altLang="en-US" sz="1600" b="1" dirty="0" smtClean="0">
                <a:solidFill>
                  <a:schemeClr val="bg1"/>
                </a:solidFill>
                <a:latin typeface="微软雅黑" pitchFamily="34" charset="-122"/>
                <a:ea typeface="微软雅黑" pitchFamily="34" charset="-122"/>
              </a:rPr>
              <a:t>优点</a:t>
            </a:r>
            <a:r>
              <a:rPr lang="zh-CN" altLang="en-US" sz="1600" b="1" dirty="0">
                <a:solidFill>
                  <a:schemeClr val="bg1"/>
                </a:solidFill>
                <a:latin typeface="微软雅黑" pitchFamily="34" charset="-122"/>
                <a:ea typeface="微软雅黑" pitchFamily="34" charset="-122"/>
              </a:rPr>
              <a:t>： </a:t>
            </a:r>
            <a:r>
              <a:rPr lang="zh-CN" altLang="en-US" sz="1600" dirty="0" smtClean="0">
                <a:solidFill>
                  <a:schemeClr val="bg1"/>
                </a:solidFill>
                <a:latin typeface="微软雅黑" pitchFamily="34" charset="-122"/>
                <a:ea typeface="微软雅黑" pitchFamily="34" charset="-122"/>
              </a:rPr>
              <a:t>探测</a:t>
            </a:r>
            <a:r>
              <a:rPr lang="zh-CN" altLang="en-US" sz="1600" dirty="0">
                <a:solidFill>
                  <a:schemeClr val="bg1"/>
                </a:solidFill>
                <a:latin typeface="微软雅黑" pitchFamily="34" charset="-122"/>
                <a:ea typeface="微软雅黑" pitchFamily="34" charset="-122"/>
              </a:rPr>
              <a:t>距离</a:t>
            </a:r>
            <a:r>
              <a:rPr lang="zh-CN" altLang="en-US" sz="1600" dirty="0" smtClean="0">
                <a:solidFill>
                  <a:schemeClr val="bg1"/>
                </a:solidFill>
                <a:latin typeface="微软雅黑" pitchFamily="34" charset="-122"/>
                <a:ea typeface="微软雅黑" pitchFamily="34" charset="-122"/>
              </a:rPr>
              <a:t>远；探测</a:t>
            </a:r>
            <a:r>
              <a:rPr lang="zh-CN" altLang="en-US" sz="1600" dirty="0">
                <a:solidFill>
                  <a:schemeClr val="bg1"/>
                </a:solidFill>
                <a:latin typeface="微软雅黑" pitchFamily="34" charset="-122"/>
                <a:ea typeface="微软雅黑" pitchFamily="34" charset="-122"/>
              </a:rPr>
              <a:t>性能</a:t>
            </a:r>
            <a:r>
              <a:rPr lang="zh-CN" altLang="en-US" sz="1600" dirty="0" smtClean="0">
                <a:solidFill>
                  <a:schemeClr val="bg1"/>
                </a:solidFill>
                <a:latin typeface="微软雅黑" pitchFamily="34" charset="-122"/>
                <a:ea typeface="微软雅黑" pitchFamily="34" charset="-122"/>
              </a:rPr>
              <a:t>好；响应</a:t>
            </a:r>
            <a:r>
              <a:rPr lang="zh-CN" altLang="en-US" sz="1600" dirty="0">
                <a:solidFill>
                  <a:schemeClr val="bg1"/>
                </a:solidFill>
                <a:latin typeface="微软雅黑" pitchFamily="34" charset="-122"/>
                <a:ea typeface="微软雅黑" pitchFamily="34" charset="-122"/>
              </a:rPr>
              <a:t>速度</a:t>
            </a:r>
            <a:r>
              <a:rPr lang="zh-CN" altLang="en-US" sz="1600" dirty="0" smtClean="0">
                <a:solidFill>
                  <a:schemeClr val="bg1"/>
                </a:solidFill>
                <a:latin typeface="微软雅黑" pitchFamily="34" charset="-122"/>
                <a:ea typeface="微软雅黑" pitchFamily="34" charset="-122"/>
              </a:rPr>
              <a:t>快；适应</a:t>
            </a:r>
            <a:r>
              <a:rPr lang="zh-CN" altLang="en-US" sz="1600" dirty="0">
                <a:solidFill>
                  <a:schemeClr val="bg1"/>
                </a:solidFill>
                <a:latin typeface="微软雅黑" pitchFamily="34" charset="-122"/>
                <a:ea typeface="微软雅黑" pitchFamily="34" charset="-122"/>
              </a:rPr>
              <a:t>能力</a:t>
            </a:r>
            <a:r>
              <a:rPr lang="zh-CN" altLang="en-US" sz="1600" dirty="0" smtClean="0">
                <a:solidFill>
                  <a:schemeClr val="bg1"/>
                </a:solidFill>
                <a:latin typeface="微软雅黑" pitchFamily="34" charset="-122"/>
                <a:ea typeface="微软雅黑" pitchFamily="34" charset="-122"/>
              </a:rPr>
              <a:t>强；抗干扰</a:t>
            </a:r>
            <a:r>
              <a:rPr lang="zh-CN" altLang="en-US" sz="1600" dirty="0">
                <a:solidFill>
                  <a:schemeClr val="bg1"/>
                </a:solidFill>
                <a:latin typeface="微软雅黑" pitchFamily="34" charset="-122"/>
                <a:ea typeface="微软雅黑" pitchFamily="34" charset="-122"/>
              </a:rPr>
              <a:t>能力</a:t>
            </a:r>
            <a:r>
              <a:rPr lang="zh-CN" altLang="en-US" sz="1600" dirty="0" smtClean="0">
                <a:solidFill>
                  <a:schemeClr val="bg1"/>
                </a:solidFill>
                <a:latin typeface="微软雅黑" pitchFamily="34" charset="-122"/>
                <a:ea typeface="微软雅黑" pitchFamily="34" charset="-122"/>
              </a:rPr>
              <a:t>强。</a:t>
            </a:r>
            <a:endParaRPr lang="zh-CN" altLang="en-US" sz="1600" dirty="0">
              <a:solidFill>
                <a:schemeClr val="bg1"/>
              </a:solidFill>
              <a:latin typeface="微软雅黑" pitchFamily="34" charset="-122"/>
              <a:ea typeface="微软雅黑" pitchFamily="34" charset="-122"/>
            </a:endParaRPr>
          </a:p>
        </p:txBody>
      </p:sp>
      <p:sp>
        <p:nvSpPr>
          <p:cNvPr id="3" name="矩形 2"/>
          <p:cNvSpPr/>
          <p:nvPr/>
        </p:nvSpPr>
        <p:spPr>
          <a:xfrm>
            <a:off x="971599" y="2931790"/>
            <a:ext cx="7200799" cy="338554"/>
          </a:xfrm>
          <a:prstGeom prst="rect">
            <a:avLst/>
          </a:prstGeom>
          <a:solidFill>
            <a:srgbClr val="0070C0"/>
          </a:solidFill>
        </p:spPr>
        <p:txBody>
          <a:bodyPr wrap="square">
            <a:spAutoFit/>
          </a:bodyPr>
          <a:lstStyle/>
          <a:p>
            <a:r>
              <a:rPr lang="zh-CN" altLang="en-US" sz="1600" b="1" dirty="0" smtClean="0">
                <a:solidFill>
                  <a:schemeClr val="bg1"/>
                </a:solidFill>
                <a:latin typeface="微软雅黑" pitchFamily="34" charset="-122"/>
                <a:ea typeface="微软雅黑" pitchFamily="34" charset="-122"/>
              </a:rPr>
              <a:t>缺点：</a:t>
            </a:r>
            <a:r>
              <a:rPr lang="zh-CN" altLang="en-US" sz="1600" dirty="0" smtClean="0">
                <a:solidFill>
                  <a:schemeClr val="bg1"/>
                </a:solidFill>
                <a:latin typeface="微软雅黑" pitchFamily="34" charset="-122"/>
                <a:ea typeface="微软雅黑" pitchFamily="34" charset="-122"/>
              </a:rPr>
              <a:t>覆盖</a:t>
            </a:r>
            <a:r>
              <a:rPr lang="zh-CN" altLang="en-US" sz="1600" dirty="0">
                <a:solidFill>
                  <a:schemeClr val="bg1"/>
                </a:solidFill>
                <a:latin typeface="微软雅黑" pitchFamily="34" charset="-122"/>
                <a:ea typeface="微软雅黑" pitchFamily="34" charset="-122"/>
              </a:rPr>
              <a:t>区域呈扇形，有盲点</a:t>
            </a:r>
            <a:r>
              <a:rPr lang="zh-CN" altLang="en-US" sz="1600" dirty="0" smtClean="0">
                <a:solidFill>
                  <a:schemeClr val="bg1"/>
                </a:solidFill>
                <a:latin typeface="微软雅黑" pitchFamily="34" charset="-122"/>
                <a:ea typeface="微软雅黑" pitchFamily="34" charset="-122"/>
              </a:rPr>
              <a:t>区域；无法</a:t>
            </a:r>
            <a:r>
              <a:rPr lang="zh-CN" altLang="en-US" sz="1600" dirty="0">
                <a:solidFill>
                  <a:schemeClr val="bg1"/>
                </a:solidFill>
                <a:latin typeface="微软雅黑" pitchFamily="34" charset="-122"/>
                <a:ea typeface="微软雅黑" pitchFamily="34" charset="-122"/>
              </a:rPr>
              <a:t>识别交通标志和交通信号灯。</a:t>
            </a:r>
          </a:p>
        </p:txBody>
      </p:sp>
      <p:sp>
        <p:nvSpPr>
          <p:cNvPr id="5" name="矩形 4"/>
          <p:cNvSpPr/>
          <p:nvPr/>
        </p:nvSpPr>
        <p:spPr>
          <a:xfrm>
            <a:off x="967071" y="3435846"/>
            <a:ext cx="7205327" cy="934487"/>
          </a:xfrm>
          <a:prstGeom prst="rect">
            <a:avLst/>
          </a:prstGeom>
          <a:solidFill>
            <a:srgbClr val="0070C0"/>
          </a:solidFill>
        </p:spPr>
        <p:txBody>
          <a:bodyPr wrap="square">
            <a:spAutoFit/>
          </a:bodyPr>
          <a:lstStyle/>
          <a:p>
            <a:pPr>
              <a:lnSpc>
                <a:spcPct val="114000"/>
              </a:lnSpc>
            </a:pPr>
            <a:r>
              <a:rPr lang="zh-CN" altLang="en-US" sz="1600" dirty="0">
                <a:solidFill>
                  <a:schemeClr val="bg1"/>
                </a:solidFill>
                <a:latin typeface="微软雅黑" pitchFamily="34" charset="-122"/>
                <a:ea typeface="微软雅黑" pitchFamily="34" charset="-122"/>
              </a:rPr>
              <a:t>为了满足不同探测距离的需要，可以组合配置各种短程、中程和远程毫米波雷达。根 据实现功能的不同，从毫米波雷达类型、数量以及安装位置上，都需要进行最优设计和配置。</a:t>
            </a:r>
          </a:p>
        </p:txBody>
      </p:sp>
    </p:spTree>
    <p:extLst>
      <p:ext uri="{BB962C8B-B14F-4D97-AF65-F5344CB8AC3E}">
        <p14:creationId xmlns:p14="http://schemas.microsoft.com/office/powerpoint/2010/main" val="202319859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a:xfrm>
            <a:off x="107504" y="4840397"/>
            <a:ext cx="2133600" cy="273844"/>
          </a:xfrm>
        </p:spPr>
        <p:txBody>
          <a:bodyPr/>
          <a:lstStyle/>
          <a:p>
            <a:pPr algn="l"/>
            <a:fld id="{0C913308-F349-4B6D-A68A-DD1791B4A57B}" type="slidenum">
              <a:rPr lang="zh-CN" altLang="en-US" smtClean="0"/>
              <a:t>24</a:t>
            </a:fld>
            <a:endParaRPr lang="zh-CN" altLang="en-US" dirty="0"/>
          </a:p>
        </p:txBody>
      </p:sp>
      <p:sp>
        <p:nvSpPr>
          <p:cNvPr id="9" name="Text Box 8"/>
          <p:cNvSpPr>
            <a:spLocks noChangeArrowheads="1"/>
          </p:cNvSpPr>
          <p:nvPr/>
        </p:nvSpPr>
        <p:spPr bwMode="auto">
          <a:xfrm>
            <a:off x="971600" y="411510"/>
            <a:ext cx="7573236" cy="107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9pPr>
          </a:lstStyle>
          <a:p>
            <a:pPr algn="ctr" eaLnBrk="1" hangingPunct="1">
              <a:spcBef>
                <a:spcPct val="0"/>
              </a:spcBef>
              <a:buFont typeface="Arial" panose="020B0604020202020204" pitchFamily="34" charset="0"/>
              <a:buNone/>
            </a:pPr>
            <a:r>
              <a:rPr lang="zh-CN" altLang="en-US" sz="3200" b="1" dirty="0" smtClean="0">
                <a:solidFill>
                  <a:schemeClr val="accent1"/>
                </a:solidFill>
                <a:latin typeface="微软雅黑" panose="020B0503020204020204" pitchFamily="34" charset="-122"/>
              </a:rPr>
              <a:t>什么是雷达？雷达在智能网联汽车上有哪些实际应用？</a:t>
            </a:r>
          </a:p>
        </p:txBody>
      </p:sp>
      <p:sp>
        <p:nvSpPr>
          <p:cNvPr id="10" name="矩形 9"/>
          <p:cNvSpPr/>
          <p:nvPr/>
        </p:nvSpPr>
        <p:spPr>
          <a:xfrm>
            <a:off x="971600" y="1487835"/>
            <a:ext cx="1699504" cy="400110"/>
          </a:xfrm>
          <a:prstGeom prst="rect">
            <a:avLst/>
          </a:prstGeom>
          <a:solidFill>
            <a:srgbClr val="0070C0"/>
          </a:solidFill>
        </p:spPr>
        <p:txBody>
          <a:bodyPr wrap="none">
            <a:spAutoFit/>
          </a:bodyPr>
          <a:lstStyle/>
          <a:p>
            <a:pPr algn="l" fontAlgn="ctr"/>
            <a:r>
              <a:rPr lang="en-US" sz="2000" b="1" dirty="0" smtClean="0">
                <a:solidFill>
                  <a:schemeClr val="bg1"/>
                </a:solidFill>
                <a:latin typeface="微软雅黑" panose="020B0503020204020204" pitchFamily="34" charset="-122"/>
                <a:ea typeface="微软雅黑" panose="020B0503020204020204" pitchFamily="34" charset="-122"/>
              </a:rPr>
              <a:t>2</a:t>
            </a:r>
            <a:r>
              <a:rPr sz="2000" b="1" dirty="0" smtClean="0">
                <a:solidFill>
                  <a:schemeClr val="bg1"/>
                </a:solidFill>
                <a:latin typeface="微软雅黑" panose="020B0503020204020204" pitchFamily="34" charset="-122"/>
                <a:ea typeface="微软雅黑" panose="020B0503020204020204" pitchFamily="34" charset="-122"/>
              </a:rPr>
              <a:t>.</a:t>
            </a:r>
            <a:r>
              <a:rPr lang="zh-CN" altLang="en-US" sz="2000" b="1" dirty="0" smtClean="0">
                <a:solidFill>
                  <a:schemeClr val="bg1"/>
                </a:solidFill>
                <a:latin typeface="微软雅黑" panose="020B0503020204020204" pitchFamily="34" charset="-122"/>
                <a:ea typeface="微软雅黑" panose="020B0503020204020204" pitchFamily="34" charset="-122"/>
              </a:rPr>
              <a:t>毫米</a:t>
            </a:r>
            <a:r>
              <a:rPr sz="2000" b="1" dirty="0" err="1" smtClean="0">
                <a:solidFill>
                  <a:schemeClr val="bg1"/>
                </a:solidFill>
                <a:latin typeface="微软雅黑" panose="020B0503020204020204" pitchFamily="34" charset="-122"/>
                <a:ea typeface="微软雅黑" panose="020B0503020204020204" pitchFamily="34" charset="-122"/>
              </a:rPr>
              <a:t>波雷达</a:t>
            </a:r>
            <a:endParaRPr sz="2000" b="1" dirty="0" smtClean="0">
              <a:solidFill>
                <a:schemeClr val="bg1"/>
              </a:solidFill>
              <a:latin typeface="微软雅黑" panose="020B0503020204020204" pitchFamily="34" charset="-122"/>
              <a:ea typeface="微软雅黑" panose="020B0503020204020204" pitchFamily="34" charset="-122"/>
            </a:endParaRPr>
          </a:p>
        </p:txBody>
      </p:sp>
      <p:sp>
        <p:nvSpPr>
          <p:cNvPr id="4" name="矩形 3"/>
          <p:cNvSpPr/>
          <p:nvPr/>
        </p:nvSpPr>
        <p:spPr>
          <a:xfrm>
            <a:off x="971600" y="1964958"/>
            <a:ext cx="3786618" cy="338554"/>
          </a:xfrm>
          <a:prstGeom prst="rect">
            <a:avLst/>
          </a:prstGeom>
          <a:solidFill>
            <a:srgbClr val="0070C0"/>
          </a:solidFill>
        </p:spPr>
        <p:txBody>
          <a:bodyPr wrap="square">
            <a:spAutoFit/>
          </a:bodyPr>
          <a:lstStyle/>
          <a:p>
            <a:r>
              <a:rPr lang="zh-CN" altLang="en-US" sz="1600" dirty="0" smtClean="0">
                <a:solidFill>
                  <a:schemeClr val="bg1"/>
                </a:solidFill>
                <a:latin typeface="微软雅黑" pitchFamily="34" charset="-122"/>
                <a:ea typeface="微软雅黑" pitchFamily="34" charset="-122"/>
              </a:rPr>
              <a:t>（</a:t>
            </a:r>
            <a:r>
              <a:rPr lang="en-US" altLang="zh-CN" sz="1600" dirty="0" smtClean="0">
                <a:solidFill>
                  <a:schemeClr val="bg1"/>
                </a:solidFill>
                <a:latin typeface="微软雅黑" pitchFamily="34" charset="-122"/>
                <a:ea typeface="微软雅黑" pitchFamily="34" charset="-122"/>
              </a:rPr>
              <a:t>4</a:t>
            </a:r>
            <a:r>
              <a:rPr lang="zh-CN" altLang="en-US" sz="1600" dirty="0" smtClean="0">
                <a:solidFill>
                  <a:schemeClr val="bg1"/>
                </a:solidFill>
                <a:latin typeface="微软雅黑" pitchFamily="34" charset="-122"/>
                <a:ea typeface="微软雅黑" pitchFamily="34" charset="-122"/>
              </a:rPr>
              <a:t>）</a:t>
            </a:r>
            <a:r>
              <a:rPr lang="zh-CN" altLang="en-US" sz="1600" dirty="0">
                <a:solidFill>
                  <a:schemeClr val="bg1"/>
                </a:solidFill>
                <a:latin typeface="微软雅黑" pitchFamily="34" charset="-122"/>
                <a:ea typeface="微软雅黑" pitchFamily="34" charset="-122"/>
              </a:rPr>
              <a:t>毫米波雷达</a:t>
            </a:r>
            <a:r>
              <a:rPr lang="zh-CN" altLang="en-US" sz="1600" dirty="0" smtClean="0">
                <a:solidFill>
                  <a:schemeClr val="bg1"/>
                </a:solidFill>
                <a:latin typeface="微软雅黑" pitchFamily="34" charset="-122"/>
                <a:ea typeface="微软雅黑" pitchFamily="34" charset="-122"/>
              </a:rPr>
              <a:t>的优缺点和应用</a:t>
            </a:r>
            <a:r>
              <a:rPr lang="en-US" altLang="zh-CN" sz="1600" dirty="0" smtClean="0">
                <a:solidFill>
                  <a:schemeClr val="bg1"/>
                </a:solidFill>
                <a:latin typeface="微软雅黑" pitchFamily="34" charset="-122"/>
                <a:ea typeface="微软雅黑" pitchFamily="34" charset="-122"/>
              </a:rPr>
              <a:t>-</a:t>
            </a:r>
            <a:r>
              <a:rPr lang="zh-CN" altLang="en-US" sz="1600" dirty="0" smtClean="0">
                <a:solidFill>
                  <a:schemeClr val="bg1"/>
                </a:solidFill>
                <a:latin typeface="微软雅黑" pitchFamily="34" charset="-122"/>
                <a:ea typeface="微软雅黑" pitchFamily="34" charset="-122"/>
              </a:rPr>
              <a:t>应用</a:t>
            </a:r>
            <a:endParaRPr lang="en-US" altLang="zh-CN" sz="1600" dirty="0" smtClean="0">
              <a:solidFill>
                <a:schemeClr val="bg1"/>
              </a:solidFill>
              <a:latin typeface="微软雅黑" pitchFamily="34" charset="-122"/>
              <a:ea typeface="微软雅黑" pitchFamily="34" charset="-122"/>
            </a:endParaRPr>
          </a:p>
        </p:txBody>
      </p:sp>
      <p:pic>
        <p:nvPicPr>
          <p:cNvPr id="921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23502" y="2371871"/>
            <a:ext cx="4824198" cy="23435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矩形 6"/>
          <p:cNvSpPr/>
          <p:nvPr/>
        </p:nvSpPr>
        <p:spPr>
          <a:xfrm>
            <a:off x="971600" y="2389042"/>
            <a:ext cx="2176848" cy="830997"/>
          </a:xfrm>
          <a:prstGeom prst="rect">
            <a:avLst/>
          </a:prstGeom>
        </p:spPr>
        <p:txBody>
          <a:bodyPr wrap="square">
            <a:spAutoFit/>
          </a:bodyPr>
          <a:lstStyle/>
          <a:p>
            <a:pPr algn="ctr">
              <a:lnSpc>
                <a:spcPct val="150000"/>
              </a:lnSpc>
            </a:pPr>
            <a:r>
              <a:rPr lang="zh-CN" altLang="en-US" sz="1600" dirty="0" smtClean="0">
                <a:latin typeface="微软雅黑" pitchFamily="34" charset="-122"/>
                <a:ea typeface="微软雅黑" pitchFamily="34" charset="-122"/>
              </a:rPr>
              <a:t>毫米波雷达（工业</a:t>
            </a:r>
            <a:r>
              <a:rPr lang="zh-CN" altLang="en-US" sz="1600" dirty="0">
                <a:latin typeface="微软雅黑" pitchFamily="34" charset="-122"/>
                <a:ea typeface="微软雅黑" pitchFamily="34" charset="-122"/>
              </a:rPr>
              <a:t>毫米波传感器</a:t>
            </a:r>
            <a:r>
              <a:rPr lang="zh-CN" altLang="en-US" sz="1600" dirty="0" smtClean="0">
                <a:latin typeface="微软雅黑" pitchFamily="34" charset="-122"/>
                <a:ea typeface="微软雅黑" pitchFamily="34" charset="-122"/>
              </a:rPr>
              <a:t>）应用</a:t>
            </a:r>
            <a:endParaRPr lang="zh-CN" altLang="en-US" sz="1600" dirty="0">
              <a:latin typeface="微软雅黑" pitchFamily="34" charset="-122"/>
              <a:ea typeface="微软雅黑" pitchFamily="34" charset="-122"/>
            </a:endParaRPr>
          </a:p>
        </p:txBody>
      </p:sp>
    </p:spTree>
    <p:extLst>
      <p:ext uri="{BB962C8B-B14F-4D97-AF65-F5344CB8AC3E}">
        <p14:creationId xmlns:p14="http://schemas.microsoft.com/office/powerpoint/2010/main" val="5788926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a:xfrm>
            <a:off x="107504" y="4840397"/>
            <a:ext cx="2133600" cy="273844"/>
          </a:xfrm>
        </p:spPr>
        <p:txBody>
          <a:bodyPr/>
          <a:lstStyle/>
          <a:p>
            <a:pPr algn="l"/>
            <a:fld id="{0C913308-F349-4B6D-A68A-DD1791B4A57B}" type="slidenum">
              <a:rPr lang="zh-CN" altLang="en-US" smtClean="0"/>
              <a:t>25</a:t>
            </a:fld>
            <a:endParaRPr lang="zh-CN" altLang="en-US" dirty="0"/>
          </a:p>
        </p:txBody>
      </p:sp>
      <p:sp>
        <p:nvSpPr>
          <p:cNvPr id="9" name="Text Box 8"/>
          <p:cNvSpPr>
            <a:spLocks noChangeArrowheads="1"/>
          </p:cNvSpPr>
          <p:nvPr/>
        </p:nvSpPr>
        <p:spPr bwMode="auto">
          <a:xfrm>
            <a:off x="971600" y="411510"/>
            <a:ext cx="7573236" cy="107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9pPr>
          </a:lstStyle>
          <a:p>
            <a:pPr algn="ctr" eaLnBrk="1" hangingPunct="1">
              <a:spcBef>
                <a:spcPct val="0"/>
              </a:spcBef>
              <a:buFont typeface="Arial" panose="020B0604020202020204" pitchFamily="34" charset="0"/>
              <a:buNone/>
            </a:pPr>
            <a:r>
              <a:rPr lang="zh-CN" altLang="en-US" sz="3200" b="1" dirty="0" smtClean="0">
                <a:solidFill>
                  <a:schemeClr val="accent1"/>
                </a:solidFill>
                <a:latin typeface="微软雅黑" panose="020B0503020204020204" pitchFamily="34" charset="-122"/>
              </a:rPr>
              <a:t>什么是雷达？雷达在智能网联汽车上有哪些实际应用？</a:t>
            </a:r>
          </a:p>
        </p:txBody>
      </p:sp>
      <p:sp>
        <p:nvSpPr>
          <p:cNvPr id="10" name="矩形 9"/>
          <p:cNvSpPr/>
          <p:nvPr/>
        </p:nvSpPr>
        <p:spPr>
          <a:xfrm>
            <a:off x="971600" y="1487835"/>
            <a:ext cx="1699504" cy="400110"/>
          </a:xfrm>
          <a:prstGeom prst="rect">
            <a:avLst/>
          </a:prstGeom>
          <a:solidFill>
            <a:srgbClr val="0070C0"/>
          </a:solidFill>
        </p:spPr>
        <p:txBody>
          <a:bodyPr wrap="none">
            <a:spAutoFit/>
          </a:bodyPr>
          <a:lstStyle/>
          <a:p>
            <a:pPr algn="l" fontAlgn="ctr"/>
            <a:r>
              <a:rPr lang="en-US" sz="2000" b="1" dirty="0" smtClean="0">
                <a:solidFill>
                  <a:schemeClr val="bg1"/>
                </a:solidFill>
                <a:latin typeface="微软雅黑" panose="020B0503020204020204" pitchFamily="34" charset="-122"/>
                <a:ea typeface="微软雅黑" panose="020B0503020204020204" pitchFamily="34" charset="-122"/>
              </a:rPr>
              <a:t>2</a:t>
            </a:r>
            <a:r>
              <a:rPr sz="2000" b="1" dirty="0" smtClean="0">
                <a:solidFill>
                  <a:schemeClr val="bg1"/>
                </a:solidFill>
                <a:latin typeface="微软雅黑" panose="020B0503020204020204" pitchFamily="34" charset="-122"/>
                <a:ea typeface="微软雅黑" panose="020B0503020204020204" pitchFamily="34" charset="-122"/>
              </a:rPr>
              <a:t>.</a:t>
            </a:r>
            <a:r>
              <a:rPr lang="zh-CN" altLang="en-US" sz="2000" b="1" dirty="0" smtClean="0">
                <a:solidFill>
                  <a:schemeClr val="bg1"/>
                </a:solidFill>
                <a:latin typeface="微软雅黑" panose="020B0503020204020204" pitchFamily="34" charset="-122"/>
                <a:ea typeface="微软雅黑" panose="020B0503020204020204" pitchFamily="34" charset="-122"/>
              </a:rPr>
              <a:t>毫米</a:t>
            </a:r>
            <a:r>
              <a:rPr sz="2000" b="1" dirty="0" err="1" smtClean="0">
                <a:solidFill>
                  <a:schemeClr val="bg1"/>
                </a:solidFill>
                <a:latin typeface="微软雅黑" panose="020B0503020204020204" pitchFamily="34" charset="-122"/>
                <a:ea typeface="微软雅黑" panose="020B0503020204020204" pitchFamily="34" charset="-122"/>
              </a:rPr>
              <a:t>波雷达</a:t>
            </a:r>
            <a:endParaRPr sz="2000" b="1" dirty="0" smtClean="0">
              <a:solidFill>
                <a:schemeClr val="bg1"/>
              </a:solidFill>
              <a:latin typeface="微软雅黑" panose="020B0503020204020204" pitchFamily="34" charset="-122"/>
              <a:ea typeface="微软雅黑" panose="020B0503020204020204" pitchFamily="34" charset="-122"/>
            </a:endParaRPr>
          </a:p>
        </p:txBody>
      </p:sp>
      <p:sp>
        <p:nvSpPr>
          <p:cNvPr id="4" name="矩形 3"/>
          <p:cNvSpPr/>
          <p:nvPr/>
        </p:nvSpPr>
        <p:spPr>
          <a:xfrm>
            <a:off x="971600" y="1964958"/>
            <a:ext cx="3786618" cy="338554"/>
          </a:xfrm>
          <a:prstGeom prst="rect">
            <a:avLst/>
          </a:prstGeom>
          <a:solidFill>
            <a:srgbClr val="0070C0"/>
          </a:solidFill>
        </p:spPr>
        <p:txBody>
          <a:bodyPr wrap="square">
            <a:spAutoFit/>
          </a:bodyPr>
          <a:lstStyle/>
          <a:p>
            <a:r>
              <a:rPr lang="zh-CN" altLang="en-US" sz="1600" dirty="0" smtClean="0">
                <a:solidFill>
                  <a:schemeClr val="bg1"/>
                </a:solidFill>
                <a:latin typeface="微软雅黑" pitchFamily="34" charset="-122"/>
                <a:ea typeface="微软雅黑" pitchFamily="34" charset="-122"/>
              </a:rPr>
              <a:t>（</a:t>
            </a:r>
            <a:r>
              <a:rPr lang="en-US" altLang="zh-CN" sz="1600" dirty="0" smtClean="0">
                <a:solidFill>
                  <a:schemeClr val="bg1"/>
                </a:solidFill>
                <a:latin typeface="微软雅黑" pitchFamily="34" charset="-122"/>
                <a:ea typeface="微软雅黑" pitchFamily="34" charset="-122"/>
              </a:rPr>
              <a:t>4</a:t>
            </a:r>
            <a:r>
              <a:rPr lang="zh-CN" altLang="en-US" sz="1600" dirty="0" smtClean="0">
                <a:solidFill>
                  <a:schemeClr val="bg1"/>
                </a:solidFill>
                <a:latin typeface="微软雅黑" pitchFamily="34" charset="-122"/>
                <a:ea typeface="微软雅黑" pitchFamily="34" charset="-122"/>
              </a:rPr>
              <a:t>）</a:t>
            </a:r>
            <a:r>
              <a:rPr lang="zh-CN" altLang="en-US" sz="1600" dirty="0">
                <a:solidFill>
                  <a:schemeClr val="bg1"/>
                </a:solidFill>
                <a:latin typeface="微软雅黑" pitchFamily="34" charset="-122"/>
                <a:ea typeface="微软雅黑" pitchFamily="34" charset="-122"/>
              </a:rPr>
              <a:t>毫米波雷达</a:t>
            </a:r>
            <a:r>
              <a:rPr lang="zh-CN" altLang="en-US" sz="1600" dirty="0" smtClean="0">
                <a:solidFill>
                  <a:schemeClr val="bg1"/>
                </a:solidFill>
                <a:latin typeface="微软雅黑" pitchFamily="34" charset="-122"/>
                <a:ea typeface="微软雅黑" pitchFamily="34" charset="-122"/>
              </a:rPr>
              <a:t>的优缺点和应用</a:t>
            </a:r>
            <a:r>
              <a:rPr lang="en-US" altLang="zh-CN" sz="1600" dirty="0" smtClean="0">
                <a:solidFill>
                  <a:schemeClr val="bg1"/>
                </a:solidFill>
                <a:latin typeface="微软雅黑" pitchFamily="34" charset="-122"/>
                <a:ea typeface="微软雅黑" pitchFamily="34" charset="-122"/>
              </a:rPr>
              <a:t>-</a:t>
            </a:r>
            <a:r>
              <a:rPr lang="zh-CN" altLang="en-US" sz="1600" dirty="0" smtClean="0">
                <a:solidFill>
                  <a:schemeClr val="bg1"/>
                </a:solidFill>
                <a:latin typeface="微软雅黑" pitchFamily="34" charset="-122"/>
                <a:ea typeface="微软雅黑" pitchFamily="34" charset="-122"/>
              </a:rPr>
              <a:t>应用</a:t>
            </a:r>
            <a:endParaRPr lang="en-US" altLang="zh-CN" sz="1600" dirty="0" smtClean="0">
              <a:solidFill>
                <a:schemeClr val="bg1"/>
              </a:solidFill>
              <a:latin typeface="微软雅黑" pitchFamily="34" charset="-122"/>
              <a:ea typeface="微软雅黑" pitchFamily="34" charset="-122"/>
            </a:endParaRPr>
          </a:p>
        </p:txBody>
      </p:sp>
      <p:pic>
        <p:nvPicPr>
          <p:cNvPr id="921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9104" y="2787774"/>
            <a:ext cx="3673499" cy="2016224"/>
          </a:xfrm>
          <a:prstGeom prst="rect">
            <a:avLst/>
          </a:prstGeom>
          <a:noFill/>
          <a:ln w="9525">
            <a:solidFill>
              <a:schemeClr val="accent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220"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22603" y="2811268"/>
            <a:ext cx="3753562" cy="2003008"/>
          </a:xfrm>
          <a:prstGeom prst="rect">
            <a:avLst/>
          </a:prstGeom>
          <a:noFill/>
          <a:ln w="9525">
            <a:solidFill>
              <a:schemeClr val="accent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矩形 1"/>
          <p:cNvSpPr/>
          <p:nvPr/>
        </p:nvSpPr>
        <p:spPr>
          <a:xfrm>
            <a:off x="849104" y="2333022"/>
            <a:ext cx="5983449" cy="338554"/>
          </a:xfrm>
          <a:prstGeom prst="rect">
            <a:avLst/>
          </a:prstGeom>
        </p:spPr>
        <p:txBody>
          <a:bodyPr wrap="square">
            <a:spAutoFit/>
          </a:bodyPr>
          <a:lstStyle/>
          <a:p>
            <a:r>
              <a:rPr lang="zh-CN" altLang="en-US" sz="1600" dirty="0">
                <a:latin typeface="微软雅黑" pitchFamily="34" charset="-122"/>
                <a:ea typeface="微软雅黑" pitchFamily="34" charset="-122"/>
              </a:rPr>
              <a:t>在汽车领域应用的毫米波雷达是自动驾驶系统的核心</a:t>
            </a:r>
            <a:r>
              <a:rPr lang="zh-CN" altLang="en-US" sz="1600" dirty="0" smtClean="0">
                <a:latin typeface="微软雅黑" pitchFamily="34" charset="-122"/>
                <a:ea typeface="微软雅黑" pitchFamily="34" charset="-122"/>
              </a:rPr>
              <a:t>传感器。</a:t>
            </a:r>
            <a:endParaRPr lang="zh-CN" altLang="en-US" sz="1600" dirty="0">
              <a:latin typeface="微软雅黑" pitchFamily="34" charset="-122"/>
              <a:ea typeface="微软雅黑" pitchFamily="34" charset="-122"/>
            </a:endParaRPr>
          </a:p>
        </p:txBody>
      </p:sp>
    </p:spTree>
    <p:extLst>
      <p:ext uri="{BB962C8B-B14F-4D97-AF65-F5344CB8AC3E}">
        <p14:creationId xmlns:p14="http://schemas.microsoft.com/office/powerpoint/2010/main" val="2819063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a:xfrm>
            <a:off x="107504" y="4840397"/>
            <a:ext cx="2133600" cy="273844"/>
          </a:xfrm>
        </p:spPr>
        <p:txBody>
          <a:bodyPr/>
          <a:lstStyle/>
          <a:p>
            <a:pPr algn="l"/>
            <a:fld id="{0C913308-F349-4B6D-A68A-DD1791B4A57B}" type="slidenum">
              <a:rPr lang="zh-CN" altLang="en-US" smtClean="0"/>
              <a:t>26</a:t>
            </a:fld>
            <a:endParaRPr lang="zh-CN" altLang="en-US" dirty="0"/>
          </a:p>
        </p:txBody>
      </p:sp>
      <p:pic>
        <p:nvPicPr>
          <p:cNvPr id="36" name="图片 36" descr="说明: http://n.sinaimg.cn/translate/w1080h789/20180109/w0pf-fyqnici7290567.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a:xfrm>
            <a:off x="5604700" y="2067694"/>
            <a:ext cx="2558964" cy="1872208"/>
          </a:xfrm>
          <a:prstGeom prst="rect">
            <a:avLst/>
          </a:prstGeom>
          <a:noFill/>
          <a:ln>
            <a:noFill/>
          </a:ln>
        </p:spPr>
      </p:pic>
      <p:sp>
        <p:nvSpPr>
          <p:cNvPr id="9" name="Text Box 8"/>
          <p:cNvSpPr>
            <a:spLocks noChangeArrowheads="1"/>
          </p:cNvSpPr>
          <p:nvPr/>
        </p:nvSpPr>
        <p:spPr bwMode="auto">
          <a:xfrm>
            <a:off x="971600" y="411510"/>
            <a:ext cx="7573236" cy="107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9pPr>
          </a:lstStyle>
          <a:p>
            <a:pPr algn="ctr" eaLnBrk="1" hangingPunct="1">
              <a:spcBef>
                <a:spcPct val="0"/>
              </a:spcBef>
              <a:buFont typeface="Arial" panose="020B0604020202020204" pitchFamily="34" charset="0"/>
              <a:buNone/>
            </a:pPr>
            <a:r>
              <a:rPr lang="zh-CN" altLang="en-US" sz="3200" b="1" dirty="0" smtClean="0">
                <a:solidFill>
                  <a:schemeClr val="accent1"/>
                </a:solidFill>
                <a:latin typeface="微软雅黑" panose="020B0503020204020204" pitchFamily="34" charset="-122"/>
              </a:rPr>
              <a:t>什么是雷达？雷达在智能网联汽车上有哪些实际应用？</a:t>
            </a:r>
          </a:p>
        </p:txBody>
      </p:sp>
      <p:sp>
        <p:nvSpPr>
          <p:cNvPr id="10" name="矩形 9"/>
          <p:cNvSpPr/>
          <p:nvPr/>
        </p:nvSpPr>
        <p:spPr>
          <a:xfrm>
            <a:off x="971600" y="1487835"/>
            <a:ext cx="1443024" cy="400110"/>
          </a:xfrm>
          <a:prstGeom prst="rect">
            <a:avLst/>
          </a:prstGeom>
          <a:solidFill>
            <a:srgbClr val="0070C0"/>
          </a:solidFill>
        </p:spPr>
        <p:txBody>
          <a:bodyPr wrap="none">
            <a:spAutoFit/>
          </a:bodyPr>
          <a:lstStyle/>
          <a:p>
            <a:pPr algn="l" fontAlgn="ctr"/>
            <a:r>
              <a:rPr lang="en-US" sz="2000" b="1" dirty="0" smtClean="0">
                <a:solidFill>
                  <a:schemeClr val="bg1"/>
                </a:solidFill>
                <a:latin typeface="微软雅黑" panose="020B0503020204020204" pitchFamily="34" charset="-122"/>
                <a:ea typeface="微软雅黑" panose="020B0503020204020204" pitchFamily="34" charset="-122"/>
              </a:rPr>
              <a:t>3</a:t>
            </a:r>
            <a:r>
              <a:rPr sz="2000" b="1" dirty="0" smtClean="0">
                <a:solidFill>
                  <a:schemeClr val="bg1"/>
                </a:solidFill>
                <a:latin typeface="微软雅黑" panose="020B0503020204020204" pitchFamily="34" charset="-122"/>
                <a:ea typeface="微软雅黑" panose="020B0503020204020204" pitchFamily="34" charset="-122"/>
              </a:rPr>
              <a:t>.</a:t>
            </a:r>
            <a:r>
              <a:rPr lang="zh-CN" altLang="en-US" sz="2000" b="1" dirty="0" smtClean="0">
                <a:solidFill>
                  <a:schemeClr val="bg1"/>
                </a:solidFill>
                <a:latin typeface="微软雅黑" panose="020B0503020204020204" pitchFamily="34" charset="-122"/>
                <a:ea typeface="微软雅黑" panose="020B0503020204020204" pitchFamily="34" charset="-122"/>
              </a:rPr>
              <a:t>激光雷达</a:t>
            </a:r>
            <a:endParaRPr sz="2000" b="1" dirty="0" smtClean="0">
              <a:solidFill>
                <a:schemeClr val="bg1"/>
              </a:solidFill>
              <a:latin typeface="微软雅黑" panose="020B0503020204020204" pitchFamily="34" charset="-122"/>
              <a:ea typeface="微软雅黑" panose="020B0503020204020204" pitchFamily="34" charset="-122"/>
            </a:endParaRPr>
          </a:p>
        </p:txBody>
      </p:sp>
      <p:sp>
        <p:nvSpPr>
          <p:cNvPr id="4" name="矩形 3"/>
          <p:cNvSpPr/>
          <p:nvPr/>
        </p:nvSpPr>
        <p:spPr>
          <a:xfrm>
            <a:off x="971600" y="2067694"/>
            <a:ext cx="4464496" cy="2057358"/>
          </a:xfrm>
          <a:prstGeom prst="rect">
            <a:avLst/>
          </a:prstGeom>
          <a:solidFill>
            <a:srgbClr val="0070C0"/>
          </a:solidFill>
        </p:spPr>
        <p:txBody>
          <a:bodyPr wrap="square">
            <a:spAutoFit/>
          </a:bodyPr>
          <a:lstStyle/>
          <a:p>
            <a:pPr>
              <a:lnSpc>
                <a:spcPct val="114000"/>
              </a:lnSpc>
            </a:pPr>
            <a:r>
              <a:rPr lang="zh-CN" altLang="en-US" sz="1600" dirty="0">
                <a:solidFill>
                  <a:schemeClr val="bg1"/>
                </a:solidFill>
                <a:latin typeface="微软雅黑" pitchFamily="34" charset="-122"/>
                <a:ea typeface="微软雅黑" pitchFamily="34" charset="-122"/>
              </a:rPr>
              <a:t>（</a:t>
            </a:r>
            <a:r>
              <a:rPr lang="en-US" altLang="zh-CN" sz="1600" dirty="0">
                <a:solidFill>
                  <a:schemeClr val="bg1"/>
                </a:solidFill>
                <a:latin typeface="微软雅黑" pitchFamily="34" charset="-122"/>
                <a:ea typeface="微软雅黑" pitchFamily="34" charset="-122"/>
              </a:rPr>
              <a:t>1</a:t>
            </a:r>
            <a:r>
              <a:rPr lang="zh-CN" altLang="en-US" sz="1600" dirty="0">
                <a:solidFill>
                  <a:schemeClr val="bg1"/>
                </a:solidFill>
                <a:latin typeface="微软雅黑" pitchFamily="34" charset="-122"/>
                <a:ea typeface="微软雅黑" pitchFamily="34" charset="-122"/>
              </a:rPr>
              <a:t>）激光雷达的</a:t>
            </a:r>
            <a:r>
              <a:rPr lang="zh-CN" altLang="en-US" sz="1600" dirty="0" smtClean="0">
                <a:solidFill>
                  <a:schemeClr val="bg1"/>
                </a:solidFill>
                <a:latin typeface="微软雅黑" pitchFamily="34" charset="-122"/>
                <a:ea typeface="微软雅黑" pitchFamily="34" charset="-122"/>
              </a:rPr>
              <a:t>定义</a:t>
            </a:r>
            <a:endParaRPr lang="en-US" altLang="zh-CN" sz="1600" dirty="0" smtClean="0">
              <a:solidFill>
                <a:schemeClr val="bg1"/>
              </a:solidFill>
              <a:latin typeface="微软雅黑" pitchFamily="34" charset="-122"/>
              <a:ea typeface="微软雅黑" pitchFamily="34" charset="-122"/>
            </a:endParaRPr>
          </a:p>
          <a:p>
            <a:pPr>
              <a:lnSpc>
                <a:spcPct val="114000"/>
              </a:lnSpc>
            </a:pPr>
            <a:r>
              <a:rPr lang="zh-CN" altLang="en-US" sz="1600" dirty="0" smtClean="0">
                <a:solidFill>
                  <a:schemeClr val="bg1"/>
                </a:solidFill>
                <a:latin typeface="微软雅黑" pitchFamily="34" charset="-122"/>
                <a:ea typeface="微软雅黑" pitchFamily="34" charset="-122"/>
              </a:rPr>
              <a:t>激光雷达</a:t>
            </a:r>
            <a:r>
              <a:rPr lang="zh-CN" altLang="en-US" sz="1600" dirty="0">
                <a:solidFill>
                  <a:schemeClr val="bg1"/>
                </a:solidFill>
                <a:latin typeface="微软雅黑" pitchFamily="34" charset="-122"/>
                <a:ea typeface="微软雅黑" pitchFamily="34" charset="-122"/>
              </a:rPr>
              <a:t>是工作在光波频段的雷达，利用光波频段 的电磁波先向目标发射探测信号，然后将其接收到的回 波信号与发射信号相比较，从而获得目标的位置（距离、 方位和高度）、运动状态（速度、姿态）等信息，实现 对目标的探测、跟踪和识别。</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a:xfrm>
            <a:off x="107504" y="4840397"/>
            <a:ext cx="2133600" cy="273844"/>
          </a:xfrm>
        </p:spPr>
        <p:txBody>
          <a:bodyPr/>
          <a:lstStyle/>
          <a:p>
            <a:pPr algn="l"/>
            <a:fld id="{0C913308-F349-4B6D-A68A-DD1791B4A57B}" type="slidenum">
              <a:rPr lang="zh-CN" altLang="en-US" smtClean="0"/>
              <a:t>27</a:t>
            </a:fld>
            <a:endParaRPr lang="zh-CN" altLang="en-US" dirty="0"/>
          </a:p>
        </p:txBody>
      </p:sp>
      <p:pic>
        <p:nvPicPr>
          <p:cNvPr id="35" name="图片 35" descr="说明: C:\Users\Lenovo\Desktop\人民交通\项目2 智能网联汽车环境感知系统应用\任务2-1 图\bOVB-fxpvysv4900474.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a:xfrm>
            <a:off x="5837026" y="1693323"/>
            <a:ext cx="2342070" cy="1482090"/>
          </a:xfrm>
          <a:prstGeom prst="rect">
            <a:avLst/>
          </a:prstGeom>
          <a:noFill/>
          <a:ln>
            <a:noFill/>
          </a:ln>
        </p:spPr>
      </p:pic>
      <p:pic>
        <p:nvPicPr>
          <p:cNvPr id="34" name="图片 34" descr="说明: C:\Users\Lenovo\Desktop\人民交通\项目2 智能网联汽车环境感知系统应用\任务2-1 图\434a-fxzkfuh6015565.jp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a:xfrm>
            <a:off x="5837026" y="3238401"/>
            <a:ext cx="2375047" cy="1477010"/>
          </a:xfrm>
          <a:prstGeom prst="rect">
            <a:avLst/>
          </a:prstGeom>
          <a:noFill/>
          <a:ln>
            <a:noFill/>
          </a:ln>
        </p:spPr>
      </p:pic>
      <p:sp>
        <p:nvSpPr>
          <p:cNvPr id="9" name="Text Box 8"/>
          <p:cNvSpPr>
            <a:spLocks noChangeArrowheads="1"/>
          </p:cNvSpPr>
          <p:nvPr/>
        </p:nvSpPr>
        <p:spPr bwMode="auto">
          <a:xfrm>
            <a:off x="971600" y="411510"/>
            <a:ext cx="7573236" cy="107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9pPr>
          </a:lstStyle>
          <a:p>
            <a:pPr algn="ctr" eaLnBrk="1" hangingPunct="1">
              <a:spcBef>
                <a:spcPct val="0"/>
              </a:spcBef>
              <a:buFont typeface="Arial" panose="020B0604020202020204" pitchFamily="34" charset="0"/>
              <a:buNone/>
            </a:pPr>
            <a:r>
              <a:rPr lang="zh-CN" altLang="en-US" sz="3200" b="1" dirty="0" smtClean="0">
                <a:solidFill>
                  <a:schemeClr val="accent1"/>
                </a:solidFill>
                <a:latin typeface="微软雅黑" panose="020B0503020204020204" pitchFamily="34" charset="-122"/>
              </a:rPr>
              <a:t>什么是雷达？雷达在智能网联汽车上有哪些实际应用？</a:t>
            </a:r>
          </a:p>
        </p:txBody>
      </p:sp>
      <p:sp>
        <p:nvSpPr>
          <p:cNvPr id="10" name="矩形 9"/>
          <p:cNvSpPr/>
          <p:nvPr/>
        </p:nvSpPr>
        <p:spPr>
          <a:xfrm>
            <a:off x="971600" y="1487835"/>
            <a:ext cx="1443024" cy="400110"/>
          </a:xfrm>
          <a:prstGeom prst="rect">
            <a:avLst/>
          </a:prstGeom>
          <a:solidFill>
            <a:srgbClr val="0070C0"/>
          </a:solidFill>
        </p:spPr>
        <p:txBody>
          <a:bodyPr wrap="none">
            <a:spAutoFit/>
          </a:bodyPr>
          <a:lstStyle/>
          <a:p>
            <a:pPr algn="l" fontAlgn="ctr"/>
            <a:r>
              <a:rPr lang="en-US" sz="2000" b="1" dirty="0" smtClean="0">
                <a:solidFill>
                  <a:schemeClr val="bg1"/>
                </a:solidFill>
                <a:latin typeface="微软雅黑" panose="020B0503020204020204" pitchFamily="34" charset="-122"/>
                <a:ea typeface="微软雅黑" panose="020B0503020204020204" pitchFamily="34" charset="-122"/>
              </a:rPr>
              <a:t>3</a:t>
            </a:r>
            <a:r>
              <a:rPr sz="2000" b="1" dirty="0" smtClean="0">
                <a:solidFill>
                  <a:schemeClr val="bg1"/>
                </a:solidFill>
                <a:latin typeface="微软雅黑" panose="020B0503020204020204" pitchFamily="34" charset="-122"/>
                <a:ea typeface="微软雅黑" panose="020B0503020204020204" pitchFamily="34" charset="-122"/>
              </a:rPr>
              <a:t>.</a:t>
            </a:r>
            <a:r>
              <a:rPr lang="zh-CN" altLang="en-US" sz="2000" b="1" dirty="0" smtClean="0">
                <a:solidFill>
                  <a:schemeClr val="bg1"/>
                </a:solidFill>
                <a:latin typeface="微软雅黑" panose="020B0503020204020204" pitchFamily="34" charset="-122"/>
                <a:ea typeface="微软雅黑" panose="020B0503020204020204" pitchFamily="34" charset="-122"/>
              </a:rPr>
              <a:t>激光雷达</a:t>
            </a:r>
            <a:endParaRPr sz="2000" b="1" dirty="0" smtClean="0">
              <a:solidFill>
                <a:schemeClr val="bg1"/>
              </a:solidFill>
              <a:latin typeface="微软雅黑" panose="020B0503020204020204" pitchFamily="34" charset="-122"/>
              <a:ea typeface="微软雅黑" panose="020B0503020204020204" pitchFamily="34" charset="-122"/>
            </a:endParaRPr>
          </a:p>
        </p:txBody>
      </p:sp>
      <p:sp>
        <p:nvSpPr>
          <p:cNvPr id="2" name="矩形 1"/>
          <p:cNvSpPr/>
          <p:nvPr/>
        </p:nvSpPr>
        <p:spPr>
          <a:xfrm>
            <a:off x="971599" y="1995686"/>
            <a:ext cx="4608513" cy="934487"/>
          </a:xfrm>
          <a:prstGeom prst="rect">
            <a:avLst/>
          </a:prstGeom>
          <a:solidFill>
            <a:srgbClr val="0070C0"/>
          </a:solidFill>
        </p:spPr>
        <p:txBody>
          <a:bodyPr wrap="square">
            <a:spAutoFit/>
          </a:bodyPr>
          <a:lstStyle/>
          <a:p>
            <a:pPr>
              <a:lnSpc>
                <a:spcPct val="114000"/>
              </a:lnSpc>
            </a:pPr>
            <a:r>
              <a:rPr lang="zh-CN" altLang="en-US" sz="1600" dirty="0">
                <a:solidFill>
                  <a:schemeClr val="bg1"/>
                </a:solidFill>
                <a:latin typeface="微软雅黑" pitchFamily="34" charset="-122"/>
                <a:ea typeface="微软雅黑" pitchFamily="34" charset="-122"/>
              </a:rPr>
              <a:t>（</a:t>
            </a:r>
            <a:r>
              <a:rPr lang="en-US" altLang="zh-CN" sz="1600" dirty="0">
                <a:solidFill>
                  <a:schemeClr val="bg1"/>
                </a:solidFill>
                <a:latin typeface="微软雅黑" pitchFamily="34" charset="-122"/>
                <a:ea typeface="微软雅黑" pitchFamily="34" charset="-122"/>
              </a:rPr>
              <a:t>2</a:t>
            </a:r>
            <a:r>
              <a:rPr lang="zh-CN" altLang="en-US" sz="1600" dirty="0">
                <a:solidFill>
                  <a:schemeClr val="bg1"/>
                </a:solidFill>
                <a:latin typeface="微软雅黑" pitchFamily="34" charset="-122"/>
                <a:ea typeface="微软雅黑" pitchFamily="34" charset="-122"/>
              </a:rPr>
              <a:t>）激光雷达的安装</a:t>
            </a:r>
            <a:r>
              <a:rPr lang="zh-CN" altLang="en-US" sz="1600" dirty="0" smtClean="0">
                <a:solidFill>
                  <a:schemeClr val="bg1"/>
                </a:solidFill>
                <a:latin typeface="微软雅黑" pitchFamily="34" charset="-122"/>
                <a:ea typeface="微软雅黑" pitchFamily="34" charset="-122"/>
              </a:rPr>
              <a:t>位置</a:t>
            </a:r>
            <a:endParaRPr lang="en-US" altLang="zh-CN" sz="1600" dirty="0" smtClean="0">
              <a:solidFill>
                <a:schemeClr val="bg1"/>
              </a:solidFill>
              <a:latin typeface="微软雅黑" pitchFamily="34" charset="-122"/>
              <a:ea typeface="微软雅黑" pitchFamily="34" charset="-122"/>
            </a:endParaRPr>
          </a:p>
          <a:p>
            <a:pPr>
              <a:lnSpc>
                <a:spcPct val="114000"/>
              </a:lnSpc>
            </a:pPr>
            <a:r>
              <a:rPr lang="zh-CN" altLang="en-US" sz="1600" dirty="0" smtClean="0">
                <a:solidFill>
                  <a:schemeClr val="bg1"/>
                </a:solidFill>
                <a:latin typeface="微软雅黑" pitchFamily="34" charset="-122"/>
                <a:ea typeface="微软雅黑" pitchFamily="34" charset="-122"/>
              </a:rPr>
              <a:t>激光雷达</a:t>
            </a:r>
            <a:r>
              <a:rPr lang="zh-CN" altLang="en-US" sz="1600" dirty="0">
                <a:solidFill>
                  <a:schemeClr val="bg1"/>
                </a:solidFill>
                <a:latin typeface="微软雅黑" pitchFamily="34" charset="-122"/>
                <a:ea typeface="微软雅黑" pitchFamily="34" charset="-122"/>
              </a:rPr>
              <a:t>根据安装位置的不同，分为安装在车辆四周和车顶两大类。</a:t>
            </a:r>
          </a:p>
        </p:txBody>
      </p:sp>
      <p:sp>
        <p:nvSpPr>
          <p:cNvPr id="3" name="矩形 2"/>
          <p:cNvSpPr/>
          <p:nvPr/>
        </p:nvSpPr>
        <p:spPr>
          <a:xfrm>
            <a:off x="961046" y="3075806"/>
            <a:ext cx="4608513" cy="1215204"/>
          </a:xfrm>
          <a:prstGeom prst="rect">
            <a:avLst/>
          </a:prstGeom>
          <a:solidFill>
            <a:srgbClr val="0070C0"/>
          </a:solidFill>
        </p:spPr>
        <p:txBody>
          <a:bodyPr wrap="square">
            <a:spAutoFit/>
          </a:bodyPr>
          <a:lstStyle/>
          <a:p>
            <a:pPr>
              <a:lnSpc>
                <a:spcPct val="114000"/>
              </a:lnSpc>
            </a:pPr>
            <a:r>
              <a:rPr lang="zh-CN" altLang="en-US" sz="1600" dirty="0">
                <a:solidFill>
                  <a:schemeClr val="bg1"/>
                </a:solidFill>
                <a:latin typeface="微软雅黑" pitchFamily="34" charset="-122"/>
                <a:ea typeface="微软雅黑" pitchFamily="34" charset="-122"/>
              </a:rPr>
              <a:t>少线束激光雷达主要用于</a:t>
            </a:r>
            <a:r>
              <a:rPr lang="zh-CN" altLang="en-US" sz="1600" dirty="0" smtClean="0">
                <a:solidFill>
                  <a:schemeClr val="bg1"/>
                </a:solidFill>
                <a:latin typeface="微软雅黑" pitchFamily="34" charset="-122"/>
                <a:ea typeface="微软雅黑" pitchFamily="34" charset="-122"/>
              </a:rPr>
              <a:t>智能网</a:t>
            </a:r>
            <a:r>
              <a:rPr lang="zh-CN" altLang="en-US" sz="1600" dirty="0">
                <a:solidFill>
                  <a:schemeClr val="bg1"/>
                </a:solidFill>
                <a:latin typeface="微软雅黑" pitchFamily="34" charset="-122"/>
                <a:ea typeface="微软雅黑" pitchFamily="34" charset="-122"/>
              </a:rPr>
              <a:t>联汽车的高级驾驶辅助系统，多线束激光雷达主要用于制作无人驾驶汽车的高精度</a:t>
            </a:r>
            <a:r>
              <a:rPr lang="zh-CN" altLang="en-US" sz="1600" dirty="0" smtClean="0">
                <a:solidFill>
                  <a:schemeClr val="bg1"/>
                </a:solidFill>
                <a:latin typeface="微软雅黑" pitchFamily="34" charset="-122"/>
                <a:ea typeface="微软雅黑" pitchFamily="34" charset="-122"/>
              </a:rPr>
              <a:t>地图</a:t>
            </a:r>
            <a:r>
              <a:rPr lang="zh-CN" altLang="en-US" sz="1600" dirty="0">
                <a:solidFill>
                  <a:schemeClr val="bg1"/>
                </a:solidFill>
                <a:latin typeface="微软雅黑" pitchFamily="34" charset="-122"/>
                <a:ea typeface="微软雅黑" pitchFamily="34" charset="-122"/>
              </a:rPr>
              <a:t>，并进行道路和车辆的识别等。</a:t>
            </a:r>
          </a:p>
        </p:txBody>
      </p:sp>
    </p:spTree>
    <p:extLst>
      <p:ext uri="{BB962C8B-B14F-4D97-AF65-F5344CB8AC3E}">
        <p14:creationId xmlns:p14="http://schemas.microsoft.com/office/powerpoint/2010/main" val="166990218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a:xfrm>
            <a:off x="107504" y="4840397"/>
            <a:ext cx="2133600" cy="273844"/>
          </a:xfrm>
        </p:spPr>
        <p:txBody>
          <a:bodyPr/>
          <a:lstStyle/>
          <a:p>
            <a:pPr algn="l"/>
            <a:fld id="{0C913308-F349-4B6D-A68A-DD1791B4A57B}" type="slidenum">
              <a:rPr lang="zh-CN" altLang="en-US" smtClean="0"/>
              <a:t>28</a:t>
            </a:fld>
            <a:endParaRPr lang="zh-CN" altLang="en-US" dirty="0"/>
          </a:p>
        </p:txBody>
      </p:sp>
      <p:sp>
        <p:nvSpPr>
          <p:cNvPr id="2" name="矩形 1"/>
          <p:cNvSpPr/>
          <p:nvPr/>
        </p:nvSpPr>
        <p:spPr>
          <a:xfrm>
            <a:off x="942941" y="1967230"/>
            <a:ext cx="2836971" cy="461665"/>
          </a:xfrm>
          <a:prstGeom prst="rect">
            <a:avLst/>
          </a:prstGeom>
          <a:solidFill>
            <a:srgbClr val="0070C0"/>
          </a:solidFill>
        </p:spPr>
        <p:txBody>
          <a:bodyPr wrap="square">
            <a:spAutoFit/>
          </a:bodyPr>
          <a:lstStyle/>
          <a:p>
            <a:pPr fontAlgn="base">
              <a:lnSpc>
                <a:spcPct val="150000"/>
              </a:lnSpc>
            </a:pPr>
            <a:r>
              <a:rPr sz="1600" dirty="0">
                <a:solidFill>
                  <a:schemeClr val="bg1"/>
                </a:solidFill>
                <a:latin typeface="微软雅黑" panose="020B0503020204020204" pitchFamily="34" charset="-122"/>
                <a:ea typeface="微软雅黑" panose="020B0503020204020204" pitchFamily="34" charset="-122"/>
              </a:rPr>
              <a:t>（3）激光雷达的测距原理</a:t>
            </a:r>
          </a:p>
        </p:txBody>
      </p:sp>
      <p:pic>
        <p:nvPicPr>
          <p:cNvPr id="33" name="图片 33" descr="说明: http://img3.jc001.cn/img/363/1278363/1505/155567da8f38a05.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a:xfrm>
            <a:off x="967105" y="3270944"/>
            <a:ext cx="1828800" cy="1467485"/>
          </a:xfrm>
          <a:prstGeom prst="rect">
            <a:avLst/>
          </a:prstGeom>
          <a:noFill/>
          <a:ln>
            <a:noFill/>
          </a:ln>
        </p:spPr>
      </p:pic>
      <p:pic>
        <p:nvPicPr>
          <p:cNvPr id="30" name="图片 30" descr="说明: https://timgsa.baidu.com/timg?image&amp;quality=80&amp;size=b9999_10000&amp;sec=1596704127841&amp;di=97b644bb9efb1e1fa77de66e7b94c759&amp;imgtype=0&amp;src=http%3A%2F%2F5b0988e595225.cdn.sohucs.com%2Fimages%2F20180326%2F26096506dda6401d80112e8a99e25740.jpe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a:xfrm>
            <a:off x="2947704" y="3270944"/>
            <a:ext cx="2992447" cy="1467485"/>
          </a:xfrm>
          <a:prstGeom prst="rect">
            <a:avLst/>
          </a:prstGeom>
          <a:noFill/>
          <a:ln>
            <a:noFill/>
          </a:ln>
        </p:spPr>
      </p:pic>
      <p:pic>
        <p:nvPicPr>
          <p:cNvPr id="23" name="图片 23"/>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a:xfrm>
            <a:off x="6156176" y="3509347"/>
            <a:ext cx="1994100" cy="1182448"/>
          </a:xfrm>
          <a:prstGeom prst="rect">
            <a:avLst/>
          </a:prstGeom>
          <a:noFill/>
          <a:ln>
            <a:noFill/>
          </a:ln>
        </p:spPr>
      </p:pic>
      <p:sp>
        <p:nvSpPr>
          <p:cNvPr id="9" name="Text Box 8"/>
          <p:cNvSpPr>
            <a:spLocks noChangeArrowheads="1"/>
          </p:cNvSpPr>
          <p:nvPr/>
        </p:nvSpPr>
        <p:spPr bwMode="auto">
          <a:xfrm>
            <a:off x="971600" y="411510"/>
            <a:ext cx="7573236" cy="107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9pPr>
          </a:lstStyle>
          <a:p>
            <a:pPr algn="ctr" eaLnBrk="1" hangingPunct="1">
              <a:spcBef>
                <a:spcPct val="0"/>
              </a:spcBef>
              <a:buFont typeface="Arial" panose="020B0604020202020204" pitchFamily="34" charset="0"/>
              <a:buNone/>
            </a:pPr>
            <a:r>
              <a:rPr lang="zh-CN" altLang="en-US" sz="3200" b="1" dirty="0" smtClean="0">
                <a:solidFill>
                  <a:schemeClr val="accent1"/>
                </a:solidFill>
                <a:latin typeface="微软雅黑" panose="020B0503020204020204" pitchFamily="34" charset="-122"/>
              </a:rPr>
              <a:t>什么是雷达？雷达在智能网联汽车上有哪些实际应用？</a:t>
            </a:r>
          </a:p>
        </p:txBody>
      </p:sp>
      <p:sp>
        <p:nvSpPr>
          <p:cNvPr id="10" name="矩形 9"/>
          <p:cNvSpPr/>
          <p:nvPr/>
        </p:nvSpPr>
        <p:spPr>
          <a:xfrm>
            <a:off x="971600" y="1487835"/>
            <a:ext cx="1443024" cy="400110"/>
          </a:xfrm>
          <a:prstGeom prst="rect">
            <a:avLst/>
          </a:prstGeom>
          <a:solidFill>
            <a:srgbClr val="0070C0"/>
          </a:solidFill>
        </p:spPr>
        <p:txBody>
          <a:bodyPr wrap="none">
            <a:spAutoFit/>
          </a:bodyPr>
          <a:lstStyle/>
          <a:p>
            <a:pPr algn="l" fontAlgn="ctr"/>
            <a:r>
              <a:rPr lang="en-US" sz="2000" b="1" dirty="0" smtClean="0">
                <a:solidFill>
                  <a:schemeClr val="bg1"/>
                </a:solidFill>
                <a:latin typeface="微软雅黑" panose="020B0503020204020204" pitchFamily="34" charset="-122"/>
                <a:ea typeface="微软雅黑" panose="020B0503020204020204" pitchFamily="34" charset="-122"/>
              </a:rPr>
              <a:t>3</a:t>
            </a:r>
            <a:r>
              <a:rPr sz="2000" b="1" dirty="0" smtClean="0">
                <a:solidFill>
                  <a:schemeClr val="bg1"/>
                </a:solidFill>
                <a:latin typeface="微软雅黑" panose="020B0503020204020204" pitchFamily="34" charset="-122"/>
                <a:ea typeface="微软雅黑" panose="020B0503020204020204" pitchFamily="34" charset="-122"/>
              </a:rPr>
              <a:t>.</a:t>
            </a:r>
            <a:r>
              <a:rPr lang="zh-CN" altLang="en-US" sz="2000" b="1" dirty="0" smtClean="0">
                <a:solidFill>
                  <a:schemeClr val="bg1"/>
                </a:solidFill>
                <a:latin typeface="微软雅黑" panose="020B0503020204020204" pitchFamily="34" charset="-122"/>
                <a:ea typeface="微软雅黑" panose="020B0503020204020204" pitchFamily="34" charset="-122"/>
              </a:rPr>
              <a:t>激光雷达</a:t>
            </a:r>
            <a:endParaRPr sz="2000" b="1" dirty="0" smtClean="0">
              <a:solidFill>
                <a:schemeClr val="bg1"/>
              </a:solidFill>
              <a:latin typeface="微软雅黑" panose="020B0503020204020204" pitchFamily="34" charset="-122"/>
              <a:ea typeface="微软雅黑" panose="020B0503020204020204" pitchFamily="34" charset="-122"/>
            </a:endParaRPr>
          </a:p>
        </p:txBody>
      </p:sp>
      <p:sp>
        <p:nvSpPr>
          <p:cNvPr id="4" name="矩形 3"/>
          <p:cNvSpPr/>
          <p:nvPr/>
        </p:nvSpPr>
        <p:spPr>
          <a:xfrm>
            <a:off x="937065" y="2554209"/>
            <a:ext cx="7213211" cy="653769"/>
          </a:xfrm>
          <a:prstGeom prst="rect">
            <a:avLst/>
          </a:prstGeom>
          <a:solidFill>
            <a:srgbClr val="0070C0"/>
          </a:solidFill>
        </p:spPr>
        <p:txBody>
          <a:bodyPr wrap="square">
            <a:spAutoFit/>
          </a:bodyPr>
          <a:lstStyle/>
          <a:p>
            <a:pPr>
              <a:lnSpc>
                <a:spcPct val="114000"/>
              </a:lnSpc>
            </a:pPr>
            <a:r>
              <a:rPr lang="zh-CN" altLang="en-US" sz="1600" dirty="0">
                <a:solidFill>
                  <a:schemeClr val="bg1"/>
                </a:solidFill>
                <a:latin typeface="微软雅黑" pitchFamily="34" charset="-122"/>
                <a:ea typeface="微软雅黑" pitchFamily="34" charset="-122"/>
              </a:rPr>
              <a:t>在车载激光雷达应用领域，重点关注的是激光雷达的结构、测量性能、成本等，</a:t>
            </a:r>
            <a:r>
              <a:rPr lang="zh-CN" altLang="en-US" sz="1600" dirty="0" smtClean="0">
                <a:solidFill>
                  <a:schemeClr val="bg1"/>
                </a:solidFill>
                <a:latin typeface="微软雅黑" pitchFamily="34" charset="-122"/>
                <a:ea typeface="微软雅黑" pitchFamily="34" charset="-122"/>
              </a:rPr>
              <a:t>主要分为</a:t>
            </a:r>
            <a:r>
              <a:rPr lang="zh-CN" altLang="en-US" sz="1600" dirty="0">
                <a:solidFill>
                  <a:schemeClr val="bg1"/>
                </a:solidFill>
                <a:latin typeface="微软雅黑" pitchFamily="34" charset="-122"/>
                <a:ea typeface="微软雅黑" pitchFamily="34" charset="-122"/>
              </a:rPr>
              <a:t>多线旋转式激光雷达和固态</a:t>
            </a:r>
            <a:r>
              <a:rPr lang="zh-CN" altLang="en-US" sz="1600" dirty="0" smtClean="0">
                <a:solidFill>
                  <a:schemeClr val="bg1"/>
                </a:solidFill>
                <a:latin typeface="微软雅黑" pitchFamily="34" charset="-122"/>
                <a:ea typeface="微软雅黑" pitchFamily="34" charset="-122"/>
              </a:rPr>
              <a:t>激光雷达（应用前景更广阔）两</a:t>
            </a:r>
            <a:r>
              <a:rPr lang="zh-CN" altLang="en-US" sz="1600" dirty="0">
                <a:solidFill>
                  <a:schemeClr val="bg1"/>
                </a:solidFill>
                <a:latin typeface="微软雅黑" pitchFamily="34" charset="-122"/>
                <a:ea typeface="微软雅黑" pitchFamily="34" charset="-122"/>
              </a:rPr>
              <a:t>大类。</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a:xfrm>
            <a:off x="107504" y="4840397"/>
            <a:ext cx="2133600" cy="273844"/>
          </a:xfrm>
        </p:spPr>
        <p:txBody>
          <a:bodyPr/>
          <a:lstStyle/>
          <a:p>
            <a:pPr algn="l"/>
            <a:fld id="{0C913308-F349-4B6D-A68A-DD1791B4A57B}" type="slidenum">
              <a:rPr lang="zh-CN" altLang="en-US" smtClean="0"/>
              <a:t>29</a:t>
            </a:fld>
            <a:endParaRPr lang="zh-CN" altLang="en-US" dirty="0"/>
          </a:p>
        </p:txBody>
      </p:sp>
      <p:sp>
        <p:nvSpPr>
          <p:cNvPr id="9" name="Text Box 8"/>
          <p:cNvSpPr>
            <a:spLocks noChangeArrowheads="1"/>
          </p:cNvSpPr>
          <p:nvPr/>
        </p:nvSpPr>
        <p:spPr bwMode="auto">
          <a:xfrm>
            <a:off x="971600" y="411510"/>
            <a:ext cx="7573236" cy="107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9pPr>
          </a:lstStyle>
          <a:p>
            <a:pPr algn="ctr" eaLnBrk="1" hangingPunct="1">
              <a:spcBef>
                <a:spcPct val="0"/>
              </a:spcBef>
              <a:buFont typeface="Arial" panose="020B0604020202020204" pitchFamily="34" charset="0"/>
              <a:buNone/>
            </a:pPr>
            <a:r>
              <a:rPr lang="zh-CN" altLang="en-US" sz="3200" b="1" dirty="0" smtClean="0">
                <a:solidFill>
                  <a:schemeClr val="accent1"/>
                </a:solidFill>
                <a:latin typeface="微软雅黑" panose="020B0503020204020204" pitchFamily="34" charset="-122"/>
              </a:rPr>
              <a:t>什么是雷达？雷达在智能网联汽车上有哪些实际应用？</a:t>
            </a:r>
          </a:p>
        </p:txBody>
      </p:sp>
      <p:sp>
        <p:nvSpPr>
          <p:cNvPr id="10" name="矩形 9"/>
          <p:cNvSpPr/>
          <p:nvPr/>
        </p:nvSpPr>
        <p:spPr>
          <a:xfrm>
            <a:off x="971600" y="1487835"/>
            <a:ext cx="1443024" cy="400110"/>
          </a:xfrm>
          <a:prstGeom prst="rect">
            <a:avLst/>
          </a:prstGeom>
          <a:solidFill>
            <a:srgbClr val="0070C0"/>
          </a:solidFill>
        </p:spPr>
        <p:txBody>
          <a:bodyPr wrap="none">
            <a:spAutoFit/>
          </a:bodyPr>
          <a:lstStyle/>
          <a:p>
            <a:pPr algn="l" fontAlgn="ctr"/>
            <a:r>
              <a:rPr lang="en-US" sz="2000" b="1" dirty="0" smtClean="0">
                <a:solidFill>
                  <a:schemeClr val="bg1"/>
                </a:solidFill>
                <a:latin typeface="微软雅黑" panose="020B0503020204020204" pitchFamily="34" charset="-122"/>
                <a:ea typeface="微软雅黑" panose="020B0503020204020204" pitchFamily="34" charset="-122"/>
              </a:rPr>
              <a:t>3</a:t>
            </a:r>
            <a:r>
              <a:rPr sz="2000" b="1" dirty="0" smtClean="0">
                <a:solidFill>
                  <a:schemeClr val="bg1"/>
                </a:solidFill>
                <a:latin typeface="微软雅黑" panose="020B0503020204020204" pitchFamily="34" charset="-122"/>
                <a:ea typeface="微软雅黑" panose="020B0503020204020204" pitchFamily="34" charset="-122"/>
              </a:rPr>
              <a:t>.</a:t>
            </a:r>
            <a:r>
              <a:rPr lang="zh-CN" altLang="en-US" sz="2000" b="1" dirty="0" smtClean="0">
                <a:solidFill>
                  <a:schemeClr val="bg1"/>
                </a:solidFill>
                <a:latin typeface="微软雅黑" panose="020B0503020204020204" pitchFamily="34" charset="-122"/>
                <a:ea typeface="微软雅黑" panose="020B0503020204020204" pitchFamily="34" charset="-122"/>
              </a:rPr>
              <a:t>激光雷达</a:t>
            </a:r>
            <a:endParaRPr sz="2000" b="1" dirty="0" smtClean="0">
              <a:solidFill>
                <a:schemeClr val="bg1"/>
              </a:solidFill>
              <a:latin typeface="微软雅黑" panose="020B0503020204020204" pitchFamily="34" charset="-122"/>
              <a:ea typeface="微软雅黑" panose="020B0503020204020204" pitchFamily="34" charset="-122"/>
            </a:endParaRPr>
          </a:p>
        </p:txBody>
      </p:sp>
      <p:sp>
        <p:nvSpPr>
          <p:cNvPr id="4" name="矩形 3"/>
          <p:cNvSpPr/>
          <p:nvPr/>
        </p:nvSpPr>
        <p:spPr>
          <a:xfrm>
            <a:off x="958020" y="1995686"/>
            <a:ext cx="7214380" cy="2057358"/>
          </a:xfrm>
          <a:prstGeom prst="rect">
            <a:avLst/>
          </a:prstGeom>
          <a:solidFill>
            <a:srgbClr val="0070C0"/>
          </a:solidFill>
        </p:spPr>
        <p:txBody>
          <a:bodyPr wrap="square">
            <a:spAutoFit/>
          </a:bodyPr>
          <a:lstStyle/>
          <a:p>
            <a:pPr>
              <a:lnSpc>
                <a:spcPct val="114000"/>
              </a:lnSpc>
            </a:pPr>
            <a:r>
              <a:rPr lang="zh-CN" altLang="en-US" sz="1600" dirty="0">
                <a:solidFill>
                  <a:schemeClr val="bg1"/>
                </a:solidFill>
                <a:latin typeface="微软雅黑" pitchFamily="34" charset="-122"/>
                <a:ea typeface="微软雅黑" pitchFamily="34" charset="-122"/>
              </a:rPr>
              <a:t>（</a:t>
            </a:r>
            <a:r>
              <a:rPr lang="en-US" altLang="zh-CN" sz="1600" dirty="0">
                <a:solidFill>
                  <a:schemeClr val="bg1"/>
                </a:solidFill>
                <a:latin typeface="微软雅黑" pitchFamily="34" charset="-122"/>
                <a:ea typeface="微软雅黑" pitchFamily="34" charset="-122"/>
              </a:rPr>
              <a:t>4</a:t>
            </a:r>
            <a:r>
              <a:rPr lang="zh-CN" altLang="en-US" sz="1600" dirty="0">
                <a:solidFill>
                  <a:schemeClr val="bg1"/>
                </a:solidFill>
                <a:latin typeface="微软雅黑" pitchFamily="34" charset="-122"/>
                <a:ea typeface="微软雅黑" pitchFamily="34" charset="-122"/>
              </a:rPr>
              <a:t>）激光雷达的优缺点和</a:t>
            </a:r>
            <a:r>
              <a:rPr lang="zh-CN" altLang="en-US" sz="1600" dirty="0" smtClean="0">
                <a:solidFill>
                  <a:schemeClr val="bg1"/>
                </a:solidFill>
                <a:latin typeface="微软雅黑" pitchFamily="34" charset="-122"/>
                <a:ea typeface="微软雅黑" pitchFamily="34" charset="-122"/>
              </a:rPr>
              <a:t>应用</a:t>
            </a:r>
            <a:r>
              <a:rPr lang="en-US" altLang="zh-CN" sz="1600" dirty="0" smtClean="0">
                <a:solidFill>
                  <a:schemeClr val="bg1"/>
                </a:solidFill>
                <a:latin typeface="微软雅黑" pitchFamily="34" charset="-122"/>
                <a:ea typeface="微软雅黑" pitchFamily="34" charset="-122"/>
              </a:rPr>
              <a:t>-</a:t>
            </a:r>
            <a:r>
              <a:rPr lang="zh-CN" altLang="en-US" sz="1600" dirty="0" smtClean="0">
                <a:solidFill>
                  <a:schemeClr val="bg1"/>
                </a:solidFill>
                <a:latin typeface="微软雅黑" pitchFamily="34" charset="-122"/>
                <a:ea typeface="微软雅黑" pitchFamily="34" charset="-122"/>
              </a:rPr>
              <a:t>优缺点 </a:t>
            </a:r>
            <a:endParaRPr lang="en-US" altLang="zh-CN" sz="1600" dirty="0" smtClean="0">
              <a:solidFill>
                <a:schemeClr val="bg1"/>
              </a:solidFill>
              <a:latin typeface="微软雅黑" pitchFamily="34" charset="-122"/>
              <a:ea typeface="微软雅黑" pitchFamily="34" charset="-122"/>
            </a:endParaRPr>
          </a:p>
          <a:p>
            <a:pPr>
              <a:lnSpc>
                <a:spcPct val="114000"/>
              </a:lnSpc>
            </a:pPr>
            <a:r>
              <a:rPr lang="zh-CN" altLang="en-US" sz="1600" b="1" dirty="0" smtClean="0">
                <a:solidFill>
                  <a:schemeClr val="bg1"/>
                </a:solidFill>
                <a:latin typeface="微软雅黑" pitchFamily="34" charset="-122"/>
                <a:ea typeface="微软雅黑" pitchFamily="34" charset="-122"/>
              </a:rPr>
              <a:t>优点：</a:t>
            </a:r>
            <a:endParaRPr lang="en-US" altLang="zh-CN" sz="1600" b="1" dirty="0" smtClean="0">
              <a:solidFill>
                <a:schemeClr val="bg1"/>
              </a:solidFill>
              <a:latin typeface="微软雅黑" pitchFamily="34" charset="-122"/>
              <a:ea typeface="微软雅黑" pitchFamily="34" charset="-122"/>
            </a:endParaRPr>
          </a:p>
          <a:p>
            <a:pPr>
              <a:lnSpc>
                <a:spcPct val="114000"/>
              </a:lnSpc>
            </a:pPr>
            <a:r>
              <a:rPr lang="zh-CN" altLang="en-US" sz="1600" dirty="0" smtClean="0">
                <a:solidFill>
                  <a:schemeClr val="bg1"/>
                </a:solidFill>
                <a:latin typeface="微软雅黑" pitchFamily="34" charset="-122"/>
                <a:ea typeface="微软雅黑" pitchFamily="34" charset="-122"/>
              </a:rPr>
              <a:t>探测</a:t>
            </a:r>
            <a:r>
              <a:rPr lang="zh-CN" altLang="en-US" sz="1600" dirty="0">
                <a:solidFill>
                  <a:schemeClr val="bg1"/>
                </a:solidFill>
                <a:latin typeface="微软雅黑" pitchFamily="34" charset="-122"/>
                <a:ea typeface="微软雅黑" pitchFamily="34" charset="-122"/>
              </a:rPr>
              <a:t>范围</a:t>
            </a:r>
            <a:r>
              <a:rPr lang="zh-CN" altLang="en-US" sz="1600" dirty="0" smtClean="0">
                <a:solidFill>
                  <a:schemeClr val="bg1"/>
                </a:solidFill>
                <a:latin typeface="微软雅黑" pitchFamily="34" charset="-122"/>
                <a:ea typeface="微软雅黑" pitchFamily="34" charset="-122"/>
              </a:rPr>
              <a:t>广</a:t>
            </a:r>
            <a:r>
              <a:rPr lang="zh-CN" altLang="en-US" sz="1600" dirty="0">
                <a:solidFill>
                  <a:schemeClr val="bg1"/>
                </a:solidFill>
                <a:latin typeface="微软雅黑" pitchFamily="34" charset="-122"/>
                <a:ea typeface="微软雅黑" pitchFamily="34" charset="-122"/>
              </a:rPr>
              <a:t>；</a:t>
            </a:r>
            <a:r>
              <a:rPr lang="zh-CN" altLang="en-US" sz="1600" dirty="0" smtClean="0">
                <a:solidFill>
                  <a:schemeClr val="bg1"/>
                </a:solidFill>
                <a:latin typeface="微软雅黑" pitchFamily="34" charset="-122"/>
                <a:ea typeface="微软雅黑" pitchFamily="34" charset="-122"/>
              </a:rPr>
              <a:t>分辨率高；信息量丰富；可</a:t>
            </a:r>
            <a:r>
              <a:rPr lang="zh-CN" altLang="en-US" sz="1600" dirty="0">
                <a:solidFill>
                  <a:schemeClr val="bg1"/>
                </a:solidFill>
                <a:latin typeface="微软雅黑" pitchFamily="34" charset="-122"/>
                <a:ea typeface="微软雅黑" pitchFamily="34" charset="-122"/>
              </a:rPr>
              <a:t>全天候工作</a:t>
            </a:r>
            <a:r>
              <a:rPr lang="zh-CN" altLang="en-US" sz="1600" dirty="0" smtClean="0">
                <a:solidFill>
                  <a:schemeClr val="bg1"/>
                </a:solidFill>
                <a:latin typeface="微软雅黑" pitchFamily="34" charset="-122"/>
                <a:ea typeface="微软雅黑" pitchFamily="34" charset="-122"/>
              </a:rPr>
              <a:t>。</a:t>
            </a:r>
            <a:endParaRPr lang="en-US" altLang="zh-CN" sz="1600" dirty="0" smtClean="0">
              <a:solidFill>
                <a:schemeClr val="bg1"/>
              </a:solidFill>
              <a:latin typeface="微软雅黑" pitchFamily="34" charset="-122"/>
              <a:ea typeface="微软雅黑" pitchFamily="34" charset="-122"/>
            </a:endParaRPr>
          </a:p>
          <a:p>
            <a:pPr>
              <a:lnSpc>
                <a:spcPct val="114000"/>
              </a:lnSpc>
            </a:pPr>
            <a:r>
              <a:rPr lang="zh-CN" altLang="en-US" sz="1600" dirty="0" smtClean="0">
                <a:solidFill>
                  <a:schemeClr val="bg1"/>
                </a:solidFill>
                <a:latin typeface="微软雅黑" pitchFamily="34" charset="-122"/>
                <a:ea typeface="微软雅黑" pitchFamily="34" charset="-122"/>
              </a:rPr>
              <a:t>激光主动探测，不依赖于外界光照条件或目标本身的辐射特性，它只需发射自己的激光束，通过探测发射激光束的回波信号来获取目标信息。 </a:t>
            </a:r>
            <a:endParaRPr lang="en-US" altLang="zh-CN" sz="1600" dirty="0" smtClean="0">
              <a:solidFill>
                <a:schemeClr val="bg1"/>
              </a:solidFill>
              <a:latin typeface="微软雅黑" pitchFamily="34" charset="-122"/>
              <a:ea typeface="微软雅黑" pitchFamily="34" charset="-122"/>
            </a:endParaRPr>
          </a:p>
          <a:p>
            <a:pPr>
              <a:lnSpc>
                <a:spcPct val="114000"/>
              </a:lnSpc>
            </a:pPr>
            <a:r>
              <a:rPr lang="zh-CN" altLang="en-US" sz="1600" b="1" dirty="0" smtClean="0">
                <a:solidFill>
                  <a:schemeClr val="bg1"/>
                </a:solidFill>
                <a:latin typeface="微软雅黑" pitchFamily="34" charset="-122"/>
                <a:ea typeface="微软雅黑" pitchFamily="34" charset="-122"/>
              </a:rPr>
              <a:t>缺点： </a:t>
            </a:r>
            <a:endParaRPr lang="en-US" altLang="zh-CN" sz="1600" b="1" dirty="0" smtClean="0">
              <a:solidFill>
                <a:schemeClr val="bg1"/>
              </a:solidFill>
              <a:latin typeface="微软雅黑" pitchFamily="34" charset="-122"/>
              <a:ea typeface="微软雅黑" pitchFamily="34" charset="-122"/>
            </a:endParaRPr>
          </a:p>
          <a:p>
            <a:pPr>
              <a:lnSpc>
                <a:spcPct val="114000"/>
              </a:lnSpc>
            </a:pPr>
            <a:r>
              <a:rPr lang="zh-CN" altLang="en-US" sz="1600" dirty="0" smtClean="0">
                <a:solidFill>
                  <a:schemeClr val="bg1"/>
                </a:solidFill>
                <a:latin typeface="微软雅黑" pitchFamily="34" charset="-122"/>
                <a:ea typeface="微软雅黑" pitchFamily="34" charset="-122"/>
              </a:rPr>
              <a:t>与毫米波雷达相比，产品</a:t>
            </a:r>
            <a:r>
              <a:rPr lang="zh-CN" altLang="en-US" sz="1600" dirty="0">
                <a:solidFill>
                  <a:schemeClr val="bg1"/>
                </a:solidFill>
                <a:latin typeface="微软雅黑" pitchFamily="34" charset="-122"/>
                <a:ea typeface="微软雅黑" pitchFamily="34" charset="-122"/>
              </a:rPr>
              <a:t>体积大，成本</a:t>
            </a:r>
            <a:r>
              <a:rPr lang="zh-CN" altLang="en-US" sz="1600" dirty="0" smtClean="0">
                <a:solidFill>
                  <a:schemeClr val="bg1"/>
                </a:solidFill>
                <a:latin typeface="微软雅黑" pitchFamily="34" charset="-122"/>
                <a:ea typeface="微软雅黑" pitchFamily="34" charset="-122"/>
              </a:rPr>
              <a:t>高；无法</a:t>
            </a:r>
            <a:r>
              <a:rPr lang="zh-CN" altLang="en-US" sz="1600" dirty="0">
                <a:solidFill>
                  <a:schemeClr val="bg1"/>
                </a:solidFill>
                <a:latin typeface="微软雅黑" pitchFamily="34" charset="-122"/>
                <a:ea typeface="微软雅黑" pitchFamily="34" charset="-122"/>
              </a:rPr>
              <a:t>识别交通标志和交通信号灯。</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a:xfrm>
            <a:off x="107504" y="4840397"/>
            <a:ext cx="2133600" cy="273844"/>
          </a:xfrm>
        </p:spPr>
        <p:txBody>
          <a:bodyPr/>
          <a:lstStyle/>
          <a:p>
            <a:pPr algn="l"/>
            <a:fld id="{0C913308-F349-4B6D-A68A-DD1791B4A57B}" type="slidenum">
              <a:rPr lang="zh-CN" altLang="en-US" smtClean="0"/>
              <a:t>30</a:t>
            </a:fld>
            <a:endParaRPr lang="zh-CN" altLang="en-US" dirty="0"/>
          </a:p>
        </p:txBody>
      </p:sp>
      <p:sp>
        <p:nvSpPr>
          <p:cNvPr id="9" name="Text Box 8"/>
          <p:cNvSpPr>
            <a:spLocks noChangeArrowheads="1"/>
          </p:cNvSpPr>
          <p:nvPr/>
        </p:nvSpPr>
        <p:spPr bwMode="auto">
          <a:xfrm>
            <a:off x="971600" y="411510"/>
            <a:ext cx="7573236" cy="107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9pPr>
          </a:lstStyle>
          <a:p>
            <a:pPr algn="ctr" eaLnBrk="1" hangingPunct="1">
              <a:spcBef>
                <a:spcPct val="0"/>
              </a:spcBef>
              <a:buFont typeface="Arial" panose="020B0604020202020204" pitchFamily="34" charset="0"/>
              <a:buNone/>
            </a:pPr>
            <a:r>
              <a:rPr lang="zh-CN" altLang="en-US" sz="3200" b="1" dirty="0" smtClean="0">
                <a:solidFill>
                  <a:schemeClr val="accent1"/>
                </a:solidFill>
                <a:latin typeface="微软雅黑" panose="020B0503020204020204" pitchFamily="34" charset="-122"/>
              </a:rPr>
              <a:t>什么是雷达？雷达在智能网联汽车上有哪些实际应用？</a:t>
            </a:r>
          </a:p>
        </p:txBody>
      </p:sp>
      <p:sp>
        <p:nvSpPr>
          <p:cNvPr id="10" name="矩形 9"/>
          <p:cNvSpPr/>
          <p:nvPr/>
        </p:nvSpPr>
        <p:spPr>
          <a:xfrm>
            <a:off x="971600" y="1487835"/>
            <a:ext cx="1443024" cy="400110"/>
          </a:xfrm>
          <a:prstGeom prst="rect">
            <a:avLst/>
          </a:prstGeom>
          <a:solidFill>
            <a:srgbClr val="0070C0"/>
          </a:solidFill>
        </p:spPr>
        <p:txBody>
          <a:bodyPr wrap="none">
            <a:spAutoFit/>
          </a:bodyPr>
          <a:lstStyle/>
          <a:p>
            <a:pPr algn="l" fontAlgn="ctr"/>
            <a:r>
              <a:rPr lang="en-US" sz="2000" b="1" dirty="0" smtClean="0">
                <a:solidFill>
                  <a:schemeClr val="bg1"/>
                </a:solidFill>
                <a:latin typeface="微软雅黑" panose="020B0503020204020204" pitchFamily="34" charset="-122"/>
                <a:ea typeface="微软雅黑" panose="020B0503020204020204" pitchFamily="34" charset="-122"/>
              </a:rPr>
              <a:t>3</a:t>
            </a:r>
            <a:r>
              <a:rPr sz="2000" b="1" dirty="0" smtClean="0">
                <a:solidFill>
                  <a:schemeClr val="bg1"/>
                </a:solidFill>
                <a:latin typeface="微软雅黑" panose="020B0503020204020204" pitchFamily="34" charset="-122"/>
                <a:ea typeface="微软雅黑" panose="020B0503020204020204" pitchFamily="34" charset="-122"/>
              </a:rPr>
              <a:t>.</a:t>
            </a:r>
            <a:r>
              <a:rPr lang="zh-CN" altLang="en-US" sz="2000" b="1" dirty="0" smtClean="0">
                <a:solidFill>
                  <a:schemeClr val="bg1"/>
                </a:solidFill>
                <a:latin typeface="微软雅黑" panose="020B0503020204020204" pitchFamily="34" charset="-122"/>
                <a:ea typeface="微软雅黑" panose="020B0503020204020204" pitchFamily="34" charset="-122"/>
              </a:rPr>
              <a:t>激光雷达</a:t>
            </a:r>
            <a:endParaRPr sz="2000" b="1" dirty="0" smtClean="0">
              <a:solidFill>
                <a:schemeClr val="bg1"/>
              </a:solidFill>
              <a:latin typeface="微软雅黑" panose="020B0503020204020204" pitchFamily="34" charset="-122"/>
              <a:ea typeface="微软雅黑" panose="020B0503020204020204" pitchFamily="34" charset="-122"/>
            </a:endParaRPr>
          </a:p>
        </p:txBody>
      </p:sp>
      <p:sp>
        <p:nvSpPr>
          <p:cNvPr id="4" name="矩形 3"/>
          <p:cNvSpPr/>
          <p:nvPr/>
        </p:nvSpPr>
        <p:spPr>
          <a:xfrm>
            <a:off x="958020" y="1995686"/>
            <a:ext cx="3685988" cy="373051"/>
          </a:xfrm>
          <a:prstGeom prst="rect">
            <a:avLst/>
          </a:prstGeom>
          <a:solidFill>
            <a:srgbClr val="0070C0"/>
          </a:solidFill>
        </p:spPr>
        <p:txBody>
          <a:bodyPr wrap="square">
            <a:spAutoFit/>
          </a:bodyPr>
          <a:lstStyle/>
          <a:p>
            <a:pPr>
              <a:lnSpc>
                <a:spcPct val="114000"/>
              </a:lnSpc>
            </a:pPr>
            <a:r>
              <a:rPr lang="zh-CN" altLang="en-US" sz="1600" dirty="0">
                <a:solidFill>
                  <a:schemeClr val="bg1"/>
                </a:solidFill>
                <a:latin typeface="微软雅黑" pitchFamily="34" charset="-122"/>
                <a:ea typeface="微软雅黑" pitchFamily="34" charset="-122"/>
              </a:rPr>
              <a:t>（</a:t>
            </a:r>
            <a:r>
              <a:rPr lang="en-US" altLang="zh-CN" sz="1600" dirty="0">
                <a:solidFill>
                  <a:schemeClr val="bg1"/>
                </a:solidFill>
                <a:latin typeface="微软雅黑" pitchFamily="34" charset="-122"/>
                <a:ea typeface="微软雅黑" pitchFamily="34" charset="-122"/>
              </a:rPr>
              <a:t>4</a:t>
            </a:r>
            <a:r>
              <a:rPr lang="zh-CN" altLang="en-US" sz="1600" dirty="0">
                <a:solidFill>
                  <a:schemeClr val="bg1"/>
                </a:solidFill>
                <a:latin typeface="微软雅黑" pitchFamily="34" charset="-122"/>
                <a:ea typeface="微软雅黑" pitchFamily="34" charset="-122"/>
              </a:rPr>
              <a:t>）激光雷达的优缺点和</a:t>
            </a:r>
            <a:r>
              <a:rPr lang="zh-CN" altLang="en-US" sz="1600" dirty="0" smtClean="0">
                <a:solidFill>
                  <a:schemeClr val="bg1"/>
                </a:solidFill>
                <a:latin typeface="微软雅黑" pitchFamily="34" charset="-122"/>
                <a:ea typeface="微软雅黑" pitchFamily="34" charset="-122"/>
              </a:rPr>
              <a:t>应用</a:t>
            </a:r>
            <a:r>
              <a:rPr lang="en-US" altLang="zh-CN" sz="1600" dirty="0" smtClean="0">
                <a:solidFill>
                  <a:schemeClr val="bg1"/>
                </a:solidFill>
                <a:latin typeface="微软雅黑" pitchFamily="34" charset="-122"/>
                <a:ea typeface="微软雅黑" pitchFamily="34" charset="-122"/>
              </a:rPr>
              <a:t>-</a:t>
            </a:r>
            <a:r>
              <a:rPr lang="zh-CN" altLang="en-US" sz="1600" dirty="0" smtClean="0">
                <a:solidFill>
                  <a:schemeClr val="bg1"/>
                </a:solidFill>
                <a:latin typeface="微软雅黑" pitchFamily="34" charset="-122"/>
                <a:ea typeface="微软雅黑" pitchFamily="34" charset="-122"/>
              </a:rPr>
              <a:t>应用 </a:t>
            </a:r>
            <a:endParaRPr lang="en-US" altLang="zh-CN" sz="1600" dirty="0" smtClean="0">
              <a:solidFill>
                <a:schemeClr val="bg1"/>
              </a:solidFill>
              <a:latin typeface="微软雅黑" pitchFamily="34" charset="-122"/>
              <a:ea typeface="微软雅黑" pitchFamily="34" charset="-122"/>
            </a:endParaRPr>
          </a:p>
        </p:txBody>
      </p:sp>
      <p:sp>
        <p:nvSpPr>
          <p:cNvPr id="2" name="矩形 1"/>
          <p:cNvSpPr/>
          <p:nvPr/>
        </p:nvSpPr>
        <p:spPr>
          <a:xfrm>
            <a:off x="958349" y="2473567"/>
            <a:ext cx="4549755" cy="1215204"/>
          </a:xfrm>
          <a:prstGeom prst="rect">
            <a:avLst/>
          </a:prstGeom>
          <a:solidFill>
            <a:srgbClr val="0070C0"/>
          </a:solidFill>
        </p:spPr>
        <p:txBody>
          <a:bodyPr wrap="square">
            <a:spAutoFit/>
          </a:bodyPr>
          <a:lstStyle/>
          <a:p>
            <a:pPr>
              <a:lnSpc>
                <a:spcPct val="114000"/>
              </a:lnSpc>
            </a:pPr>
            <a:r>
              <a:rPr lang="zh-CN" altLang="en-US" sz="1600" dirty="0">
                <a:solidFill>
                  <a:schemeClr val="bg1"/>
                </a:solidFill>
                <a:latin typeface="微软雅黑" pitchFamily="34" charset="-122"/>
                <a:ea typeface="微软雅黑" pitchFamily="34" charset="-122"/>
              </a:rPr>
              <a:t>激光雷达能够精确地还原环境，使得车辆提取环境中的目标特征成为可能</a:t>
            </a:r>
            <a:r>
              <a:rPr lang="zh-CN" altLang="en-US" sz="1600" dirty="0" smtClean="0">
                <a:solidFill>
                  <a:schemeClr val="bg1"/>
                </a:solidFill>
                <a:latin typeface="微软雅黑" pitchFamily="34" charset="-122"/>
                <a:ea typeface="微软雅黑" pitchFamily="34" charset="-122"/>
              </a:rPr>
              <a:t>。激光雷达</a:t>
            </a:r>
            <a:r>
              <a:rPr lang="zh-CN" altLang="en-US" sz="1600" dirty="0">
                <a:solidFill>
                  <a:schemeClr val="bg1"/>
                </a:solidFill>
                <a:latin typeface="微软雅黑" pitchFamily="34" charset="-122"/>
                <a:ea typeface="微软雅黑" pitchFamily="34" charset="-122"/>
              </a:rPr>
              <a:t>可以用于车道线检测、目标分类与运动跟踪，以及通过环境特征匹配进行的 高精度定位等感知手段</a:t>
            </a:r>
            <a:r>
              <a:rPr lang="zh-CN" altLang="en-US" sz="1600" dirty="0" smtClean="0">
                <a:solidFill>
                  <a:schemeClr val="bg1"/>
                </a:solidFill>
                <a:latin typeface="微软雅黑" pitchFamily="34" charset="-122"/>
                <a:ea typeface="微软雅黑" pitchFamily="34" charset="-122"/>
              </a:rPr>
              <a:t>。</a:t>
            </a:r>
            <a:endParaRPr lang="zh-CN" altLang="en-US" sz="1600" dirty="0">
              <a:solidFill>
                <a:schemeClr val="bg1"/>
              </a:solidFill>
              <a:latin typeface="微软雅黑" pitchFamily="34" charset="-122"/>
              <a:ea typeface="微软雅黑" pitchFamily="34" charset="-122"/>
            </a:endParaRPr>
          </a:p>
        </p:txBody>
      </p:sp>
      <p:pic>
        <p:nvPicPr>
          <p:cNvPr id="7" name="图片 13" descr="说明: C:\Users\Lenovo\Desktop\人民交通\项目2 智能网联汽车环境感知系统应用\任务2-1 图\图2-1-27 激光雷达的应用场景.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a:xfrm>
            <a:off x="5652120" y="1817191"/>
            <a:ext cx="2520280" cy="1498715"/>
          </a:xfrm>
          <a:prstGeom prst="rect">
            <a:avLst/>
          </a:prstGeom>
          <a:noFill/>
          <a:ln>
            <a:noFill/>
          </a:ln>
        </p:spPr>
      </p:pic>
      <p:sp>
        <p:nvSpPr>
          <p:cNvPr id="8" name="矩形 7"/>
          <p:cNvSpPr/>
          <p:nvPr/>
        </p:nvSpPr>
        <p:spPr>
          <a:xfrm>
            <a:off x="955502" y="3781581"/>
            <a:ext cx="7216898" cy="934487"/>
          </a:xfrm>
          <a:prstGeom prst="rect">
            <a:avLst/>
          </a:prstGeom>
          <a:solidFill>
            <a:srgbClr val="0070C0"/>
          </a:solidFill>
        </p:spPr>
        <p:txBody>
          <a:bodyPr wrap="square">
            <a:spAutoFit/>
          </a:bodyPr>
          <a:lstStyle/>
          <a:p>
            <a:pPr>
              <a:lnSpc>
                <a:spcPct val="114000"/>
              </a:lnSpc>
            </a:pPr>
            <a:r>
              <a:rPr lang="zh-CN" altLang="en-US" sz="1600" dirty="0" smtClean="0">
                <a:solidFill>
                  <a:schemeClr val="bg1"/>
                </a:solidFill>
                <a:latin typeface="微软雅黑" pitchFamily="34" charset="-122"/>
                <a:ea typeface="微软雅黑" pitchFamily="34" charset="-122"/>
              </a:rPr>
              <a:t>因此</a:t>
            </a:r>
            <a:r>
              <a:rPr lang="zh-CN" altLang="en-US" sz="1600" dirty="0">
                <a:solidFill>
                  <a:schemeClr val="bg1"/>
                </a:solidFill>
                <a:latin typeface="微软雅黑" pitchFamily="34" charset="-122"/>
                <a:ea typeface="微软雅黑" pitchFamily="34" charset="-122"/>
              </a:rPr>
              <a:t>，激光雷达可以提供的功能非常全面，是目前自动驾驶车辆研究阶段必不可少的关键传感器。它能够提供高精度地图建图、高精度定位、环境中</a:t>
            </a:r>
            <a:r>
              <a:rPr lang="zh-CN" altLang="en-US" sz="1600" dirty="0" smtClean="0">
                <a:solidFill>
                  <a:schemeClr val="bg1"/>
                </a:solidFill>
                <a:latin typeface="微软雅黑" pitchFamily="34" charset="-122"/>
                <a:ea typeface="微软雅黑" pitchFamily="34" charset="-122"/>
              </a:rPr>
              <a:t>复杂物体</a:t>
            </a:r>
            <a:r>
              <a:rPr lang="zh-CN" altLang="en-US" sz="1600" dirty="0">
                <a:solidFill>
                  <a:schemeClr val="bg1"/>
                </a:solidFill>
                <a:latin typeface="微软雅黑" pitchFamily="34" charset="-122"/>
                <a:ea typeface="微软雅黑" pitchFamily="34" charset="-122"/>
              </a:rPr>
              <a:t>的识别与跟踪等环境理解能力，为车辆控制系统的正确决策提供指导。</a:t>
            </a:r>
          </a:p>
        </p:txBody>
      </p:sp>
    </p:spTree>
    <p:extLst>
      <p:ext uri="{BB962C8B-B14F-4D97-AF65-F5344CB8AC3E}">
        <p14:creationId xmlns:p14="http://schemas.microsoft.com/office/powerpoint/2010/main" val="265449367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2"/>
          <p:cNvSpPr>
            <a:spLocks noGrp="1" noChangeArrowheads="1"/>
          </p:cNvSpPr>
          <p:nvPr/>
        </p:nvSpPr>
        <p:spPr bwMode="auto">
          <a:xfrm>
            <a:off x="2699792" y="1698475"/>
            <a:ext cx="4074090" cy="756832"/>
          </a:xfrm>
          <a:prstGeom prst="rect">
            <a:avLst/>
          </a:prstGeom>
          <a:noFill/>
          <a:ln w="9525">
            <a:noFill/>
            <a:miter lim="800000"/>
          </a:ln>
          <a:effectLst/>
        </p:spPr>
        <p:txBody>
          <a:bodyPr anchor="ctr"/>
          <a:lstStyle/>
          <a:p>
            <a:pPr algn="ctr">
              <a:buFontTx/>
              <a:buNone/>
              <a:defRPr/>
            </a:pPr>
            <a:r>
              <a:rPr lang="en-US" altLang="zh-CN" sz="6000" b="1" dirty="0">
                <a:solidFill>
                  <a:srgbClr val="0A8029"/>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Thanks</a:t>
            </a:r>
            <a:r>
              <a:rPr lang="zh-CN" altLang="en-US" sz="6000" b="1" dirty="0">
                <a:solidFill>
                  <a:srgbClr val="0A8029"/>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a:t>
            </a:r>
          </a:p>
        </p:txBody>
      </p:sp>
      <p:sp>
        <p:nvSpPr>
          <p:cNvPr id="11" name="灯片编号占位符 5"/>
          <p:cNvSpPr txBox="1"/>
          <p:nvPr/>
        </p:nvSpPr>
        <p:spPr>
          <a:xfrm>
            <a:off x="107504" y="4840397"/>
            <a:ext cx="2133600" cy="273844"/>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C913308-F349-4B6D-A68A-DD1791B4A57B}" type="slidenum">
              <a:rPr lang="zh-CN" altLang="en-US" sz="1200" smtClean="0"/>
              <a:t>31</a:t>
            </a:fld>
            <a:endParaRPr lang="zh-CN" altLang="en-US" sz="1200" dirty="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220</TotalTime>
  <Words>2106</Words>
  <Application>Microsoft Office PowerPoint</Application>
  <PresentationFormat>全屏显示(16:9)</PresentationFormat>
  <Paragraphs>182</Paragraphs>
  <Slides>31</Slides>
  <Notes>30</Notes>
  <HiddenSlides>0</HiddenSlides>
  <MMClips>0</MMClips>
  <ScaleCrop>false</ScaleCrop>
  <HeadingPairs>
    <vt:vector size="4" baseType="variant">
      <vt:variant>
        <vt:lpstr>主题</vt:lpstr>
      </vt:variant>
      <vt:variant>
        <vt:i4>1</vt:i4>
      </vt:variant>
      <vt:variant>
        <vt:lpstr>幻灯片标题</vt:lpstr>
      </vt:variant>
      <vt:variant>
        <vt:i4>31</vt:i4>
      </vt:variant>
    </vt:vector>
  </HeadingPairs>
  <TitlesOfParts>
    <vt:vector size="32" baseType="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内训体系构架（讨论稿）</dc:title>
  <dc:creator>Administrator</dc:creator>
  <cp:lastModifiedBy>Lenovo</cp:lastModifiedBy>
  <cp:revision>1589</cp:revision>
  <dcterms:created xsi:type="dcterms:W3CDTF">2017-08-03T05:04:00Z</dcterms:created>
  <dcterms:modified xsi:type="dcterms:W3CDTF">2022-03-02T13:57:02Z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2052-11.1.0.11365</vt:lpwstr>
  </property>
  <property fmtid="{D5CDD505-2E9C-101B-9397-08002B2CF9AE}" pid="3" name="ICV">
    <vt:lpwstr>8E4C9AADA725407FBE44C9347C02DF2D</vt:lpwstr>
  </property>
</Properties>
</file>